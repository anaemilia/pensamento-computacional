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3" r:id="rId34"/>
    <p:sldId id="263" r:id="rId9"/>
    <p:sldId id="273" r:id="rId24"/>
    <p:sldId id="264" r:id="rId10"/>
    <p:sldId id="282" r:id="rId33"/>
    <p:sldId id="265" r:id="rId11"/>
    <p:sldId id="281" r:id="rId32"/>
    <p:sldId id="266" r:id="rId12"/>
    <p:sldId id="274" r:id="rId25"/>
    <p:sldId id="267" r:id="rId13"/>
    <p:sldId id="280" r:id="rId31"/>
    <p:sldId id="268" r:id="rId14"/>
    <p:sldId id="279" r:id="rId30"/>
    <p:sldId id="269" r:id="rId15"/>
    <p:sldId id="275" r:id="rId26"/>
    <p:sldId id="270" r:id="rId16"/>
    <p:sldId id="278" r:id="rId29"/>
    <p:sldId id="271" r:id="rId17"/>
    <p:sldId id="277" r:id="rId28"/>
    <p:sldId id="272" r:id="rId18"/>
    <p:sldId id="276" r:id="rId27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9.xml"/><Relationship Id="rId25" Type="http://schemas.openxmlformats.org/officeDocument/2006/relationships/slide" Target="slides/slide13.xml"/><Relationship Id="rId26" Type="http://schemas.openxmlformats.org/officeDocument/2006/relationships/slide" Target="slides/slide17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3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Pensamento Dedutivo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37947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aplicar regras gerais a casos particulares e justificar conclusões?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59893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de 15  ·  2 horas  ·  Pensamento Dedutivo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692640" y="457200"/>
            <a:ext cx="1947672" cy="384048"/>
          </a:xfrm>
          <a:prstGeom prst="roundRect">
            <a:avLst>
              <a:gd name="adj" fmla="val 19048"/>
            </a:avLst>
          </a:prstGeom>
          <a:solidFill>
            <a:srgbClr val="FBEEDD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9692640" y="45720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155448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68680" y="187452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 raciocínio dedutivo como aplicação de regras gerais a casos específicos.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dedução de indução (retomando a Aula 2).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implicações lógicas ("se A então B") em código.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263640" y="187452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testar condições (if/elseif/else) como forma de dedução.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quando uma regra dedutiva é insuficiente.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3 em Julia/Pluto.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raciocínio dedutivo?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premissas gerais e aplica regras da lógica para chegar a uma conclusão específica.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as premissas são verdadeiras e a regra é válida, a conclusão é necessariamente verdadeira.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clássico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1: todo número par é divisível por 2.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2: 8 é par. Conclusão: 8 é divisível por 2.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Dedução: da regra geral ao caso específico — certeza lógica, não probabilidade.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INDUÇÃO X DEDUÇÃO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Indução e dedução se completam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Indução (Aula 2)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 casos e propõe uma regra geral (hipótese).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provável, sujeita a revisão.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Dedução (Aula 3)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uma regra geral e aplica a um caso específico.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certa, se as premissas forem verdadeiras.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hipótese → teste → refinamento usa os dois tipos de raciocínio.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2 ao Bloco 3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vimos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2: indução — generalizar a partir de casos.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onde vamos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4: problemas e algoritmos — formalizar entrada, processo e saída.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3 de 15.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TAREFAS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tarefas em formato de pergunta, com exemplos em Julia/Pluto.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21945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aplicar regras gerais a casos particulares e justificar conclusões?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 DE 10  ·  3.1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regra geral decide se um número é par?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um número.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a regra do resto da divisão.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por que a conclusão decorre da regra.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eh_par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Regra, caso e conclusão.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dedução torna explícita a relação entre uma propriedade geral e um caso específico.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2 DE 10  ·  3.2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uma regra em função dedutiva?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 regra em função.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vários casos.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justificativa verbal.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Generalização de regra e aplicação sistemática.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permite aplicar uma regra geral a muitos casos sem confundir teste com prova.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 ·  Tarefa 3.2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uma regra em função dedutiva?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ehpar(n) = n % 2 == 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ehpar.(1:6)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ehpar(n)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regra: resto da divisão de n por 2 é igual a 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ehpar. aplicada a 1:6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ehpar(1) = false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ehpar(2) = true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ehpar(3) = false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ehpar(4) = true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ehpar(5) = false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ehpar(6) = true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[false, true, false, true, false, true]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3 DE 10  ·  3.3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implicação lógica em código?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duas proposições.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"se A então B".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quando a implicação é falsa.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implica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de relação lógica.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lógica transforma uma frase em estrutura verificável, favorecendo precisão conceitual.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4 DE 10  ·  3.4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condição classifica casos?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um valor.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if/elseif/else.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cada ramo.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"positivo"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elseif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"negativo"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"zero"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regra e critérios explícitos.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visual/textual deve orientar interpretação, não apenas corrigir.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classificação evidencia que categorias dependem de condições e limites definidos.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5 DE 10  ·  3.5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deduzir pertencimento a um conjunto?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um conjunto de valores.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um elemento.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o sentido de pertencer.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como representação de critério.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pertencimento conecta teoria de conjuntos a decisão computacional.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 ·  Tarefa 3.5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deduzir pertencimento a um conjunto?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Set([2,4,6,8])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in 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in 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Set([2,4,6,8])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cria o conjunto A = {2, 4, 6, 8}  (sem ordem garantida, sem repetição)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in 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 (4 pertence ao conjunto)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in 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 (5 não pertence ao conjunto)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6 DE 10  ·  3.6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combinar regras com "e" e "ou"?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duas condições.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Combine-as.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casos de fronteira.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idade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tem_doc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pode_entrar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idade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tem_doc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de relações lógicas.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condições mostra que algoritmos podem depender de várias relações simultâneas.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7 DE 10  ·  3.7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deduzir uma saída a partir de uma tabela de regras?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regras de aprovação.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a casos variados.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consistência.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6.2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"aprovado"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"recuperacao"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"reprovado"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de escala numérica para categoria.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transforma um dado quantitativo em categoria interpretável.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8 DE 10  ·  3.8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testar uma regra dedutiva?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entradas conhecidas.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saídas esperadas.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resultado e expectativa.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esperado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esperado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para validar regra formalizada.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visual/textual deve orientar interpretação, não apenas corrigir.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tornam visível se a regra foi corretamente representada.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 ·  Tarefa 3.8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testar uma regra dedutiva?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entradas = [4, 5, 6]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esperado = [true, false, true]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ehpar.(entradas) == esperado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ehpar. aplicada a entradas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ehpar(4) = true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ehpar(5) = false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ehpar(6) = true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ehpar.(entradas)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[true, false, true]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comparação com esperado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 ([true, false, true] == [true, false, true])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9 DE 10  ·  3.9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explicar por que uma regra é insuficiente?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uma regra simples.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Apresente caso que escapa.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Reformule a condição.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falta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aprovado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da representação e necessidade de contexto.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parcial mostra que dedução correta pode ser inadequada se o modelo ignorar variáveis.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10 DE 10  ·  3.10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pensamento dedutivo?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regra, aplicação e justificativa.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se há casos de fronteira.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Solicite revisão da regra.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resposta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"n%2==0"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justificativa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"resto zero"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relacional: regra e justificativa conectadas.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da dedução deve verificar a conexão entre regra geral, caso e explicação.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Pensamento Dedutivo, em duas ideias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9202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Dedução: da regra geral ao caso específico — certeza lógica, não probabilidade.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7889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hipótese → teste → refinamento usa os dois tipos de raciocínio.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68680" y="42976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416552"/>
            <a:ext cx="265176" cy="26517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600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600200" y="4480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4: Problemas e Algoritmos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encias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26" y="548640"/>
            <a:ext cx="1048485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26" y="1097280"/>
            <a:ext cx="10484857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000" dirty="0"/>
          </a:p>
        </p:txBody>
      </p:sp>
      <p:sp>
        <p:nvSpPr>
          <p:cNvPr id="902" name="Citacoes"/>
          <p:cNvSpPr/>
          <p:nvPr/>
        </p:nvSpPr>
        <p:spPr>
          <a:xfrm>
            <a:off x="548626" y="2057400"/>
            <a:ext cx="10484857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RAABE, André; ZORZO, Avelino F.; BLIKSTEIN, Paulo. Computação na Educação Básica: Fundamentos e Experiências. Porto Alegre: Penso, 2020. Ebook. ISBN 9786581334048.</a:t>
            </a:r>
            <a:endParaRPr lang="pt-BR" sz="1400" dirty="0"/>
          </a:p>
        </p:txBody>
      </p:sp>
      <p:sp>
        <p:nvSpPr>
          <p:cNvPr id="903" name="Rodape"/>
          <p:cNvSpPr/>
          <p:nvPr/>
        </p:nvSpPr>
        <p:spPr>
          <a:xfrm>
            <a:off x="548626" y="6343650"/>
            <a:ext cx="104848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 · Pensamento Dedutivo</a:t>
            </a:r>
            <a:endParaRPr lang="pt-BR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651D"/>
                </a:solidFill>
                <a:latin typeface="Calibri"/>
              </a:rPr>
              <a:t>AULA 03  ·  Tarefa 3.10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A5C"/>
                </a:solidFill>
                <a:latin typeface="Calibri"/>
              </a:rPr>
              <a:t>Como avaliar pensamento dedutivo?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85855" cy="70000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54864" cy="70000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553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resposta = (regra="n%2==0", caso=14, justificativa="resto zero")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63040"/>
            <a:ext cx="11185855" cy="121440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63040"/>
            <a:ext cx="54864" cy="121440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54480"/>
            <a:ext cx="10728655" cy="10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resposta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NamedTuple com 3 campos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resposta.regra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"n%2==0"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resposta.caso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14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resposta.justificativa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"resto zero"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651D"/>
                </a:solidFill>
                <a:latin typeface="Calibri"/>
              </a:rPr>
              <a:t>AULA 03  ·  Tarefa 3.9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A5C"/>
                </a:solidFill>
                <a:latin typeface="Calibri"/>
              </a:rPr>
              <a:t>Como explicar por que uma regra é insuficiente?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85855" cy="1139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54864" cy="113934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99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nota = 7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falta = 30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aprovado = nota &gt;= 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602380"/>
            <a:ext cx="11185855" cy="121440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602380"/>
            <a:ext cx="54864" cy="121440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3820"/>
            <a:ext cx="10728655" cy="10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nota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7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falta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30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aprovado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true  (nota &gt;= 7 — a regra só olha a nota, ignora as faltas)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por que a regra é insuficiente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aprovado dá true mesmo com 30 faltas — falta um critério de frequência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651D"/>
                </a:solidFill>
                <a:latin typeface="Calibri"/>
              </a:rPr>
              <a:t>AULA 03  ·  Tarefa 3.7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A5C"/>
                </a:solidFill>
                <a:latin typeface="Calibri"/>
              </a:rPr>
              <a:t>Como deduzir uma saída a partir de uma tabela de regras?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85855" cy="85956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54864" cy="85956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713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media = 6.2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situacao = media &gt;= 7 ? "aprovado" : media &gt;= 5 ? "recuperacao" : "reprovado"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22600"/>
            <a:ext cx="11185855" cy="121440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322600"/>
            <a:ext cx="54864" cy="121440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14040"/>
            <a:ext cx="10728655" cy="10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media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6.2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media &gt;= 7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false  (6.2 não chega a 7)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media &gt;= 5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true  (6.2 é maior que 5)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situacao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"recuperacao"  (a primeira condição falha, a segunda se confirma)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651D"/>
                </a:solidFill>
                <a:latin typeface="Calibri"/>
              </a:rPr>
              <a:t>AULA 03  ·  Tarefa 3.6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A5C"/>
                </a:solidFill>
                <a:latin typeface="Calibri"/>
              </a:rPr>
              <a:t>Como combinar regras com "e" e "ou"?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85855" cy="1139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54864" cy="113934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99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idade = 18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tem_doc = true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pode_entrar = idade &gt;= 18 &amp;&amp; tem_doc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602380"/>
            <a:ext cx="11185855" cy="121440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602380"/>
            <a:ext cx="54864" cy="121440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3820"/>
            <a:ext cx="10728655" cy="10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idade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18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tem_doc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true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idade &gt;= 18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true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pode_entrar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true  (as duas condições — idade e documento — precisam ser verdadeiras ao mesmo tempo)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651D"/>
                </a:solidFill>
                <a:latin typeface="Calibri"/>
              </a:rPr>
              <a:t>AULA 03  ·  Tarefa 3.4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A5C"/>
                </a:solidFill>
                <a:latin typeface="Calibri"/>
              </a:rPr>
              <a:t>Como uma condição classifica casos?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85855" cy="25382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54864" cy="253824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2391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x = 0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if x &gt; 0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    "positivo"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elseif x &lt; 0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    "negativo"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else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    "zero"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001280"/>
            <a:ext cx="11185855" cy="121440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001280"/>
            <a:ext cx="54864" cy="121440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092720"/>
            <a:ext cx="10728655" cy="10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x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0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x &gt; 0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false  (0 não é maior que 0)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x &lt; 0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false  (0 também não é menor que 0)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resultado do if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"zero"  (nenhuma das duas condições é verdadeira — cai no else)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651D"/>
                </a:solidFill>
                <a:latin typeface="Calibri"/>
              </a:rPr>
              <a:t>AULA 03  ·  Tarefa 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A5C"/>
                </a:solidFill>
                <a:latin typeface="Calibri"/>
              </a:rPr>
              <a:t>Como representar implicação lógica em código?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85855" cy="1139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54864" cy="113934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99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A = true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B = false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implica = !A || B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602380"/>
            <a:ext cx="11185855" cy="121440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602380"/>
            <a:ext cx="54864" cy="121440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3820"/>
            <a:ext cx="10728655" cy="10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A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true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B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false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!A || B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false || false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implica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false  (A é verdadeiro e B é falso — a implicação "A implica B" falha)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651D"/>
                </a:solidFill>
                <a:latin typeface="Calibri"/>
              </a:rPr>
              <a:t>AULA 03  ·  Tarefa 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B3A5C"/>
                </a:solidFill>
                <a:latin typeface="Calibri"/>
              </a:rPr>
              <a:t>Como uma regra geral decide se um número é par?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85855" cy="85956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54864" cy="85956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713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n = 14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300">
                <a:solidFill>
                  <a:srgbClr val="1A1A1A"/>
                </a:solidFill>
                <a:latin typeface="Consolas"/>
              </a:rPr>
              <a:t>eh_par = n % 2 == 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22600"/>
            <a:ext cx="11185855" cy="75720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322600"/>
            <a:ext cx="54864" cy="757200"/>
          </a:xfrm>
          <a:prstGeom prst="rect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14040"/>
            <a:ext cx="10728655" cy="5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n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14</a:t>
            </a:r>
          </a:p>
          <a:p>
            <a:pPr indent="0" marL="0">
              <a:lnSpc>
                <a:spcPct val="112000"/>
              </a:lnSpc>
              <a:buNone/>
            </a:pPr>
            <a:r>
              <a:rPr sz="1200" b="1">
                <a:solidFill>
                  <a:srgbClr val="1B3A5C"/>
                </a:solidFill>
                <a:latin typeface="Consolas"/>
              </a:rPr>
              <a:t>eh_par</a:t>
            </a:r>
            <a:r>
              <a:rPr sz="1200">
                <a:solidFill>
                  <a:srgbClr val="5B6B7A"/>
                </a:solidFill>
                <a:latin typeface="Consolas"/>
              </a:rPr>
              <a:t>  →  </a:t>
            </a:r>
            <a:r>
              <a:rPr sz="1200">
                <a:solidFill>
                  <a:srgbClr val="1A1A1A"/>
                </a:solidFill>
                <a:latin typeface="Consolas"/>
              </a:rPr>
              <a:t>true  (14 % 2 == 0 — o resto da divisão de 14 por 2 é zero)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2026-08-20T20:46:44Z</dcterms:created>
  <dcterms:modified xsi:type="dcterms:W3CDTF">2026-08-20T20:46:44Z</dcterms:modified>
</cp:coreProperties>
</file>