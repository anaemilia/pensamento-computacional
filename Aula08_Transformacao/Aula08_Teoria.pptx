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645920"/>
            <a:ext cx="4206240" cy="4206240"/>
          </a:xfrm>
          <a:prstGeom prst="ellipse">
            <a:avLst/>
          </a:prstGeom>
          <a:solidFill>
            <a:srgbClr val="2C7A8C">
              <a:alpha val="12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454335" y="548640"/>
            <a:ext cx="2194560" cy="2194560"/>
          </a:xfrm>
          <a:prstGeom prst="ellipse">
            <a:avLst/>
          </a:prstGeom>
          <a:solidFill>
            <a:srgbClr val="E8963C">
              <a:alpha val="15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22960" y="914400"/>
            <a:ext cx="868680" cy="868680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1201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1488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COMPUTACIONAL · AULA 8 DE 15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2514600"/>
            <a:ext cx="10789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Transformação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457200" y="3977640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i="1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uma regra muda dados, representações e interpretações?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8 · Transformação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362895" y="65288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17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esperamos desta aula?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810512"/>
            <a:ext cx="292608" cy="29260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18105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96112" y="1728216"/>
            <a:ext cx="4727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transformação como técnica de construção de algoritmos.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292608" cy="29260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7200" y="2468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6112" y="2386584"/>
            <a:ext cx="4727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Transformar unidades, categorias e formas de representação de um dado.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3127248"/>
            <a:ext cx="292608" cy="29260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7200" y="3127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96112" y="3044952"/>
            <a:ext cx="4727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um pipeline: várias transformações em sequência.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989320" y="1810512"/>
            <a:ext cx="292608" cy="29260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989320" y="18105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28232" y="1728216"/>
            <a:ext cx="4727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Filtrar e normalizar dados como formas de transformação.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989320" y="2468880"/>
            <a:ext cx="292608" cy="29260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989320" y="2468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28232" y="2386584"/>
            <a:ext cx="4727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se uma transformação preserva o sentido original do dado.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989320" y="3127248"/>
            <a:ext cx="292608" cy="29260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989320" y="3127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28232" y="3044952"/>
            <a:ext cx="4727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Praticar as 10 tarefas do Bloco 8 em Julia/Pluto.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5623560"/>
            <a:ext cx="11274552" cy="594360"/>
          </a:xfrm>
          <a:prstGeom prst="roundRect">
            <a:avLst>
              <a:gd name="adj" fmla="val 12308"/>
            </a:avLst>
          </a:prstGeom>
          <a:solidFill>
            <a:srgbClr val="1B3A5C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85800" y="5623560"/>
            <a:ext cx="10817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8 de 15 · 2 horas · Técnicas de Construção de Algoritmos: Transformação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8 · Transformação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362895" y="65288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 CENTRAL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transformação?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5394960" cy="3246120"/>
          </a:xfrm>
          <a:prstGeom prst="roundRect">
            <a:avLst>
              <a:gd name="adj" fmla="val 2535"/>
            </a:avLst>
          </a:prstGeom>
          <a:solidFill>
            <a:srgbClr val="E9F2F3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77240" y="21305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Definição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587752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a solução de um problema para resolver outro, por meio de uma transformação entre eles.</a:t>
            </a:r>
            <a:endParaRPr lang="en-US" sz="1400" dirty="0"/>
          </a:p>
          <a:p>
            <a:pPr algn="l"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significar reuso, refinamento, evolução ou redução de uma solução existente.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36792" y="1874520"/>
            <a:ext cx="5394960" cy="3246120"/>
          </a:xfrm>
          <a:prstGeom prst="roundRect">
            <a:avLst>
              <a:gd name="adj" fmla="val 2535"/>
            </a:avLst>
          </a:prstGeom>
          <a:solidFill>
            <a:srgbClr val="FCF0E1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656832" y="21305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89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56832" y="2587752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Converter uma lista de valores em um dicionário de frequências.</a:t>
            </a:r>
            <a:endParaRPr lang="en-US" sz="1400" dirty="0"/>
          </a:p>
          <a:p>
            <a:pPr algn="l"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Normalizar dados (subtrair o mínimo, dividir pelo intervalo) para comparar escalas diferentes.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5394960"/>
            <a:ext cx="11274552" cy="566928"/>
          </a:xfrm>
          <a:prstGeom prst="roundRect">
            <a:avLst>
              <a:gd name="adj" fmla="val 12903"/>
            </a:avLst>
          </a:prstGeom>
          <a:solidFill>
            <a:srgbClr val="E9EDF3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31520" y="539496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transformação deve ser avaliada: o dado transformado ainda representa a mesma coisa?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8 · Transformação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362895" y="65288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PRÁTICA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Transformação em cadeia: o pipeline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5394960" cy="3246120"/>
          </a:xfrm>
          <a:prstGeom prst="roundRect">
            <a:avLst>
              <a:gd name="adj" fmla="val 2535"/>
            </a:avLst>
          </a:prstGeom>
          <a:solidFill>
            <a:srgbClr val="E9F2F3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77240" y="21305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587752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várias transformações em sequência, cada uma nomeada por sua função.</a:t>
            </a:r>
            <a:endParaRPr lang="en-US" sz="1400" dirty="0"/>
          </a:p>
          <a:p>
            <a:pPr algn="l"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texto → palavras → contagem → frequência → interpretação.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36792" y="1874520"/>
            <a:ext cx="5394960" cy="3246120"/>
          </a:xfrm>
          <a:prstGeom prst="roundRect">
            <a:avLst>
              <a:gd name="adj" fmla="val 2535"/>
            </a:avLst>
          </a:prstGeom>
          <a:solidFill>
            <a:srgbClr val="FCF0E1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656832" y="21305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89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e depois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56832" y="2587752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compare o dado original e o transformado.</a:t>
            </a:r>
            <a:endParaRPr lang="en-US" sz="1400" dirty="0"/>
          </a:p>
          <a:p>
            <a:pPr algn="l"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Pergunte o que se ganhou e o que se perdeu na transformação.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5394960"/>
            <a:ext cx="11274552" cy="566928"/>
          </a:xfrm>
          <a:prstGeom prst="roundRect">
            <a:avLst>
              <a:gd name="adj" fmla="val 12903"/>
            </a:avLst>
          </a:prstGeom>
          <a:solidFill>
            <a:srgbClr val="E9EDF3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31520" y="539496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qualitativo recorrente: transformação e transnumeração.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8 · Transformação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362895" y="65288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Bloco 7 ao Bloco 8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5394960" cy="3246120"/>
          </a:xfrm>
          <a:prstGeom prst="roundRect">
            <a:avLst>
              <a:gd name="adj" fmla="val 2535"/>
            </a:avLst>
          </a:prstGeom>
          <a:solidFill>
            <a:srgbClr val="E9F2F3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77240" y="21305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já vimos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587752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7: generalização — soluções reutilizáveis em outros contextos.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36792" y="1874520"/>
            <a:ext cx="5394960" cy="3246120"/>
          </a:xfrm>
          <a:prstGeom prst="roundRect">
            <a:avLst>
              <a:gd name="adj" fmla="val 2535"/>
            </a:avLst>
          </a:prstGeom>
          <a:solidFill>
            <a:srgbClr val="FCF0E1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656832" y="21305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89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onde vamos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56832" y="2587752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9: limites da computação — o que nenhum algoritmo pode resolver.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5449824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Computacional — Aula 8 de 15.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8 · Transformação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362895" y="65288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645920"/>
            <a:ext cx="4206240" cy="4206240"/>
          </a:xfrm>
          <a:prstGeom prst="ellipse">
            <a:avLst/>
          </a:prstGeom>
          <a:solidFill>
            <a:srgbClr val="2C7A8C">
              <a:alpha val="12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454335" y="548640"/>
            <a:ext cx="2194560" cy="2194560"/>
          </a:xfrm>
          <a:prstGeom prst="ellipse">
            <a:avLst/>
          </a:prstGeom>
          <a:solidFill>
            <a:srgbClr val="E8963C">
              <a:alpha val="15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863840" y="1005840"/>
            <a:ext cx="384048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0" b="1" dirty="0">
                <a:solidFill>
                  <a:srgbClr val="1B3A5C">
                    <a:alpha val="5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40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8 · TRANSFORMAÇÃO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Técnicas de construção de algoritmos: transformação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tarefas em formato de pergunta, com exemplos em Julia/Pluto.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8138160" cy="1417320"/>
          </a:xfrm>
          <a:prstGeom prst="roundRect">
            <a:avLst>
              <a:gd name="adj" fmla="val 5806"/>
            </a:avLst>
          </a:prstGeom>
          <a:solidFill>
            <a:srgbClr val="17304F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77240" y="23317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PERGUNTA-GUIA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624328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uma regra muda dados, representações e interpretações?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379476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 bloco, as tarefas usam Julia e Pluto para transformar conceitos da ementa em ações observáveis: organizar, representar, manipular, interpretar e revisar.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" y="489204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abre a aula; o código serve para tornar a relação conceitual discutível.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8 · Transformação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362895" y="65288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8 · TRANSFORMAÇÃO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07008" y="5029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transformar unidades?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5760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valores em Celsius.</a:t>
            </a:r>
            <a:endParaRPr lang="en-US" sz="13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Aplique fórmula.</a:t>
            </a:r>
            <a:endParaRPr lang="en-US" sz="13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escalas.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37960" y="502920"/>
            <a:ext cx="5166360" cy="2697480"/>
          </a:xfrm>
          <a:prstGeom prst="roundRect">
            <a:avLst>
              <a:gd name="adj" fmla="val 2712"/>
            </a:avLst>
          </a:prstGeom>
          <a:solidFill>
            <a:srgbClr val="0F2038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812280" y="65836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12280" y="987552"/>
            <a:ext cx="4617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celsius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fahrenheit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celsius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.*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.+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5468112" cy="2788920"/>
          </a:xfrm>
          <a:prstGeom prst="roundRect">
            <a:avLst>
              <a:gd name="adj" fmla="val 2623"/>
            </a:avLst>
          </a:prstGeom>
          <a:solidFill>
            <a:srgbClr val="E9F2F3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31520" y="3611880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6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931920"/>
            <a:ext cx="49194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Transnumeração entre escalas.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Transnumeração torna dados interpretáveis em nova forma.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Representações ampliam a percepção de propriedades e relações.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Articular código, texto, tabela, gráfico e interpretação.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3429000"/>
            <a:ext cx="5468112" cy="2788920"/>
          </a:xfrm>
          <a:prstGeom prst="roundRect">
            <a:avLst>
              <a:gd name="adj" fmla="val 2623"/>
            </a:avLst>
          </a:prstGeom>
          <a:solidFill>
            <a:srgbClr val="FCF0E1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37960" y="3611880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6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37960" y="3931920"/>
            <a:ext cx="49194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transformação evidencia que o mesmo fenômeno pode ser representado em diferentes sistemas.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37960" y="5440680"/>
            <a:ext cx="4919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8 · Transformação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362895" y="65288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8 · TRANSFORMAÇÃO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07008" y="5029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transformar valores em categorias?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5760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médias numéricas.</a:t>
            </a:r>
            <a:endParaRPr lang="en-US" sz="13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Classifique cada uma.</a:t>
            </a:r>
            <a:endParaRPr lang="en-US" sz="13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Discuta perda e ganho de informação.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37960" y="502920"/>
            <a:ext cx="5166360" cy="2697480"/>
          </a:xfrm>
          <a:prstGeom prst="roundRect">
            <a:avLst>
              <a:gd name="adj" fmla="val 2712"/>
            </a:avLst>
          </a:prstGeom>
          <a:solidFill>
            <a:srgbClr val="0F2038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812280" y="65836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12280" y="987552"/>
            <a:ext cx="4617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medias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4.5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6.5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8.0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categorias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&gt;=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5FA7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"ok"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5FA7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"rever"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medias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5468112" cy="2788920"/>
          </a:xfrm>
          <a:prstGeom prst="roundRect">
            <a:avLst>
              <a:gd name="adj" fmla="val 2623"/>
            </a:avLst>
          </a:prstGeom>
          <a:solidFill>
            <a:srgbClr val="E9F2F3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31520" y="3611880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6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931920"/>
            <a:ext cx="49194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Mudança de representação quantitativa para qualitativa.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contexto e o tipo de dado influenciam a representação escolhida.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Múltiplas expressões exibem aspectos distintos do mesmo conceito.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Solicitar explicação do raciocínio desenvolvido.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3429000"/>
            <a:ext cx="5468112" cy="2788920"/>
          </a:xfrm>
          <a:prstGeom prst="roundRect">
            <a:avLst>
              <a:gd name="adj" fmla="val 2623"/>
            </a:avLst>
          </a:prstGeom>
          <a:solidFill>
            <a:srgbClr val="FCF0E1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37960" y="3611880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6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37960" y="3931920"/>
            <a:ext cx="49194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Categorizar simplifica a leitura, mas pode esconder nuances dos dados.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37960" y="5440680"/>
            <a:ext cx="4919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8 · Transformação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362895" y="65288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8 · TRANSFORMAÇÃO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07008" y="5029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transformar dados brutos em frequência?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5760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 ocorrências.</a:t>
            </a:r>
            <a:endParaRPr lang="en-US" sz="13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dicionário.</a:t>
            </a:r>
            <a:endParaRPr lang="en-US" sz="13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 a distribuição.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37960" y="502920"/>
            <a:ext cx="5166360" cy="2697480"/>
          </a:xfrm>
          <a:prstGeom prst="roundRect">
            <a:avLst>
              <a:gd name="adj" fmla="val 2712"/>
            </a:avLst>
          </a:prstGeom>
          <a:solidFill>
            <a:srgbClr val="0F2038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812280" y="65836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12280" y="987552"/>
            <a:ext cx="4617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["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5FA7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","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5FA7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","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5FA7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","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5FA7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","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"]</a:t>
            </a:r>
            <a:endParaRPr lang="en-US" sz="12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freq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Dict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=&gt;</a:t>
            </a:r>
            <a:pPr algn="l"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(==(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5468112" cy="2788920"/>
          </a:xfrm>
          <a:prstGeom prst="roundRect">
            <a:avLst>
              <a:gd name="adj" fmla="val 2623"/>
            </a:avLst>
          </a:prstGeom>
          <a:solidFill>
            <a:srgbClr val="E9F2F3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31520" y="3611880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6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931920"/>
            <a:ext cx="49194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 e síntese de dados.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Organizar dados é componente crítico da representação.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Representações ampliam a percepção de propriedades e relações.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Articular código, texto, tabela, gráfico e interpretação.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3429000"/>
            <a:ext cx="5468112" cy="2788920"/>
          </a:xfrm>
          <a:prstGeom prst="roundRect">
            <a:avLst>
              <a:gd name="adj" fmla="val 2623"/>
            </a:avLst>
          </a:prstGeom>
          <a:solidFill>
            <a:srgbClr val="FCF0E1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37960" y="3611880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6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37960" y="3931920"/>
            <a:ext cx="49194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Frequência transforma respostas individuais em padrão coletivo.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37960" y="5440680"/>
            <a:ext cx="4919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8 · Transformação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362895" y="65288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8 · TRANSFORMAÇÃO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07008" y="5029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transformar uma lista filtrando valores?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5760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critério.</a:t>
            </a:r>
            <a:endParaRPr lang="en-US" sz="13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Selecione elementos.</a:t>
            </a:r>
            <a:endParaRPr lang="en-US" sz="13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Discuta o que ficou fora.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37960" y="502920"/>
            <a:ext cx="5166360" cy="2697480"/>
          </a:xfrm>
          <a:prstGeom prst="roundRect">
            <a:avLst>
              <a:gd name="adj" fmla="val 2712"/>
            </a:avLst>
          </a:prstGeom>
          <a:solidFill>
            <a:srgbClr val="0F2038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812280" y="65836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12280" y="987552"/>
            <a:ext cx="4617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altas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&gt;=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5468112" cy="2788920"/>
          </a:xfrm>
          <a:prstGeom prst="roundRect">
            <a:avLst>
              <a:gd name="adj" fmla="val 2623"/>
            </a:avLst>
          </a:prstGeom>
          <a:solidFill>
            <a:srgbClr val="E9F2F3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31520" y="3611880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6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931920"/>
            <a:ext cx="49194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Filtragem como interação baseada em tarefa.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Explicitar variáveis, relações e restrições.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análise qualitativa observa invariantes e relações mobilizadas na ação.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Listas, tabelas e gráficos comunicam histórias diferentes dos dados.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3429000"/>
            <a:ext cx="5468112" cy="2788920"/>
          </a:xfrm>
          <a:prstGeom prst="roundRect">
            <a:avLst>
              <a:gd name="adj" fmla="val 2623"/>
            </a:avLst>
          </a:prstGeom>
          <a:solidFill>
            <a:srgbClr val="FCF0E1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37960" y="3611880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6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37960" y="3931920"/>
            <a:ext cx="49194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Filtrar exige explicitar critério e refletir sobre a parte do conjunto selecionada.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37960" y="5440680"/>
            <a:ext cx="4919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8 · Transformação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362895" y="65288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8 · TRANSFORMAÇÃO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07008" y="5029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transformar dados por normalização?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5760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Subtraia o mínimo.</a:t>
            </a:r>
            <a:endParaRPr lang="en-US" sz="13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Divida pelo intervalo.</a:t>
            </a:r>
            <a:endParaRPr lang="en-US" sz="13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antes e depois.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37960" y="502920"/>
            <a:ext cx="5166360" cy="2697480"/>
          </a:xfrm>
          <a:prstGeom prst="roundRect">
            <a:avLst>
              <a:gd name="adj" fmla="val 2712"/>
            </a:avLst>
          </a:prstGeom>
          <a:solidFill>
            <a:srgbClr val="0F2038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812280" y="65836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12280" y="987552"/>
            <a:ext cx="4617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normalizado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.-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minimum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maximum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)-</a:t>
            </a:r>
            <a:pPr algn="l"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minimum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5468112" cy="2788920"/>
          </a:xfrm>
          <a:prstGeom prst="roundRect">
            <a:avLst>
              <a:gd name="adj" fmla="val 2623"/>
            </a:avLst>
          </a:prstGeom>
          <a:solidFill>
            <a:srgbClr val="E9F2F3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31520" y="3611880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6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931920"/>
            <a:ext cx="49194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Transformação para nova escala interpretativa.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Transnumeração torna dados interpretáveis em nova forma.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Múltiplas expressões exibem aspectos distintos do mesmo conceito.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Articular código, texto, tabela, gráfico e interpretação.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3429000"/>
            <a:ext cx="5468112" cy="2788920"/>
          </a:xfrm>
          <a:prstGeom prst="roundRect">
            <a:avLst>
              <a:gd name="adj" fmla="val 2623"/>
            </a:avLst>
          </a:prstGeom>
          <a:solidFill>
            <a:srgbClr val="FCF0E1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37960" y="3611880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6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37960" y="3931920"/>
            <a:ext cx="49194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Normalizar mostra que dados podem manter ordem relativa mesmo mudando de escala.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37960" y="5440680"/>
            <a:ext cx="4919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8 · Transformação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362895" y="65288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8 · TRANSFORMAÇÃO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07008" y="5029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transformar forma de representação?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5760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Converta lista para pares.</a:t>
            </a:r>
            <a:endParaRPr lang="en-US" sz="13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para dicionário.</a:t>
            </a:r>
            <a:endParaRPr lang="en-US" sz="13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acessos.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37960" y="502920"/>
            <a:ext cx="5166360" cy="2697480"/>
          </a:xfrm>
          <a:prstGeom prst="roundRect">
            <a:avLst>
              <a:gd name="adj" fmla="val 2712"/>
            </a:avLst>
          </a:prstGeom>
          <a:solidFill>
            <a:srgbClr val="0F2038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812280" y="65836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12280" y="987552"/>
            <a:ext cx="4617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nomes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["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5FA7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","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"]</a:t>
            </a:r>
            <a:endParaRPr lang="en-US" sz="12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valores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pares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zip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nomes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valores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2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dict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Dict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pares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5468112" cy="2788920"/>
          </a:xfrm>
          <a:prstGeom prst="roundRect">
            <a:avLst>
              <a:gd name="adj" fmla="val 2623"/>
            </a:avLst>
          </a:prstGeom>
          <a:solidFill>
            <a:srgbClr val="E9F2F3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31520" y="3611880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6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931920"/>
            <a:ext cx="49194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Múltiplas representações de uma mesma relação.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Múltiplas representações indicam modelagem mais bem-sucedida.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Representações ampliam a percepção de propriedades e relações.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Articular código, texto, tabela, gráfico e interpretação.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3429000"/>
            <a:ext cx="5468112" cy="2788920"/>
          </a:xfrm>
          <a:prstGeom prst="roundRect">
            <a:avLst>
              <a:gd name="adj" fmla="val 2623"/>
            </a:avLst>
          </a:prstGeom>
          <a:solidFill>
            <a:srgbClr val="FCF0E1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37960" y="3611880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6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37960" y="3931920"/>
            <a:ext cx="49194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relação nome–valor pode ser vista como tabela, pares ou dicionário, cada qual com um uso.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37960" y="5440680"/>
            <a:ext cx="4919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8 · Transformação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362895" y="65288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8 · TRANSFORMAÇÃO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07008" y="5029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transformar processo em pipeline?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5760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Aplique várias operações em sequência.</a:t>
            </a:r>
            <a:endParaRPr lang="en-US" sz="13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Nomeie cada etapa.</a:t>
            </a:r>
            <a:endParaRPr lang="en-US" sz="13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 o resultado.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37960" y="502920"/>
            <a:ext cx="5166360" cy="2697480"/>
          </a:xfrm>
          <a:prstGeom prst="roundRect">
            <a:avLst>
              <a:gd name="adj" fmla="val 2712"/>
            </a:avLst>
          </a:prstGeom>
          <a:solidFill>
            <a:srgbClr val="0F2038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812280" y="65836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12280" y="987552"/>
            <a:ext cx="4617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.^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5468112" cy="2788920"/>
          </a:xfrm>
          <a:prstGeom prst="roundRect">
            <a:avLst>
              <a:gd name="adj" fmla="val 2623"/>
            </a:avLst>
          </a:prstGeom>
          <a:solidFill>
            <a:srgbClr val="E9F2F3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31520" y="3611880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6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931920"/>
            <a:ext cx="49194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Composição de transformações.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tarefa deve articular dimensão material e cognitiva.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Incluir revisão, depuração e reconstrução.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Níveis SOLO ajudam a observar respostas de menor a maior integração.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3429000"/>
            <a:ext cx="5468112" cy="2788920"/>
          </a:xfrm>
          <a:prstGeom prst="roundRect">
            <a:avLst>
              <a:gd name="adj" fmla="val 2623"/>
            </a:avLst>
          </a:prstGeom>
          <a:solidFill>
            <a:srgbClr val="FCF0E1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37960" y="3611880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6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37960" y="3931920"/>
            <a:ext cx="49194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pipeline torna visível que resultados podem surgir de transformações encadeadas.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37960" y="5440680"/>
            <a:ext cx="4919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8 · Transformação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362895" y="65288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8 · TRANSFORMAÇÃO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07008" y="5029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transformar texto em dados?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5760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Quebre uma frase.</a:t>
            </a:r>
            <a:endParaRPr lang="en-US" sz="13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 palavras.</a:t>
            </a:r>
            <a:endParaRPr lang="en-US" sz="13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 frequência.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37960" y="502920"/>
            <a:ext cx="5166360" cy="2697480"/>
          </a:xfrm>
          <a:prstGeom prst="roundRect">
            <a:avLst>
              <a:gd name="adj" fmla="val 2712"/>
            </a:avLst>
          </a:prstGeom>
          <a:solidFill>
            <a:srgbClr val="0F2038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812280" y="65836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12280" y="987552"/>
            <a:ext cx="4617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frase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5FA7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"dados viram modelo"</a:t>
            </a:r>
            <a:endParaRPr lang="en-US" sz="12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palavras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frase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palavras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5468112" cy="2788920"/>
          </a:xfrm>
          <a:prstGeom prst="roundRect">
            <a:avLst>
              <a:gd name="adj" fmla="val 2623"/>
            </a:avLst>
          </a:prstGeom>
          <a:solidFill>
            <a:srgbClr val="E9F2F3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31520" y="3611880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6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931920"/>
            <a:ext cx="49194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Representação de texto como coleção.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Organizar dados é componente crítico da representação.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Múltiplas expressões exibem aspectos distintos do mesmo conceito.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Articular código, texto, tabela, gráfico e interpretação.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3429000"/>
            <a:ext cx="5468112" cy="2788920"/>
          </a:xfrm>
          <a:prstGeom prst="roundRect">
            <a:avLst>
              <a:gd name="adj" fmla="val 2623"/>
            </a:avLst>
          </a:prstGeom>
          <a:solidFill>
            <a:srgbClr val="FCF0E1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37960" y="3611880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6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37960" y="3931920"/>
            <a:ext cx="49194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também pode ser modelado como dados, aproximando linguagem e computação.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37960" y="5440680"/>
            <a:ext cx="4919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8 · Transformação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362895" y="65288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8 · TRANSFORMAÇÃO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07008" y="5029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transformar sem perder sentido?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5760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dado original e transformado.</a:t>
            </a:r>
            <a:endParaRPr lang="en-US" sz="13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Identifique informação preservada.</a:t>
            </a:r>
            <a:endParaRPr lang="en-US" sz="13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Identifique informação perdida.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37960" y="502920"/>
            <a:ext cx="5166360" cy="2697480"/>
          </a:xfrm>
          <a:prstGeom prst="roundRect">
            <a:avLst>
              <a:gd name="adj" fmla="val 2712"/>
            </a:avLst>
          </a:prstGeom>
          <a:solidFill>
            <a:srgbClr val="0F2038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812280" y="65836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12280" y="987552"/>
            <a:ext cx="4617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original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transformado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original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.&gt;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5468112" cy="2788920"/>
          </a:xfrm>
          <a:prstGeom prst="roundRect">
            <a:avLst>
              <a:gd name="adj" fmla="val 2623"/>
            </a:avLst>
          </a:prstGeom>
          <a:solidFill>
            <a:srgbClr val="E9F2F3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31520" y="3611880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6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931920"/>
            <a:ext cx="49194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qualidade depende da mensagem dos dados.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Listas, tabelas e gráficos comunicam histórias diferentes dos dados.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resultado final não esgota a aprendizagem do conceito.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limites da ferramenta e do modelo.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3429000"/>
            <a:ext cx="5468112" cy="2788920"/>
          </a:xfrm>
          <a:prstGeom prst="roundRect">
            <a:avLst>
              <a:gd name="adj" fmla="val 2623"/>
            </a:avLst>
          </a:prstGeom>
          <a:solidFill>
            <a:srgbClr val="FCF0E1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37960" y="3611880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6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37960" y="3931920"/>
            <a:ext cx="49194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Transformações devem ser avaliadas pelo que tornam visível e pelo que ocultam.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37960" y="5440680"/>
            <a:ext cx="4919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8 · Transformação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362895" y="65288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8 · TRANSFORMAÇÃO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07008" y="5029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avaliar transformação de dados?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5760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 regra, antes/depois e interpretação.</a:t>
            </a:r>
            <a:endParaRPr lang="en-US" sz="13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Solicite justificativa da escolha.</a:t>
            </a:r>
            <a:endParaRPr lang="en-US" sz="13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Analise adequação.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37960" y="502920"/>
            <a:ext cx="5166360" cy="2697480"/>
          </a:xfrm>
          <a:prstGeom prst="roundRect">
            <a:avLst>
              <a:gd name="adj" fmla="val 2712"/>
            </a:avLst>
          </a:prstGeom>
          <a:solidFill>
            <a:srgbClr val="0F2038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812280" y="65836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12280" y="987552"/>
            <a:ext cx="4617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registro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antes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5FA7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 depois="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frequencia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5FA7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 regra="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contar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5468112" cy="2788920"/>
          </a:xfrm>
          <a:prstGeom prst="roundRect">
            <a:avLst>
              <a:gd name="adj" fmla="val 2623"/>
            </a:avLst>
          </a:prstGeom>
          <a:solidFill>
            <a:srgbClr val="E9F2F3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31520" y="3611880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6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931920"/>
            <a:ext cx="49194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Transnumeração bem-sucedida depende da interpretação.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Transnumeração torna dados interpretáveis em nova forma.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percurso da tarefa revela mudanças no discurso e na ação.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o percurso de pensamento, não apenas o código final.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3429000"/>
            <a:ext cx="5468112" cy="2788920"/>
          </a:xfrm>
          <a:prstGeom prst="roundRect">
            <a:avLst>
              <a:gd name="adj" fmla="val 2623"/>
            </a:avLst>
          </a:prstGeom>
          <a:solidFill>
            <a:srgbClr val="FCF0E1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37960" y="3611880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6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37960" y="3931920"/>
            <a:ext cx="49194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transformação é verificar se a nova forma ajuda a responder melhor à pergunta.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37960" y="5440680"/>
            <a:ext cx="4919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8 · Transformação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362895" y="65288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645920"/>
            <a:ext cx="4206240" cy="4206240"/>
          </a:xfrm>
          <a:prstGeom prst="ellipse">
            <a:avLst/>
          </a:prstGeom>
          <a:solidFill>
            <a:srgbClr val="2C7A8C">
              <a:alpha val="12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454335" y="548640"/>
            <a:ext cx="2194560" cy="2194560"/>
          </a:xfrm>
          <a:prstGeom prst="ellipse">
            <a:avLst/>
          </a:prstGeom>
          <a:solidFill>
            <a:srgbClr val="E8963C">
              <a:alpha val="15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 DA AULA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Transformação: a mesma ideia, novas formas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457200" cy="457200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15568" y="175564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Transformar é reaproveitar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115568" y="20574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Transformação usa a solução de um problema para resolver outro — por reuso, refinamento, evolução ou redução.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679192"/>
            <a:ext cx="457200" cy="457200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7200" y="2679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15568" y="265176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Pipelines encadeiam etapas nomeadas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115568" y="2953512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transformação é nomeada por sua função; sempre comparando o dado antes e depois da mudança.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575304"/>
            <a:ext cx="457200" cy="457200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57200" y="3575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15568" y="354787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Avaliar é obrigatório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115568" y="3849624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transformação deve responder: o dado transformado ainda representa a mesma coisa que o original?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4654296"/>
            <a:ext cx="11274552" cy="1051560"/>
          </a:xfrm>
          <a:prstGeom prst="roundRect">
            <a:avLst>
              <a:gd name="adj" fmla="val 7826"/>
            </a:avLst>
          </a:prstGeom>
          <a:solidFill>
            <a:srgbClr val="1E3A5A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77240" y="4928616"/>
            <a:ext cx="502920" cy="502920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047488"/>
            <a:ext cx="265176" cy="26517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508760" y="48371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SEGUIR — AULA 9 de 15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508760" y="511149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da Computação</a:t>
            </a:r>
            <a:endParaRPr lang="en-US" sz="1900" dirty="0"/>
          </a:p>
        </p:txBody>
      </p:sp>
      <p:sp>
        <p:nvSpPr>
          <p:cNvPr id="23" name="Text 20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8 · Transformação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0362895" y="65288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2026-08-21T00:44:31Z</dcterms:created>
  <dcterms:modified xsi:type="dcterms:W3CDTF">2026-08-21T00:44:31Z</dcterms:modified>
</cp:coreProperties>
</file>