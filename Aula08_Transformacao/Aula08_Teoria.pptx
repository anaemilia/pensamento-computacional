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645920"/>
            <a:ext cx="4206240" cy="4206240"/>
          </a:xfrm>
          <a:prstGeom prst="ellipse">
            <a:avLst/>
          </a:prstGeom>
          <a:solidFill>
            <a:srgbClr val="2C7A8C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54335" y="548640"/>
            <a:ext cx="2194560" cy="2194560"/>
          </a:xfrm>
          <a:prstGeom prst="ellipse">
            <a:avLst/>
          </a:prstGeom>
          <a:solidFill>
            <a:srgbClr val="E8963C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914400"/>
            <a:ext cx="868680" cy="868680"/>
          </a:xfrm>
          <a:prstGeom prst="ellipse">
            <a:avLst/>
          </a:prstGeom>
          <a:solidFill>
            <a:srgbClr val="2C7A8C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12014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21488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PENSAMENTO COMPUTACIONAL · AULA 8 DE 15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457200" y="2514600"/>
            <a:ext cx="10789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Transformação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457200" y="3977640"/>
            <a:ext cx="9509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i="1" dirty="0">
                <a:solidFill>
                  <a:srgbClr val="C9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uma regra muda dados, representações e interpretações?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8 · Transformação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17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esperamos desta aula?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810512"/>
            <a:ext cx="292608" cy="292608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8105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96112" y="1728216"/>
            <a:ext cx="47274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transformação como técnica de construção de algoritmos.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57200" y="2468880"/>
            <a:ext cx="292608" cy="292608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468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96112" y="2386584"/>
            <a:ext cx="47274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Transformar unidades, categorias e formas de representação de um dado.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57200" y="3127248"/>
            <a:ext cx="292608" cy="292608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31272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96112" y="3044952"/>
            <a:ext cx="47274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um pipeline: várias transformações em sequência.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989320" y="1810512"/>
            <a:ext cx="292608" cy="292608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14" name="Text 12"/>
          <p:cNvSpPr/>
          <p:nvPr/>
        </p:nvSpPr>
        <p:spPr>
          <a:xfrm>
            <a:off x="5989320" y="18105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28232" y="1728216"/>
            <a:ext cx="47274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Filtrar e normalizar dados como formas de transformação.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989320" y="2468880"/>
            <a:ext cx="292608" cy="292608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17" name="Text 15"/>
          <p:cNvSpPr/>
          <p:nvPr/>
        </p:nvSpPr>
        <p:spPr>
          <a:xfrm>
            <a:off x="5989320" y="2468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28232" y="2386584"/>
            <a:ext cx="47274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Avaliar se uma transformação preserva o sentido original do dado.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989320" y="3127248"/>
            <a:ext cx="292608" cy="292608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20" name="Text 18"/>
          <p:cNvSpPr/>
          <p:nvPr/>
        </p:nvSpPr>
        <p:spPr>
          <a:xfrm>
            <a:off x="5989320" y="31272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28232" y="3044952"/>
            <a:ext cx="47274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Praticar as 10 tarefas do Bloco 8 em Julia/Pluto.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" y="5623560"/>
            <a:ext cx="11274552" cy="594360"/>
          </a:xfrm>
          <a:prstGeom prst="roundRect">
            <a:avLst>
              <a:gd name="adj" fmla="val 12308"/>
            </a:avLst>
          </a:prstGeom>
          <a:solidFill>
            <a:srgbClr val="1B3A5C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" y="5623560"/>
            <a:ext cx="10817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8 de 15 · 2 horas · Técnicas de Construção de Algoritmos: Transformação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8 · Transformação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 CENTRAL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é transformação?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874520"/>
            <a:ext cx="5394960" cy="3246120"/>
          </a:xfrm>
          <a:prstGeom prst="roundRect">
            <a:avLst>
              <a:gd name="adj" fmla="val 2535"/>
            </a:avLst>
          </a:prstGeom>
          <a:solidFill>
            <a:srgbClr val="E9F2F3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21305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7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Definição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2587752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a solução de um problema para resolver outro, por meio de uma transformação entre eles.</a:t>
            </a:r>
            <a:endParaRPr lang="en-US" sz="1400" dirty="0"/>
          </a:p>
          <a:p>
            <a:pPr algn="l"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significar reuso, refinamento, evolução ou redução de uma solução existente.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36792" y="1874520"/>
            <a:ext cx="5394960" cy="3246120"/>
          </a:xfrm>
          <a:prstGeom prst="roundRect">
            <a:avLst>
              <a:gd name="adj" fmla="val 2535"/>
            </a:avLst>
          </a:prstGeom>
          <a:solidFill>
            <a:srgbClr val="FCF0E1"/>
          </a:solidFill>
          <a:ln/>
        </p:spPr>
      </p:sp>
      <p:sp>
        <p:nvSpPr>
          <p:cNvPr id="8" name="Text 6"/>
          <p:cNvSpPr/>
          <p:nvPr/>
        </p:nvSpPr>
        <p:spPr>
          <a:xfrm>
            <a:off x="6656832" y="21305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89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Exemplo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656832" y="2587752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Converter uma lista de valores em um dicionário de frequências.</a:t>
            </a:r>
            <a:endParaRPr lang="en-US" sz="1400" dirty="0"/>
          </a:p>
          <a:p>
            <a:pPr algn="l"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Normalizar dados (subtrair o mínimo, dividir pelo intervalo) para comparar escalas diferentes.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5394960"/>
            <a:ext cx="11274552" cy="566928"/>
          </a:xfrm>
          <a:prstGeom prst="roundRect">
            <a:avLst>
              <a:gd name="adj" fmla="val 12903"/>
            </a:avLst>
          </a:prstGeom>
          <a:solidFill>
            <a:srgbClr val="E9EDF3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5394960"/>
            <a:ext cx="10725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transformação deve ser avaliada: o dado transformado ainda representa a mesma coisa?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8 · Transformação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PRÁTICA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Transformação em cadeia: o pipeline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874520"/>
            <a:ext cx="5394960" cy="3246120"/>
          </a:xfrm>
          <a:prstGeom prst="roundRect">
            <a:avLst>
              <a:gd name="adj" fmla="val 2535"/>
            </a:avLst>
          </a:prstGeom>
          <a:solidFill>
            <a:srgbClr val="E9F2F3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21305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7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2587752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várias transformações em sequência, cada uma nomeada por sua função.</a:t>
            </a:r>
            <a:endParaRPr lang="en-US" sz="1400" dirty="0"/>
          </a:p>
          <a:p>
            <a:pPr algn="l"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texto → palavras → contagem → frequência → interpretação.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36792" y="1874520"/>
            <a:ext cx="5394960" cy="3246120"/>
          </a:xfrm>
          <a:prstGeom prst="roundRect">
            <a:avLst>
              <a:gd name="adj" fmla="val 2535"/>
            </a:avLst>
          </a:prstGeom>
          <a:solidFill>
            <a:srgbClr val="FCF0E1"/>
          </a:solidFill>
          <a:ln/>
        </p:spPr>
      </p:sp>
      <p:sp>
        <p:nvSpPr>
          <p:cNvPr id="8" name="Text 6"/>
          <p:cNvSpPr/>
          <p:nvPr/>
        </p:nvSpPr>
        <p:spPr>
          <a:xfrm>
            <a:off x="6656832" y="21305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89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e depois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656832" y="2587752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Sempre compare o dado original e o transformado.</a:t>
            </a:r>
            <a:endParaRPr lang="en-US" sz="1400" dirty="0"/>
          </a:p>
          <a:p>
            <a:pPr algn="l"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Pergunte o que se ganhou e o que se perdeu na transformação.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5394960"/>
            <a:ext cx="11274552" cy="566928"/>
          </a:xfrm>
          <a:prstGeom prst="roundRect">
            <a:avLst>
              <a:gd name="adj" fmla="val 12903"/>
            </a:avLst>
          </a:prstGeom>
          <a:solidFill>
            <a:srgbClr val="E9EDF3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5394960"/>
            <a:ext cx="10725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qualitativo recorrente: transformação e transnumeração.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8 · Transformação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CONEXÃO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Bloco 7 ao Bloco 8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874520"/>
            <a:ext cx="5394960" cy="3246120"/>
          </a:xfrm>
          <a:prstGeom prst="roundRect">
            <a:avLst>
              <a:gd name="adj" fmla="val 2535"/>
            </a:avLst>
          </a:prstGeom>
          <a:solidFill>
            <a:srgbClr val="E9F2F3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21305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7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já vimos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2587752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7: generalização — soluções reutilizáveis em outros contextos.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36792" y="1874520"/>
            <a:ext cx="5394960" cy="3246120"/>
          </a:xfrm>
          <a:prstGeom prst="roundRect">
            <a:avLst>
              <a:gd name="adj" fmla="val 2535"/>
            </a:avLst>
          </a:prstGeom>
          <a:solidFill>
            <a:srgbClr val="FCF0E1"/>
          </a:solidFill>
          <a:ln/>
        </p:spPr>
      </p:sp>
      <p:sp>
        <p:nvSpPr>
          <p:cNvPr id="8" name="Text 6"/>
          <p:cNvSpPr/>
          <p:nvPr/>
        </p:nvSpPr>
        <p:spPr>
          <a:xfrm>
            <a:off x="6656832" y="21305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89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onde vamos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656832" y="2587752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9: limites da computação — o que nenhum algoritmo pode resolver.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54498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Pensamento Computacional — Aula 8 de 15.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8 · Transformação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645920"/>
            <a:ext cx="4206240" cy="4206240"/>
          </a:xfrm>
          <a:prstGeom prst="ellipse">
            <a:avLst/>
          </a:prstGeom>
          <a:solidFill>
            <a:srgbClr val="2C7A8C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54335" y="548640"/>
            <a:ext cx="2194560" cy="2194560"/>
          </a:xfrm>
          <a:prstGeom prst="ellipse">
            <a:avLst/>
          </a:prstGeom>
          <a:solidFill>
            <a:srgbClr val="E8963C">
              <a:alpha val="1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1005840"/>
            <a:ext cx="384048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0" b="1" dirty="0">
                <a:solidFill>
                  <a:srgbClr val="1B3A5C">
                    <a:alpha val="55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40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8 · TRANSFORMAÇÃO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841248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Técnicas de construção de algoritmos: transformação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57200" y="157276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C9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tarefas em formato de pergunta, com exemplos em Julia/Pluto.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8138160" cy="1417320"/>
          </a:xfrm>
          <a:prstGeom prst="roundRect">
            <a:avLst>
              <a:gd name="adj" fmla="val 5806"/>
            </a:avLst>
          </a:prstGeom>
          <a:solidFill>
            <a:srgbClr val="17304F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3317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PERGUNTA-GUIA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2624328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uma regra muda dados, representações e interpretações?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7200" y="3794760"/>
            <a:ext cx="8138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9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Neste bloco, as tarefas usam Julia e Pluto para transformar conceitos da ementa em ações observáveis: organizar, representar, manipular, interpretar e revisar.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7200" y="489204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C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abre a aula; o código serve para tornar a relação conceitual discutível.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8 · Transformação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8 · TRANSFORMAÇÃO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548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07008" y="50292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transformar unidades?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457200" y="1481328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5760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valores em Celsius.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Aplique fórmula.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escalas.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37960" y="502920"/>
            <a:ext cx="5166360" cy="2697480"/>
          </a:xfrm>
          <a:prstGeom prst="roundRect">
            <a:avLst>
              <a:gd name="adj" fmla="val 2712"/>
            </a:avLst>
          </a:prstGeom>
          <a:solidFill>
            <a:srgbClr val="0F2038"/>
          </a:solidFill>
          <a:ln/>
        </p:spPr>
      </p:sp>
      <p:sp>
        <p:nvSpPr>
          <p:cNvPr id="9" name="Text 7"/>
          <p:cNvSpPr/>
          <p:nvPr/>
        </p:nvSpPr>
        <p:spPr>
          <a:xfrm>
            <a:off x="6812280" y="65836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812280" y="987552"/>
            <a:ext cx="4617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celsius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fahrenheit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celsius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.*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.+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E9F2F3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" y="3931920"/>
            <a:ext cx="49194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Transnumeração entre escalas.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Wessels: transnumeração torna dados interpretáveis em nova forma.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Queiroz: representações ampliam a percepção de propriedades e relações.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Relato: articular código, texto, tabela, gráfico e interpretação.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FCF0E1"/>
          </a:solidFill>
          <a:ln/>
        </p:spPr>
      </p:sp>
      <p:sp>
        <p:nvSpPr>
          <p:cNvPr id="15" name="Text 13"/>
          <p:cNvSpPr/>
          <p:nvPr/>
        </p:nvSpPr>
        <p:spPr>
          <a:xfrm>
            <a:off x="653796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37960" y="3931920"/>
            <a:ext cx="4919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transformação evidencia que o mesmo fenômeno pode ser representado em diferentes sistemas.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7960" y="5440680"/>
            <a:ext cx="49194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i="1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8 · Transformação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8 · TRANSFORMAÇÃO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548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07008" y="50292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transformar valores em categorias?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457200" y="1481328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5760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médias numéricas.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Classifique cada uma.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Discuta perda e ganho de informação.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37960" y="502920"/>
            <a:ext cx="5166360" cy="2697480"/>
          </a:xfrm>
          <a:prstGeom prst="roundRect">
            <a:avLst>
              <a:gd name="adj" fmla="val 2712"/>
            </a:avLst>
          </a:prstGeom>
          <a:solidFill>
            <a:srgbClr val="0F2038"/>
          </a:solidFill>
          <a:ln/>
        </p:spPr>
      </p:sp>
      <p:sp>
        <p:nvSpPr>
          <p:cNvPr id="9" name="Text 7"/>
          <p:cNvSpPr/>
          <p:nvPr/>
        </p:nvSpPr>
        <p:spPr>
          <a:xfrm>
            <a:off x="6812280" y="65836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812280" y="987552"/>
            <a:ext cx="4617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medias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4.5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6.5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8.0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categorias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A7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"ok"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A7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"rever"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E89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E89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medias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E9F2F3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" y="3931920"/>
            <a:ext cx="49194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Mudança de representação quantitativa para qualitativa.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Wessels: o contexto e o tipo de dado influenciam a representação escolhida.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Queiroz: múltiplas expressões exibem aspectos distintos do mesmo conceito.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Relato: solicitar explicação do raciocínio desenvolvido.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FCF0E1"/>
          </a:solidFill>
          <a:ln/>
        </p:spPr>
      </p:sp>
      <p:sp>
        <p:nvSpPr>
          <p:cNvPr id="15" name="Text 13"/>
          <p:cNvSpPr/>
          <p:nvPr/>
        </p:nvSpPr>
        <p:spPr>
          <a:xfrm>
            <a:off x="653796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37960" y="3931920"/>
            <a:ext cx="4919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Categorizar simplifica a leitura, mas pode esconder nuances dos dados.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7960" y="5440680"/>
            <a:ext cx="49194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i="1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8 · Transformação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8 · TRANSFORMAÇÃO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548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07008" y="50292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transformar dados brutos em frequência?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457200" y="1481328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5760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 ocorrências.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dicionário.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Interprete a distribuição.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37960" y="502920"/>
            <a:ext cx="5166360" cy="2697480"/>
          </a:xfrm>
          <a:prstGeom prst="roundRect">
            <a:avLst>
              <a:gd name="adj" fmla="val 2712"/>
            </a:avLst>
          </a:prstGeom>
          <a:solidFill>
            <a:srgbClr val="0F2038"/>
          </a:solidFill>
          <a:ln/>
        </p:spPr>
      </p:sp>
      <p:sp>
        <p:nvSpPr>
          <p:cNvPr id="9" name="Text 7"/>
          <p:cNvSpPr/>
          <p:nvPr/>
        </p:nvSpPr>
        <p:spPr>
          <a:xfrm>
            <a:off x="6812280" y="65836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812280" y="987552"/>
            <a:ext cx="4617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["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A7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","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A7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","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A7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","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A7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","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"]</a:t>
            </a:r>
            <a:endParaRPr lang="en-US" sz="12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freq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E89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Dict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algn="l"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E89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(==(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E89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E89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E89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unique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E9F2F3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" y="3931920"/>
            <a:ext cx="49194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Organização e síntese de dados.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Wessels: organizar dados é componente crítico da representação.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Queiroz: representações ampliam a percepção de propriedades e relações.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Relato: articular código, texto, tabela, gráfico e interpretação.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FCF0E1"/>
          </a:solidFill>
          <a:ln/>
        </p:spPr>
      </p:sp>
      <p:sp>
        <p:nvSpPr>
          <p:cNvPr id="15" name="Text 13"/>
          <p:cNvSpPr/>
          <p:nvPr/>
        </p:nvSpPr>
        <p:spPr>
          <a:xfrm>
            <a:off x="653796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37960" y="3931920"/>
            <a:ext cx="4919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Frequência transforma respostas individuais em padrão coletivo.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7960" y="5440680"/>
            <a:ext cx="49194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i="1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8 · Transformação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8 · TRANSFORMAÇÃO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548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07008" y="50292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transformar uma lista filtrando valores?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457200" y="1481328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5760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Defina critério.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Selecione elementos.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Discuta o que ficou fora.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37960" y="502920"/>
            <a:ext cx="5166360" cy="2697480"/>
          </a:xfrm>
          <a:prstGeom prst="roundRect">
            <a:avLst>
              <a:gd name="adj" fmla="val 2712"/>
            </a:avLst>
          </a:prstGeom>
          <a:solidFill>
            <a:srgbClr val="0F2038"/>
          </a:solidFill>
          <a:ln/>
        </p:spPr>
      </p:sp>
      <p:sp>
        <p:nvSpPr>
          <p:cNvPr id="9" name="Text 7"/>
          <p:cNvSpPr/>
          <p:nvPr/>
        </p:nvSpPr>
        <p:spPr>
          <a:xfrm>
            <a:off x="6812280" y="65836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812280" y="987552"/>
            <a:ext cx="4617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notas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altas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E89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E89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notas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E89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E9F2F3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" y="3931920"/>
            <a:ext cx="49194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Filtragem como interação baseada em tarefa.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Relato: explicitar variáveis, relações e restrições.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Queiroz: a análise qualitativa observa invariantes e relações mobilizadas na ação.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Wessels: listas, tabelas e gráficos comunicam histórias diferentes dos dados.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FCF0E1"/>
          </a:solidFill>
          <a:ln/>
        </p:spPr>
      </p:sp>
      <p:sp>
        <p:nvSpPr>
          <p:cNvPr id="15" name="Text 13"/>
          <p:cNvSpPr/>
          <p:nvPr/>
        </p:nvSpPr>
        <p:spPr>
          <a:xfrm>
            <a:off x="653796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37960" y="3931920"/>
            <a:ext cx="4919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Filtrar exige explicitar critério e refletir sobre a parte do conjunto selecionada.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7960" y="5440680"/>
            <a:ext cx="49194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i="1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8 · Transformação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8 · TRANSFORMAÇÃO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548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07008" y="50292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transformar dados por normalização?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457200" y="1481328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5760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Subtraia o mínimo.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Divida pelo intervalo.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antes e depois.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37960" y="502920"/>
            <a:ext cx="5166360" cy="2697480"/>
          </a:xfrm>
          <a:prstGeom prst="roundRect">
            <a:avLst>
              <a:gd name="adj" fmla="val 2712"/>
            </a:avLst>
          </a:prstGeom>
          <a:solidFill>
            <a:srgbClr val="0F2038"/>
          </a:solidFill>
          <a:ln/>
        </p:spPr>
      </p:sp>
      <p:sp>
        <p:nvSpPr>
          <p:cNvPr id="9" name="Text 7"/>
          <p:cNvSpPr/>
          <p:nvPr/>
        </p:nvSpPr>
        <p:spPr>
          <a:xfrm>
            <a:off x="6812280" y="65836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812280" y="987552"/>
            <a:ext cx="4617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normalizado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.-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E89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minimum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E89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maximum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)-</a:t>
            </a:r>
            <a:pPr algn="l"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E89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minimum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E9F2F3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" y="3931920"/>
            <a:ext cx="49194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Transformação para nova escala interpretativa.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Wessels: transnumeração torna dados interpretáveis em nova forma.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Queiroz: múltiplas expressões exibem aspectos distintos do mesmo conceito.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Relato: articular código, texto, tabela, gráfico e interpretação.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FCF0E1"/>
          </a:solidFill>
          <a:ln/>
        </p:spPr>
      </p:sp>
      <p:sp>
        <p:nvSpPr>
          <p:cNvPr id="15" name="Text 13"/>
          <p:cNvSpPr/>
          <p:nvPr/>
        </p:nvSpPr>
        <p:spPr>
          <a:xfrm>
            <a:off x="653796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37960" y="3931920"/>
            <a:ext cx="4919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Normalizar mostra que dados podem manter ordem relativa mesmo mudando de escala.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7960" y="5440680"/>
            <a:ext cx="49194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i="1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8 · Transformação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17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8 · TRANSFORMAÇÃO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548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07008" y="50292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transformar forma de representação?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457200" y="1481328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5760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Converta lista para pares.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para dicionário.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acessos.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37960" y="502920"/>
            <a:ext cx="5166360" cy="2697480"/>
          </a:xfrm>
          <a:prstGeom prst="roundRect">
            <a:avLst>
              <a:gd name="adj" fmla="val 2712"/>
            </a:avLst>
          </a:prstGeom>
          <a:solidFill>
            <a:srgbClr val="0F2038"/>
          </a:solidFill>
          <a:ln/>
        </p:spPr>
      </p:sp>
      <p:sp>
        <p:nvSpPr>
          <p:cNvPr id="9" name="Text 7"/>
          <p:cNvSpPr/>
          <p:nvPr/>
        </p:nvSpPr>
        <p:spPr>
          <a:xfrm>
            <a:off x="6812280" y="65836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812280" y="987552"/>
            <a:ext cx="4617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nomes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["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A7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","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"]</a:t>
            </a:r>
            <a:endParaRPr lang="en-US" sz="12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valores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pares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E89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E89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zip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nomes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valores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endParaRPr lang="en-US" sz="12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dict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E89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Dict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pares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E9F2F3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" y="3931920"/>
            <a:ext cx="49194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Múltiplas representações de uma mesma relação.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Wessels: múltiplas representações indicam modelagem mais bem-sucedida.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Queiroz: representações ampliam a percepção de propriedades e relações.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Relato: articular código, texto, tabela, gráfico e interpretação.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FCF0E1"/>
          </a:solidFill>
          <a:ln/>
        </p:spPr>
      </p:sp>
      <p:sp>
        <p:nvSpPr>
          <p:cNvPr id="15" name="Text 13"/>
          <p:cNvSpPr/>
          <p:nvPr/>
        </p:nvSpPr>
        <p:spPr>
          <a:xfrm>
            <a:off x="653796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37960" y="3931920"/>
            <a:ext cx="4919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relação nome–valor pode ser vista como tabela, pares ou dicionário, cada qual com um uso.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7960" y="5440680"/>
            <a:ext cx="49194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i="1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8 · Transformação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17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8 · TRANSFORMAÇÃO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548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07008" y="50292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transformar processo em pipeline?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457200" y="1481328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5760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Aplique várias operações em sequência.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Nomeie cada etapa.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Interprete o resultado.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37960" y="502920"/>
            <a:ext cx="5166360" cy="2697480"/>
          </a:xfrm>
          <a:prstGeom prst="roundRect">
            <a:avLst>
              <a:gd name="adj" fmla="val 2712"/>
            </a:avLst>
          </a:prstGeom>
          <a:solidFill>
            <a:srgbClr val="0F2038"/>
          </a:solidFill>
          <a:ln/>
        </p:spPr>
      </p:sp>
      <p:sp>
        <p:nvSpPr>
          <p:cNvPr id="9" name="Text 7"/>
          <p:cNvSpPr/>
          <p:nvPr/>
        </p:nvSpPr>
        <p:spPr>
          <a:xfrm>
            <a:off x="6812280" y="65836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812280" y="987552"/>
            <a:ext cx="4617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resultado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E89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.^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E9F2F3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" y="3931920"/>
            <a:ext cx="49194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Composição de transformações.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Queiroz: a tarefa deve articular dimensão material e cognitiva.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Relato: incluir revisão, depuração e reconstrução.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Wessels: níveis SOLO ajudam a observar respostas de menor a maior integração.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FCF0E1"/>
          </a:solidFill>
          <a:ln/>
        </p:spPr>
      </p:sp>
      <p:sp>
        <p:nvSpPr>
          <p:cNvPr id="15" name="Text 13"/>
          <p:cNvSpPr/>
          <p:nvPr/>
        </p:nvSpPr>
        <p:spPr>
          <a:xfrm>
            <a:off x="653796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37960" y="3931920"/>
            <a:ext cx="4919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pipeline torna visível que resultados podem surgir de transformações encadeadas.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7960" y="5440680"/>
            <a:ext cx="49194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i="1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8 · Transformação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17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8 · TRANSFORMAÇÃO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548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07008" y="50292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transformar texto em dados?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457200" y="1481328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5760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Quebre uma frase.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 palavras.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Interprete frequência.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37960" y="502920"/>
            <a:ext cx="5166360" cy="2697480"/>
          </a:xfrm>
          <a:prstGeom prst="roundRect">
            <a:avLst>
              <a:gd name="adj" fmla="val 2712"/>
            </a:avLst>
          </a:prstGeom>
          <a:solidFill>
            <a:srgbClr val="0F2038"/>
          </a:solidFill>
          <a:ln/>
        </p:spPr>
      </p:sp>
      <p:sp>
        <p:nvSpPr>
          <p:cNvPr id="9" name="Text 7"/>
          <p:cNvSpPr/>
          <p:nvPr/>
        </p:nvSpPr>
        <p:spPr>
          <a:xfrm>
            <a:off x="6812280" y="65836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812280" y="987552"/>
            <a:ext cx="4617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frase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A7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"dados viram modelo"</a:t>
            </a:r>
            <a:endParaRPr lang="en-US" sz="12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palavras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E89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split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frase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E89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palavras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E9F2F3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" y="3931920"/>
            <a:ext cx="49194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Representação de texto como coleção.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Wessels: organizar dados é componente crítico da representação.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Queiroz: múltiplas expressões exibem aspectos distintos do mesmo conceito.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Relato: articular código, texto, tabela, gráfico e interpretação.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FCF0E1"/>
          </a:solidFill>
          <a:ln/>
        </p:spPr>
      </p:sp>
      <p:sp>
        <p:nvSpPr>
          <p:cNvPr id="15" name="Text 13"/>
          <p:cNvSpPr/>
          <p:nvPr/>
        </p:nvSpPr>
        <p:spPr>
          <a:xfrm>
            <a:off x="653796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37960" y="3931920"/>
            <a:ext cx="4919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 também pode ser modelado como dados, aproximando linguagem e computação.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7960" y="5440680"/>
            <a:ext cx="49194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i="1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8 · Transformação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17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8 · TRANSFORMAÇÃO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548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07008" y="50292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transformar sem perder sentido?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457200" y="1481328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5760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dado original e transformado.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Identifique informação preservada.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Identifique informação perdida.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37960" y="502920"/>
            <a:ext cx="5166360" cy="2697480"/>
          </a:xfrm>
          <a:prstGeom prst="roundRect">
            <a:avLst>
              <a:gd name="adj" fmla="val 2712"/>
            </a:avLst>
          </a:prstGeom>
          <a:solidFill>
            <a:srgbClr val="0F2038"/>
          </a:solidFill>
          <a:ln/>
        </p:spPr>
      </p:sp>
      <p:sp>
        <p:nvSpPr>
          <p:cNvPr id="9" name="Text 7"/>
          <p:cNvSpPr/>
          <p:nvPr/>
        </p:nvSpPr>
        <p:spPr>
          <a:xfrm>
            <a:off x="6812280" y="65836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812280" y="987552"/>
            <a:ext cx="4617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original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transformado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original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.&gt;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E9F2F3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" y="3931920"/>
            <a:ext cx="49194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qualidade depende da mensagem dos dados.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Wessels: listas, tabelas e gráficos comunicam histórias diferentes dos dados.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Queiroz: o resultado final não esgota a aprendizagem do conceito.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Relato: reconhecer limites da ferramenta e do modelo.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FCF0E1"/>
          </a:solidFill>
          <a:ln/>
        </p:spPr>
      </p:sp>
      <p:sp>
        <p:nvSpPr>
          <p:cNvPr id="15" name="Text 13"/>
          <p:cNvSpPr/>
          <p:nvPr/>
        </p:nvSpPr>
        <p:spPr>
          <a:xfrm>
            <a:off x="653796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37960" y="3931920"/>
            <a:ext cx="4919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Transformações devem ser avaliadas pelo que tornam visível e pelo que ocultam.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7960" y="5440680"/>
            <a:ext cx="49194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i="1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8 · Transformação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17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8 · TRANSFORMAÇÃO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548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07008" y="50292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avaliar transformação de dados?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457200" y="1481328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5760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Peça regra, antes/depois e interpretação.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Solicite justificativa da escolha.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Analise adequação.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37960" y="502920"/>
            <a:ext cx="5166360" cy="2697480"/>
          </a:xfrm>
          <a:prstGeom prst="roundRect">
            <a:avLst>
              <a:gd name="adj" fmla="val 2712"/>
            </a:avLst>
          </a:prstGeom>
          <a:solidFill>
            <a:srgbClr val="0F2038"/>
          </a:solidFill>
          <a:ln/>
        </p:spPr>
      </p:sp>
      <p:sp>
        <p:nvSpPr>
          <p:cNvPr id="9" name="Text 7"/>
          <p:cNvSpPr/>
          <p:nvPr/>
        </p:nvSpPr>
        <p:spPr>
          <a:xfrm>
            <a:off x="6812280" y="65836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812280" y="987552"/>
            <a:ext cx="4617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registro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antes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="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A7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depois="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frequencia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A7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regra="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contar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E9F2F3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" y="3931920"/>
            <a:ext cx="49194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Transnumeração bem-sucedida depende da interpretação.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Wessels: transnumeração torna dados interpretáveis em nova forma.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Queiroz: o percurso da tarefa revela mudanças no discurso e na ação.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Relato: avaliar o percurso de pensamento, não apenas o código final.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FCF0E1"/>
          </a:solidFill>
          <a:ln/>
        </p:spPr>
      </p:sp>
      <p:sp>
        <p:nvSpPr>
          <p:cNvPr id="15" name="Text 13"/>
          <p:cNvSpPr/>
          <p:nvPr/>
        </p:nvSpPr>
        <p:spPr>
          <a:xfrm>
            <a:off x="653796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37960" y="3931920"/>
            <a:ext cx="4919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Avaliar transformação é verificar se a nova forma ajuda a responder melhor à pergunta.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7960" y="5440680"/>
            <a:ext cx="49194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i="1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8 · Transformação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17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645920"/>
            <a:ext cx="4206240" cy="4206240"/>
          </a:xfrm>
          <a:prstGeom prst="ellipse">
            <a:avLst/>
          </a:prstGeom>
          <a:solidFill>
            <a:srgbClr val="2C7A8C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54335" y="548640"/>
            <a:ext cx="2194560" cy="2194560"/>
          </a:xfrm>
          <a:prstGeom prst="ellipse">
            <a:avLst/>
          </a:prstGeom>
          <a:solidFill>
            <a:srgbClr val="E8963C">
              <a:alpha val="1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 DA AULA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Transformação: a mesma ideia, novas formas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457200" cy="457200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15568" y="175564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Transformar é reaproveitar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115568" y="205740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Transformação usa a solução de um problema para resolver outro — por reuso, refinamento, evolução ou redução.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679192"/>
            <a:ext cx="457200" cy="457200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679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15568" y="265176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Pipelines encadeiam etapas nomeadas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15568" y="2953512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transformação é nomeada por sua função; sempre comparando o dado antes e depois da mudança.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3575304"/>
            <a:ext cx="457200" cy="457200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5753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15568" y="3547872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Avaliar é obrigatório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15568" y="3849624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transformação deve responder: o dado transformado ainda representa a mesma coisa que o original?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57200" y="4654296"/>
            <a:ext cx="11274552" cy="1051560"/>
          </a:xfrm>
          <a:prstGeom prst="roundRect">
            <a:avLst>
              <a:gd name="adj" fmla="val 7826"/>
            </a:avLst>
          </a:prstGeom>
          <a:solidFill>
            <a:srgbClr val="1E3A5A"/>
          </a:solidFill>
          <a:ln/>
        </p:spPr>
      </p:sp>
      <p:sp>
        <p:nvSpPr>
          <p:cNvPr id="19" name="Shape 17"/>
          <p:cNvSpPr/>
          <p:nvPr/>
        </p:nvSpPr>
        <p:spPr>
          <a:xfrm>
            <a:off x="777240" y="4928616"/>
            <a:ext cx="502920" cy="502920"/>
          </a:xfrm>
          <a:prstGeom prst="ellipse">
            <a:avLst/>
          </a:prstGeom>
          <a:solidFill>
            <a:srgbClr val="E8963C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047488"/>
            <a:ext cx="265176" cy="265176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508760" y="48371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SEGUIR — AULA 9 de 15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1508760" y="5111496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Limites da Computação</a:t>
            </a:r>
            <a:endParaRPr lang="en-US" sz="1900" dirty="0"/>
          </a:p>
        </p:txBody>
      </p:sp>
      <p:sp>
        <p:nvSpPr>
          <p:cNvPr id="23" name="Text 20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8 · Transformação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2026-08-21T00:44:31Z</dcterms:created>
  <dcterms:modified xsi:type="dcterms:W3CDTF">2026-08-21T00:44:31Z</dcterms:modified>
</cp:coreProperties>
</file>