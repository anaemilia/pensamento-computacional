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3" r:id="rId24"/>
    <p:sldId id="265" r:id="rId11"/>
    <p:sldId id="266" r:id="rId12"/>
    <p:sldId id="274" r:id="rId25"/>
    <p:sldId id="267" r:id="rId13"/>
    <p:sldId id="275" r:id="rId26"/>
    <p:sldId id="268" r:id="rId14"/>
    <p:sldId id="276" r:id="rId27"/>
    <p:sldId id="269" r:id="rId15"/>
    <p:sldId id="277" r:id="rId28"/>
    <p:sldId id="270" r:id="rId16"/>
    <p:sldId id="271" r:id="rId17"/>
    <p:sldId id="272" r:id="rId18"/>
    <p:sldId id="278" r:id="rId29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  <Relationship Id="rId24" Type="http://schemas.openxmlformats.org/officeDocument/2006/relationships/slide" Target="slides/slide18.xml"/>
  <Relationship Id="rId25" Type="http://schemas.openxmlformats.org/officeDocument/2006/relationships/slide" Target="slides/slide19.xml"/>
  <Relationship Id="rId26" Type="http://schemas.openxmlformats.org/officeDocument/2006/relationships/slide" Target="slides/slide20.xml"/>
  <Relationship Id="rId27" Type="http://schemas.openxmlformats.org/officeDocument/2006/relationships/slide" Target="slides/slide21.xml"/>
  <Relationship Id="rId28" Type="http://schemas.openxmlformats.org/officeDocument/2006/relationships/slide" Target="slides/slide22.xml"/>
  <Relationship Id="rId29" Type="http://schemas.openxmlformats.org/officeDocument/2006/relationships/slide" Target="slides/slide23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3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645920"/>
            <a:ext cx="4206240" cy="4206240"/>
          </a:xfrm>
          <a:prstGeom prst="ellipse">
            <a:avLst/>
          </a:prstGeom>
          <a:solidFill>
            <a:srgbClr val="2C7A8C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54335" y="548640"/>
            <a:ext cx="2194560" cy="219456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914400"/>
            <a:ext cx="868680" cy="86868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1201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1488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· AULA 8 DE 15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251460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Transformação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457200" y="397764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uma regra muda dados, representações e interpretações?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esperamos desta aula?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10512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96112" y="1728216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transformação como técnica de construção de algoritmos.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2386584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Transformar unidades, categorias e formas de representação de um dado.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127248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7200" y="3127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96112" y="3044952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um pipeline: várias transformações em sequência.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989320" y="1810512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89320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1728216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e normalizar dados como formas de transformação.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89320" y="2468880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8932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28232" y="2386584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se uma transformação preserva o sentido original do dado.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989320" y="3127248"/>
            <a:ext cx="292608" cy="29260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89320" y="3127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3044952"/>
            <a:ext cx="4727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Praticar as 10 tarefas do Bloco 8 em Julia/Pluto.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5623560"/>
            <a:ext cx="11274552" cy="594360"/>
          </a:xfrm>
          <a:prstGeom prst="roundRect">
            <a:avLst>
              <a:gd name="adj" fmla="val 12308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5623560"/>
            <a:ext cx="10817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de 15 · 2 horas · Técnicas de Construção de Algoritmos: Transformação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CENTRAL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transformação?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Definição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a solução de um problema para resolver outro, por meio de uma transformação entre eles.</a:t>
            </a:r>
            <a:endParaRPr lang="en-US" sz="1400" dirty="0"/>
          </a:p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significar reuso, refinamento, evolução ou redução de uma solução existente.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36792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656832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56832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Converter uma lista de valores em um dicionário de frequências.</a:t>
            </a:r>
            <a:endParaRPr lang="en-US" sz="1400" dirty="0"/>
          </a:p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Normalizar dados (subtrair o mínimo, dividir pelo intervalo) para comparar escalas diferentes.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5394960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E9EDF3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5394960"/>
            <a:ext cx="10725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transformação deve ser avaliada: o dado transformado ainda representa a mesma coisa?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Transformação em cadeia: o pipeline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várias transformações em sequência, cada uma nomeada por sua função.</a:t>
            </a:r>
            <a:endParaRPr lang="en-US" sz="1400" dirty="0"/>
          </a:p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texto → palavras → contagem → frequência → interpretação.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36792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656832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e depois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56832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compare o dado original e o transformado.</a:t>
            </a:r>
            <a:endParaRPr lang="en-US" sz="1400" dirty="0"/>
          </a:p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Pergunte o que se ganhou e o que se perdeu na transformação.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5394960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E9EDF3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5394960"/>
            <a:ext cx="10725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qualitativo recorrente: transformação e transnumeração.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Bloco 7 ao Bloco 8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vimos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7: generalização — soluções reutilizáveis em outros contextos.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36792" y="187452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656832" y="2130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onde vamos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56832" y="2587752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9: limites da computação — o que nenhum algoritmo pode resolver.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54498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— Aula 8 de 15.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645920"/>
            <a:ext cx="4206240" cy="4206240"/>
          </a:xfrm>
          <a:prstGeom prst="ellipse">
            <a:avLst/>
          </a:prstGeom>
          <a:solidFill>
            <a:srgbClr val="2C7A8C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54335" y="548640"/>
            <a:ext cx="2194560" cy="219456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863840" y="1005840"/>
            <a:ext cx="384048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0" b="1" dirty="0">
                <a:solidFill>
                  <a:srgbClr val="1B3A5C">
                    <a:alpha val="5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841248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Técnicas de construção de algoritmos: transformação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57276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tarefas em formato de pergunta, com exemplos em Julia/Pluto.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8138160" cy="1417320"/>
          </a:xfrm>
          <a:prstGeom prst="roundRect">
            <a:avLst>
              <a:gd name="adj" fmla="val 5806"/>
            </a:avLst>
          </a:prstGeom>
          <a:solidFill>
            <a:srgbClr val="17304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77240" y="2331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PERGUNTA-GUIA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62432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uma regra muda dados, representações e interpretações?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379476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bloco, as tarefas usam Julia e Pluto para transformar conceitos da ementa em ações observáveis: organizar, representar, manipular, interpretar e revisar.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7200" y="48920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abre a aula; o código serve para tornar a relação conceitual discutível.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unidades?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valores em Celsius.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 fórmula.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escalas.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celsius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fahrenheit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celsius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.*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.+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entre escalas.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torna dados interpretáveis em nova forma.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ampliam a percepção de propriedades e relações.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transformação evidencia que o mesmo fenômeno pode ser representado em diferentes sistemas.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valores em categorias?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médias numéricas.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Classifique cada uma.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perda e ganho de informação.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4.5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6.5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"ok"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"rever"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 de representação quantitativa para qualitativa.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 e o tipo de dado influenciam a representação escolhida.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expressões exibem aspectos distintos do mesmo conceito.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explicação do raciocínio desenvolvido.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Categorizar simplifica a leitura, mas pode esconder nuances dos dados.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dados brutos em frequência?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 ocorrências.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dicionário.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 a distribuição.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(==(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 e síntese de dados.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 dados é componente crítico da representação.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ampliam a percepção de propriedades e relações.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Frequência transforma respostas individuais em padrão coletivo.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uma lista filtrando valores?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critério.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elementos.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o que ficou fora.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Filtragem como interação baseada em tarefa.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Explicitar variáveis, relações e restrições.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qualitativa observa invariantes e relações mobilizadas na ação.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Listas, tabelas e gráficos comunicam histórias diferentes dos dados.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exige explicitar critério e refletir sobre a parte do conjunto selecionada.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dados por normalização?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Subtraia o mínimo.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Divida pelo intervalo.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antes e depois.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normalizado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.-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minimum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maximum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minimum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Transformação para nova escala interpretativa.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torna dados interpretáveis em nova forma.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expressões exibem aspectos distintos do mesmo conceito.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Normalizar mostra que dados podem manter ordem relativa mesmo mudando de escala.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forma de representação?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Converta lista para pares.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para dicionário.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acessos.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zip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representações de uma mesma relação.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representações indicam modelagem mais bem-sucedida.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ampliam a percepção de propriedades e relações.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relação nome–valor pode ser vista como tabela, pares ou dicionário, cada qual com um uso.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processo em pipeline?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 várias operações em sequência.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Nomeie cada etapa.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 o resultado.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.^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Composição de transformações.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tarefa deve articular dimensão material e cognitiva.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Incluir revisão, depuração e reconstrução.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pipeline torna visível que resultados podem surgir de transformações encadeadas.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texto em dados?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Quebre uma frase.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 palavras.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 frequência.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frase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"dados viram modelo"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palavras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frase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palavras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Representação de texto como coleção.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 dados é componente crítico da representação.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expressões exibem aspectos distintos do mesmo conceito.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também pode ser modelado como dados, aproximando linguagem e computação.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sem perder sentido?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dado original e transformado.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Identifique informação preservada.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Identifique informação perdida.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original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transformado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original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.&gt;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0B3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qualidade depende da mensagem dos dados.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Listas, tabelas e gráficos comunicam histórias diferentes dos dados.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final não esgota a aprendizagem do conceito.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limites da ferramenta e do modelo.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Transformações devem ser avaliadas pelo que tornam visível e pelo que ocultam.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8 · TRANSFORMAÇÃO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548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07008" y="5029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avaliar transformação de dados?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regra, antes/depois e interpretação.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Solicite justificativa da escolha.</a:t>
            </a:r>
            <a:endParaRPr lang="en-US" sz="1300" dirty="0"/>
          </a:p>
          <a:p>
            <a:pPr algn="l"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Analise adequação.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37960" y="502920"/>
            <a:ext cx="5166360" cy="2697480"/>
          </a:xfrm>
          <a:prstGeom prst="roundRect">
            <a:avLst>
              <a:gd name="adj" fmla="val 2712"/>
            </a:avLst>
          </a:prstGeom>
          <a:solidFill>
            <a:srgbClr val="0F20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12280" y="6583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8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987552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registro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depois="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frequencia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A7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regra="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8E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contar</a:t>
            </a:r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E9F2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4919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bem-sucedida depende da interpretação.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torna dados interpretáveis em nova forma.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percurso da tarefa revela mudanças no discurso e na ação.</a:t>
            </a:r>
            <a:endParaRPr lang="en-US" sz="1100" dirty="0"/>
          </a:p>
          <a:p>
            <a:pPr algn="l" marL="152400" indent="-1524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429000"/>
            <a:ext cx="5468112" cy="2788920"/>
          </a:xfrm>
          <a:prstGeom prst="roundRect">
            <a:avLst>
              <a:gd name="adj" fmla="val 2623"/>
            </a:avLst>
          </a:prstGeom>
          <a:solidFill>
            <a:srgbClr val="FCF0E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37960" y="361188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931920"/>
            <a:ext cx="491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transformação é verificar se a nova forma ajuda a responder melhor à pergunta.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5440680"/>
            <a:ext cx="49194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645920"/>
            <a:ext cx="4206240" cy="4206240"/>
          </a:xfrm>
          <a:prstGeom prst="ellipse">
            <a:avLst/>
          </a:prstGeom>
          <a:solidFill>
            <a:srgbClr val="2C7A8C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54335" y="548640"/>
            <a:ext cx="2194560" cy="219456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 AULA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Transformação: a mesma ideia, novas formas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15568" y="175564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Transformar é reaproveitar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115568" y="20574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Transformação usa a solução de um problema para resolver outro — por reuso, refinamento, evolução ou redução.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79192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720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15568" y="265176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Pipelines encadeiam etapas nomeadas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15568" y="2953512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transformação é nomeada por sua função; sempre comparando o dado antes e depois da mudança.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575304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7200" y="3575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15568" y="354787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Avaliar é obrigatório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15568" y="3849624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transformação deve responder: o dado transformado ainda representa a mesma coisa que o original?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4654296"/>
            <a:ext cx="11274552" cy="1051560"/>
          </a:xfrm>
          <a:prstGeom prst="roundRect">
            <a:avLst>
              <a:gd name="adj" fmla="val 7826"/>
            </a:avLst>
          </a:prstGeom>
          <a:solidFill>
            <a:srgbClr val="1E3A5A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77240" y="4928616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047488"/>
            <a:ext cx="265176" cy="26517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508760" y="48371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 — AULA 9 de 15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508760" y="511149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da Computação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08  ·  Bloco 8 · Tarefa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transformar dados brutos em frequência?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8153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81534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6690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 = ["A","B","A","C","A"]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freq = Dict(x=&gt;count(==(x), dados) for x in unique(dados))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278380"/>
            <a:ext cx="11185855" cy="425958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278380"/>
            <a:ext cx="54864" cy="425958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69820"/>
            <a:ext cx="10728655" cy="4076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["A", "B", "A", "C", "A"]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["A", "B", "C"]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count(==(x), dados)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"A" → 3 ocorrências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x = "B" → 1 ocorrência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x = "C" → 1 ocorrência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freq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{"A" =&gt; 3, "B" =&gt; 1, "C" =&gt; 1}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08  ·  Bloco 8 · Tarefa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transformar dados por normalização?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8153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81534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6690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[10, 20, 30]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normalizado = (x .- minimum(x)) ./ (maximum(x)-minimum(x))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278380"/>
            <a:ext cx="11185855" cy="425958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278380"/>
            <a:ext cx="54864" cy="425958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69820"/>
            <a:ext cx="10728655" cy="4076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[10, 20, 30]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minimum(x)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maximum(x)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.- minimum(x)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[0, 10, 20]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maximum(x) − minimum(x)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30 − 10 = 20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normalizado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[0.0, 0.5, 1.0]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08  ·  Bloco 8 · Tarefa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transformar forma de representação?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13106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131064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1164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nomes = ["A","B"]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valores = [10,20]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pares = collect(zip(nomes,valores))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 = Dict(pares)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773680"/>
            <a:ext cx="11185855" cy="376428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773680"/>
            <a:ext cx="54864" cy="376428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865120"/>
            <a:ext cx="10728655" cy="3581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nomes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["A", "B"]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valores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[10, 20]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associa nomes e valores, posição a posição: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("A", 10)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("B", 20)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pares = [("A", 10), ("B", 20)]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Dict(pares)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{"A" =&gt; 10, "B" =&gt; 20}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08  ·  Bloco 8 · Tarefa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transformar processo em pipeline?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8153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81534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6690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 = [1,2,3,4]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 = sum(dados .^ 2)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278380"/>
            <a:ext cx="11185855" cy="425958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278380"/>
            <a:ext cx="54864" cy="425958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69820"/>
            <a:ext cx="10728655" cy="4076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2, 3, 4]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 .^ 2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4, 9, 16]  (cada elemento elevado ao quadrado)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+ 4 + 9 + 16 = 30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08  ·  Bloco 8 · Tarefa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transformar texto em dados?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106299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106299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916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frase = "dados viram modelo"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palavras = split(frase)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length(palavras)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26030"/>
            <a:ext cx="11185855" cy="401193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526030"/>
            <a:ext cx="54864" cy="401193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17470"/>
            <a:ext cx="10728655" cy="3829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frase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"dados viram modelo"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["dados", "viram", "modelo"]  (quebra a frase nos espaços)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palavras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["dados", "viram", "modelo"]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ferencias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Kicker"/>
          <p:cNvSpPr/>
          <p:nvPr/>
        </p:nvSpPr>
        <p:spPr>
          <a:xfrm>
            <a:off x="548626" y="548640"/>
            <a:ext cx="1048485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pt-BR" sz="1200" dirty="0"/>
          </a:p>
        </p:txBody>
      </p:sp>
      <p:sp>
        <p:nvSpPr>
          <p:cNvPr id="901" name="Titulo"/>
          <p:cNvSpPr/>
          <p:nvPr/>
        </p:nvSpPr>
        <p:spPr>
          <a:xfrm>
            <a:off x="548626" y="1097280"/>
            <a:ext cx="10484857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pt-BR" sz="3000" dirty="0"/>
          </a:p>
        </p:txBody>
      </p:sp>
      <p:sp>
        <p:nvSpPr>
          <p:cNvPr id="902" name="Citacoes"/>
          <p:cNvSpPr/>
          <p:nvPr/>
        </p:nvSpPr>
        <p:spPr>
          <a:xfrm>
            <a:off x="548626" y="2057400"/>
            <a:ext cx="10484857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-228600" marL="228600">
              <a:lnSpc>
                <a:spcPct val="125000"/>
              </a:lnSpc>
              <a:spcAft>
                <a:spcPts val="320"/>
              </a:spcAft>
              <a:buFont typeface="Arial"/>
              <a:buChar char="•"/>
            </a:pPr>
            <a:r>
              <a:rPr lang="pt-BR" sz="14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RAABE, André; ZORZO, Avelino F.; BLIKSTEIN, Paulo. Computação na Educação Básica: Fundamentos e Experiências. Porto Alegre: Penso, 2020. Ebook. ISBN 9786581334048.</a:t>
            </a:r>
            <a:endParaRPr lang="pt-BR" sz="1400" dirty="0"/>
          </a:p>
          <a:p>
            <a:pPr indent="-228600" marL="228600">
              <a:lnSpc>
                <a:spcPct val="125000"/>
              </a:lnSpc>
              <a:spcAft>
                <a:spcPts val="320"/>
              </a:spcAft>
              <a:buFont typeface="Arial"/>
              <a:buChar char="•"/>
            </a:pPr>
            <a:r>
              <a:rPr lang="pt-BR" sz="14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Felleisen, M.; Findler, R. B.; Flatt, M.; Krishnamurthi, S. How to Design Programs. The MIT Press, 2001. Disponível em: www.htdp.org</a:t>
            </a:r>
            <a:endParaRPr lang="pt-BR" sz="1400" dirty="0"/>
          </a:p>
        </p:txBody>
      </p:sp>
      <p:sp>
        <p:nvSpPr>
          <p:cNvPr id="903" name="Rodape"/>
          <p:cNvSpPr/>
          <p:nvPr/>
        </p:nvSpPr>
        <p:spPr>
          <a:xfrm>
            <a:off x="548626" y="6343650"/>
            <a:ext cx="1048485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8 · Transformação</a:t>
            </a:r>
            <a:endParaRPr lang="pt-BR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2026-08-21T00:44:31Z</dcterms:created>
  <dcterms:modified xsi:type="dcterms:W3CDTF">2026-08-21T00:44:31Z</dcterms:modified>
</cp:coreProperties>
</file>