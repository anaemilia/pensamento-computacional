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188720"/>
            <a:ext cx="3840480" cy="3840480"/>
          </a:xfrm>
          <a:prstGeom prst="ellipse">
            <a:avLst/>
          </a:prstGeom>
          <a:solidFill>
            <a:srgbClr val="2C7A8C">
              <a:alpha val="1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332720" y="4846320"/>
            <a:ext cx="3291840" cy="329184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22960" y="914400"/>
            <a:ext cx="868680" cy="868680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12014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196596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PENSAMENTO COMPUTACIONAL · AULA 7 DE 15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2423160"/>
            <a:ext cx="112772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Generalização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457200" y="4023360"/>
            <a:ext cx="8778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E7EC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sair de um caso particular para uma regra reutilizável?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457200" y="6172200"/>
            <a:ext cx="11277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7 de 15  ·  2 horas  ·  Técnicas de Construção de Algoritmos: Generalização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7 · OBJETIVOS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esperamos desta aula?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3576218" cy="1691640"/>
          </a:xfrm>
          <a:prstGeom prst="roundRect">
            <a:avLst>
              <a:gd name="adj" fmla="val 4324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85800" y="1737360"/>
            <a:ext cx="438912" cy="43891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85800" y="17373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228600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generalização como técnica de construção de algoritmos.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07738" y="1508760"/>
            <a:ext cx="3576218" cy="1691640"/>
          </a:xfrm>
          <a:prstGeom prst="roundRect">
            <a:avLst>
              <a:gd name="adj" fmla="val 4324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536338" y="1737360"/>
            <a:ext cx="438912" cy="43891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536338" y="17373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36338" y="228600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Reconhecer repetições que indicam a necessidade de generalizar.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58277" y="1508760"/>
            <a:ext cx="3576218" cy="1691640"/>
          </a:xfrm>
          <a:prstGeom prst="roundRect">
            <a:avLst>
              <a:gd name="adj" fmla="val 4324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386877" y="1737360"/>
            <a:ext cx="438912" cy="43891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386877" y="17373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386877" y="228600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Transformar um cálculo fixo em uma função com parâmetros.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3474720"/>
            <a:ext cx="3576218" cy="1691640"/>
          </a:xfrm>
          <a:prstGeom prst="roundRect">
            <a:avLst>
              <a:gd name="adj" fmla="val 4324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85800" y="3703320"/>
            <a:ext cx="438912" cy="43891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85800" y="37033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5800" y="425196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Testar os limites de uma generalização (quando ela deixa de valer).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307738" y="3474720"/>
            <a:ext cx="3576218" cy="1691640"/>
          </a:xfrm>
          <a:prstGeom prst="roundRect">
            <a:avLst>
              <a:gd name="adj" fmla="val 4324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4536338" y="3703320"/>
            <a:ext cx="438912" cy="43891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4536338" y="37033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536338" y="425196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Documentar o que uma função generalizada espera e devolve.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158277" y="3474720"/>
            <a:ext cx="3576218" cy="1691640"/>
          </a:xfrm>
          <a:prstGeom prst="roundRect">
            <a:avLst>
              <a:gd name="adj" fmla="val 4324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386877" y="3703320"/>
            <a:ext cx="438912" cy="43891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386877" y="37033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386877" y="425196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Praticar as 10 tarefas do Bloco 7 em Julia/Pluto.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457200" y="5276088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7 de 15  ·  2 horas  ·  Técnicas de Construção de Algoritmos: Generalização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7 · Generalização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 CENTRAL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7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é generalização?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5455768" cy="3246120"/>
          </a:xfrm>
          <a:prstGeom prst="roundRect">
            <a:avLst>
              <a:gd name="adj" fmla="val 2254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77240" y="1920240"/>
            <a:ext cx="502920" cy="502920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ℹ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417320" y="1920240"/>
            <a:ext cx="422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Definição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2606040"/>
            <a:ext cx="481568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2000"/>
              </a:spcAft>
              <a:buSzPct val="100000"/>
              <a:buChar char="•"/>
            </a:pPr>
            <a:r>
              <a:rPr lang="en-US" sz="15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uma solução mais genérica a partir de outra mais específica.</a:t>
            </a:r>
            <a:endParaRPr lang="en-US" sz="1550" dirty="0"/>
          </a:p>
          <a:p>
            <a:pPr marL="177800" indent="-177800">
              <a:spcAft>
                <a:spcPts val="2000"/>
              </a:spcAft>
              <a:buSzPct val="100000"/>
              <a:buChar char="•"/>
            </a:pPr>
            <a:r>
              <a:rPr lang="en-US" sz="15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nova solução passa a funcionar em outros contextos, não só no caso original.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6278728" y="1600200"/>
            <a:ext cx="5455768" cy="3246120"/>
          </a:xfrm>
          <a:prstGeom prst="roundRect">
            <a:avLst>
              <a:gd name="adj" fmla="val 2254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598768" y="1920240"/>
            <a:ext cx="502920" cy="502920"/>
          </a:xfrm>
          <a:prstGeom prst="ellipse">
            <a:avLst/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98768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238848" y="1920240"/>
            <a:ext cx="422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Exemplo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598768" y="2606040"/>
            <a:ext cx="481568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2000"/>
              </a:spcAft>
              <a:buSzPct val="100000"/>
              <a:buChar char="•"/>
            </a:pPr>
            <a:r>
              <a:rPr lang="en-US" sz="15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“dobro(4) = 8” fixo para uma função dobro(x) = 2x que funciona para qualquer x.</a:t>
            </a:r>
            <a:endParaRPr lang="en-US" sz="1550" dirty="0"/>
          </a:p>
          <a:p>
            <a:pPr marL="177800" indent="-177800">
              <a:spcAft>
                <a:spcPts val="2000"/>
              </a:spcAft>
              <a:buSzPct val="100000"/>
              <a:buChar char="•"/>
            </a:pPr>
            <a:r>
              <a:rPr lang="en-US" sz="15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Substituir um número fixo por um parâmetro é o movimento central da generalização.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457200" y="5120640"/>
            <a:ext cx="11277295" cy="777240"/>
          </a:xfrm>
          <a:prstGeom prst="roundRect">
            <a:avLst>
              <a:gd name="adj" fmla="val 9412"/>
            </a:avLst>
          </a:prstGeom>
          <a:solidFill>
            <a:srgbClr val="EAF2F0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77240" y="512064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Generalizar exige testar os limites: para quais entradas a função continua fazendo sentido?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7 · Generalização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APLICAÇÃO PRÁTICA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7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Generalizar sem perder o sentido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5455768" cy="3246120"/>
          </a:xfrm>
          <a:prstGeom prst="roundRect">
            <a:avLst>
              <a:gd name="adj" fmla="val 2254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77240" y="1920240"/>
            <a:ext cx="502920" cy="502920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417320" y="1920240"/>
            <a:ext cx="422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Risco: generalização indevida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2606040"/>
            <a:ext cx="481568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2000"/>
              </a:spcAft>
              <a:buSzPct val="100000"/>
              <a:buChar char="•"/>
            </a:pPr>
            <a:r>
              <a:rPr lang="en-US" sz="15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função pode “funcionar” só por acaso em poucos casos testados.</a:t>
            </a:r>
            <a:endParaRPr lang="en-US" sz="1550" dirty="0"/>
          </a:p>
          <a:p>
            <a:pPr marL="177800" indent="-177800">
              <a:spcAft>
                <a:spcPts val="2000"/>
              </a:spcAft>
              <a:buSzPct val="100000"/>
              <a:buChar char="•"/>
            </a:pPr>
            <a:r>
              <a:rPr lang="en-US" sz="15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Sempre inclua um caso vazio ou extremo para verificar o limite da regra.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6278728" y="1600200"/>
            <a:ext cx="5455768" cy="3246120"/>
          </a:xfrm>
          <a:prstGeom prst="roundRect">
            <a:avLst>
              <a:gd name="adj" fmla="val 2254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598768" y="1920240"/>
            <a:ext cx="502920" cy="502920"/>
          </a:xfrm>
          <a:prstGeom prst="ellipse">
            <a:avLst/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98768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⬡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238848" y="1920240"/>
            <a:ext cx="422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Boas práticas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598768" y="2606040"/>
            <a:ext cx="481568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2000"/>
              </a:spcAft>
              <a:buSzPct val="100000"/>
              <a:buChar char="•"/>
            </a:pPr>
            <a:r>
              <a:rPr lang="en-US" sz="15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Nomeie a função pela ação que ela representa, não pelo caso original.</a:t>
            </a:r>
            <a:endParaRPr lang="en-US" sz="1550" dirty="0"/>
          </a:p>
          <a:p>
            <a:pPr marL="177800" indent="-177800">
              <a:spcAft>
                <a:spcPts val="2000"/>
              </a:spcAft>
              <a:buSzPct val="100000"/>
              <a:buChar char="•"/>
            </a:pPr>
            <a:r>
              <a:rPr lang="en-US" sz="15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 entrada e saída esperadas.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457200" y="5120640"/>
            <a:ext cx="11277295" cy="777240"/>
          </a:xfrm>
          <a:prstGeom prst="roundRect">
            <a:avLst>
              <a:gd name="adj" fmla="val 9412"/>
            </a:avLst>
          </a:prstGeom>
          <a:solidFill>
            <a:srgbClr val="EAF2F0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77240" y="512064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Critério qualitativo recorrente: generalização e reflexão sobre limites do modelo.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7 · Generalização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CONEXÃO ENTRE AULAS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Bloco 6 ao Bloco 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4892040" cy="2743200"/>
          </a:xfrm>
          <a:prstGeom prst="roundRect">
            <a:avLst>
              <a:gd name="adj" fmla="val 2667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77240" y="2148840"/>
            <a:ext cx="502920" cy="502920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63040" y="21945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JÁ VIMOS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63040" y="2450592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Aula 6: Decomposição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3246120"/>
            <a:ext cx="4251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Dividir o problema em partes menores.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349240" y="2880360"/>
            <a:ext cx="1493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6842455" y="1828800"/>
            <a:ext cx="4892040" cy="2743200"/>
          </a:xfrm>
          <a:prstGeom prst="roundRect">
            <a:avLst>
              <a:gd name="adj" fmla="val 2667"/>
            </a:avLst>
          </a:prstGeom>
          <a:solidFill>
            <a:srgbClr val="FCEFE1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7162495" y="2148840"/>
            <a:ext cx="502920" cy="502920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162495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848295" y="21945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ONDE VAMOS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848295" y="2450592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Aula 8: Transformação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162495" y="3246120"/>
            <a:ext cx="4251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Reaproveitar soluções para novos problemas.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4892040"/>
            <a:ext cx="11277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Pensamento Computacional — Aula 7 de 15.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7 · Generalização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822960"/>
            <a:ext cx="1188720" cy="1188720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82296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87452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• Generalização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874520" y="1280160"/>
            <a:ext cx="9859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Técnicas de Construção de Algoritmos: Generalização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2514600"/>
            <a:ext cx="11277295" cy="1417320"/>
          </a:xfrm>
          <a:prstGeom prst="roundRect">
            <a:avLst>
              <a:gd name="adj" fmla="val 5161"/>
            </a:avLst>
          </a:prstGeom>
          <a:solidFill>
            <a:srgbClr val="1C355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22960" y="2697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PERGUNTA-GUIA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sair de um caso particular para uma regra reutilizável?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420624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7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tarefas em formato de pergunta, com exemplos em Julia/Pluto.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61772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 bloco, as tarefas usam Julia e Pluto para transformar conceitos da ementa em ações observáveis: organizar, representar, manipular, interpretar e revisar.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516636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abre a aula; o código serve para tornar a relação conceitual discutível.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7 · Generalização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7 · TAREFA 1 DE 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57200" y="621792"/>
            <a:ext cx="621792" cy="62179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6217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35024" y="594360"/>
            <a:ext cx="1039947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reconhecer repetição que pede generalização?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074920" cy="2011680"/>
          </a:xfrm>
          <a:prstGeom prst="roundRect">
            <a:avLst>
              <a:gd name="adj" fmla="val 3636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1581912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Mostre três cálculos parecidos.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Identifique a parte comum.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 em função.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852160" y="1417320"/>
            <a:ext cx="5882335" cy="2011680"/>
          </a:xfrm>
          <a:prstGeom prst="roundRect">
            <a:avLst>
              <a:gd name="adj" fmla="val 3636"/>
            </a:avLst>
          </a:prstGeom>
          <a:solidFill>
            <a:srgbClr val="12233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126480" y="1563624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126480" y="1874520"/>
            <a:ext cx="5333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m2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5074920" cy="2743200"/>
          </a:xfrm>
          <a:prstGeom prst="roundRect">
            <a:avLst>
              <a:gd name="adj" fmla="val 2667"/>
            </a:avLst>
          </a:prstGeom>
          <a:solidFill>
            <a:srgbClr val="EAF2F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31520" y="3776472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31520" y="4160520"/>
            <a:ext cx="4526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caso particular à regra.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Múltiplas representações indicam modelagem mais bem-sucedida.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resultado final não esgota a aprendizagem do conceito.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Avaliar o percurso de pensamento, não apenas o código final.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852160" y="3611880"/>
            <a:ext cx="5882335" cy="2743200"/>
          </a:xfrm>
          <a:prstGeom prst="roundRect">
            <a:avLst>
              <a:gd name="adj" fmla="val 2667"/>
            </a:avLst>
          </a:prstGeom>
          <a:solidFill>
            <a:srgbClr val="FCEFE1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26480" y="3776472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26480" y="4160520"/>
            <a:ext cx="533369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Generalizar é perceber uma estrutura comum em diferentes casos.</a:t>
            </a:r>
            <a:endParaRPr lang="en-US" sz="145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7 · Generalização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7 · TAREFA 2 DE 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57200" y="621792"/>
            <a:ext cx="621792" cy="62179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6217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35024" y="594360"/>
            <a:ext cx="1039947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transformar cálculo em função?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074920" cy="2011680"/>
          </a:xfrm>
          <a:prstGeom prst="roundRect">
            <a:avLst>
              <a:gd name="adj" fmla="val 3636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1581912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Nomeie a função.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Defina entrada.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Retorne saída.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852160" y="1417320"/>
            <a:ext cx="5882335" cy="2011680"/>
          </a:xfrm>
          <a:prstGeom prst="roundRect">
            <a:avLst>
              <a:gd name="adj" fmla="val 3636"/>
            </a:avLst>
          </a:prstGeom>
          <a:solidFill>
            <a:srgbClr val="12233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126480" y="1563624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126480" y="1874520"/>
            <a:ext cx="5333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media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FC3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FC3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notas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media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5074920" cy="2743200"/>
          </a:xfrm>
          <a:prstGeom prst="roundRect">
            <a:avLst>
              <a:gd name="adj" fmla="val 2667"/>
            </a:avLst>
          </a:prstGeom>
          <a:solidFill>
            <a:srgbClr val="EAF2F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31520" y="3776472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31520" y="4160520"/>
            <a:ext cx="4526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Função como representação de relação geral.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Representações ampliam a percepção de propriedades e relações.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Avaliar o percurso de pensamento, não apenas o código final.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Níveis SOLO ajudam a observar respostas de menor a maior integração.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852160" y="3611880"/>
            <a:ext cx="5882335" cy="2743200"/>
          </a:xfrm>
          <a:prstGeom prst="roundRect">
            <a:avLst>
              <a:gd name="adj" fmla="val 2667"/>
            </a:avLst>
          </a:prstGeom>
          <a:solidFill>
            <a:srgbClr val="FCEFE1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26480" y="3776472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26480" y="4160520"/>
            <a:ext cx="533369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função estabiliza uma regra e permite aplicá-la a novos dados.</a:t>
            </a:r>
            <a:endParaRPr lang="en-US" sz="145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7 · Generalização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7 · TAREFA 3 DE 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57200" y="621792"/>
            <a:ext cx="621792" cy="62179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6217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35024" y="594360"/>
            <a:ext cx="1039947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generalizar com parâmetros?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074920" cy="2011680"/>
          </a:xfrm>
          <a:prstGeom prst="roundRect">
            <a:avLst>
              <a:gd name="adj" fmla="val 3636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1581912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Substitua número fixo por parâmetro.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limites diferentes.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classificações.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852160" y="1417320"/>
            <a:ext cx="5882335" cy="2011680"/>
          </a:xfrm>
          <a:prstGeom prst="roundRect">
            <a:avLst>
              <a:gd name="adj" fmla="val 3636"/>
            </a:avLst>
          </a:prstGeom>
          <a:solidFill>
            <a:srgbClr val="12233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126480" y="1563624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126480" y="1874520"/>
            <a:ext cx="5333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situacao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media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limite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media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limite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"ok"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"rever"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situacao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6.5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5074920" cy="2743200"/>
          </a:xfrm>
          <a:prstGeom prst="roundRect">
            <a:avLst>
              <a:gd name="adj" fmla="val 2667"/>
            </a:avLst>
          </a:prstGeom>
          <a:solidFill>
            <a:srgbClr val="EAF2F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31520" y="3776472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31520" y="4160520"/>
            <a:ext cx="4526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Parâmetro como forma de flexibilizar modelo.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Permitir manipulação de parâmetros e comparação de estados.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interação consciente com a forma favorece reflexão conceitual.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contexto e o tipo de dado influenciam a representação escolhida.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852160" y="3611880"/>
            <a:ext cx="5882335" cy="2743200"/>
          </a:xfrm>
          <a:prstGeom prst="roundRect">
            <a:avLst>
              <a:gd name="adj" fmla="val 2667"/>
            </a:avLst>
          </a:prstGeom>
          <a:solidFill>
            <a:srgbClr val="FCEFE1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26480" y="3776472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26480" y="4160520"/>
            <a:ext cx="533369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Parâmetros mostram que um algoritmo pode ser adaptado a contextos diferentes.</a:t>
            </a:r>
            <a:endParaRPr lang="en-US" sz="145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7 · Generalização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7 · TAREFA 4 DE 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57200" y="621792"/>
            <a:ext cx="621792" cy="62179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6217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35024" y="594360"/>
            <a:ext cx="1039947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generalizar uma transformação?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074920" cy="2011680"/>
          </a:xfrm>
          <a:prstGeom prst="roundRect">
            <a:avLst>
              <a:gd name="adj" fmla="val 3636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1581912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Aplique uma regra a vários valores.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broadcasting.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Interprete coleção transformada.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852160" y="1417320"/>
            <a:ext cx="5882335" cy="2011680"/>
          </a:xfrm>
          <a:prstGeom prst="roundRect">
            <a:avLst>
              <a:gd name="adj" fmla="val 3636"/>
            </a:avLst>
          </a:prstGeom>
          <a:solidFill>
            <a:srgbClr val="12233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126480" y="1563624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126480" y="1874520"/>
            <a:ext cx="5333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dobros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5074920" cy="2743200"/>
          </a:xfrm>
          <a:prstGeom prst="roundRect">
            <a:avLst>
              <a:gd name="adj" fmla="val 2667"/>
            </a:avLst>
          </a:prstGeom>
          <a:solidFill>
            <a:srgbClr val="EAF2F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31520" y="3776472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31520" y="4160520"/>
            <a:ext cx="4526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Transnumeração por regra uniforme.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Transnumeração torna dados interpretáveis em nova forma.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Múltiplas expressões exibem aspectos distintos do mesmo conceito.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Articular código, texto, tabela, gráfico e interpretação.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852160" y="3611880"/>
            <a:ext cx="5882335" cy="2743200"/>
          </a:xfrm>
          <a:prstGeom prst="roundRect">
            <a:avLst>
              <a:gd name="adj" fmla="val 2667"/>
            </a:avLst>
          </a:prstGeom>
          <a:solidFill>
            <a:srgbClr val="FCEFE1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26480" y="3776472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26480" y="4160520"/>
            <a:ext cx="533369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generalização aparece quando a mesma relação opera sobre todos os elementos.</a:t>
            </a:r>
            <a:endParaRPr lang="en-US" sz="145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7 · Generalização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7 · TAREFA 5 DE 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57200" y="621792"/>
            <a:ext cx="621792" cy="62179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6217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35024" y="594360"/>
            <a:ext cx="1039947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generalizar uma classificação?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074920" cy="2011680"/>
          </a:xfrm>
          <a:prstGeom prst="roundRect">
            <a:avLst>
              <a:gd name="adj" fmla="val 3636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1581912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lista de médias.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Classifique todas.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saídas.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852160" y="1417320"/>
            <a:ext cx="5882335" cy="2011680"/>
          </a:xfrm>
          <a:prstGeom prst="roundRect">
            <a:avLst>
              <a:gd name="adj" fmla="val 3636"/>
            </a:avLst>
          </a:prstGeom>
          <a:solidFill>
            <a:srgbClr val="12233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126480" y="1563624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126480" y="1874520"/>
            <a:ext cx="5333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medias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4.5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6.0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8.0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situacao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medias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5074920" cy="2743200"/>
          </a:xfrm>
          <a:prstGeom prst="roundRect">
            <a:avLst>
              <a:gd name="adj" fmla="val 2667"/>
            </a:avLst>
          </a:prstGeom>
          <a:solidFill>
            <a:srgbClr val="EAF2F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31520" y="3776472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31520" y="4160520"/>
            <a:ext cx="4526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Representação de regra aplicada a conjunto.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Múltiplas representações indicam modelagem mais bem-sucedida.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análise qualitativa observa invariantes e relações mobilizadas na ação.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Solicitar explicação do raciocínio desenvolvido.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852160" y="3611880"/>
            <a:ext cx="5882335" cy="2743200"/>
          </a:xfrm>
          <a:prstGeom prst="roundRect">
            <a:avLst>
              <a:gd name="adj" fmla="val 2667"/>
            </a:avLst>
          </a:prstGeom>
          <a:solidFill>
            <a:srgbClr val="FCEFE1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26480" y="3776472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26480" y="4160520"/>
            <a:ext cx="533369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compreensão de lista permite aplicar uma decisão a muitos casos.</a:t>
            </a:r>
            <a:endParaRPr lang="en-US" sz="145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7 · Generalização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7 · TAREFA 6 DE 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57200" y="621792"/>
            <a:ext cx="621792" cy="62179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6217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35024" y="594360"/>
            <a:ext cx="1039947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generalizar com diferentes tipos de dados?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074920" cy="2011680"/>
          </a:xfrm>
          <a:prstGeom prst="roundRect">
            <a:avLst>
              <a:gd name="adj" fmla="val 3636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1581912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números inteiros e decimais.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que a função continua válida.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Discuta domínio.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852160" y="1417320"/>
            <a:ext cx="5882335" cy="2011680"/>
          </a:xfrm>
          <a:prstGeom prst="roundRect">
            <a:avLst>
              <a:gd name="adj" fmla="val 3636"/>
            </a:avLst>
          </a:prstGeom>
          <a:solidFill>
            <a:srgbClr val="12233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126480" y="1563624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126480" y="1874520"/>
            <a:ext cx="5333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media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media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8.5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6.0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7.5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5074920" cy="2743200"/>
          </a:xfrm>
          <a:prstGeom prst="roundRect">
            <a:avLst>
              <a:gd name="adj" fmla="val 2667"/>
            </a:avLst>
          </a:prstGeom>
          <a:solidFill>
            <a:srgbClr val="EAF2F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31520" y="3776472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31520" y="4160520"/>
            <a:ext cx="4526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Domínio de aplicação e flexibilidade.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resultado final não esgota a aprendizagem do conceito.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Reconhecer limites da ferramenta e do modelo.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contexto e o tipo de dado influenciam a representação escolhida.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852160" y="3611880"/>
            <a:ext cx="5882335" cy="2743200"/>
          </a:xfrm>
          <a:prstGeom prst="roundRect">
            <a:avLst>
              <a:gd name="adj" fmla="val 2667"/>
            </a:avLst>
          </a:prstGeom>
          <a:solidFill>
            <a:srgbClr val="FCEFE1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26480" y="3776472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26480" y="4160520"/>
            <a:ext cx="533369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generalização exige discutir para quais dados a regra faz sentido.</a:t>
            </a:r>
            <a:endParaRPr lang="en-US" sz="145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7 · Generalização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17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7 · TAREFA 7 DE 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57200" y="621792"/>
            <a:ext cx="621792" cy="62179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6217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35024" y="594360"/>
            <a:ext cx="1039947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generalizar por composição?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074920" cy="2011680"/>
          </a:xfrm>
          <a:prstGeom prst="roundRect">
            <a:avLst>
              <a:gd name="adj" fmla="val 3636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1581912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funções menores.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uma função maior.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novos casos.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852160" y="1417320"/>
            <a:ext cx="5882335" cy="2011680"/>
          </a:xfrm>
          <a:prstGeom prst="roundRect">
            <a:avLst>
              <a:gd name="adj" fmla="val 3636"/>
            </a:avLst>
          </a:prstGeom>
          <a:solidFill>
            <a:srgbClr val="12233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126480" y="1563624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126480" y="1874520"/>
            <a:ext cx="5333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avaliar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situacao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media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avaliar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5074920" cy="2743200"/>
          </a:xfrm>
          <a:prstGeom prst="roundRect">
            <a:avLst>
              <a:gd name="adj" fmla="val 2667"/>
            </a:avLst>
          </a:prstGeom>
          <a:solidFill>
            <a:srgbClr val="EAF2F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31520" y="3776472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31520" y="4160520"/>
            <a:ext cx="4526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Recomposição de submodelos.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Incluir revisão, depuração e reconstrução.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tarefa deve articular dimensão material e cognitiva.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Níveis SOLO ajudam a observar respostas de menor a maior integração.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852160" y="3611880"/>
            <a:ext cx="5882335" cy="2743200"/>
          </a:xfrm>
          <a:prstGeom prst="roundRect">
            <a:avLst>
              <a:gd name="adj" fmla="val 2667"/>
            </a:avLst>
          </a:prstGeom>
          <a:solidFill>
            <a:srgbClr val="FCEFE1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26480" y="3776472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26480" y="4160520"/>
            <a:ext cx="533369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composição mostra que generalizações podem ser construídas a partir de outras generalizações.</a:t>
            </a:r>
            <a:endParaRPr lang="en-US" sz="145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7 · Generalização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7 · TAREFA 8 DE 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57200" y="621792"/>
            <a:ext cx="621792" cy="62179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6217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35024" y="594360"/>
            <a:ext cx="1039947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evitar generalização indevida?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074920" cy="2011680"/>
          </a:xfrm>
          <a:prstGeom prst="roundRect">
            <a:avLst>
              <a:gd name="adj" fmla="val 3636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1581912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Inclua caso vazio.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erro ou resultado inválido.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tratamento.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852160" y="1417320"/>
            <a:ext cx="5882335" cy="2011680"/>
          </a:xfrm>
          <a:prstGeom prst="roundRect">
            <a:avLst>
              <a:gd name="adj" fmla="val 3636"/>
            </a:avLst>
          </a:prstGeom>
          <a:solidFill>
            <a:srgbClr val="12233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126480" y="1563624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126480" y="1874520"/>
            <a:ext cx="5333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3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7FA8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media(notas) causaria divisão por zero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5074920" cy="2743200"/>
          </a:xfrm>
          <a:prstGeom prst="roundRect">
            <a:avLst>
              <a:gd name="adj" fmla="val 2667"/>
            </a:avLst>
          </a:prstGeom>
          <a:solidFill>
            <a:srgbClr val="EAF2F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31520" y="3776472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31520" y="4160520"/>
            <a:ext cx="4526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do modelo e caso de fronteira.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Reconhecer limites da ferramenta e do modelo.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forma de representação influencia erros, antecipações e reorganizações.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Respostas idiossincráticas também revelam modos de pensar.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852160" y="3611880"/>
            <a:ext cx="5882335" cy="2743200"/>
          </a:xfrm>
          <a:prstGeom prst="roundRect">
            <a:avLst>
              <a:gd name="adj" fmla="val 2667"/>
            </a:avLst>
          </a:prstGeom>
          <a:solidFill>
            <a:srgbClr val="FCEFE1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26480" y="3776472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26480" y="4160520"/>
            <a:ext cx="533369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 toda regra geral é válida para todos os casos; generalizar exige explicitar restrições.</a:t>
            </a:r>
            <a:endParaRPr lang="en-US" sz="145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7 · Generalização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17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7 · TAREFA 9 DE 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57200" y="621792"/>
            <a:ext cx="621792" cy="62179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6217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35024" y="594360"/>
            <a:ext cx="1039947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documentar uma generalização?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074920" cy="2011680"/>
          </a:xfrm>
          <a:prstGeom prst="roundRect">
            <a:avLst>
              <a:gd name="adj" fmla="val 3636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1581912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Escreva a intenção da função.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Indique entrada e saída.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Inclua exemplo.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852160" y="1417320"/>
            <a:ext cx="5882335" cy="2011680"/>
          </a:xfrm>
          <a:prstGeom prst="roundRect">
            <a:avLst>
              <a:gd name="adj" fmla="val 3636"/>
            </a:avLst>
          </a:prstGeom>
          <a:solidFill>
            <a:srgbClr val="12233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126480" y="1563624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126480" y="1874520"/>
            <a:ext cx="5333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md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"media(notas): soma valores e divide pela quantidade."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5074920" cy="2743200"/>
          </a:xfrm>
          <a:prstGeom prst="roundRect">
            <a:avLst>
              <a:gd name="adj" fmla="val 2667"/>
            </a:avLst>
          </a:prstGeom>
          <a:solidFill>
            <a:srgbClr val="EAF2F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31520" y="3776472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31520" y="4160520"/>
            <a:ext cx="4526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Linguagem natural como representação da regra.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Múltiplas expressões exibem aspectos distintos do mesmo conceito.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Solicitar explicação do raciocínio desenvolvido.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planejadas desenvolvem representação e pensamento de ordem superior.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852160" y="3611880"/>
            <a:ext cx="5882335" cy="2743200"/>
          </a:xfrm>
          <a:prstGeom prst="roundRect">
            <a:avLst>
              <a:gd name="adj" fmla="val 2667"/>
            </a:avLst>
          </a:prstGeom>
          <a:solidFill>
            <a:srgbClr val="FCEFE1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26480" y="3776472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26480" y="4160520"/>
            <a:ext cx="533369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Documentar torna a generalização comunicável e revisável.</a:t>
            </a:r>
            <a:endParaRPr lang="en-US" sz="145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7 · Generalização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7 · TAREFA 10 DE 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57200" y="621792"/>
            <a:ext cx="621792" cy="62179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6217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335024" y="594360"/>
            <a:ext cx="1039947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avaliar generalização?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074920" cy="2011680"/>
          </a:xfrm>
          <a:prstGeom prst="roundRect">
            <a:avLst>
              <a:gd name="adj" fmla="val 3636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1581912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Peça novo exemplo.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Peça contraexemplo.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Peça adaptação da regra.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852160" y="1417320"/>
            <a:ext cx="5882335" cy="2011680"/>
          </a:xfrm>
          <a:prstGeom prst="roundRect">
            <a:avLst>
              <a:gd name="adj" fmla="val 3636"/>
            </a:avLst>
          </a:prstGeom>
          <a:solidFill>
            <a:srgbClr val="12233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126480" y="1563624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126480" y="1874520"/>
            <a:ext cx="5333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teste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media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5074920" cy="2743200"/>
          </a:xfrm>
          <a:prstGeom prst="roundRect">
            <a:avLst>
              <a:gd name="adj" fmla="val 2667"/>
            </a:avLst>
          </a:prstGeom>
          <a:solidFill>
            <a:srgbClr val="EAF2F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31520" y="3776472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31520" y="4160520"/>
            <a:ext cx="4526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por transferência e revisão.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Níveis SOLO ajudam a observar respostas de menor a maior integração.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percurso da tarefa revela mudanças no discurso e na ação.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Avaliar o percurso de pensamento, não apenas o código final.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852160" y="3611880"/>
            <a:ext cx="5882335" cy="2743200"/>
          </a:xfrm>
          <a:prstGeom prst="roundRect">
            <a:avLst>
              <a:gd name="adj" fmla="val 2667"/>
            </a:avLst>
          </a:prstGeom>
          <a:solidFill>
            <a:srgbClr val="FCEFE1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26480" y="3776472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26480" y="4160520"/>
            <a:ext cx="533369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generalização é melhor avaliada quando o estudante aplica, limita e adapta a regra.</a:t>
            </a:r>
            <a:endParaRPr lang="en-US" sz="145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7 · Generalização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17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7 DE 15 · SÍNTESE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levamos da Aula 7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11277295" cy="2148840"/>
          </a:xfrm>
          <a:prstGeom prst="roundRect">
            <a:avLst>
              <a:gd name="adj" fmla="val 3404"/>
            </a:avLst>
          </a:prstGeom>
          <a:solidFill>
            <a:srgbClr val="1C355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965960"/>
            <a:ext cx="1054577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E7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Generalizar exige testar os limites: para quais entradas a função continua fazendo sentido?</a:t>
            </a:r>
            <a:endParaRPr lang="en-US" sz="1500" dirty="0"/>
          </a:p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E7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qualitativo recorrente: generalização e reflexão sobre limites do modelo.</a:t>
            </a:r>
            <a:endParaRPr lang="en-US" sz="1500" dirty="0"/>
          </a:p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E7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sair de um caso particular para uma regra reutilizável?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4069080"/>
            <a:ext cx="11277295" cy="1051560"/>
          </a:xfrm>
          <a:prstGeom prst="roundRect">
            <a:avLst>
              <a:gd name="adj" fmla="val 6957"/>
            </a:avLst>
          </a:prstGeom>
          <a:solidFill>
            <a:srgbClr val="1E3A5A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777240" y="4343400"/>
            <a:ext cx="502920" cy="502920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4462272"/>
            <a:ext cx="265176" cy="26517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08760" y="4251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SEGUIR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508760" y="4526280"/>
            <a:ext cx="9905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Aula 8: Transformação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7 · Generalização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7 - Generalização</dc:title>
  <dc:subject>PptxGenJS Presentation</dc:subject>
  <dc:creator>PROFCOMP</dc:creator>
  <cp:lastModifiedBy>PROFCOMP</cp:lastModifiedBy>
  <cp:revision>1</cp:revision>
  <dcterms:created xsi:type="dcterms:W3CDTF">2026-08-21T00:42:43Z</dcterms:created>
  <dcterms:modified xsi:type="dcterms:W3CDTF">2026-08-21T00:42:43Z</dcterms:modified>
</cp:coreProperties>
</file>