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64" r:id="rId10"/>
    <p:sldId id="274" r:id="rId25"/>
    <p:sldId id="265" r:id="rId11"/>
    <p:sldId id="266" r:id="rId12"/>
    <p:sldId id="275" r:id="rId26"/>
    <p:sldId id="267" r:id="rId13"/>
    <p:sldId id="276" r:id="rId27"/>
    <p:sldId id="268" r:id="rId14"/>
    <p:sldId id="277" r:id="rId28"/>
    <p:sldId id="269" r:id="rId15"/>
    <p:sldId id="278" r:id="rId29"/>
    <p:sldId id="270" r:id="rId16"/>
    <p:sldId id="271" r:id="rId17"/>
    <p:sldId id="279" r:id="rId30"/>
    <p:sldId id="272" r:id="rId18"/>
    <p:sldId id="280" r:id="rId31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846320"/>
            <a:ext cx="3291840" cy="329184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659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7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423160"/>
            <a:ext cx="11277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Generalização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E7EC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sair de um caso particular para uma regra reutilizável?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57200" y="61722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de 15  ·  2 horas  ·  Técnicas de Construção de Algoritmos: Generalização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generalização como técnica de construção de algoritmos.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07738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36338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36338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36338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repetições que indicam a necessidade de generalizar.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58277" y="150876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386877" y="173736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386877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86877" y="228600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um cálculo fixo em uma função com parâmetros.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os limites de uma generalização (quando ela deixa de valer).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07738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36338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536338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36338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o que uma função generalizada espera e devolve.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58277" y="3474720"/>
            <a:ext cx="3576218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386877" y="3703320"/>
            <a:ext cx="438912" cy="43891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386877" y="37033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86877" y="425196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7 em Julia/Pluto.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7200" y="527608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de 15  ·  2 horas  ·  Técnicas de Construção de Algoritmos: Generalização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generalização?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ℹ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Definição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uma solução mais genérica a partir de outra mais específica.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nova solução passa a funcionar em outros contextos, não só no caso original.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“dobro(4) = 8” fixo para uma função dobro(x) = 2x que funciona para qualquer x.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Substituir um número fixo por um parâmetro é o movimento central da generalização.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Generalizar exige testar os limites: para quais entradas a função continua fazendo sentido?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PRÁTICA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Generalizar sem perder o sentido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Risco: generalização indevida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função pode “funcionar” só por acaso em poucos casos testados.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inclua um caso vazio ou extremo para verificar o limite da regra.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455768" cy="3246120"/>
          </a:xfrm>
          <a:prstGeom prst="roundRect">
            <a:avLst>
              <a:gd name="adj" fmla="val 2254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98768" y="1920240"/>
            <a:ext cx="502920" cy="502920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98768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38848" y="192024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Boas práticas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98768" y="2606040"/>
            <a:ext cx="4815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a função pela ação que ela representa, não pelo caso original.</a:t>
            </a:r>
            <a:endParaRPr lang="en-US" sz="1550" dirty="0"/>
          </a:p>
          <a:p>
            <a:pPr marL="177800" indent="-177800">
              <a:spcAft>
                <a:spcPts val="2000"/>
              </a:spcAft>
              <a:buSzPct val="100000"/>
              <a:buChar char="•"/>
            </a:pPr>
            <a:r>
              <a:rPr lang="en-US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 entrada e saída esperadas.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512064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qualitativo recorrente: generalização e reflexão sobre limites do modelo.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ENTRE AULAS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6 ao Bloco 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148840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VIMOS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6: Decomposição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o problema em partes menores.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49240" y="2880360"/>
            <a:ext cx="1493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842455" y="1828800"/>
            <a:ext cx="4892040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62495" y="214884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62495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48295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ONDE VAMOS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48295" y="245059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8: Transformação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62495" y="3246120"/>
            <a:ext cx="4251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Reaproveitar soluções para novos problemas.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7 de 15.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22960"/>
            <a:ext cx="1188720" cy="11887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8229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87452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• Generalização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2801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Técnicas de Construção de Algoritmos: Generalização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1277295" cy="1417320"/>
          </a:xfrm>
          <a:prstGeom prst="roundRect">
            <a:avLst>
              <a:gd name="adj" fmla="val 5161"/>
            </a:avLst>
          </a:prstGeom>
          <a:solidFill>
            <a:srgbClr val="1C355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sair de um caso particular para uma regra reutilizável?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tarefas em formato de pergunta, com exemplos em Julia/Pluto.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1663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1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reconhecer repetição que pede generalização?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três cálculos parecidos.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a parte comum.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em função.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caso particular à regra.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Generalizar é perceber uma estrutura comum em diferentes casos.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2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cálculo em função?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Nomeie a função.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entrada.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Retorne saída.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FC3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como representação de relação geral.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estabiliza uma regra e permite aplicá-la a novos dados.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3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com parâmetros?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Substitua número fixo por parâmetro.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limites diferentes.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classificações.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"ok"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"rever"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 como forma de flexibilizar modelo.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manipulação de parâmetros e comparação de estados.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interação consciente com a forma favorece reflexão conceitual.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mostram que um algoritmo pode ser adaptado a contextos diferentes.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4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uma transformação?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uma regra a vários valores.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broadcasting.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Interprete coleção transformada.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dobros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por regra uniforme.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generalização aparece quando a mesma relação opera sobre todos os elementos.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5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uma classificação?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lista de médias.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todas.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saídas.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8.0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medias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de regra aplicada a conjunto.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compreensão de lista permite aplicar uma decisão a muitos casos.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6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com diferentes tipos de dados?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números inteiros e decimais.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que a função continua válida.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domínio.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7.5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 de aplicação e flexibilidade.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generalização exige discutir para quais dados a regra faz sentido.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7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generalizar por composição?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funções menores.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função maior.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novos casos.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avaliar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situacao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avaliar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Recomposição de submodelos.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deve articular dimensão material e cognitiva.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composição mostra que generalizações podem ser construídas a partir de outras generalizações.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8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evitar generalização indevida?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caso vazio.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erro ou resultado inválido.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tratamento.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7F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media(notas) causaria divisão por zero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do modelo e caso de fronteira.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limites da ferramenta e do modelo.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idiossincráticas também revelam modos de pensar.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toda regra geral é válida para todos os casos; generalizar exige explicitar restrições.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9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documentar uma generalização?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 intenção da função.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 entrada e saída.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exemplo.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"media(notas): soma valores e divide pela quantidade."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F2C4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 natural como representação da regra.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expressões exibem aspectos distintos do mesmo conceito.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torna a generalização comunicável e revisável.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7 · TAREFA 10 DE 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621792" cy="621792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21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335024" y="594360"/>
            <a:ext cx="1039947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generalização?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074920" cy="2011680"/>
          </a:xfrm>
          <a:prstGeom prst="roundRect">
            <a:avLst>
              <a:gd name="adj" fmla="val 3636"/>
            </a:avLst>
          </a:prstGeom>
          <a:solidFill>
            <a:srgbClr val="F5F7F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8191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novo exemplo.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contraexemplo.</a:t>
            </a:r>
            <a:endParaRPr lang="en-US" sz="13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adaptação da regra.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852160" y="1417320"/>
            <a:ext cx="5882335" cy="2011680"/>
          </a:xfrm>
          <a:prstGeom prst="roundRect">
            <a:avLst>
              <a:gd name="adj" fmla="val 3636"/>
            </a:avLst>
          </a:prstGeom>
          <a:solidFill>
            <a:srgbClr val="12233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126480" y="1563624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26480" y="1874520"/>
            <a:ext cx="5333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7E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C9D6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EAF2F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" y="3776472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160520"/>
            <a:ext cx="4526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por transferência e revisão.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611880"/>
            <a:ext cx="5882335" cy="2743200"/>
          </a:xfrm>
          <a:prstGeom prst="roundRect">
            <a:avLst>
              <a:gd name="adj" fmla="val 2667"/>
            </a:avLst>
          </a:prstGeom>
          <a:solidFill>
            <a:srgbClr val="FCEFE1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26480" y="3776472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6480" y="4160520"/>
            <a:ext cx="53336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4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generalização é melhor avaliada quando o estudante aplica, limita e adapta a regra.</a:t>
            </a:r>
            <a:endParaRPr lang="en-US" sz="1450" dirty="0"/>
          </a:p>
          <a:p>
            <a:pPr indent="0" marL="0">
              <a:buNone/>
            </a:pPr>
            <a:r>
              <a:rPr lang="en-US" sz="10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DE 15 · SÍNTESE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da Aula 7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77295" cy="2148840"/>
          </a:xfrm>
          <a:prstGeom prst="roundRect">
            <a:avLst>
              <a:gd name="adj" fmla="val 3404"/>
            </a:avLst>
          </a:prstGeom>
          <a:solidFill>
            <a:srgbClr val="1C355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96596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Generalizar exige testar os limites: para quais entradas a função continua fazendo sentido?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generalização e reflexão sobre limites do modelo.</a:t>
            </a:r>
            <a:endParaRPr lang="en-US" sz="15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E7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sair de um caso particular para uma regra reutilizável?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0690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4462272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508760" y="452628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8: Transformação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63721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  ·  Bloco 7 · Tarefa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cálculo em função?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media(notas) = sum(notas)/length(notas)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media([8,6,7])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regra sum(notas)/length(notas)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sum([8,6,7])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length([8,6,7])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media([8,6,7])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3 = 7.0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  ·  Bloco 7 · Tarefa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generalizar com parâmetros?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situacao(media, limite) = media &gt;= limite ? "ok" : "rever"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situacao(6.5, 7)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situacao(media, limite)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regra: "ok" se media ≥ limite, senão "rever"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situacao(6.5, 7)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"rever"  (6.5 não é ≥ 7)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  ·  Bloco 7 · Tarefa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generalizar uma classificação?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medias = [4.5, 6.0, 8.0]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[situacao(m, 7) for m in medias]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[4.5, 6.0, 8.0]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 aplicada a cada média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situacao(4.5, 7) = "rever"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situacao(6.0, 7) = "rever"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situacao(8.0, 7) = "ok"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["rever", "rever", "ok"]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  ·  Bloco 7 · Tarefa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generalizar com diferentes tipos de dados?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media([8, 6, 7])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media([8.5, 6.0, 7.5])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media([8, 6, 7])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= 21, length = 3 → 21/3 = 7.0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media([8.5, 6.0, 7.5])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= 22.0, length = 3 → 22.0/3 = 7.333...  (≈ 7,33)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  ·  Bloco 7 · Tarefa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generalizar por composição?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avaliar(notas) = situacao(media(notas), 7)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avaliar([8,6,7])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avaliar(notas)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regra situacao(media(notas), 7)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media([8,6,7])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7.0  (avaliada primeiro, por estar mais interna)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situacao(7.0, 7)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"ok"  (7.0 ≥ 7)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avaliar([8,6,7])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"ok"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  ·  Bloco 7 · Tarefa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evitar generalização indevida?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 = []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media(notas) causaria divisão por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  (lista vazia)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media(notas), se fosse chamada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length(notas) = 0 → a divisão sum(notas)/0 é o caso-limite que o slide evita executar; em Julia, somar uma coleção vazia sem elemento inicial também não é uma operação direta — daí a necessidade de tratar esse caso à parte, como o slide propõe.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  ·  Bloco 7 · Tarefa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avaliar generalização?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5676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5676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4213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teste = media([10, 0]) == 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030730"/>
            <a:ext cx="11185855" cy="45072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30730"/>
            <a:ext cx="54864" cy="45072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22170"/>
            <a:ext cx="10728655" cy="43243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media([10, 0])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= 10, length = 2 → 10/2 = 5.0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 (5.0 == 5)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encias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Kicker"/>
          <p:cNvSpPr/>
          <p:nvPr/>
        </p:nvSpPr>
        <p:spPr>
          <a:xfrm>
            <a:off x="548626" y="548640"/>
            <a:ext cx="1048485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pt-BR" sz="1200" dirty="0"/>
          </a:p>
        </p:txBody>
      </p:sp>
      <p:sp>
        <p:nvSpPr>
          <p:cNvPr id="901" name="Titulo"/>
          <p:cNvSpPr/>
          <p:nvPr/>
        </p:nvSpPr>
        <p:spPr>
          <a:xfrm>
            <a:off x="548626" y="1097280"/>
            <a:ext cx="10484857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000" dirty="0"/>
          </a:p>
        </p:txBody>
      </p:sp>
      <p:sp>
        <p:nvSpPr>
          <p:cNvPr id="902" name="Citacoes"/>
          <p:cNvSpPr/>
          <p:nvPr/>
        </p:nvSpPr>
        <p:spPr>
          <a:xfrm>
            <a:off x="548626" y="2057400"/>
            <a:ext cx="10484857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RAABE, André; ZORZO, Avelino F.; BLIKSTEIN, Paulo. Computação na Educação Básica: Fundamentos e Experiências. Porto Alegre: Penso, 2020. Ebook. ISBN 9786581334048.</a:t>
            </a:r>
            <a:endParaRPr lang="pt-BR" sz="1400" dirty="0"/>
          </a:p>
          <a:p>
            <a:pPr indent="-228600" marL="228600">
              <a:lnSpc>
                <a:spcPct val="125000"/>
              </a:lnSpc>
              <a:spcAft>
                <a:spcPts val="320"/>
              </a:spcAft>
              <a:buFont typeface="Arial"/>
              <a:buChar char="•"/>
            </a:pPr>
            <a:r>
              <a:rPr lang="pt-BR" sz="14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Felleisen, M.; Findler, R. B.; Flatt, M.; Krishnamurthi, S. How to Design Programs. The MIT Press, 2001. Disponível em: www.htdp.org</a:t>
            </a:r>
            <a:endParaRPr lang="pt-BR" sz="1400" dirty="0"/>
          </a:p>
        </p:txBody>
      </p:sp>
      <p:sp>
        <p:nvSpPr>
          <p:cNvPr id="903" name="Rodape"/>
          <p:cNvSpPr/>
          <p:nvPr/>
        </p:nvSpPr>
        <p:spPr>
          <a:xfrm>
            <a:off x="548626" y="6343650"/>
            <a:ext cx="104848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7 · Generalização</a:t>
            </a:r>
            <a:endParaRPr lang="pt-BR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7 - Generalização</dc:title>
  <dc:subject>PptxGenJS Presentation</dc:subject>
  <dc:creator>PROFCOMP</dc:creator>
  <cp:lastModifiedBy>PROFCOMP</cp:lastModifiedBy>
  <cp:revision>1</cp:revision>
  <dcterms:created xsi:type="dcterms:W3CDTF">2026-08-21T00:42:43Z</dcterms:created>
  <dcterms:modified xsi:type="dcterms:W3CDTF">2026-08-21T00:42:43Z</dcterms:modified>
</cp:coreProperties>
</file>