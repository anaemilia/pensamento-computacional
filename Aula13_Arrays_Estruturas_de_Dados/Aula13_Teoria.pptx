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0651941-9309-4D26-8302-F009AD0E58EA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365A2C-37F7-4922-820E-0265BFC69FB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4F4FD07-74B2-41A5-9A4B-055D35EA58E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60A0F1-7F8F-447A-8F33-5A26FFD4E47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F24E93-AEEE-4580-A0CF-244514F5CE6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C69268-E58D-4839-8DEA-3572EA1383F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C51CD2-EF52-45D9-AA27-F2F4671C3C2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9AC00A-6FD9-427D-B986-C4BC078F62B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F31E25D-1C9D-4FC4-8524-713287BF9D8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6E19-6513-4F9E-A295-D423C0ADCC9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BE9C64-1397-427C-9777-161A915D2F5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50EEF7-9444-4185-B31D-C426CC6651A9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4C9727-2EA3-459E-AE5D-57D5AFF7F5E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b="0" lang="pt-BR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b="0" lang="pt-BR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b="0" lang="pt-BR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b="0" lang="pt-BR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548640" y="82296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01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ABSTRAÇÃO, TIPOS E ESTRUTURAS DE DADOS</a:t>
            </a:r>
            <a:endParaRPr b="0" lang="pt-BR" sz="13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48640" y="1280160"/>
            <a:ext cx="105152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Arrays em Julia e Pluto</a:t>
            </a:r>
            <a:endParaRPr b="0" lang="pt-BR" sz="4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548640" y="2834640"/>
            <a:ext cx="89607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rgbClr val="c9d3de"/>
                </a:solidFill>
                <a:effectLst/>
                <a:uFillTx/>
                <a:latin typeface="Calibri"/>
                <a:ea typeface="Calibri"/>
              </a:rPr>
              <a:t>Depois de organizar coleções de dados em teoria (Parte 1 — Conceitos), chegou a hora de praticar cada ideia como código executável, no Pluto.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48640" y="63093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Aula 13 · Parte 2 de 2 — Praticando em Julia/Pluto</a:t>
            </a:r>
            <a:endParaRPr b="0" lang="pt-B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548640" y="411480"/>
            <a:ext cx="502560" cy="50256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1" descr="preencoded.png"/>
          <p:cNvPicPr/>
          <p:nvPr/>
        </p:nvPicPr>
        <p:blipFill>
          <a:blip r:embed="rId1"/>
          <a:stretch/>
        </p:blipFill>
        <p:spPr>
          <a:xfrm>
            <a:off x="654120" y="516960"/>
            <a:ext cx="291240" cy="29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6"/>
          <p:cNvSpPr/>
          <p:nvPr/>
        </p:nvSpPr>
        <p:spPr>
          <a:xfrm>
            <a:off x="1234440" y="356760"/>
            <a:ext cx="10286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O que é e por que usar um Array?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48640" y="1417320"/>
            <a:ext cx="548604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500" strike="noStrike" u="none">
                <a:solidFill>
                  <a:srgbClr val="1b3a5c"/>
                </a:solidFill>
                <a:effectLst/>
                <a:uFillTx/>
                <a:latin typeface="Calibri"/>
                <a:ea typeface="Calibri"/>
              </a:rPr>
              <a:t>Conceito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algn="l" pos="0"/>
              </a:tabLst>
            </a:pPr>
            <a:r>
              <a:rPr b="0" lang="en-US" sz="14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Uma estrutura que armazena vários dados do mesmo tipo em uma única variável.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500" strike="noStrike" u="none">
                <a:solidFill>
                  <a:srgbClr val="1b3a5c"/>
                </a:solidFill>
                <a:effectLst/>
                <a:uFillTx/>
                <a:latin typeface="Calibri"/>
                <a:ea typeface="Calibri"/>
              </a:rPr>
              <a:t>Por que usar?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4526a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4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Organiza informações de forma eficiente, evitando criar muitas variáveis individuais.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400"/>
              </a:spcAft>
              <a:buClr>
                <a:srgbClr val="44526a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4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Facilita o acesso, a busca e a modificação de dados.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500" strike="noStrike" u="none">
                <a:solidFill>
                  <a:srgbClr val="1b3a5c"/>
                </a:solidFill>
                <a:effectLst/>
                <a:uFillTx/>
                <a:latin typeface="Calibri"/>
                <a:ea typeface="Calibri"/>
              </a:rPr>
              <a:t>Estrutura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44526a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4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Índices: posições numeradas que identificam cada elemento.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44526a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4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Elementos: os valores armazenados em cada posição.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3"/>
          <p:cNvSpPr/>
          <p:nvPr/>
        </p:nvSpPr>
        <p:spPr>
          <a:xfrm>
            <a:off x="548640" y="4709160"/>
            <a:ext cx="5486040" cy="1416960"/>
          </a:xfrm>
          <a:prstGeom prst="roundRect">
            <a:avLst>
              <a:gd name="adj" fmla="val 5161"/>
            </a:avLst>
          </a:prstGeom>
          <a:solidFill>
            <a:srgbClr val="f5f7f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777240" y="4937760"/>
            <a:ext cx="456840" cy="456840"/>
          </a:xfrm>
          <a:prstGeom prst="ellipse">
            <a:avLst/>
          </a:prstGeom>
          <a:solidFill>
            <a:srgbClr val="e896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Image 4" descr="preencoded.png"/>
          <p:cNvPicPr/>
          <p:nvPr/>
        </p:nvPicPr>
        <p:blipFill>
          <a:blip r:embed="rId2"/>
          <a:stretch/>
        </p:blipFill>
        <p:spPr>
          <a:xfrm>
            <a:off x="880200" y="5040720"/>
            <a:ext cx="251280" cy="2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 14"/>
          <p:cNvSpPr/>
          <p:nvPr/>
        </p:nvSpPr>
        <p:spPr>
          <a:xfrm>
            <a:off x="1371600" y="4864680"/>
            <a:ext cx="448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trike="noStrike" u="none">
                <a:solidFill>
                  <a:srgbClr val="1b3a5c"/>
                </a:solidFill>
                <a:effectLst/>
                <a:uFillTx/>
                <a:latin typeface="Calibri"/>
                <a:ea typeface="Calibri"/>
              </a:rPr>
              <a:t>Exemplo cotidiano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1371600" y="5139000"/>
            <a:ext cx="44344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Uma prateleira com várias caixas numeradas, cada uma guardando um item.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0"/>
          <p:cNvSpPr/>
          <p:nvPr/>
        </p:nvSpPr>
        <p:spPr>
          <a:xfrm>
            <a:off x="6446520" y="1417320"/>
            <a:ext cx="5166000" cy="3794400"/>
          </a:xfrm>
          <a:prstGeom prst="roundRect">
            <a:avLst>
              <a:gd name="adj" fmla="val 1928"/>
            </a:avLst>
          </a:prstGeom>
          <a:solidFill>
            <a:srgbClr val="1e3350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6766560" y="1627560"/>
            <a:ext cx="4571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50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EXEMPLO DE CÓDIGO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6766560" y="2057400"/>
            <a:ext cx="45716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algn="l" pos="0"/>
              </a:tabLst>
            </a:pPr>
            <a:r>
              <a:rPr b="0" lang="en-US" sz="140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nomes = ["Ana", "João", "Maria", "Lucas"]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0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nomes[0]  →  "Ana"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nomes[2]  →  "Maria"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1"/>
          <p:cNvSpPr/>
          <p:nvPr/>
        </p:nvSpPr>
        <p:spPr>
          <a:xfrm>
            <a:off x="6766560" y="3749040"/>
            <a:ext cx="868320" cy="639720"/>
          </a:xfrm>
          <a:prstGeom prst="roundRect">
            <a:avLst>
              <a:gd name="adj" fmla="val 8571"/>
            </a:avLst>
          </a:prstGeom>
          <a:solidFill>
            <a:srgbClr val="e8963c"/>
          </a:solidFill>
          <a:ln w="12700">
            <a:solidFill>
              <a:srgbClr val="3e5f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20"/>
          <p:cNvSpPr/>
          <p:nvPr/>
        </p:nvSpPr>
        <p:spPr>
          <a:xfrm>
            <a:off x="6766560" y="380376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6766560" y="4151520"/>
            <a:ext cx="868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9d4e3"/>
                </a:solidFill>
                <a:effectLst/>
                <a:uFillTx/>
                <a:latin typeface="Courier New"/>
                <a:ea typeface="Courier New"/>
              </a:rPr>
              <a:t>0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2"/>
          <p:cNvSpPr/>
          <p:nvPr/>
        </p:nvSpPr>
        <p:spPr>
          <a:xfrm>
            <a:off x="7772400" y="3749040"/>
            <a:ext cx="868320" cy="639720"/>
          </a:xfrm>
          <a:prstGeom prst="roundRect">
            <a:avLst>
              <a:gd name="adj" fmla="val 8571"/>
            </a:avLst>
          </a:prstGeom>
          <a:solidFill>
            <a:srgbClr val="2e4d73"/>
          </a:solidFill>
          <a:ln w="12700">
            <a:solidFill>
              <a:srgbClr val="3e5f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7772400" y="380376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João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7772400" y="4151520"/>
            <a:ext cx="868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9d4e3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3"/>
          <p:cNvSpPr/>
          <p:nvPr/>
        </p:nvSpPr>
        <p:spPr>
          <a:xfrm>
            <a:off x="8778240" y="3749040"/>
            <a:ext cx="868320" cy="639720"/>
          </a:xfrm>
          <a:prstGeom prst="roundRect">
            <a:avLst>
              <a:gd name="adj" fmla="val 8571"/>
            </a:avLst>
          </a:prstGeom>
          <a:solidFill>
            <a:srgbClr val="e8963c"/>
          </a:solidFill>
          <a:ln w="12700">
            <a:solidFill>
              <a:srgbClr val="3e5f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4"/>
          <p:cNvSpPr/>
          <p:nvPr/>
        </p:nvSpPr>
        <p:spPr>
          <a:xfrm>
            <a:off x="8778240" y="380376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Maria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8778240" y="4151520"/>
            <a:ext cx="868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9d4e3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4"/>
          <p:cNvSpPr/>
          <p:nvPr/>
        </p:nvSpPr>
        <p:spPr>
          <a:xfrm>
            <a:off x="9784080" y="3749040"/>
            <a:ext cx="868320" cy="639720"/>
          </a:xfrm>
          <a:prstGeom prst="roundRect">
            <a:avLst>
              <a:gd name="adj" fmla="val 8571"/>
            </a:avLst>
          </a:prstGeom>
          <a:solidFill>
            <a:srgbClr val="2e4d73"/>
          </a:solidFill>
          <a:ln w="12700">
            <a:solidFill>
              <a:srgbClr val="3e5f8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30"/>
          <p:cNvSpPr/>
          <p:nvPr/>
        </p:nvSpPr>
        <p:spPr>
          <a:xfrm>
            <a:off x="9784080" y="3803760"/>
            <a:ext cx="868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Lucas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31"/>
          <p:cNvSpPr/>
          <p:nvPr/>
        </p:nvSpPr>
        <p:spPr>
          <a:xfrm>
            <a:off x="9784080" y="4151520"/>
            <a:ext cx="868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c9d4e3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32"/>
          <p:cNvSpPr/>
          <p:nvPr/>
        </p:nvSpPr>
        <p:spPr>
          <a:xfrm>
            <a:off x="6766560" y="4407480"/>
            <a:ext cx="38858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trike="noStrike" u="none">
                <a:solidFill>
                  <a:srgbClr val="9ab0cc"/>
                </a:solidFill>
                <a:effectLst/>
                <a:uFillTx/>
                <a:latin typeface="Calibri"/>
                <a:ea typeface="Calibri"/>
              </a:rPr>
              <a:t>índices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457200" y="647388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6b8"/>
                </a:solidFill>
                <a:effectLst/>
                <a:uFillTx/>
                <a:latin typeface="Calibri"/>
                <a:ea typeface="Calibri"/>
              </a:rPr>
              <a:t>Aula 13 · Arrays — Conceitos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1127736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6b8"/>
                </a:solidFill>
                <a:effectLst/>
                <a:uFillTx/>
                <a:latin typeface="Calibri"/>
                <a:ea typeface="Calibri"/>
              </a:rPr>
              <a:t>2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1"/>
          <p:cNvSpPr/>
          <p:nvPr/>
        </p:nvSpPr>
        <p:spPr>
          <a:xfrm>
            <a:off x="548640" y="365760"/>
            <a:ext cx="502560" cy="50256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2" descr="preencoded.png"/>
          <p:cNvPicPr/>
          <p:nvPr/>
        </p:nvPicPr>
        <p:blipFill>
          <a:blip r:embed="rId1"/>
          <a:stretch/>
        </p:blipFill>
        <p:spPr>
          <a:xfrm>
            <a:off x="654120" y="471240"/>
            <a:ext cx="291240" cy="29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3"/>
          <p:cNvSpPr/>
          <p:nvPr/>
        </p:nvSpPr>
        <p:spPr>
          <a:xfrm>
            <a:off x="1234440" y="311040"/>
            <a:ext cx="10286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Dimensões de um Array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5"/>
          <p:cNvSpPr/>
          <p:nvPr/>
        </p:nvSpPr>
        <p:spPr>
          <a:xfrm>
            <a:off x="548640" y="1325880"/>
            <a:ext cx="3611520" cy="4891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777240" y="1581840"/>
            <a:ext cx="502560" cy="50256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3" descr="preencoded.png"/>
          <p:cNvPicPr/>
          <p:nvPr/>
        </p:nvPicPr>
        <p:blipFill>
          <a:blip r:embed="rId2"/>
          <a:stretch/>
        </p:blipFill>
        <p:spPr>
          <a:xfrm>
            <a:off x="882720" y="1687680"/>
            <a:ext cx="291240" cy="29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16"/>
          <p:cNvSpPr/>
          <p:nvPr/>
        </p:nvSpPr>
        <p:spPr>
          <a:xfrm>
            <a:off x="1417320" y="15454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1D — Unidimensional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777240" y="2240280"/>
            <a:ext cx="3154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Armazena uma sequência linear de elementos.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5"/>
          <p:cNvSpPr/>
          <p:nvPr/>
        </p:nvSpPr>
        <p:spPr>
          <a:xfrm>
            <a:off x="777240" y="2898720"/>
            <a:ext cx="3154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Exemplo: </a:t>
            </a:r>
            <a:r>
              <a:rPr b="0" lang="en-US" sz="12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Lista com os nomes dos alunos de uma turma.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8"/>
          <p:cNvSpPr/>
          <p:nvPr/>
        </p:nvSpPr>
        <p:spPr>
          <a:xfrm>
            <a:off x="777240" y="3538800"/>
            <a:ext cx="3154320" cy="1416960"/>
          </a:xfrm>
          <a:prstGeom prst="roundRect">
            <a:avLst>
              <a:gd name="adj" fmla="val 3871"/>
            </a:avLst>
          </a:prstGeom>
          <a:solidFill>
            <a:srgbClr val="1e3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914400" y="3630240"/>
            <a:ext cx="28800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alunos = ["Ana","João",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          "Maria","Lucas"]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print(alunos[2])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# Exibe: Maria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7"/>
          <p:cNvSpPr/>
          <p:nvPr/>
        </p:nvSpPr>
        <p:spPr>
          <a:xfrm>
            <a:off x="777240" y="5120640"/>
            <a:ext cx="3154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1" lang="en-US" sz="1150" strike="noStrike" u="none">
                <a:solidFill>
                  <a:srgbClr val="1b3a5c"/>
                </a:solidFill>
                <a:effectLst/>
                <a:uFillTx/>
                <a:latin typeface="Calibri"/>
                <a:ea typeface="Calibri"/>
              </a:rPr>
              <a:t>Uso cotidiano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Lista de contatos do celular ou lista de músicas em um app.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9"/>
          <p:cNvSpPr/>
          <p:nvPr/>
        </p:nvSpPr>
        <p:spPr>
          <a:xfrm>
            <a:off x="4389120" y="1325880"/>
            <a:ext cx="3611520" cy="4891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1"/>
          <p:cNvSpPr/>
          <p:nvPr/>
        </p:nvSpPr>
        <p:spPr>
          <a:xfrm>
            <a:off x="4617720" y="1581840"/>
            <a:ext cx="502560" cy="50256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" name="Image 7" descr="preencoded.png"/>
          <p:cNvPicPr/>
          <p:nvPr/>
        </p:nvPicPr>
        <p:blipFill>
          <a:blip r:embed="rId3"/>
          <a:stretch/>
        </p:blipFill>
        <p:spPr>
          <a:xfrm>
            <a:off x="4723200" y="1687680"/>
            <a:ext cx="291240" cy="29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Text 28"/>
          <p:cNvSpPr/>
          <p:nvPr/>
        </p:nvSpPr>
        <p:spPr>
          <a:xfrm>
            <a:off x="5257800" y="15454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2D — Bidimensional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42"/>
          <p:cNvSpPr/>
          <p:nvPr/>
        </p:nvSpPr>
        <p:spPr>
          <a:xfrm>
            <a:off x="4617720" y="2240280"/>
            <a:ext cx="3154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Armazena dados em linhas e colunas, como uma planilha.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3"/>
          <p:cNvSpPr/>
          <p:nvPr/>
        </p:nvSpPr>
        <p:spPr>
          <a:xfrm>
            <a:off x="4617720" y="2898720"/>
            <a:ext cx="3154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Exemplo: </a:t>
            </a:r>
            <a:r>
              <a:rPr b="0" lang="en-US" sz="12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Notas dos alunos em diferentes provas.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2"/>
          <p:cNvSpPr/>
          <p:nvPr/>
        </p:nvSpPr>
        <p:spPr>
          <a:xfrm>
            <a:off x="4617720" y="3538800"/>
            <a:ext cx="3154320" cy="1416960"/>
          </a:xfrm>
          <a:prstGeom prst="roundRect">
            <a:avLst>
              <a:gd name="adj" fmla="val 3871"/>
            </a:avLst>
          </a:prstGeom>
          <a:solidFill>
            <a:srgbClr val="1e3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44"/>
          <p:cNvSpPr/>
          <p:nvPr/>
        </p:nvSpPr>
        <p:spPr>
          <a:xfrm>
            <a:off x="4754880" y="3630240"/>
            <a:ext cx="28800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notas = [[8.5,9.0,7.5],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         [7.0,8.0,6.5],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         [9.5,8.5,10.0]]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print(notas[1][2])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# Exibe: 6.5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45"/>
          <p:cNvSpPr/>
          <p:nvPr/>
        </p:nvSpPr>
        <p:spPr>
          <a:xfrm>
            <a:off x="4617720" y="5120640"/>
            <a:ext cx="3154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1" lang="en-US" sz="1150" strike="noStrike" u="none">
                <a:solidFill>
                  <a:srgbClr val="1b3a5c"/>
                </a:solidFill>
                <a:effectLst/>
                <a:uFillTx/>
                <a:latin typeface="Calibri"/>
                <a:ea typeface="Calibri"/>
              </a:rPr>
              <a:t>Uso cotidiano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Tabela de horários de ônibus ou boletim escolar.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3"/>
          <p:cNvSpPr/>
          <p:nvPr/>
        </p:nvSpPr>
        <p:spPr>
          <a:xfrm>
            <a:off x="8229600" y="1325880"/>
            <a:ext cx="3611520" cy="4891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4"/>
          <p:cNvSpPr/>
          <p:nvPr/>
        </p:nvSpPr>
        <p:spPr>
          <a:xfrm>
            <a:off x="8458200" y="1581840"/>
            <a:ext cx="502560" cy="50256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 8" descr="preencoded.png"/>
          <p:cNvPicPr/>
          <p:nvPr/>
        </p:nvPicPr>
        <p:blipFill>
          <a:blip r:embed="rId4"/>
          <a:stretch/>
        </p:blipFill>
        <p:spPr>
          <a:xfrm>
            <a:off x="8563680" y="1687680"/>
            <a:ext cx="291240" cy="29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ext 46"/>
          <p:cNvSpPr/>
          <p:nvPr/>
        </p:nvSpPr>
        <p:spPr>
          <a:xfrm>
            <a:off x="9098280" y="1545480"/>
            <a:ext cx="2605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Multidimensional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47"/>
          <p:cNvSpPr/>
          <p:nvPr/>
        </p:nvSpPr>
        <p:spPr>
          <a:xfrm>
            <a:off x="8458200" y="2240280"/>
            <a:ext cx="31543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Armazena dados em mais de duas dimensões.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48"/>
          <p:cNvSpPr/>
          <p:nvPr/>
        </p:nvSpPr>
        <p:spPr>
          <a:xfrm>
            <a:off x="8458200" y="2898720"/>
            <a:ext cx="315432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Exemplo: </a:t>
            </a:r>
            <a:r>
              <a:rPr b="0" lang="en-US" sz="12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Representação de uma imagem (cada pixel tem R, G, B).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5"/>
          <p:cNvSpPr/>
          <p:nvPr/>
        </p:nvSpPr>
        <p:spPr>
          <a:xfrm>
            <a:off x="8458200" y="3538800"/>
            <a:ext cx="3154320" cy="1416960"/>
          </a:xfrm>
          <a:prstGeom prst="roundRect">
            <a:avLst>
              <a:gd name="adj" fmla="val 3871"/>
            </a:avLst>
          </a:prstGeom>
          <a:solidFill>
            <a:srgbClr val="1e3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49"/>
          <p:cNvSpPr/>
          <p:nvPr/>
        </p:nvSpPr>
        <p:spPr>
          <a:xfrm>
            <a:off x="8595360" y="3630240"/>
            <a:ext cx="28800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imagem = [[[255,0,0],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  [0,255,0]], [[0,0,255],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  [255,255,0]]]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print(imagem[0][1])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# Exibe: [0, 255, 0]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50"/>
          <p:cNvSpPr/>
          <p:nvPr/>
        </p:nvSpPr>
        <p:spPr>
          <a:xfrm>
            <a:off x="8458200" y="5120640"/>
            <a:ext cx="3154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r>
              <a:rPr b="1" lang="en-US" sz="1150" strike="noStrike" u="none">
                <a:solidFill>
                  <a:srgbClr val="1b3a5c"/>
                </a:solidFill>
                <a:effectLst/>
                <a:uFillTx/>
                <a:latin typeface="Calibri"/>
                <a:ea typeface="Calibri"/>
              </a:rPr>
              <a:t>Uso cotidiano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Fotos digitais, mapas, planilhas 3D ou jogos (x, y, z).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51"/>
          <p:cNvSpPr/>
          <p:nvPr/>
        </p:nvSpPr>
        <p:spPr>
          <a:xfrm>
            <a:off x="457200" y="647388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6b8"/>
                </a:solidFill>
                <a:effectLst/>
                <a:uFillTx/>
                <a:latin typeface="Calibri"/>
                <a:ea typeface="Calibri"/>
              </a:rPr>
              <a:t>Aula 13 · Arrays — Conceitos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2"/>
          <p:cNvSpPr/>
          <p:nvPr/>
        </p:nvSpPr>
        <p:spPr>
          <a:xfrm>
            <a:off x="1127736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6b8"/>
                </a:solidFill>
                <a:effectLst/>
                <a:uFillTx/>
                <a:latin typeface="Calibri"/>
                <a:ea typeface="Calibri"/>
              </a:rPr>
              <a:t>3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15"/>
          <p:cNvSpPr/>
          <p:nvPr/>
        </p:nvSpPr>
        <p:spPr>
          <a:xfrm>
            <a:off x="548640" y="365760"/>
            <a:ext cx="502560" cy="50256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2" name="Image 5" descr="preencoded.png"/>
          <p:cNvPicPr/>
          <p:nvPr/>
        </p:nvPicPr>
        <p:blipFill>
          <a:blip r:embed="rId1"/>
          <a:stretch/>
        </p:blipFill>
        <p:spPr>
          <a:xfrm>
            <a:off x="654120" y="471240"/>
            <a:ext cx="291240" cy="29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 35"/>
          <p:cNvSpPr/>
          <p:nvPr/>
        </p:nvSpPr>
        <p:spPr>
          <a:xfrm>
            <a:off x="1234440" y="311040"/>
            <a:ext cx="10286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Aninhamento: Arrays de Arrays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36"/>
          <p:cNvSpPr/>
          <p:nvPr/>
        </p:nvSpPr>
        <p:spPr>
          <a:xfrm>
            <a:off x="548640" y="1051560"/>
            <a:ext cx="11063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Um array aninhado é um conjunto dentro de outro conjunto — uma lista que contém outras listas. É uma forma de organizar informações em camadas, como caixas dentro de caixas.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6"/>
          <p:cNvSpPr/>
          <p:nvPr/>
        </p:nvSpPr>
        <p:spPr>
          <a:xfrm>
            <a:off x="548640" y="1874520"/>
            <a:ext cx="3611520" cy="4343040"/>
          </a:xfrm>
          <a:prstGeom prst="roundRect">
            <a:avLst>
              <a:gd name="adj" fmla="val 2025"/>
            </a:avLst>
          </a:prstGeom>
          <a:solidFill>
            <a:srgbClr val="f5f7fa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7"/>
          <p:cNvSpPr/>
          <p:nvPr/>
        </p:nvSpPr>
        <p:spPr>
          <a:xfrm>
            <a:off x="2080440" y="2148840"/>
            <a:ext cx="548280" cy="54828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" name="Image 6" descr="preencoded.png"/>
          <p:cNvPicPr/>
          <p:nvPr/>
        </p:nvPicPr>
        <p:blipFill>
          <a:blip r:embed="rId2"/>
          <a:stretch/>
        </p:blipFill>
        <p:spPr>
          <a:xfrm>
            <a:off x="2195640" y="2264040"/>
            <a:ext cx="317880" cy="31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 37"/>
          <p:cNvSpPr/>
          <p:nvPr/>
        </p:nvSpPr>
        <p:spPr>
          <a:xfrm>
            <a:off x="731520" y="283464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Notas dos alunos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0"/>
          <p:cNvSpPr/>
          <p:nvPr/>
        </p:nvSpPr>
        <p:spPr>
          <a:xfrm>
            <a:off x="777240" y="3337560"/>
            <a:ext cx="3154320" cy="1599840"/>
          </a:xfrm>
          <a:prstGeom prst="roundRect">
            <a:avLst>
              <a:gd name="adj" fmla="val 3429"/>
            </a:avLst>
          </a:prstGeom>
          <a:solidFill>
            <a:srgbClr val="1e3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38"/>
          <p:cNvSpPr/>
          <p:nvPr/>
        </p:nvSpPr>
        <p:spPr>
          <a:xfrm>
            <a:off x="932760" y="3474720"/>
            <a:ext cx="284328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Ana   → [8.5, 9.0, 7.5]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João  → [7.0, 6.5, 8.0]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Maria → [10.0, 9.5, 9.0]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39"/>
          <p:cNvSpPr/>
          <p:nvPr/>
        </p:nvSpPr>
        <p:spPr>
          <a:xfrm>
            <a:off x="777240" y="5074920"/>
            <a:ext cx="31543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O conjunto de listas forma um array bidimensional (array de arrays) que representa uma turma inteira.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31"/>
          <p:cNvSpPr/>
          <p:nvPr/>
        </p:nvSpPr>
        <p:spPr>
          <a:xfrm>
            <a:off x="4389120" y="1874520"/>
            <a:ext cx="3611520" cy="4343040"/>
          </a:xfrm>
          <a:prstGeom prst="roundRect">
            <a:avLst>
              <a:gd name="adj" fmla="val 2025"/>
            </a:avLst>
          </a:prstGeom>
          <a:solidFill>
            <a:srgbClr val="f5f7fa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32"/>
          <p:cNvSpPr/>
          <p:nvPr/>
        </p:nvSpPr>
        <p:spPr>
          <a:xfrm>
            <a:off x="5920920" y="2148840"/>
            <a:ext cx="548280" cy="54828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" name="Image 12" descr="preencoded.png"/>
          <p:cNvPicPr/>
          <p:nvPr/>
        </p:nvPicPr>
        <p:blipFill>
          <a:blip r:embed="rId3"/>
          <a:stretch/>
        </p:blipFill>
        <p:spPr>
          <a:xfrm>
            <a:off x="6036120" y="2264040"/>
            <a:ext cx="317880" cy="31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40"/>
          <p:cNvSpPr/>
          <p:nvPr/>
        </p:nvSpPr>
        <p:spPr>
          <a:xfrm>
            <a:off x="4572000" y="283464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Cardápio do restaurante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33"/>
          <p:cNvSpPr/>
          <p:nvPr/>
        </p:nvSpPr>
        <p:spPr>
          <a:xfrm>
            <a:off x="4617720" y="3337560"/>
            <a:ext cx="3154320" cy="1599840"/>
          </a:xfrm>
          <a:prstGeom prst="roundRect">
            <a:avLst>
              <a:gd name="adj" fmla="val 3429"/>
            </a:avLst>
          </a:prstGeom>
          <a:solidFill>
            <a:srgbClr val="1e3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41"/>
          <p:cNvSpPr/>
          <p:nvPr/>
        </p:nvSpPr>
        <p:spPr>
          <a:xfrm>
            <a:off x="4773240" y="3474720"/>
            <a:ext cx="284328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Pratos → [Lasanha, Feijoada, Peixe]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Sobremesas → [Pudim, Sorvete, Bolo]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Bebidas → [Suco, Refri, Café]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55"/>
          <p:cNvSpPr/>
          <p:nvPr/>
        </p:nvSpPr>
        <p:spPr>
          <a:xfrm>
            <a:off x="4617720" y="5074920"/>
            <a:ext cx="31543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O cardápio completo é um array de arrays: guarda várias listas dentro de uma só.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4"/>
          <p:cNvSpPr/>
          <p:nvPr/>
        </p:nvSpPr>
        <p:spPr>
          <a:xfrm>
            <a:off x="8229600" y="1874520"/>
            <a:ext cx="3611520" cy="4343040"/>
          </a:xfrm>
          <a:prstGeom prst="roundRect">
            <a:avLst>
              <a:gd name="adj" fmla="val 2025"/>
            </a:avLst>
          </a:prstGeom>
          <a:solidFill>
            <a:srgbClr val="f5f7fa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5"/>
          <p:cNvSpPr/>
          <p:nvPr/>
        </p:nvSpPr>
        <p:spPr>
          <a:xfrm>
            <a:off x="9761400" y="2148840"/>
            <a:ext cx="548280" cy="54828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" name="Image 13" descr="preencoded.png"/>
          <p:cNvPicPr/>
          <p:nvPr/>
        </p:nvPicPr>
        <p:blipFill>
          <a:blip r:embed="rId4"/>
          <a:stretch/>
        </p:blipFill>
        <p:spPr>
          <a:xfrm>
            <a:off x="9876600" y="2264040"/>
            <a:ext cx="317880" cy="31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Text 56"/>
          <p:cNvSpPr/>
          <p:nvPr/>
        </p:nvSpPr>
        <p:spPr>
          <a:xfrm>
            <a:off x="8412480" y="2834640"/>
            <a:ext cx="3245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Mala de viagem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6"/>
          <p:cNvSpPr/>
          <p:nvPr/>
        </p:nvSpPr>
        <p:spPr>
          <a:xfrm>
            <a:off x="8458200" y="3337560"/>
            <a:ext cx="3154320" cy="1599840"/>
          </a:xfrm>
          <a:prstGeom prst="roundRect">
            <a:avLst>
              <a:gd name="adj" fmla="val 3429"/>
            </a:avLst>
          </a:prstGeom>
          <a:solidFill>
            <a:srgbClr val="1e33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57"/>
          <p:cNvSpPr/>
          <p:nvPr/>
        </p:nvSpPr>
        <p:spPr>
          <a:xfrm>
            <a:off x="8613720" y="3474720"/>
            <a:ext cx="284328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Saco 1 → [camisas, calças]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Saco 2 → [meias, sapatos]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050" strike="noStrike" u="none">
                <a:solidFill>
                  <a:srgbClr val="e8edf3"/>
                </a:solidFill>
                <a:effectLst/>
                <a:uFillTx/>
                <a:latin typeface="Courier New"/>
                <a:ea typeface="Courier New"/>
              </a:rPr>
              <a:t>Saco 3 → [produtos de higiene]</a:t>
            </a:r>
            <a:endParaRPr b="0" lang="pt-BR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58"/>
          <p:cNvSpPr/>
          <p:nvPr/>
        </p:nvSpPr>
        <p:spPr>
          <a:xfrm>
            <a:off x="8458200" y="5074920"/>
            <a:ext cx="31543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A mala é um array e cada saco é outro array: juntos formam um array aninhado.</a:t>
            </a:r>
            <a:endParaRPr b="0" lang="pt-BR" sz="1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59"/>
          <p:cNvSpPr/>
          <p:nvPr/>
        </p:nvSpPr>
        <p:spPr>
          <a:xfrm>
            <a:off x="457200" y="647388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6b8"/>
                </a:solidFill>
                <a:effectLst/>
                <a:uFillTx/>
                <a:latin typeface="Calibri"/>
                <a:ea typeface="Calibri"/>
              </a:rPr>
              <a:t>Aula 13 · Arrays — Conceitos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0"/>
          <p:cNvSpPr/>
          <p:nvPr/>
        </p:nvSpPr>
        <p:spPr>
          <a:xfrm>
            <a:off x="1127736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6b8"/>
                </a:solidFill>
                <a:effectLst/>
                <a:uFillTx/>
                <a:latin typeface="Calibri"/>
                <a:ea typeface="Calibri"/>
              </a:rPr>
              <a:t>4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26"/>
          <p:cNvSpPr/>
          <p:nvPr/>
        </p:nvSpPr>
        <p:spPr>
          <a:xfrm>
            <a:off x="548640" y="365760"/>
            <a:ext cx="502560" cy="50256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9" name="Image 9" descr="preencoded.png"/>
          <p:cNvPicPr/>
          <p:nvPr/>
        </p:nvPicPr>
        <p:blipFill>
          <a:blip r:embed="rId1"/>
          <a:stretch/>
        </p:blipFill>
        <p:spPr>
          <a:xfrm>
            <a:off x="654120" y="471240"/>
            <a:ext cx="291240" cy="29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Text 53"/>
          <p:cNvSpPr/>
          <p:nvPr/>
        </p:nvSpPr>
        <p:spPr>
          <a:xfrm>
            <a:off x="1234440" y="311040"/>
            <a:ext cx="10286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Arrays como Contêineres Universais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7"/>
          <p:cNvSpPr/>
          <p:nvPr/>
        </p:nvSpPr>
        <p:spPr>
          <a:xfrm>
            <a:off x="640080" y="1417320"/>
            <a:ext cx="5348880" cy="466308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8"/>
          <p:cNvSpPr/>
          <p:nvPr/>
        </p:nvSpPr>
        <p:spPr>
          <a:xfrm>
            <a:off x="960120" y="1737360"/>
            <a:ext cx="685440" cy="685440"/>
          </a:xfrm>
          <a:prstGeom prst="ellipse">
            <a:avLst/>
          </a:prstGeom>
          <a:solidFill>
            <a:srgbClr val="2c7a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10" descr="preencoded.png"/>
          <p:cNvPicPr/>
          <p:nvPr/>
        </p:nvPicPr>
        <p:blipFill>
          <a:blip r:embed="rId2"/>
          <a:stretch/>
        </p:blipFill>
        <p:spPr>
          <a:xfrm>
            <a:off x="1131480" y="1908720"/>
            <a:ext cx="342720" cy="34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54"/>
          <p:cNvSpPr/>
          <p:nvPr/>
        </p:nvSpPr>
        <p:spPr>
          <a:xfrm>
            <a:off x="1828800" y="1801440"/>
            <a:ext cx="3885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Flexibilidade total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1"/>
          <p:cNvSpPr/>
          <p:nvPr/>
        </p:nvSpPr>
        <p:spPr>
          <a:xfrm>
            <a:off x="1005840" y="2651760"/>
            <a:ext cx="461736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8000"/>
              </a:lnSpc>
              <a:tabLst>
                <a:tab algn="l" pos="0"/>
              </a:tabLst>
            </a:pPr>
            <a:r>
              <a:rPr b="0" lang="en-US" sz="13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Um array pode ser visto como um contêiner universal porque guarda diferentes elementos organizados em sequência. Possui estrutura consistente — funciona do mesmo jeito independentemente do conteúdo (números, textos, imagens) — mantendo o mesmo formato, índice e operações básicas: acessar, adicionar, remover, percorrer. Essa consistência torna os arrays previsíveis e fáceis de usar, permitindo aplicar os mesmos algoritmos a diferentes tipos de dados.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9"/>
          <p:cNvSpPr/>
          <p:nvPr/>
        </p:nvSpPr>
        <p:spPr>
          <a:xfrm>
            <a:off x="6355080" y="1417320"/>
            <a:ext cx="5348880" cy="466308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0">
            <a:noFill/>
          </a:ln>
          <a:effectLst>
            <a:outerShdw algn="bl" blurRad="76320" dir="5400000" dist="255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30"/>
          <p:cNvSpPr/>
          <p:nvPr/>
        </p:nvSpPr>
        <p:spPr>
          <a:xfrm>
            <a:off x="6675120" y="1737360"/>
            <a:ext cx="685440" cy="685440"/>
          </a:xfrm>
          <a:prstGeom prst="ellipse">
            <a:avLst/>
          </a:prstGeom>
          <a:solidFill>
            <a:srgbClr val="e896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Image 11" descr="preencoded.png"/>
          <p:cNvPicPr/>
          <p:nvPr/>
        </p:nvPicPr>
        <p:blipFill>
          <a:blip r:embed="rId3"/>
          <a:stretch/>
        </p:blipFill>
        <p:spPr>
          <a:xfrm>
            <a:off x="6846480" y="1908720"/>
            <a:ext cx="342720" cy="34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 62"/>
          <p:cNvSpPr/>
          <p:nvPr/>
        </p:nvSpPr>
        <p:spPr>
          <a:xfrm>
            <a:off x="7543800" y="1801440"/>
            <a:ext cx="3885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Poder computacional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3"/>
          <p:cNvSpPr/>
          <p:nvPr/>
        </p:nvSpPr>
        <p:spPr>
          <a:xfrm>
            <a:off x="6720840" y="2651760"/>
            <a:ext cx="461736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18000"/>
              </a:lnSpc>
              <a:tabLst>
                <a:tab algn="l" pos="0"/>
              </a:tabLst>
            </a:pPr>
            <a:r>
              <a:rPr b="0" lang="en-US" sz="1350" strike="noStrike" u="none">
                <a:solidFill>
                  <a:srgbClr val="44526a"/>
                </a:solidFill>
                <a:effectLst/>
                <a:uFillTx/>
                <a:latin typeface="Calibri"/>
                <a:ea typeface="Calibri"/>
              </a:rPr>
              <a:t>Os arrays concentram grande poder computacional porque permitem armazenar e processar grandes quantidades de dados de forma organizada e eficiente. Sua estrutura uniforme possibilita operações rápidas e repetitivas — busca, ordenação, análise em massa — essencial para o pensamento computacional, pois favorece algoritmos lógicos, escaláveis e reutilizáveis.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64"/>
          <p:cNvSpPr/>
          <p:nvPr/>
        </p:nvSpPr>
        <p:spPr>
          <a:xfrm>
            <a:off x="457200" y="6473880"/>
            <a:ext cx="5486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6b8"/>
                </a:solidFill>
                <a:effectLst/>
                <a:uFillTx/>
                <a:latin typeface="Calibri"/>
                <a:ea typeface="Calibri"/>
              </a:rPr>
              <a:t>Aula 13 · Arrays — Conceitos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65"/>
          <p:cNvSpPr/>
          <p:nvPr/>
        </p:nvSpPr>
        <p:spPr>
          <a:xfrm>
            <a:off x="11277360" y="647388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6b8"/>
                </a:solidFill>
                <a:effectLst/>
                <a:uFillTx/>
                <a:latin typeface="Calibri"/>
                <a:ea typeface="Calibri"/>
              </a:rPr>
              <a:t>5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0"/>
          <p:cNvSpPr/>
          <p:nvPr/>
        </p:nvSpPr>
        <p:spPr>
          <a:xfrm>
            <a:off x="548640" y="457200"/>
            <a:ext cx="10789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O que já vimos na Parte 1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548640" y="1554480"/>
            <a:ext cx="107895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600" defTabSz="914400">
              <a:lnSpc>
                <a:spcPct val="125000"/>
              </a:lnSpc>
              <a:spcAft>
                <a:spcPts val="1599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Arrays organizam coleções de dados do mesmo tipo em índices numerados — de listas simples (1D) a estruturas em linhas e colunas (2D) e além (multidimensionais).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5000"/>
              </a:lnSpc>
              <a:spcAft>
                <a:spcPts val="1599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Arrays podem se aninhar — arrays dentro de arrays — para representar informação em camadas, como turmas, cardápios ou malas organizadas.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5000"/>
              </a:lnSpc>
              <a:spcAft>
                <a:spcPts val="1599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Por sua estrutura consistente, arrays são contêineres universais: previsíveis, reutilizáveis e essenciais para algoritmos escaláveis.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"/>
          <p:cNvSpPr/>
          <p:nvPr/>
        </p:nvSpPr>
        <p:spPr>
          <a:xfrm>
            <a:off x="548640" y="4160520"/>
            <a:ext cx="10789560" cy="1234080"/>
          </a:xfrm>
          <a:prstGeom prst="roundRect">
            <a:avLst>
              <a:gd name="adj" fmla="val 5926"/>
            </a:avLst>
          </a:prstGeom>
          <a:solidFill>
            <a:srgbClr val="eef3f8"/>
          </a:solidFill>
          <a:ln w="12700">
            <a:solidFill>
              <a:srgbClr val="2c7a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868680" y="4160520"/>
            <a:ext cx="101494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i="1" lang="en-US" sz="1450" strike="noStrike" u="none">
                <a:solidFill>
                  <a:srgbClr val="2c7a8c"/>
                </a:solidFill>
                <a:effectLst/>
                <a:uFillTx/>
                <a:latin typeface="Calibri"/>
                <a:ea typeface="Calibri"/>
              </a:rPr>
              <a:t>Agora, a mesma ideia — só que executável: cada conceito da Parte 1 vira uma tarefa curta no Pluto, com um exemplo real em Julia.</a:t>
            </a:r>
            <a:endParaRPr b="0" lang="pt-BR" sz="1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4"/>
          <p:cNvSpPr/>
          <p:nvPr/>
        </p:nvSpPr>
        <p:spPr>
          <a:xfrm>
            <a:off x="548640" y="63550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Aula 13 · Arrays / Estruturas de Dados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10972800" y="63550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548640" y="4114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TAREFA 13.1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548640" y="749880"/>
            <a:ext cx="10789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Como um array guarda uma sequência de itens?</a:t>
            </a:r>
            <a:endParaRPr b="0" lang="pt-BR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48640" y="178308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9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NO PLUTO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548640" y="2148840"/>
            <a:ext cx="5120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Crie um array com os nomes dos alunos de uma turma.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Acesse o terceiro nome.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Percorra o array com um laço, imprimindo cada nome.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548640" y="4343400"/>
            <a:ext cx="5120280" cy="1234080"/>
          </a:xfrm>
          <a:prstGeom prst="roundRect">
            <a:avLst>
              <a:gd name="adj" fmla="val 5926"/>
            </a:avLst>
          </a:prstGeom>
          <a:solidFill>
            <a:srgbClr val="fcf3e7"/>
          </a:solidFill>
          <a:ln w="12700">
            <a:solidFill>
              <a:srgbClr val="e896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777240" y="4343400"/>
            <a:ext cx="46630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8a5a17"/>
                </a:solidFill>
                <a:effectLst/>
                <a:uFillTx/>
                <a:latin typeface="Calibri"/>
                <a:ea typeface="Calibri"/>
              </a:rPr>
              <a:t>Diferença da Parte 1: em Julia, os índices começam em 1, não em 0 — alunos[3] é o terceiro nome, não o quarto.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6"/>
          <p:cNvSpPr/>
          <p:nvPr/>
        </p:nvSpPr>
        <p:spPr>
          <a:xfrm>
            <a:off x="5943600" y="1783080"/>
            <a:ext cx="5668920" cy="2788560"/>
          </a:xfrm>
          <a:prstGeom prst="roundRect">
            <a:avLst>
              <a:gd name="adj" fmla="val 3934"/>
            </a:avLst>
          </a:prstGeom>
          <a:solidFill>
            <a:srgbClr val="1b3a5c"/>
          </a:solidFill>
          <a:ln w="0">
            <a:noFill/>
          </a:ln>
          <a:effectLst>
            <a:outerShdw algn="bl" blurRad="76320" dir="5400000" dist="38160" kx="0" ky="0" rotWithShape="0" sx="100000" sy="100000">
              <a:srgbClr val="44546a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6263640" y="2057400"/>
            <a:ext cx="5028840" cy="22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alunos = ["Ana", "João", "Maria", "Lucas"]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terceiro = alunos[3]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maiusculos = [uppercase(nome)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    for nome in alunos]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8"/>
          <p:cNvSpPr/>
          <p:nvPr/>
        </p:nvSpPr>
        <p:spPr>
          <a:xfrm>
            <a:off x="5943600" y="4754880"/>
            <a:ext cx="5668920" cy="1005480"/>
          </a:xfrm>
          <a:prstGeom prst="roundRect">
            <a:avLst>
              <a:gd name="adj" fmla="val 7273"/>
            </a:avLst>
          </a:prstGeom>
          <a:solidFill>
            <a:srgbClr val="eef3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9"/>
          <p:cNvSpPr/>
          <p:nvPr/>
        </p:nvSpPr>
        <p:spPr>
          <a:xfrm>
            <a:off x="6217920" y="4892040"/>
            <a:ext cx="512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2c7a8c"/>
                </a:solidFill>
                <a:effectLst/>
                <a:uFillTx/>
                <a:latin typeface="Courier New"/>
                <a:ea typeface="Courier New"/>
              </a:rPr>
              <a:t>alunos[3]</a:t>
            </a:r>
            <a:r>
              <a:rPr b="0" lang="en-US" sz="1250" strike="noStrike" u="none">
                <a:solidFill>
                  <a:srgbClr val="44546a"/>
                </a:solidFill>
                <a:effectLst/>
                <a:uFillTx/>
                <a:latin typeface="Courier New"/>
                <a:ea typeface="Courier New"/>
              </a:rPr>
              <a:t>  →  "Maria"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2c7a8c"/>
                </a:solidFill>
                <a:effectLst/>
                <a:uFillTx/>
                <a:latin typeface="Courier New"/>
                <a:ea typeface="Courier New"/>
              </a:rPr>
              <a:t>maiusculos</a:t>
            </a:r>
            <a:r>
              <a:rPr b="0" lang="en-US" sz="1250" strike="noStrike" u="none">
                <a:solidFill>
                  <a:srgbClr val="44546a"/>
                </a:solidFill>
                <a:effectLst/>
                <a:uFillTx/>
                <a:latin typeface="Courier New"/>
                <a:ea typeface="Courier New"/>
              </a:rPr>
              <a:t>  →  ["ANA", "JOÃO", "MARIA", "LUCAS"]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0"/>
          <p:cNvSpPr/>
          <p:nvPr/>
        </p:nvSpPr>
        <p:spPr>
          <a:xfrm>
            <a:off x="548640" y="63550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Aula 13 · Arrays / Estruturas de Dados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1"/>
          <p:cNvSpPr/>
          <p:nvPr/>
        </p:nvSpPr>
        <p:spPr>
          <a:xfrm>
            <a:off x="10972800" y="63550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 0"/>
          <p:cNvSpPr/>
          <p:nvPr/>
        </p:nvSpPr>
        <p:spPr>
          <a:xfrm>
            <a:off x="548640" y="4114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TAREFA 13.2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548640" y="749880"/>
            <a:ext cx="10789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Como representar dados em linhas e colunas?</a:t>
            </a:r>
            <a:endParaRPr b="0" lang="pt-BR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548640" y="178308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9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NO PLUTO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548640" y="2148840"/>
            <a:ext cx="5120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Represente as notas dos alunos em 3 provas como uma matriz.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Acesse a nota da Maria (linha 3) na prova 3 (coluna 3).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548640" y="4343400"/>
            <a:ext cx="5120280" cy="1234080"/>
          </a:xfrm>
          <a:prstGeom prst="roundRect">
            <a:avLst>
              <a:gd name="adj" fmla="val 5926"/>
            </a:avLst>
          </a:prstGeom>
          <a:solidFill>
            <a:srgbClr val="fcf3e7"/>
          </a:solidFill>
          <a:ln w="12700">
            <a:solidFill>
              <a:srgbClr val="e896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777240" y="4343400"/>
            <a:ext cx="46630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8a5a17"/>
                </a:solidFill>
                <a:effectLst/>
                <a:uFillTx/>
                <a:latin typeface="Calibri"/>
                <a:ea typeface="Calibri"/>
              </a:rPr>
              <a:t>Diferença da Parte 1: Julia usa uma matriz nativa — notas[linha, coluna], com vírgula — em vez de colchetes encadeados como notas[1][2].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5943600" y="1783080"/>
            <a:ext cx="5668920" cy="2788560"/>
          </a:xfrm>
          <a:prstGeom prst="roundRect">
            <a:avLst>
              <a:gd name="adj" fmla="val 3934"/>
            </a:avLst>
          </a:prstGeom>
          <a:solidFill>
            <a:srgbClr val="1b3a5c"/>
          </a:solidFill>
          <a:ln w="0">
            <a:noFill/>
          </a:ln>
          <a:effectLst>
            <a:outerShdw algn="bl" blurRad="76320" dir="5400000" dist="38160" kx="0" ky="0" rotWithShape="0" sx="100000" sy="100000">
              <a:srgbClr val="44546a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6263640" y="2057400"/>
            <a:ext cx="5028840" cy="22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notas = [8.5 9.0 7.5;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         7.0 8.0 6.5;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         9.5 8.5 10.0]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nota_maria_prova3 = notas[3, 3]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943600" y="4754880"/>
            <a:ext cx="5668920" cy="1005480"/>
          </a:xfrm>
          <a:prstGeom prst="roundRect">
            <a:avLst>
              <a:gd name="adj" fmla="val 7273"/>
            </a:avLst>
          </a:prstGeom>
          <a:solidFill>
            <a:srgbClr val="eef3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6217920" y="4892040"/>
            <a:ext cx="512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2c7a8c"/>
                </a:solidFill>
                <a:effectLst/>
                <a:uFillTx/>
                <a:latin typeface="Courier New"/>
                <a:ea typeface="Courier New"/>
              </a:rPr>
              <a:t>notas[3, 3]</a:t>
            </a:r>
            <a:r>
              <a:rPr b="0" lang="en-US" sz="1250" strike="noStrike" u="none">
                <a:solidFill>
                  <a:srgbClr val="44546a"/>
                </a:solidFill>
                <a:effectLst/>
                <a:uFillTx/>
                <a:latin typeface="Courier New"/>
                <a:ea typeface="Courier New"/>
              </a:rPr>
              <a:t>  →  10.0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548640" y="63550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Aula 13 · Arrays / Estruturas de Dados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1"/>
          <p:cNvSpPr/>
          <p:nvPr/>
        </p:nvSpPr>
        <p:spPr>
          <a:xfrm>
            <a:off x="10972800" y="63550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548640" y="4114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TAREFA 13.3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548640" y="749880"/>
            <a:ext cx="10789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Como somar todos os valores de uma matriz?</a:t>
            </a:r>
            <a:endParaRPr b="0" lang="pt-BR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"/>
          <p:cNvSpPr/>
          <p:nvPr/>
        </p:nvSpPr>
        <p:spPr>
          <a:xfrm>
            <a:off x="548640" y="178308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9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NO PLUTO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548640" y="2148840"/>
            <a:ext cx="5120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Some todas as notas da matriz (mesmos dados da Tarefa 13.2).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Use dois laços for aninhados: um para linha, um para coluna.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Compare o resultado com a função sum de Julia.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4"/>
          <p:cNvSpPr/>
          <p:nvPr/>
        </p:nvSpPr>
        <p:spPr>
          <a:xfrm>
            <a:off x="5943600" y="1783080"/>
            <a:ext cx="5668920" cy="2788560"/>
          </a:xfrm>
          <a:prstGeom prst="roundRect">
            <a:avLst>
              <a:gd name="adj" fmla="val 3934"/>
            </a:avLst>
          </a:prstGeom>
          <a:solidFill>
            <a:srgbClr val="1b3a5c"/>
          </a:solidFill>
          <a:ln w="0">
            <a:noFill/>
          </a:ln>
          <a:effectLst>
            <a:outerShdw algn="bl" blurRad="76320" dir="5400000" dist="38160" kx="0" ky="0" rotWithShape="0" sx="100000" sy="100000">
              <a:srgbClr val="44546a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6263640" y="2057400"/>
            <a:ext cx="5028840" cy="22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total_manual = 0.0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for linha in 1:size(notas, 1)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  for coluna in 1:size(notas, 2)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    total_manual += notas[linha, coluna]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  end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end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5943600" y="4754880"/>
            <a:ext cx="5668920" cy="1005480"/>
          </a:xfrm>
          <a:prstGeom prst="roundRect">
            <a:avLst>
              <a:gd name="adj" fmla="val 7273"/>
            </a:avLst>
          </a:prstGeom>
          <a:solidFill>
            <a:srgbClr val="eef3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7"/>
          <p:cNvSpPr/>
          <p:nvPr/>
        </p:nvSpPr>
        <p:spPr>
          <a:xfrm>
            <a:off x="6217920" y="4892040"/>
            <a:ext cx="512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2c7a8c"/>
                </a:solidFill>
                <a:effectLst/>
                <a:uFillTx/>
                <a:latin typeface="Courier New"/>
                <a:ea typeface="Courier New"/>
              </a:rPr>
              <a:t>total_manual</a:t>
            </a:r>
            <a:r>
              <a:rPr b="0" lang="en-US" sz="1250" strike="noStrike" u="none">
                <a:solidFill>
                  <a:srgbClr val="44546a"/>
                </a:solidFill>
                <a:effectLst/>
                <a:uFillTx/>
                <a:latin typeface="Courier New"/>
                <a:ea typeface="Courier New"/>
              </a:rPr>
              <a:t>  →  74.5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2c7a8c"/>
                </a:solidFill>
                <a:effectLst/>
                <a:uFillTx/>
                <a:latin typeface="Courier New"/>
                <a:ea typeface="Courier New"/>
              </a:rPr>
              <a:t>sum(notas)</a:t>
            </a:r>
            <a:r>
              <a:rPr b="0" lang="en-US" sz="1250" strike="noStrike" u="none">
                <a:solidFill>
                  <a:srgbClr val="44546a"/>
                </a:solidFill>
                <a:effectLst/>
                <a:uFillTx/>
                <a:latin typeface="Courier New"/>
                <a:ea typeface="Courier New"/>
              </a:rPr>
              <a:t>  →  74.5  (mesmo valor)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8"/>
          <p:cNvSpPr/>
          <p:nvPr/>
        </p:nvSpPr>
        <p:spPr>
          <a:xfrm>
            <a:off x="548640" y="63550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Aula 13 · Arrays / Estruturas de Dados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10972800" y="63550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548640" y="4114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TAREFA 13.4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548640" y="749880"/>
            <a:ext cx="107895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Como um array representa uma imagem?</a:t>
            </a:r>
            <a:endParaRPr b="0" lang="pt-BR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548640" y="1783080"/>
            <a:ext cx="51202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99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NO PLUTO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548640" y="2148840"/>
            <a:ext cx="5120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Represente uma imagem 2×2 onde cada pixel tem 3 valores de cor (R, G, B).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25000"/>
              </a:lnSpc>
              <a:spcAft>
                <a:spcPts val="1001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35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Acesse a cor do pixel da linha 1, coluna 2.</a:t>
            </a:r>
            <a:endParaRPr b="0" lang="pt-BR" sz="1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548640" y="4343400"/>
            <a:ext cx="5120280" cy="1234080"/>
          </a:xfrm>
          <a:prstGeom prst="roundRect">
            <a:avLst>
              <a:gd name="adj" fmla="val 5926"/>
            </a:avLst>
          </a:prstGeom>
          <a:solidFill>
            <a:srgbClr val="fcf3e7"/>
          </a:solidFill>
          <a:ln w="12700">
            <a:solidFill>
              <a:srgbClr val="e896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777240" y="4343400"/>
            <a:ext cx="466308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200" strike="noStrike" u="none">
                <a:solidFill>
                  <a:srgbClr val="8a5a17"/>
                </a:solidFill>
                <a:effectLst/>
                <a:uFillTx/>
                <a:latin typeface="Calibri"/>
                <a:ea typeface="Calibri"/>
              </a:rPr>
              <a:t>Aqui a imagem é um array de arrays de arrays (3 níveis) — a mesma ideia de aninhamento da Parte 1, um nível a mais.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6"/>
          <p:cNvSpPr/>
          <p:nvPr/>
        </p:nvSpPr>
        <p:spPr>
          <a:xfrm>
            <a:off x="5943600" y="1783080"/>
            <a:ext cx="5668920" cy="2788560"/>
          </a:xfrm>
          <a:prstGeom prst="roundRect">
            <a:avLst>
              <a:gd name="adj" fmla="val 3934"/>
            </a:avLst>
          </a:prstGeom>
          <a:solidFill>
            <a:srgbClr val="1b3a5c"/>
          </a:solidFill>
          <a:ln w="0">
            <a:noFill/>
          </a:ln>
          <a:effectLst>
            <a:outerShdw algn="bl" blurRad="76320" dir="5400000" dist="38160" kx="0" ky="0" rotWithShape="0" sx="100000" sy="100000">
              <a:srgbClr val="44546a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7"/>
          <p:cNvSpPr/>
          <p:nvPr/>
        </p:nvSpPr>
        <p:spPr>
          <a:xfrm>
            <a:off x="6263640" y="2057400"/>
            <a:ext cx="5028840" cy="22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imagem = [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    [[255, 0, 0], [0, 255, 0]],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    [[0, 0, 255], [255, 255, 0]],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e9eef3"/>
                </a:solidFill>
                <a:effectLst/>
                <a:uFillTx/>
                <a:latin typeface="Courier New"/>
                <a:ea typeface="Courier New"/>
              </a:rPr>
              <a:t>pixel_1_2 = imagem[1][2]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8"/>
          <p:cNvSpPr/>
          <p:nvPr/>
        </p:nvSpPr>
        <p:spPr>
          <a:xfrm>
            <a:off x="5943600" y="4754880"/>
            <a:ext cx="5668920" cy="1005480"/>
          </a:xfrm>
          <a:prstGeom prst="roundRect">
            <a:avLst>
              <a:gd name="adj" fmla="val 7273"/>
            </a:avLst>
          </a:prstGeom>
          <a:solidFill>
            <a:srgbClr val="eef3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9"/>
          <p:cNvSpPr/>
          <p:nvPr/>
        </p:nvSpPr>
        <p:spPr>
          <a:xfrm>
            <a:off x="6217920" y="4892040"/>
            <a:ext cx="5120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1250" strike="noStrike" u="none">
                <a:solidFill>
                  <a:srgbClr val="2c7a8c"/>
                </a:solidFill>
                <a:effectLst/>
                <a:uFillTx/>
                <a:latin typeface="Courier New"/>
                <a:ea typeface="Courier New"/>
              </a:rPr>
              <a:t>pixel_1_2</a:t>
            </a:r>
            <a:r>
              <a:rPr b="0" lang="en-US" sz="1250" strike="noStrike" u="none">
                <a:solidFill>
                  <a:srgbClr val="44546a"/>
                </a:solidFill>
                <a:effectLst/>
                <a:uFillTx/>
                <a:latin typeface="Courier New"/>
                <a:ea typeface="Courier New"/>
              </a:rPr>
              <a:t>  →  [0, 255, 0]  (verde)</a:t>
            </a:r>
            <a:endParaRPr b="0" lang="pt-BR" sz="12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0"/>
          <p:cNvSpPr/>
          <p:nvPr/>
        </p:nvSpPr>
        <p:spPr>
          <a:xfrm>
            <a:off x="548640" y="63550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Aula 13 · Arrays / Estruturas de Dados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1"/>
          <p:cNvSpPr/>
          <p:nvPr/>
        </p:nvSpPr>
        <p:spPr>
          <a:xfrm>
            <a:off x="10972800" y="63550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548640" y="50292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SÍNTESE DA AULA</a:t>
            </a:r>
            <a:endParaRPr b="0" lang="pt-BR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548640" y="9144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Arrays em Julia, na prática</a:t>
            </a:r>
            <a:endParaRPr b="0" lang="pt-BR" sz="3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548640" y="1920240"/>
            <a:ext cx="106066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e9eef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e9eef3"/>
                </a:solidFill>
                <a:effectLst/>
                <a:uFillTx/>
                <a:latin typeface="Calibri"/>
                <a:ea typeface="Calibri"/>
              </a:rPr>
              <a:t>Em Julia, os arrays começam no índice 1, e matrizes usam vírgula (linha, coluna) em vez de colchetes encadeados.</a:t>
            </a:r>
            <a:endParaRPr b="0" lang="pt-B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e9eef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e9eef3"/>
                </a:solidFill>
                <a:effectLst/>
                <a:uFillTx/>
                <a:latin typeface="Calibri"/>
                <a:ea typeface="Calibri"/>
              </a:rPr>
              <a:t>O mesmo percurso conceitual da Parte 1 — 1D, 2D e aninhado/3D — se traduz diretamente em código executável no Pluto.</a:t>
            </a:r>
            <a:endParaRPr b="0" lang="pt-B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Aft>
                <a:spcPts val="1400"/>
              </a:spcAft>
              <a:buClr>
                <a:srgbClr val="e9eef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rgbClr val="e9eef3"/>
                </a:solidFill>
                <a:effectLst/>
                <a:uFillTx/>
                <a:latin typeface="Calibri"/>
                <a:ea typeface="Calibri"/>
              </a:rPr>
              <a:t>Percorrer, somar e comparar com funções prontas (como sum) ajuda a verificar se o raciocínio manual está certo.</a:t>
            </a:r>
            <a:endParaRPr b="0" lang="pt-BR" sz="1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548640" y="470916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201" strike="noStrike" u="none">
                <a:solidFill>
                  <a:srgbClr val="e8963c"/>
                </a:solidFill>
                <a:effectLst/>
                <a:uFillTx/>
                <a:latin typeface="Calibri"/>
                <a:ea typeface="Calibri"/>
              </a:rPr>
              <a:t>A SEGUIR</a:t>
            </a:r>
            <a:endParaRPr b="0" lang="pt-BR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548640" y="502920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00" strike="noStrike" u="non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Aula 14: Complexidade de Algoritmos</a:t>
            </a:r>
            <a:endParaRPr b="0" lang="pt-BR" sz="19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5"/>
          <p:cNvSpPr/>
          <p:nvPr/>
        </p:nvSpPr>
        <p:spPr>
          <a:xfrm>
            <a:off x="548640" y="630936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Aula 13 · Arrays / Estruturas de Dados</a:t>
            </a:r>
            <a:endParaRPr b="0" lang="pt-BR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548640" y="54864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201" strike="noStrike" u="none">
                <a:solidFill>
                  <a:srgbClr val="2c7a8c"/>
                </a:solidFill>
                <a:effectLst/>
                <a:uFillTx/>
                <a:latin typeface="Calibri"/>
                <a:ea typeface="Calibri"/>
              </a:rPr>
              <a:t>REFERÊNCIAS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548640" y="914400"/>
            <a:ext cx="10515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trike="noStrike" u="none">
                <a:solidFill>
                  <a:srgbClr val="1b3a5c"/>
                </a:solidFill>
                <a:effectLst/>
                <a:uFillTx/>
                <a:latin typeface="Cambria"/>
                <a:ea typeface="Cambria"/>
              </a:rPr>
              <a:t>Referências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548640" y="1965960"/>
            <a:ext cx="106066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228600" indent="-228600" defTabSz="914400">
              <a:lnSpc>
                <a:spcPct val="130000"/>
              </a:lnSpc>
              <a:spcAft>
                <a:spcPts val="1199"/>
              </a:spcAft>
              <a:buClr>
                <a:srgbClr val="44546a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44546a"/>
                </a:solidFill>
                <a:effectLst/>
                <a:uFillTx/>
                <a:latin typeface="Calibri"/>
                <a:ea typeface="Calibri"/>
              </a:rPr>
              <a:t>RIBEIRO, João Araújo. Introdução à Programação e aos algoritmos. Rio de Janeiro: LTC, 2019. ISBN 978-85-216-3640-3.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548640" y="63550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trike="noStrike" u="none">
                <a:solidFill>
                  <a:srgbClr val="9aa5b1"/>
                </a:solidFill>
                <a:effectLst/>
                <a:uFillTx/>
                <a:latin typeface="Calibri"/>
                <a:ea typeface="Calibri"/>
              </a:rPr>
              <a:t>Aula 13 · Arrays / Estruturas de Dados</a:t>
            </a:r>
            <a:endParaRPr b="0" lang="pt-BR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LibreOffice/25.2.7.2$Windows_X86_64 LibreOffice_project/5cbfd1ab6520636bb5f7b99185aa69bd7456825d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2026-08-25T00:03:44Z</dcterms:created>
  <dc:creator>PptxGenJS</dc:creator>
  <dc:description/>
  <dc:language>pt-BR</dc:language>
  <cp:lastModifiedBy/>
  <dcterms:modified xsi:type="dcterms:W3CDTF">2026-08-24T21:08:56Z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