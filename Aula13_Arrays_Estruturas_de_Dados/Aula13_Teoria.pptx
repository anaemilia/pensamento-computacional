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88" r:id="rId36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presProps" Target="presProps.xml"/><Relationship Id="rId36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0" y="4367160"/>
            <a:ext cx="9129600" cy="2476440"/>
            <a:chOff x="0" y="4367160"/>
            <a:chExt cx="9129600" cy="2476440"/>
          </a:xfrm>
        </p:grpSpPr>
        <p:sp>
          <p:nvSpPr>
            <p:cNvPr id="3" name=""/>
            <p:cNvSpPr/>
            <p:nvPr/>
          </p:nvSpPr>
          <p:spPr>
            <a:xfrm>
              <a:off x="0" y="6477120"/>
              <a:ext cx="9129600" cy="36648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7077240" y="4367160"/>
              <a:ext cx="1887480" cy="2261880"/>
              <a:chOff x="7077240" y="4367160"/>
              <a:chExt cx="1887480" cy="2261880"/>
            </a:xfrm>
          </p:grpSpPr>
          <p:sp>
            <p:nvSpPr>
              <p:cNvPr id="5" name=""/>
              <p:cNvSpPr/>
              <p:nvPr/>
            </p:nvSpPr>
            <p:spPr>
              <a:xfrm>
                <a:off x="7324560" y="4427280"/>
                <a:ext cx="1640160" cy="2020680"/>
              </a:xfrm>
              <a:custGeom>
                <a:avLst/>
                <a:gdLst>
                  <a:gd name="GluePoint1X" fmla="*/ 646 w 1034"/>
                  <a:gd name="GluePoint1Y" fmla="*/ 23 h 1273"/>
                  <a:gd name="GluePoint2X" fmla="*/ 765 w 1034"/>
                  <a:gd name="GluePoint2Y" fmla="*/ 92 h 1273"/>
                  <a:gd name="GluePoint3X" fmla="*/ 866 w 1034"/>
                  <a:gd name="GluePoint3Y" fmla="*/ 184 h 1273"/>
                  <a:gd name="GluePoint4X" fmla="*/ 944 w 1034"/>
                  <a:gd name="GluePoint4Y" fmla="*/ 294 h 1273"/>
                  <a:gd name="GluePoint5X" fmla="*/ 1000 w 1034"/>
                  <a:gd name="GluePoint5Y" fmla="*/ 417 h 1273"/>
                  <a:gd name="GluePoint6X" fmla="*/ 1030 w 1034"/>
                  <a:gd name="GluePoint6Y" fmla="*/ 550 h 1273"/>
                  <a:gd name="GluePoint7X" fmla="*/ 1030 w 1034"/>
                  <a:gd name="GluePoint7Y" fmla="*/ 688 h 1273"/>
                  <a:gd name="GluePoint8X" fmla="*/ 1000 w 1034"/>
                  <a:gd name="GluePoint8Y" fmla="*/ 821 h 1273"/>
                  <a:gd name="GluePoint9X" fmla="*/ 944 w 1034"/>
                  <a:gd name="GluePoint9Y" fmla="*/ 944 h 1273"/>
                  <a:gd name="GluePoint10X" fmla="*/ 866 w 1034"/>
                  <a:gd name="GluePoint10Y" fmla="*/ 1055 h 1273"/>
                  <a:gd name="GluePoint11X" fmla="*/ 765 w 1034"/>
                  <a:gd name="GluePoint11Y" fmla="*/ 1148 h 1273"/>
                  <a:gd name="GluePoint12X" fmla="*/ 646 w 1034"/>
                  <a:gd name="GluePoint12Y" fmla="*/ 1215 h 1273"/>
                  <a:gd name="GluePoint13X" fmla="*/ 517 w 1034"/>
                  <a:gd name="GluePoint13Y" fmla="*/ 1257 h 1273"/>
                  <a:gd name="GluePoint14X" fmla="*/ 382 w 1034"/>
                  <a:gd name="GluePoint14Y" fmla="*/ 1272 h 1273"/>
                  <a:gd name="GluePoint15X" fmla="*/ 246 w 1034"/>
                  <a:gd name="GluePoint15Y" fmla="*/ 1257 h 1273"/>
                  <a:gd name="GluePoint16X" fmla="*/ 118 w 1034"/>
                  <a:gd name="GluePoint16Y" fmla="*/ 1215 h 1273"/>
                  <a:gd name="GluePoint17X" fmla="*/ 0 w 1034"/>
                  <a:gd name="GluePoint17Y" fmla="*/ 1148 h 1273"/>
                  <a:gd name="GluePoint18X" fmla="*/ 89 w 1034"/>
                  <a:gd name="GluePoint18Y" fmla="*/ 1129 h 1273"/>
                  <a:gd name="GluePoint19X" fmla="*/ 201 w 1034"/>
                  <a:gd name="GluePoint19Y" fmla="*/ 1179 h 1273"/>
                  <a:gd name="GluePoint20X" fmla="*/ 320 w 1034"/>
                  <a:gd name="GluePoint20Y" fmla="*/ 1204 h 1273"/>
                  <a:gd name="GluePoint21X" fmla="*/ 443 w 1034"/>
                  <a:gd name="GluePoint21Y" fmla="*/ 1204 h 1273"/>
                  <a:gd name="GluePoint22X" fmla="*/ 563 w 1034"/>
                  <a:gd name="GluePoint22Y" fmla="*/ 1179 h 1273"/>
                  <a:gd name="GluePoint23X" fmla="*/ 675 w 1034"/>
                  <a:gd name="GluePoint23Y" fmla="*/ 1129 h 1273"/>
                  <a:gd name="GluePoint24X" fmla="*/ 775 w 1034"/>
                  <a:gd name="GluePoint24Y" fmla="*/ 1057 h 1273"/>
                  <a:gd name="GluePoint25X" fmla="*/ 857 w 1034"/>
                  <a:gd name="GluePoint25Y" fmla="*/ 965 h 1273"/>
                  <a:gd name="GluePoint26X" fmla="*/ 919 w 1034"/>
                  <a:gd name="GluePoint26Y" fmla="*/ 858 h 1273"/>
                  <a:gd name="GluePoint27X" fmla="*/ 956 w 1034"/>
                  <a:gd name="GluePoint27Y" fmla="*/ 742 h 1273"/>
                  <a:gd name="GluePoint28X" fmla="*/ 969 w 1034"/>
                  <a:gd name="GluePoint28Y" fmla="*/ 619 h 1273"/>
                  <a:gd name="GluePoint29X" fmla="*/ 956 w 1034"/>
                  <a:gd name="GluePoint29Y" fmla="*/ 496 h 1273"/>
                  <a:gd name="GluePoint30X" fmla="*/ 919 w 1034"/>
                  <a:gd name="GluePoint30Y" fmla="*/ 381 h 1273"/>
                  <a:gd name="GluePoint31X" fmla="*/ 857 w 1034"/>
                  <a:gd name="GluePoint31Y" fmla="*/ 273 h 1273"/>
                  <a:gd name="GluePoint32X" fmla="*/ 775 w 1034"/>
                  <a:gd name="GluePoint32Y" fmla="*/ 182 h 1273"/>
                  <a:gd name="GluePoint33X" fmla="*/ 675 w 1034"/>
                  <a:gd name="GluePoint33Y" fmla="*/ 110 h 1273"/>
                  <a:gd name="GluePoint34X" fmla="*/ 563 w 1034"/>
                  <a:gd name="GluePoint34Y" fmla="*/ 61 h 1273"/>
                  <a:gd name="GluePoint35X" fmla="*/ 582 w 1034"/>
                  <a:gd name="GluePoint35Y" fmla="*/ 0 h 1273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</a:cxnLst>
                <a:rect l="l" t="t" r="r" b="b"/>
                <a:pathLst>
                  <a:path w="1034" h="1273">
                    <a:moveTo>
                      <a:pt x="582" y="0"/>
                    </a:moveTo>
                    <a:lnTo>
                      <a:pt x="646" y="23"/>
                    </a:lnTo>
                    <a:lnTo>
                      <a:pt x="707" y="56"/>
                    </a:lnTo>
                    <a:lnTo>
                      <a:pt x="765" y="92"/>
                    </a:lnTo>
                    <a:lnTo>
                      <a:pt x="818" y="134"/>
                    </a:lnTo>
                    <a:lnTo>
                      <a:pt x="866" y="184"/>
                    </a:lnTo>
                    <a:lnTo>
                      <a:pt x="908" y="237"/>
                    </a:lnTo>
                    <a:lnTo>
                      <a:pt x="944" y="294"/>
                    </a:lnTo>
                    <a:lnTo>
                      <a:pt x="977" y="353"/>
                    </a:lnTo>
                    <a:lnTo>
                      <a:pt x="1000" y="417"/>
                    </a:lnTo>
                    <a:lnTo>
                      <a:pt x="1018" y="483"/>
                    </a:lnTo>
                    <a:lnTo>
                      <a:pt x="1030" y="550"/>
                    </a:lnTo>
                    <a:lnTo>
                      <a:pt x="1033" y="619"/>
                    </a:lnTo>
                    <a:lnTo>
                      <a:pt x="1030" y="688"/>
                    </a:lnTo>
                    <a:lnTo>
                      <a:pt x="1018" y="756"/>
                    </a:lnTo>
                    <a:lnTo>
                      <a:pt x="1000" y="821"/>
                    </a:lnTo>
                    <a:lnTo>
                      <a:pt x="977" y="884"/>
                    </a:lnTo>
                    <a:lnTo>
                      <a:pt x="944" y="944"/>
                    </a:lnTo>
                    <a:lnTo>
                      <a:pt x="908" y="1003"/>
                    </a:lnTo>
                    <a:lnTo>
                      <a:pt x="866" y="1055"/>
                    </a:lnTo>
                    <a:lnTo>
                      <a:pt x="818" y="1105"/>
                    </a:lnTo>
                    <a:lnTo>
                      <a:pt x="765" y="1148"/>
                    </a:lnTo>
                    <a:lnTo>
                      <a:pt x="707" y="1183"/>
                    </a:lnTo>
                    <a:lnTo>
                      <a:pt x="646" y="1215"/>
                    </a:lnTo>
                    <a:lnTo>
                      <a:pt x="582" y="1239"/>
                    </a:lnTo>
                    <a:lnTo>
                      <a:pt x="517" y="1257"/>
                    </a:lnTo>
                    <a:lnTo>
                      <a:pt x="450" y="1269"/>
                    </a:lnTo>
                    <a:lnTo>
                      <a:pt x="382" y="1272"/>
                    </a:lnTo>
                    <a:lnTo>
                      <a:pt x="313" y="1269"/>
                    </a:lnTo>
                    <a:lnTo>
                      <a:pt x="246" y="1257"/>
                    </a:lnTo>
                    <a:lnTo>
                      <a:pt x="180" y="1239"/>
                    </a:lnTo>
                    <a:lnTo>
                      <a:pt x="118" y="1215"/>
                    </a:lnTo>
                    <a:lnTo>
                      <a:pt x="57" y="1183"/>
                    </a:lnTo>
                    <a:lnTo>
                      <a:pt x="0" y="1148"/>
                    </a:lnTo>
                    <a:lnTo>
                      <a:pt x="36" y="1095"/>
                    </a:lnTo>
                    <a:lnTo>
                      <a:pt x="89" y="1129"/>
                    </a:lnTo>
                    <a:lnTo>
                      <a:pt x="144" y="1156"/>
                    </a:lnTo>
                    <a:lnTo>
                      <a:pt x="201" y="1179"/>
                    </a:lnTo>
                    <a:lnTo>
                      <a:pt x="261" y="1195"/>
                    </a:lnTo>
                    <a:lnTo>
                      <a:pt x="320" y="1204"/>
                    </a:lnTo>
                    <a:lnTo>
                      <a:pt x="382" y="1208"/>
                    </a:lnTo>
                    <a:lnTo>
                      <a:pt x="443" y="1204"/>
                    </a:lnTo>
                    <a:lnTo>
                      <a:pt x="504" y="1195"/>
                    </a:lnTo>
                    <a:lnTo>
                      <a:pt x="563" y="1179"/>
                    </a:lnTo>
                    <a:lnTo>
                      <a:pt x="621" y="1156"/>
                    </a:lnTo>
                    <a:lnTo>
                      <a:pt x="675" y="1129"/>
                    </a:lnTo>
                    <a:lnTo>
                      <a:pt x="727" y="1095"/>
                    </a:lnTo>
                    <a:lnTo>
                      <a:pt x="775" y="1057"/>
                    </a:lnTo>
                    <a:lnTo>
                      <a:pt x="818" y="1013"/>
                    </a:lnTo>
                    <a:lnTo>
                      <a:pt x="857" y="965"/>
                    </a:lnTo>
                    <a:lnTo>
                      <a:pt x="890" y="913"/>
                    </a:lnTo>
                    <a:lnTo>
                      <a:pt x="919" y="858"/>
                    </a:lnTo>
                    <a:lnTo>
                      <a:pt x="941" y="802"/>
                    </a:lnTo>
                    <a:lnTo>
                      <a:pt x="956" y="742"/>
                    </a:lnTo>
                    <a:lnTo>
                      <a:pt x="965" y="680"/>
                    </a:lnTo>
                    <a:lnTo>
                      <a:pt x="969" y="619"/>
                    </a:lnTo>
                    <a:lnTo>
                      <a:pt x="965" y="557"/>
                    </a:lnTo>
                    <a:lnTo>
                      <a:pt x="956" y="496"/>
                    </a:lnTo>
                    <a:lnTo>
                      <a:pt x="941" y="437"/>
                    </a:lnTo>
                    <a:lnTo>
                      <a:pt x="919" y="381"/>
                    </a:lnTo>
                    <a:lnTo>
                      <a:pt x="890" y="325"/>
                    </a:lnTo>
                    <a:lnTo>
                      <a:pt x="857" y="273"/>
                    </a:lnTo>
                    <a:lnTo>
                      <a:pt x="818" y="225"/>
                    </a:lnTo>
                    <a:lnTo>
                      <a:pt x="775" y="182"/>
                    </a:lnTo>
                    <a:lnTo>
                      <a:pt x="727" y="144"/>
                    </a:lnTo>
                    <a:lnTo>
                      <a:pt x="675" y="110"/>
                    </a:lnTo>
                    <a:lnTo>
                      <a:pt x="621" y="81"/>
                    </a:lnTo>
                    <a:lnTo>
                      <a:pt x="563" y="61"/>
                    </a:lnTo>
                    <a:lnTo>
                      <a:pt x="565" y="56"/>
                    </a:lnTo>
                    <a:lnTo>
                      <a:pt x="582" y="0"/>
                    </a:lnTo>
                  </a:path>
                </a:pathLst>
              </a:custGeom>
              <a:gradFill rotWithShape="0">
                <a:gsLst>
                  <a:gs pos="0">
                    <a:srgbClr val="5F5F5F"/>
                  </a:gs>
                  <a:gs pos="100000">
                    <a:srgbClr val="FFFFFF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V="1">
                <a:off x="7364520" y="6133320"/>
                <a:ext cx="161640" cy="293760"/>
              </a:xfrm>
              <a:prstGeom prst="line">
                <a:avLst/>
              </a:prstGeom>
              <a:ln w="2556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 flipV="1">
                <a:off x="8271000" y="4561920"/>
                <a:ext cx="55440" cy="111240"/>
              </a:xfrm>
              <a:prstGeom prst="line">
                <a:avLst/>
              </a:prstGeom>
              <a:ln w="2556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 flipV="1">
                <a:off x="8366040" y="4367160"/>
                <a:ext cx="55800" cy="110880"/>
              </a:xfrm>
              <a:prstGeom prst="line">
                <a:avLst/>
              </a:prstGeom>
              <a:ln w="25560">
                <a:solidFill>
                  <a:srgbClr val="FFFFFF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6800" rIns="90000" bIns="46800" anchor="t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7545240" y="6455880"/>
                <a:ext cx="957240" cy="173160"/>
              </a:xfrm>
              <a:custGeom>
                <a:avLst/>
                <a:gdLst>
                  <a:gd name="GluePoint1X" fmla="*/ 2 w 604"/>
                  <a:gd name="GluePoint1Y" fmla="*/ 70 h 110"/>
                  <a:gd name="GluePoint2X" fmla="*/ 14 w 604"/>
                  <a:gd name="GluePoint2Y" fmla="*/ 57 h 110"/>
                  <a:gd name="GluePoint3X" fmla="*/ 31 w 604"/>
                  <a:gd name="GluePoint3Y" fmla="*/ 46 h 110"/>
                  <a:gd name="GluePoint4X" fmla="*/ 63 w 604"/>
                  <a:gd name="GluePoint4Y" fmla="*/ 30 h 110"/>
                  <a:gd name="GluePoint5X" fmla="*/ 100 w 604"/>
                  <a:gd name="GluePoint5Y" fmla="*/ 21 h 110"/>
                  <a:gd name="GluePoint6X" fmla="*/ 134 w 604"/>
                  <a:gd name="GluePoint6Y" fmla="*/ 13 h 110"/>
                  <a:gd name="GluePoint7X" fmla="*/ 181 w 604"/>
                  <a:gd name="GluePoint7Y" fmla="*/ 6 h 110"/>
                  <a:gd name="GluePoint8X" fmla="*/ 225 w 604"/>
                  <a:gd name="GluePoint8Y" fmla="*/ 2 h 110"/>
                  <a:gd name="GluePoint9X" fmla="*/ 277 w 604"/>
                  <a:gd name="GluePoint9Y" fmla="*/ 0 h 110"/>
                  <a:gd name="GluePoint10X" fmla="*/ 340 w 604"/>
                  <a:gd name="GluePoint10Y" fmla="*/ 0 h 110"/>
                  <a:gd name="GluePoint11X" fmla="*/ 407 w 604"/>
                  <a:gd name="GluePoint11Y" fmla="*/ 4 h 110"/>
                  <a:gd name="GluePoint12X" fmla="*/ 453 w 604"/>
                  <a:gd name="GluePoint12Y" fmla="*/ 10 h 110"/>
                  <a:gd name="GluePoint13X" fmla="*/ 502 w 604"/>
                  <a:gd name="GluePoint13Y" fmla="*/ 19 h 110"/>
                  <a:gd name="GluePoint14X" fmla="*/ 549 w 604"/>
                  <a:gd name="GluePoint14Y" fmla="*/ 33 h 110"/>
                  <a:gd name="GluePoint15X" fmla="*/ 573 w 604"/>
                  <a:gd name="GluePoint15Y" fmla="*/ 47 h 110"/>
                  <a:gd name="GluePoint16X" fmla="*/ 588 w 604"/>
                  <a:gd name="GluePoint16Y" fmla="*/ 58 h 110"/>
                  <a:gd name="GluePoint17X" fmla="*/ 603 w 604"/>
                  <a:gd name="GluePoint17Y" fmla="*/ 77 h 110"/>
                  <a:gd name="GluePoint18X" fmla="*/ 578 w 604"/>
                  <a:gd name="GluePoint18Y" fmla="*/ 87 h 110"/>
                  <a:gd name="GluePoint19X" fmla="*/ 536 w 604"/>
                  <a:gd name="GluePoint19Y" fmla="*/ 95 h 110"/>
                  <a:gd name="GluePoint20X" fmla="*/ 485 w 604"/>
                  <a:gd name="GluePoint20Y" fmla="*/ 101 h 110"/>
                  <a:gd name="GluePoint21X" fmla="*/ 436 w 604"/>
                  <a:gd name="GluePoint21Y" fmla="*/ 106 h 110"/>
                  <a:gd name="GluePoint22X" fmla="*/ 377 w 604"/>
                  <a:gd name="GluePoint22Y" fmla="*/ 108 h 110"/>
                  <a:gd name="GluePoint23X" fmla="*/ 313 w 604"/>
                  <a:gd name="GluePoint23Y" fmla="*/ 109 h 110"/>
                  <a:gd name="GluePoint24X" fmla="*/ 252 w 604"/>
                  <a:gd name="GluePoint24Y" fmla="*/ 109 h 110"/>
                  <a:gd name="GluePoint25X" fmla="*/ 188 w 604"/>
                  <a:gd name="GluePoint25Y" fmla="*/ 108 h 110"/>
                  <a:gd name="GluePoint26X" fmla="*/ 117 w 604"/>
                  <a:gd name="GluePoint26Y" fmla="*/ 102 h 110"/>
                  <a:gd name="GluePoint27X" fmla="*/ 61 w 604"/>
                  <a:gd name="GluePoint27Y" fmla="*/ 96 h 110"/>
                  <a:gd name="GluePoint28X" fmla="*/ 14 w 604"/>
                  <a:gd name="GluePoint28Y" fmla="*/ 86 h 110"/>
                  <a:gd name="GluePoint29X" fmla="*/ 0 w 604"/>
                  <a:gd name="GluePoint29Y" fmla="*/ 78 h 110"/>
                  <a:gd name="GluePoint30X" fmla="*/ 2 w 604"/>
                  <a:gd name="GluePoint30Y" fmla="*/ 70 h 11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l" t="t" r="r" b="b"/>
                <a:pathLst>
                  <a:path w="604" h="110">
                    <a:moveTo>
                      <a:pt x="2" y="70"/>
                    </a:moveTo>
                    <a:lnTo>
                      <a:pt x="14" y="57"/>
                    </a:lnTo>
                    <a:lnTo>
                      <a:pt x="31" y="46"/>
                    </a:lnTo>
                    <a:lnTo>
                      <a:pt x="63" y="30"/>
                    </a:lnTo>
                    <a:lnTo>
                      <a:pt x="100" y="21"/>
                    </a:lnTo>
                    <a:lnTo>
                      <a:pt x="134" y="13"/>
                    </a:lnTo>
                    <a:lnTo>
                      <a:pt x="181" y="6"/>
                    </a:lnTo>
                    <a:lnTo>
                      <a:pt x="225" y="2"/>
                    </a:lnTo>
                    <a:lnTo>
                      <a:pt x="277" y="0"/>
                    </a:lnTo>
                    <a:lnTo>
                      <a:pt x="340" y="0"/>
                    </a:lnTo>
                    <a:lnTo>
                      <a:pt x="407" y="4"/>
                    </a:lnTo>
                    <a:lnTo>
                      <a:pt x="453" y="10"/>
                    </a:lnTo>
                    <a:lnTo>
                      <a:pt x="502" y="19"/>
                    </a:lnTo>
                    <a:lnTo>
                      <a:pt x="549" y="33"/>
                    </a:lnTo>
                    <a:lnTo>
                      <a:pt x="573" y="47"/>
                    </a:lnTo>
                    <a:lnTo>
                      <a:pt x="588" y="58"/>
                    </a:lnTo>
                    <a:lnTo>
                      <a:pt x="603" y="77"/>
                    </a:lnTo>
                    <a:lnTo>
                      <a:pt x="578" y="87"/>
                    </a:lnTo>
                    <a:lnTo>
                      <a:pt x="536" y="95"/>
                    </a:lnTo>
                    <a:lnTo>
                      <a:pt x="485" y="101"/>
                    </a:lnTo>
                    <a:lnTo>
                      <a:pt x="436" y="106"/>
                    </a:lnTo>
                    <a:lnTo>
                      <a:pt x="377" y="108"/>
                    </a:lnTo>
                    <a:lnTo>
                      <a:pt x="313" y="109"/>
                    </a:lnTo>
                    <a:lnTo>
                      <a:pt x="252" y="109"/>
                    </a:lnTo>
                    <a:lnTo>
                      <a:pt x="188" y="108"/>
                    </a:lnTo>
                    <a:lnTo>
                      <a:pt x="117" y="102"/>
                    </a:lnTo>
                    <a:lnTo>
                      <a:pt x="61" y="96"/>
                    </a:lnTo>
                    <a:lnTo>
                      <a:pt x="14" y="86"/>
                    </a:lnTo>
                    <a:lnTo>
                      <a:pt x="0" y="78"/>
                    </a:lnTo>
                    <a:lnTo>
                      <a:pt x="2" y="70"/>
                    </a:lnTo>
                  </a:path>
                </a:pathLst>
              </a:custGeom>
              <a:gradFill rotWithShape="0">
                <a:gsLst>
                  <a:gs pos="0">
                    <a:srgbClr val="FFFFFF"/>
                  </a:gs>
                  <a:gs pos="100000">
                    <a:srgbClr val="5F5F5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7077240" y="4568760"/>
                <a:ext cx="1703160" cy="1702800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5F5F5F"/>
                  </a:gs>
                </a:gsLst>
                <a:lin ang="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6800" rIns="90000" bIns="46800" anchor="ctr">
                <a:noAutofit/>
              </a:bodyPr>
              <a:p>
                <a:endParaRPr lang="en-US" sz="2400" b="0" u="none" strike="noStrike">
                  <a:solidFill>
                    <a:srgbClr val="000000"/>
                  </a:solidFill>
                  <a:effectLst/>
                  <a:uFillTx/>
                  <a:latin typeface="Times New Roman"/>
                </a:endParaRPr>
              </a:p>
            </p:txBody>
          </p:sp>
          <p:grpSp>
            <p:nvGrpSpPr>
              <p:cNvPr id="11" name=""/>
              <p:cNvGrpSpPr/>
              <p:nvPr/>
            </p:nvGrpSpPr>
            <p:grpSpPr>
              <a:xfrm>
                <a:off x="7077240" y="4746240"/>
                <a:ext cx="1584000" cy="1264320"/>
                <a:chOff x="7077240" y="4746240"/>
                <a:chExt cx="1584000" cy="1264320"/>
              </a:xfrm>
            </p:grpSpPr>
            <p:sp>
              <p:nvSpPr>
                <p:cNvPr id="12" name=""/>
                <p:cNvSpPr/>
                <p:nvPr/>
              </p:nvSpPr>
              <p:spPr>
                <a:xfrm>
                  <a:off x="7300800" y="5209920"/>
                  <a:ext cx="360" cy="25560"/>
                </a:xfrm>
                <a:custGeom>
                  <a:avLst/>
                  <a:gdLst>
                    <a:gd name="GluePoint1X" fmla="*/ 0 w 1"/>
                    <a:gd name="GluePoint1Y" fmla="*/ 0 h 17"/>
                    <a:gd name="GluePoint2X" fmla="*/ 0 w 1"/>
                    <a:gd name="GluePoint2Y" fmla="*/ 16 h 17"/>
                    <a:gd name="GluePoint3X" fmla="*/ 0 w 1"/>
                    <a:gd name="GluePoint3Y" fmla="*/ 16 h 17"/>
                    <a:gd name="GluePoint4X" fmla="*/ 0 w 1"/>
                    <a:gd name="GluePoint4Y" fmla="*/ 6 h 17"/>
                    <a:gd name="GluePoint5X" fmla="*/ 0 w 1"/>
                    <a:gd name="GluePoint5Y" fmla="*/ 0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l" t="t" r="r" b="b"/>
                  <a:pathLst>
                    <a:path w="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0" y="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3" name=""/>
                <p:cNvSpPr/>
                <p:nvPr/>
              </p:nvSpPr>
              <p:spPr>
                <a:xfrm>
                  <a:off x="7327800" y="5244840"/>
                  <a:ext cx="25560" cy="25560"/>
                </a:xfrm>
                <a:custGeom>
                  <a:avLst/>
                  <a:gdLst>
                    <a:gd name="GluePoint1X" fmla="*/ 0 w 17"/>
                    <a:gd name="GluePoint1Y" fmla="*/ 0 h 17"/>
                    <a:gd name="GluePoint2X" fmla="*/ 16 w 17"/>
                    <a:gd name="GluePoint2Y" fmla="*/ 0 h 17"/>
                    <a:gd name="GluePoint3X" fmla="*/ 16 w 17"/>
                    <a:gd name="GluePoint3Y" fmla="*/ 16 h 17"/>
                    <a:gd name="GluePoint4X" fmla="*/ 0 w 17"/>
                    <a:gd name="GluePoint4Y" fmla="*/ 0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</a:cxnLst>
                  <a:rect l="l" t="t" r="r" b="b"/>
                  <a:pathLst>
                    <a:path w="17" h="17">
                      <a:moveTo>
                        <a:pt x="0" y="0"/>
                      </a:moveTo>
                      <a:lnTo>
                        <a:pt x="16" y="0"/>
                      </a:lnTo>
                      <a:lnTo>
                        <a:pt x="16" y="16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4" name=""/>
                <p:cNvSpPr/>
                <p:nvPr/>
              </p:nvSpPr>
              <p:spPr>
                <a:xfrm>
                  <a:off x="7419960" y="5197320"/>
                  <a:ext cx="57240" cy="54000"/>
                </a:xfrm>
                <a:custGeom>
                  <a:avLst/>
                  <a:gdLst>
                    <a:gd name="GluePoint1X" fmla="*/ 36 w 37"/>
                    <a:gd name="GluePoint1Y" fmla="*/ 0 h 35"/>
                    <a:gd name="GluePoint2X" fmla="*/ 22 w 37"/>
                    <a:gd name="GluePoint2Y" fmla="*/ 0 h 35"/>
                    <a:gd name="GluePoint3X" fmla="*/ 14 w 37"/>
                    <a:gd name="GluePoint3Y" fmla="*/ 9 h 35"/>
                    <a:gd name="GluePoint4X" fmla="*/ 9 w 37"/>
                    <a:gd name="GluePoint4Y" fmla="*/ 9 h 35"/>
                    <a:gd name="GluePoint5X" fmla="*/ 5 w 37"/>
                    <a:gd name="GluePoint5Y" fmla="*/ 13 h 35"/>
                    <a:gd name="GluePoint6X" fmla="*/ 0 w 37"/>
                    <a:gd name="GluePoint6Y" fmla="*/ 13 h 35"/>
                    <a:gd name="GluePoint7X" fmla="*/ 0 w 37"/>
                    <a:gd name="GluePoint7Y" fmla="*/ 25 h 35"/>
                    <a:gd name="GluePoint8X" fmla="*/ 8 w 37"/>
                    <a:gd name="GluePoint8Y" fmla="*/ 34 h 35"/>
                    <a:gd name="GluePoint9X" fmla="*/ 29 w 37"/>
                    <a:gd name="GluePoint9Y" fmla="*/ 34 h 35"/>
                    <a:gd name="GluePoint10X" fmla="*/ 36 w 37"/>
                    <a:gd name="GluePoint10Y" fmla="*/ 25 h 35"/>
                    <a:gd name="GluePoint11X" fmla="*/ 36 w 37"/>
                    <a:gd name="GluePoint11Y" fmla="*/ 0 h 3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</a:cxnLst>
                  <a:rect l="l" t="t" r="r" b="b"/>
                  <a:pathLst>
                    <a:path w="37" h="35">
                      <a:moveTo>
                        <a:pt x="36" y="0"/>
                      </a:moveTo>
                      <a:lnTo>
                        <a:pt x="22" y="0"/>
                      </a:lnTo>
                      <a:lnTo>
                        <a:pt x="14" y="9"/>
                      </a:lnTo>
                      <a:lnTo>
                        <a:pt x="9" y="9"/>
                      </a:lnTo>
                      <a:lnTo>
                        <a:pt x="5" y="13"/>
                      </a:lnTo>
                      <a:lnTo>
                        <a:pt x="0" y="13"/>
                      </a:lnTo>
                      <a:lnTo>
                        <a:pt x="0" y="25"/>
                      </a:lnTo>
                      <a:lnTo>
                        <a:pt x="8" y="34"/>
                      </a:lnTo>
                      <a:lnTo>
                        <a:pt x="29" y="34"/>
                      </a:lnTo>
                      <a:lnTo>
                        <a:pt x="36" y="25"/>
                      </a:lnTo>
                      <a:lnTo>
                        <a:pt x="36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7200" rIns="90000" bIns="72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5" name=""/>
                <p:cNvSpPr/>
                <p:nvPr/>
              </p:nvSpPr>
              <p:spPr>
                <a:xfrm>
                  <a:off x="7077240" y="5241600"/>
                  <a:ext cx="512640" cy="668880"/>
                </a:xfrm>
                <a:custGeom>
                  <a:avLst/>
                  <a:gdLst>
                    <a:gd name="GluePoint1X" fmla="*/ 76 w 324"/>
                    <a:gd name="GluePoint1Y" fmla="*/ 0 h 422"/>
                    <a:gd name="GluePoint2X" fmla="*/ 71 w 324"/>
                    <a:gd name="GluePoint2Y" fmla="*/ 11 h 422"/>
                    <a:gd name="GluePoint3X" fmla="*/ 45 w 324"/>
                    <a:gd name="GluePoint3Y" fmla="*/ 33 h 422"/>
                    <a:gd name="GluePoint4X" fmla="*/ 40 w 324"/>
                    <a:gd name="GluePoint4Y" fmla="*/ 53 h 422"/>
                    <a:gd name="GluePoint5X" fmla="*/ 21 w 324"/>
                    <a:gd name="GluePoint5Y" fmla="*/ 68 h 422"/>
                    <a:gd name="GluePoint6X" fmla="*/ 8 w 324"/>
                    <a:gd name="GluePoint6Y" fmla="*/ 96 h 422"/>
                    <a:gd name="GluePoint7X" fmla="*/ 8 w 324"/>
                    <a:gd name="GluePoint7Y" fmla="*/ 114 h 422"/>
                    <a:gd name="GluePoint8X" fmla="*/ 0 w 324"/>
                    <a:gd name="GluePoint8Y" fmla="*/ 144 h 422"/>
                    <a:gd name="GluePoint9X" fmla="*/ 11 w 324"/>
                    <a:gd name="GluePoint9Y" fmla="*/ 157 h 422"/>
                    <a:gd name="GluePoint10X" fmla="*/ 40 w 324"/>
                    <a:gd name="GluePoint10Y" fmla="*/ 195 h 422"/>
                    <a:gd name="GluePoint11X" fmla="*/ 48 w 324"/>
                    <a:gd name="GluePoint11Y" fmla="*/ 190 h 422"/>
                    <a:gd name="GluePoint12X" fmla="*/ 99 w 324"/>
                    <a:gd name="GluePoint12Y" fmla="*/ 190 h 422"/>
                    <a:gd name="GluePoint13X" fmla="*/ 123 w 324"/>
                    <a:gd name="GluePoint13Y" fmla="*/ 199 h 422"/>
                    <a:gd name="GluePoint14X" fmla="*/ 121 w 324"/>
                    <a:gd name="GluePoint14Y" fmla="*/ 229 h 422"/>
                    <a:gd name="GluePoint15X" fmla="*/ 138 w 324"/>
                    <a:gd name="GluePoint15Y" fmla="*/ 268 h 422"/>
                    <a:gd name="GluePoint16X" fmla="*/ 137 w 324"/>
                    <a:gd name="GluePoint16Y" fmla="*/ 279 h 422"/>
                    <a:gd name="GluePoint17X" fmla="*/ 144 w 324"/>
                    <a:gd name="GluePoint17Y" fmla="*/ 291 h 422"/>
                    <a:gd name="GluePoint18X" fmla="*/ 133 w 324"/>
                    <a:gd name="GluePoint18Y" fmla="*/ 319 h 422"/>
                    <a:gd name="GluePoint19X" fmla="*/ 146 w 324"/>
                    <a:gd name="GluePoint19Y" fmla="*/ 354 h 422"/>
                    <a:gd name="GluePoint20X" fmla="*/ 153 w 324"/>
                    <a:gd name="GluePoint20Y" fmla="*/ 382 h 422"/>
                    <a:gd name="GluePoint21X" fmla="*/ 162 w 324"/>
                    <a:gd name="GluePoint21Y" fmla="*/ 399 h 422"/>
                    <a:gd name="GluePoint22X" fmla="*/ 171 w 324"/>
                    <a:gd name="GluePoint22Y" fmla="*/ 421 h 422"/>
                    <a:gd name="GluePoint23X" fmla="*/ 188 w 324"/>
                    <a:gd name="GluePoint23Y" fmla="*/ 418 h 422"/>
                    <a:gd name="GluePoint24X" fmla="*/ 216 w 324"/>
                    <a:gd name="GluePoint24Y" fmla="*/ 402 h 422"/>
                    <a:gd name="GluePoint25X" fmla="*/ 229 w 324"/>
                    <a:gd name="GluePoint25Y" fmla="*/ 382 h 422"/>
                    <a:gd name="GluePoint26X" fmla="*/ 228 w 324"/>
                    <a:gd name="GluePoint26Y" fmla="*/ 369 h 422"/>
                    <a:gd name="GluePoint27X" fmla="*/ 245 w 324"/>
                    <a:gd name="GluePoint27Y" fmla="*/ 359 h 422"/>
                    <a:gd name="GluePoint28X" fmla="*/ 242 w 324"/>
                    <a:gd name="GluePoint28Y" fmla="*/ 340 h 422"/>
                    <a:gd name="GluePoint29X" fmla="*/ 267 w 324"/>
                    <a:gd name="GluePoint29Y" fmla="*/ 310 h 422"/>
                    <a:gd name="GluePoint30X" fmla="*/ 271 w 324"/>
                    <a:gd name="GluePoint30Y" fmla="*/ 285 h 422"/>
                    <a:gd name="GluePoint31X" fmla="*/ 264 w 324"/>
                    <a:gd name="GluePoint31Y" fmla="*/ 277 h 422"/>
                    <a:gd name="GluePoint32X" fmla="*/ 267 w 324"/>
                    <a:gd name="GluePoint32Y" fmla="*/ 267 h 422"/>
                    <a:gd name="GluePoint33X" fmla="*/ 261 w 324"/>
                    <a:gd name="GluePoint33Y" fmla="*/ 258 h 422"/>
                    <a:gd name="GluePoint34X" fmla="*/ 280 w 324"/>
                    <a:gd name="GluePoint34Y" fmla="*/ 234 h 422"/>
                    <a:gd name="GluePoint35X" fmla="*/ 280 w 324"/>
                    <a:gd name="GluePoint35Y" fmla="*/ 222 h 422"/>
                    <a:gd name="GluePoint36X" fmla="*/ 306 w 324"/>
                    <a:gd name="GluePoint36Y" fmla="*/ 202 h 422"/>
                    <a:gd name="GluePoint37X" fmla="*/ 323 w 324"/>
                    <a:gd name="GluePoint37Y" fmla="*/ 148 h 422"/>
                    <a:gd name="GluePoint38X" fmla="*/ 299 w 324"/>
                    <a:gd name="GluePoint38Y" fmla="*/ 162 h 422"/>
                    <a:gd name="GluePoint39X" fmla="*/ 278 w 324"/>
                    <a:gd name="GluePoint39Y" fmla="*/ 156 h 422"/>
                    <a:gd name="GluePoint40X" fmla="*/ 281 w 324"/>
                    <a:gd name="GluePoint40Y" fmla="*/ 143 h 422"/>
                    <a:gd name="GluePoint41X" fmla="*/ 260 w 324"/>
                    <a:gd name="GluePoint41Y" fmla="*/ 129 h 422"/>
                    <a:gd name="GluePoint42X" fmla="*/ 250 w 324"/>
                    <a:gd name="GluePoint42Y" fmla="*/ 94 h 422"/>
                    <a:gd name="GluePoint43X" fmla="*/ 230 w 324"/>
                    <a:gd name="GluePoint43Y" fmla="*/ 66 h 422"/>
                    <a:gd name="GluePoint44X" fmla="*/ 230 w 324"/>
                    <a:gd name="GluePoint44Y" fmla="*/ 47 h 422"/>
                    <a:gd name="GluePoint45X" fmla="*/ 219 w 324"/>
                    <a:gd name="GluePoint45Y" fmla="*/ 46 h 422"/>
                    <a:gd name="GluePoint46X" fmla="*/ 212 w 324"/>
                    <a:gd name="GluePoint46Y" fmla="*/ 49 h 422"/>
                    <a:gd name="GluePoint47X" fmla="*/ 182 w 324"/>
                    <a:gd name="GluePoint47Y" fmla="*/ 38 h 422"/>
                    <a:gd name="GluePoint48X" fmla="*/ 174 w 324"/>
                    <a:gd name="GluePoint48Y" fmla="*/ 46 h 422"/>
                    <a:gd name="GluePoint49X" fmla="*/ 167 w 324"/>
                    <a:gd name="GluePoint49Y" fmla="*/ 56 h 422"/>
                    <a:gd name="GluePoint50X" fmla="*/ 151 w 324"/>
                    <a:gd name="GluePoint50Y" fmla="*/ 38 h 422"/>
                    <a:gd name="GluePoint51X" fmla="*/ 135 w 324"/>
                    <a:gd name="GluePoint51Y" fmla="*/ 33 h 422"/>
                    <a:gd name="GluePoint52X" fmla="*/ 134 w 324"/>
                    <a:gd name="GluePoint52Y" fmla="*/ 10 h 422"/>
                    <a:gd name="GluePoint53X" fmla="*/ 111 w 324"/>
                    <a:gd name="GluePoint53Y" fmla="*/ 14 h 422"/>
                    <a:gd name="GluePoint54X" fmla="*/ 96 w 324"/>
                    <a:gd name="GluePoint54Y" fmla="*/ 9 h 422"/>
                    <a:gd name="GluePoint55X" fmla="*/ 76 w 324"/>
                    <a:gd name="GluePoint55Y" fmla="*/ 0 h 42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l" t="t" r="r" b="b"/>
                  <a:pathLst>
                    <a:path w="324" h="422">
                      <a:moveTo>
                        <a:pt x="76" y="0"/>
                      </a:moveTo>
                      <a:lnTo>
                        <a:pt x="71" y="11"/>
                      </a:lnTo>
                      <a:lnTo>
                        <a:pt x="45" y="33"/>
                      </a:lnTo>
                      <a:lnTo>
                        <a:pt x="40" y="53"/>
                      </a:lnTo>
                      <a:lnTo>
                        <a:pt x="21" y="68"/>
                      </a:lnTo>
                      <a:lnTo>
                        <a:pt x="8" y="96"/>
                      </a:lnTo>
                      <a:lnTo>
                        <a:pt x="8" y="114"/>
                      </a:lnTo>
                      <a:lnTo>
                        <a:pt x="0" y="144"/>
                      </a:lnTo>
                      <a:lnTo>
                        <a:pt x="11" y="157"/>
                      </a:lnTo>
                      <a:lnTo>
                        <a:pt x="40" y="195"/>
                      </a:lnTo>
                      <a:lnTo>
                        <a:pt x="48" y="190"/>
                      </a:lnTo>
                      <a:lnTo>
                        <a:pt x="99" y="190"/>
                      </a:lnTo>
                      <a:lnTo>
                        <a:pt x="123" y="199"/>
                      </a:lnTo>
                      <a:lnTo>
                        <a:pt x="121" y="229"/>
                      </a:lnTo>
                      <a:lnTo>
                        <a:pt x="138" y="268"/>
                      </a:lnTo>
                      <a:lnTo>
                        <a:pt x="137" y="279"/>
                      </a:lnTo>
                      <a:lnTo>
                        <a:pt x="144" y="291"/>
                      </a:lnTo>
                      <a:lnTo>
                        <a:pt x="133" y="319"/>
                      </a:lnTo>
                      <a:lnTo>
                        <a:pt x="146" y="354"/>
                      </a:lnTo>
                      <a:lnTo>
                        <a:pt x="153" y="382"/>
                      </a:lnTo>
                      <a:lnTo>
                        <a:pt x="162" y="399"/>
                      </a:lnTo>
                      <a:lnTo>
                        <a:pt x="171" y="421"/>
                      </a:lnTo>
                      <a:lnTo>
                        <a:pt x="188" y="418"/>
                      </a:lnTo>
                      <a:lnTo>
                        <a:pt x="216" y="402"/>
                      </a:lnTo>
                      <a:lnTo>
                        <a:pt x="229" y="382"/>
                      </a:lnTo>
                      <a:lnTo>
                        <a:pt x="228" y="369"/>
                      </a:lnTo>
                      <a:lnTo>
                        <a:pt x="245" y="359"/>
                      </a:lnTo>
                      <a:lnTo>
                        <a:pt x="242" y="340"/>
                      </a:lnTo>
                      <a:lnTo>
                        <a:pt x="267" y="310"/>
                      </a:lnTo>
                      <a:lnTo>
                        <a:pt x="271" y="285"/>
                      </a:lnTo>
                      <a:lnTo>
                        <a:pt x="264" y="277"/>
                      </a:lnTo>
                      <a:lnTo>
                        <a:pt x="267" y="267"/>
                      </a:lnTo>
                      <a:lnTo>
                        <a:pt x="261" y="258"/>
                      </a:lnTo>
                      <a:lnTo>
                        <a:pt x="280" y="234"/>
                      </a:lnTo>
                      <a:lnTo>
                        <a:pt x="280" y="222"/>
                      </a:lnTo>
                      <a:lnTo>
                        <a:pt x="306" y="202"/>
                      </a:lnTo>
                      <a:lnTo>
                        <a:pt x="323" y="148"/>
                      </a:lnTo>
                      <a:lnTo>
                        <a:pt x="299" y="162"/>
                      </a:lnTo>
                      <a:lnTo>
                        <a:pt x="278" y="156"/>
                      </a:lnTo>
                      <a:lnTo>
                        <a:pt x="281" y="143"/>
                      </a:lnTo>
                      <a:lnTo>
                        <a:pt x="260" y="129"/>
                      </a:lnTo>
                      <a:lnTo>
                        <a:pt x="250" y="94"/>
                      </a:lnTo>
                      <a:lnTo>
                        <a:pt x="230" y="66"/>
                      </a:lnTo>
                      <a:lnTo>
                        <a:pt x="230" y="47"/>
                      </a:lnTo>
                      <a:lnTo>
                        <a:pt x="219" y="46"/>
                      </a:lnTo>
                      <a:lnTo>
                        <a:pt x="212" y="49"/>
                      </a:lnTo>
                      <a:lnTo>
                        <a:pt x="182" y="38"/>
                      </a:lnTo>
                      <a:lnTo>
                        <a:pt x="174" y="46"/>
                      </a:lnTo>
                      <a:lnTo>
                        <a:pt x="167" y="56"/>
                      </a:lnTo>
                      <a:lnTo>
                        <a:pt x="151" y="38"/>
                      </a:lnTo>
                      <a:lnTo>
                        <a:pt x="135" y="33"/>
                      </a:lnTo>
                      <a:lnTo>
                        <a:pt x="134" y="10"/>
                      </a:lnTo>
                      <a:lnTo>
                        <a:pt x="111" y="14"/>
                      </a:lnTo>
                      <a:lnTo>
                        <a:pt x="96" y="9"/>
                      </a:lnTo>
                      <a:lnTo>
                        <a:pt x="76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6" name=""/>
                <p:cNvSpPr/>
                <p:nvPr/>
              </p:nvSpPr>
              <p:spPr>
                <a:xfrm>
                  <a:off x="8263080" y="5408640"/>
                  <a:ext cx="25200" cy="32040"/>
                </a:xfrm>
                <a:custGeom>
                  <a:avLst/>
                  <a:gdLst>
                    <a:gd name="GluePoint1X" fmla="*/ 7 w 17"/>
                    <a:gd name="GluePoint1Y" fmla="*/ 0 h 21"/>
                    <a:gd name="GluePoint2X" fmla="*/ 9 w 17"/>
                    <a:gd name="GluePoint2Y" fmla="*/ 5 h 21"/>
                    <a:gd name="GluePoint3X" fmla="*/ 7 w 17"/>
                    <a:gd name="GluePoint3Y" fmla="*/ 10 h 21"/>
                    <a:gd name="GluePoint4X" fmla="*/ 7 w 17"/>
                    <a:gd name="GluePoint4Y" fmla="*/ 14 h 21"/>
                    <a:gd name="GluePoint5X" fmla="*/ 16 w 17"/>
                    <a:gd name="GluePoint5Y" fmla="*/ 17 h 21"/>
                    <a:gd name="GluePoint6X" fmla="*/ 16 w 17"/>
                    <a:gd name="GluePoint6Y" fmla="*/ 20 h 21"/>
                    <a:gd name="GluePoint7X" fmla="*/ 9 w 17"/>
                    <a:gd name="GluePoint7Y" fmla="*/ 17 h 21"/>
                    <a:gd name="GluePoint8X" fmla="*/ 3 w 17"/>
                    <a:gd name="GluePoint8Y" fmla="*/ 20 h 21"/>
                    <a:gd name="GluePoint9X" fmla="*/ 0 w 17"/>
                    <a:gd name="GluePoint9Y" fmla="*/ 17 h 21"/>
                    <a:gd name="GluePoint10X" fmla="*/ 3 w 17"/>
                    <a:gd name="GluePoint10Y" fmla="*/ 14 h 21"/>
                    <a:gd name="GluePoint11X" fmla="*/ 0 w 17"/>
                    <a:gd name="GluePoint11Y" fmla="*/ 10 h 21"/>
                    <a:gd name="GluePoint12X" fmla="*/ 3 w 17"/>
                    <a:gd name="GluePoint12Y" fmla="*/ 2 h 21"/>
                    <a:gd name="GluePoint13X" fmla="*/ 7 w 17"/>
                    <a:gd name="GluePoint13Y" fmla="*/ 0 h 2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l" t="t" r="r" b="b"/>
                  <a:pathLst>
                    <a:path w="17" h="21">
                      <a:moveTo>
                        <a:pt x="7" y="0"/>
                      </a:moveTo>
                      <a:lnTo>
                        <a:pt x="9" y="5"/>
                      </a:lnTo>
                      <a:lnTo>
                        <a:pt x="7" y="10"/>
                      </a:lnTo>
                      <a:lnTo>
                        <a:pt x="7" y="14"/>
                      </a:lnTo>
                      <a:lnTo>
                        <a:pt x="16" y="17"/>
                      </a:lnTo>
                      <a:lnTo>
                        <a:pt x="16" y="20"/>
                      </a:lnTo>
                      <a:lnTo>
                        <a:pt x="9" y="17"/>
                      </a:lnTo>
                      <a:lnTo>
                        <a:pt x="3" y="20"/>
                      </a:lnTo>
                      <a:lnTo>
                        <a:pt x="0" y="17"/>
                      </a:lnTo>
                      <a:lnTo>
                        <a:pt x="3" y="14"/>
                      </a:lnTo>
                      <a:lnTo>
                        <a:pt x="0" y="10"/>
                      </a:lnTo>
                      <a:lnTo>
                        <a:pt x="3" y="2"/>
                      </a:lnTo>
                      <a:lnTo>
                        <a:pt x="7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4760" rIns="90000" bIns="-147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7" name=""/>
                <p:cNvSpPr/>
                <p:nvPr/>
              </p:nvSpPr>
              <p:spPr>
                <a:xfrm>
                  <a:off x="8166240" y="5548320"/>
                  <a:ext cx="75960" cy="109800"/>
                </a:xfrm>
                <a:custGeom>
                  <a:avLst/>
                  <a:gdLst>
                    <a:gd name="GluePoint1X" fmla="*/ 0 w 49"/>
                    <a:gd name="GluePoint1Y" fmla="*/ 34 h 70"/>
                    <a:gd name="GluePoint2X" fmla="*/ 17 w 49"/>
                    <a:gd name="GluePoint2Y" fmla="*/ 34 h 70"/>
                    <a:gd name="GluePoint3X" fmla="*/ 37 w 49"/>
                    <a:gd name="GluePoint3Y" fmla="*/ 0 h 70"/>
                    <a:gd name="GluePoint4X" fmla="*/ 48 w 49"/>
                    <a:gd name="GluePoint4Y" fmla="*/ 20 h 70"/>
                    <a:gd name="GluePoint5X" fmla="*/ 39 w 49"/>
                    <a:gd name="GluePoint5Y" fmla="*/ 69 h 70"/>
                    <a:gd name="GluePoint6X" fmla="*/ 3 w 49"/>
                    <a:gd name="GluePoint6Y" fmla="*/ 57 h 70"/>
                    <a:gd name="GluePoint7X" fmla="*/ 0 w 49"/>
                    <a:gd name="GluePoint7Y" fmla="*/ 34 h 7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l" t="t" r="r" b="b"/>
                  <a:pathLst>
                    <a:path w="49" h="70">
                      <a:moveTo>
                        <a:pt x="0" y="34"/>
                      </a:moveTo>
                      <a:lnTo>
                        <a:pt x="17" y="34"/>
                      </a:lnTo>
                      <a:lnTo>
                        <a:pt x="37" y="0"/>
                      </a:lnTo>
                      <a:lnTo>
                        <a:pt x="48" y="20"/>
                      </a:lnTo>
                      <a:lnTo>
                        <a:pt x="39" y="69"/>
                      </a:lnTo>
                      <a:lnTo>
                        <a:pt x="3" y="57"/>
                      </a:lnTo>
                      <a:lnTo>
                        <a:pt x="0" y="34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8" name=""/>
                <p:cNvSpPr/>
                <p:nvPr/>
              </p:nvSpPr>
              <p:spPr>
                <a:xfrm>
                  <a:off x="8319960" y="5591160"/>
                  <a:ext cx="131760" cy="104760"/>
                </a:xfrm>
                <a:custGeom>
                  <a:avLst/>
                  <a:gdLst>
                    <a:gd name="GluePoint1X" fmla="*/ 5 w 84"/>
                    <a:gd name="GluePoint1Y" fmla="*/ 15 h 67"/>
                    <a:gd name="GluePoint2X" fmla="*/ 0 w 84"/>
                    <a:gd name="GluePoint2Y" fmla="*/ 0 h 67"/>
                    <a:gd name="GluePoint3X" fmla="*/ 27 w 84"/>
                    <a:gd name="GluePoint3Y" fmla="*/ 6 h 67"/>
                    <a:gd name="GluePoint4X" fmla="*/ 67 w 84"/>
                    <a:gd name="GluePoint4Y" fmla="*/ 22 h 67"/>
                    <a:gd name="GluePoint5X" fmla="*/ 67 w 84"/>
                    <a:gd name="GluePoint5Y" fmla="*/ 34 h 67"/>
                    <a:gd name="GluePoint6X" fmla="*/ 83 w 84"/>
                    <a:gd name="GluePoint6Y" fmla="*/ 66 h 67"/>
                    <a:gd name="GluePoint7X" fmla="*/ 52 w 84"/>
                    <a:gd name="GluePoint7Y" fmla="*/ 36 h 67"/>
                    <a:gd name="GluePoint8X" fmla="*/ 31 w 84"/>
                    <a:gd name="GluePoint8Y" fmla="*/ 38 h 67"/>
                    <a:gd name="GluePoint9X" fmla="*/ 5 w 84"/>
                    <a:gd name="GluePoint9Y" fmla="*/ 15 h 6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84" h="67">
                      <a:moveTo>
                        <a:pt x="5" y="15"/>
                      </a:moveTo>
                      <a:lnTo>
                        <a:pt x="0" y="0"/>
                      </a:lnTo>
                      <a:lnTo>
                        <a:pt x="27" y="6"/>
                      </a:lnTo>
                      <a:lnTo>
                        <a:pt x="67" y="22"/>
                      </a:lnTo>
                      <a:lnTo>
                        <a:pt x="67" y="34"/>
                      </a:lnTo>
                      <a:lnTo>
                        <a:pt x="83" y="66"/>
                      </a:lnTo>
                      <a:lnTo>
                        <a:pt x="52" y="36"/>
                      </a:lnTo>
                      <a:lnTo>
                        <a:pt x="31" y="38"/>
                      </a:lnTo>
                      <a:lnTo>
                        <a:pt x="5" y="15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19" name=""/>
                <p:cNvSpPr/>
                <p:nvPr/>
              </p:nvSpPr>
              <p:spPr>
                <a:xfrm>
                  <a:off x="8572680" y="5808960"/>
                  <a:ext cx="88560" cy="114120"/>
                </a:xfrm>
                <a:custGeom>
                  <a:avLst/>
                  <a:gdLst>
                    <a:gd name="GluePoint1X" fmla="*/ 34 w 57"/>
                    <a:gd name="GluePoint1Y" fmla="*/ 0 h 73"/>
                    <a:gd name="GluePoint2X" fmla="*/ 56 w 57"/>
                    <a:gd name="GluePoint2Y" fmla="*/ 21 h 73"/>
                    <a:gd name="GluePoint3X" fmla="*/ 11 w 57"/>
                    <a:gd name="GluePoint3Y" fmla="*/ 72 h 73"/>
                    <a:gd name="GluePoint4X" fmla="*/ 0 w 57"/>
                    <a:gd name="GluePoint4Y" fmla="*/ 60 h 73"/>
                    <a:gd name="GluePoint5X" fmla="*/ 32 w 57"/>
                    <a:gd name="GluePoint5Y" fmla="*/ 28 h 73"/>
                    <a:gd name="GluePoint6X" fmla="*/ 34 w 57"/>
                    <a:gd name="GluePoint6Y" fmla="*/ 0 h 7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l" t="t" r="r" b="b"/>
                  <a:pathLst>
                    <a:path w="57" h="73">
                      <a:moveTo>
                        <a:pt x="34" y="0"/>
                      </a:moveTo>
                      <a:lnTo>
                        <a:pt x="56" y="21"/>
                      </a:lnTo>
                      <a:lnTo>
                        <a:pt x="11" y="72"/>
                      </a:lnTo>
                      <a:lnTo>
                        <a:pt x="0" y="60"/>
                      </a:lnTo>
                      <a:lnTo>
                        <a:pt x="32" y="28"/>
                      </a:lnTo>
                      <a:lnTo>
                        <a:pt x="34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0" name=""/>
                <p:cNvSpPr/>
                <p:nvPr/>
              </p:nvSpPr>
              <p:spPr>
                <a:xfrm>
                  <a:off x="7236000" y="5025960"/>
                  <a:ext cx="44280" cy="74520"/>
                </a:xfrm>
                <a:custGeom>
                  <a:avLst/>
                  <a:gdLst>
                    <a:gd name="GluePoint1X" fmla="*/ 28 w 29"/>
                    <a:gd name="GluePoint1Y" fmla="*/ 36 h 48"/>
                    <a:gd name="GluePoint2X" fmla="*/ 20 w 29"/>
                    <a:gd name="GluePoint2Y" fmla="*/ 31 h 48"/>
                    <a:gd name="GluePoint3X" fmla="*/ 20 w 29"/>
                    <a:gd name="GluePoint3Y" fmla="*/ 10 h 48"/>
                    <a:gd name="GluePoint4X" fmla="*/ 24 w 29"/>
                    <a:gd name="GluePoint4Y" fmla="*/ 5 h 48"/>
                    <a:gd name="GluePoint5X" fmla="*/ 17 w 29"/>
                    <a:gd name="GluePoint5Y" fmla="*/ 5 h 48"/>
                    <a:gd name="GluePoint6X" fmla="*/ 21 w 29"/>
                    <a:gd name="GluePoint6Y" fmla="*/ 0 h 48"/>
                    <a:gd name="GluePoint7X" fmla="*/ 16 w 29"/>
                    <a:gd name="GluePoint7Y" fmla="*/ 0 h 48"/>
                    <a:gd name="GluePoint8X" fmla="*/ 10 w 29"/>
                    <a:gd name="GluePoint8Y" fmla="*/ 6 h 48"/>
                    <a:gd name="GluePoint9X" fmla="*/ 10 w 29"/>
                    <a:gd name="GluePoint9Y" fmla="*/ 19 h 48"/>
                    <a:gd name="GluePoint10X" fmla="*/ 13 w 29"/>
                    <a:gd name="GluePoint10Y" fmla="*/ 22 h 48"/>
                    <a:gd name="GluePoint11X" fmla="*/ 13 w 29"/>
                    <a:gd name="GluePoint11Y" fmla="*/ 28 h 48"/>
                    <a:gd name="GluePoint12X" fmla="*/ 11 w 29"/>
                    <a:gd name="GluePoint12Y" fmla="*/ 28 h 48"/>
                    <a:gd name="GluePoint13X" fmla="*/ 6 w 29"/>
                    <a:gd name="GluePoint13Y" fmla="*/ 33 h 48"/>
                    <a:gd name="GluePoint14X" fmla="*/ 6 w 29"/>
                    <a:gd name="GluePoint14Y" fmla="*/ 38 h 48"/>
                    <a:gd name="GluePoint15X" fmla="*/ 0 w 29"/>
                    <a:gd name="GluePoint15Y" fmla="*/ 47 h 48"/>
                    <a:gd name="GluePoint16X" fmla="*/ 21 w 29"/>
                    <a:gd name="GluePoint16Y" fmla="*/ 47 h 48"/>
                    <a:gd name="GluePoint17X" fmla="*/ 28 w 29"/>
                    <a:gd name="GluePoint17Y" fmla="*/ 36 h 4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</a:cxnLst>
                  <a:rect l="l" t="t" r="r" b="b"/>
                  <a:pathLst>
                    <a:path w="29" h="48">
                      <a:moveTo>
                        <a:pt x="28" y="36"/>
                      </a:moveTo>
                      <a:lnTo>
                        <a:pt x="20" y="31"/>
                      </a:lnTo>
                      <a:lnTo>
                        <a:pt x="20" y="10"/>
                      </a:lnTo>
                      <a:lnTo>
                        <a:pt x="24" y="5"/>
                      </a:lnTo>
                      <a:lnTo>
                        <a:pt x="17" y="5"/>
                      </a:lnTo>
                      <a:lnTo>
                        <a:pt x="21" y="0"/>
                      </a:lnTo>
                      <a:lnTo>
                        <a:pt x="16" y="0"/>
                      </a:lnTo>
                      <a:lnTo>
                        <a:pt x="10" y="6"/>
                      </a:lnTo>
                      <a:lnTo>
                        <a:pt x="10" y="19"/>
                      </a:lnTo>
                      <a:lnTo>
                        <a:pt x="13" y="22"/>
                      </a:lnTo>
                      <a:lnTo>
                        <a:pt x="13" y="28"/>
                      </a:lnTo>
                      <a:lnTo>
                        <a:pt x="11" y="28"/>
                      </a:lnTo>
                      <a:lnTo>
                        <a:pt x="6" y="33"/>
                      </a:lnTo>
                      <a:lnTo>
                        <a:pt x="6" y="38"/>
                      </a:lnTo>
                      <a:lnTo>
                        <a:pt x="0" y="47"/>
                      </a:lnTo>
                      <a:lnTo>
                        <a:pt x="21" y="47"/>
                      </a:lnTo>
                      <a:lnTo>
                        <a:pt x="28" y="36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27720" rIns="90000" bIns="2772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1" name=""/>
                <p:cNvSpPr/>
                <p:nvPr/>
              </p:nvSpPr>
              <p:spPr>
                <a:xfrm>
                  <a:off x="7221600" y="5051160"/>
                  <a:ext cx="25200" cy="25560"/>
                </a:xfrm>
                <a:custGeom>
                  <a:avLst/>
                  <a:gdLst>
                    <a:gd name="GluePoint1X" fmla="*/ 13 w 17"/>
                    <a:gd name="GluePoint1Y" fmla="*/ 5 h 17"/>
                    <a:gd name="GluePoint2X" fmla="*/ 16 w 17"/>
                    <a:gd name="GluePoint2Y" fmla="*/ 5 h 17"/>
                    <a:gd name="GluePoint3X" fmla="*/ 16 w 17"/>
                    <a:gd name="GluePoint3Y" fmla="*/ 0 h 17"/>
                    <a:gd name="GluePoint4X" fmla="*/ 10 w 17"/>
                    <a:gd name="GluePoint4Y" fmla="*/ 0 h 17"/>
                    <a:gd name="GluePoint5X" fmla="*/ 0 w 17"/>
                    <a:gd name="GluePoint5Y" fmla="*/ 10 h 17"/>
                    <a:gd name="GluePoint6X" fmla="*/ 0 w 17"/>
                    <a:gd name="GluePoint6Y" fmla="*/ 16 h 17"/>
                    <a:gd name="GluePoint7X" fmla="*/ 9 w 17"/>
                    <a:gd name="GluePoint7Y" fmla="*/ 16 h 17"/>
                    <a:gd name="GluePoint8X" fmla="*/ 13 w 17"/>
                    <a:gd name="GluePoint8Y" fmla="*/ 11 h 17"/>
                    <a:gd name="GluePoint9X" fmla="*/ 13 w 17"/>
                    <a:gd name="GluePoint9Y" fmla="*/ 5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17" h="17">
                      <a:moveTo>
                        <a:pt x="13" y="5"/>
                      </a:moveTo>
                      <a:lnTo>
                        <a:pt x="16" y="5"/>
                      </a:lnTo>
                      <a:lnTo>
                        <a:pt x="16" y="0"/>
                      </a:lnTo>
                      <a:lnTo>
                        <a:pt x="10" y="0"/>
                      </a:lnTo>
                      <a:lnTo>
                        <a:pt x="0" y="10"/>
                      </a:lnTo>
                      <a:lnTo>
                        <a:pt x="0" y="16"/>
                      </a:lnTo>
                      <a:lnTo>
                        <a:pt x="9" y="16"/>
                      </a:lnTo>
                      <a:lnTo>
                        <a:pt x="13" y="11"/>
                      </a:lnTo>
                      <a:lnTo>
                        <a:pt x="13" y="5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21240" rIns="90000" bIns="-2124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2" name=""/>
                <p:cNvSpPr/>
                <p:nvPr/>
              </p:nvSpPr>
              <p:spPr>
                <a:xfrm>
                  <a:off x="7186680" y="5006880"/>
                  <a:ext cx="290520" cy="244440"/>
                </a:xfrm>
                <a:custGeom>
                  <a:avLst/>
                  <a:gdLst>
                    <a:gd name="GluePoint1X" fmla="*/ 120 w 184"/>
                    <a:gd name="GluePoint1Y" fmla="*/ 10 h 155"/>
                    <a:gd name="GluePoint2X" fmla="*/ 144 w 184"/>
                    <a:gd name="GluePoint2Y" fmla="*/ 14 h 155"/>
                    <a:gd name="GluePoint3X" fmla="*/ 129 w 184"/>
                    <a:gd name="GluePoint3Y" fmla="*/ 20 h 155"/>
                    <a:gd name="GluePoint4X" fmla="*/ 123 w 184"/>
                    <a:gd name="GluePoint4Y" fmla="*/ 29 h 155"/>
                    <a:gd name="GluePoint5X" fmla="*/ 114 w 184"/>
                    <a:gd name="GluePoint5Y" fmla="*/ 50 h 155"/>
                    <a:gd name="GluePoint6X" fmla="*/ 100 w 184"/>
                    <a:gd name="GluePoint6Y" fmla="*/ 51 h 155"/>
                    <a:gd name="GluePoint7X" fmla="*/ 88 w 184"/>
                    <a:gd name="GluePoint7Y" fmla="*/ 49 h 155"/>
                    <a:gd name="GluePoint8X" fmla="*/ 94 w 184"/>
                    <a:gd name="GluePoint8Y" fmla="*/ 39 h 155"/>
                    <a:gd name="GluePoint9X" fmla="*/ 88 w 184"/>
                    <a:gd name="GluePoint9Y" fmla="*/ 26 h 155"/>
                    <a:gd name="GluePoint10X" fmla="*/ 81 w 184"/>
                    <a:gd name="GluePoint10Y" fmla="*/ 49 h 155"/>
                    <a:gd name="GluePoint11X" fmla="*/ 62 w 184"/>
                    <a:gd name="GluePoint11Y" fmla="*/ 60 h 155"/>
                    <a:gd name="GluePoint12X" fmla="*/ 52 w 184"/>
                    <a:gd name="GluePoint12Y" fmla="*/ 67 h 155"/>
                    <a:gd name="GluePoint13X" fmla="*/ 38 w 184"/>
                    <a:gd name="GluePoint13Y" fmla="*/ 77 h 155"/>
                    <a:gd name="GluePoint14X" fmla="*/ 30 w 184"/>
                    <a:gd name="GluePoint14Y" fmla="*/ 102 h 155"/>
                    <a:gd name="GluePoint15X" fmla="*/ 5 w 184"/>
                    <a:gd name="GluePoint15Y" fmla="*/ 93 h 155"/>
                    <a:gd name="GluePoint16X" fmla="*/ 0 w 184"/>
                    <a:gd name="GluePoint16Y" fmla="*/ 111 h 155"/>
                    <a:gd name="GluePoint17X" fmla="*/ 10 w 184"/>
                    <a:gd name="GluePoint17Y" fmla="*/ 138 h 155"/>
                    <a:gd name="GluePoint18X" fmla="*/ 50 w 184"/>
                    <a:gd name="GluePoint18Y" fmla="*/ 109 h 155"/>
                    <a:gd name="GluePoint19X" fmla="*/ 75 w 184"/>
                    <a:gd name="GluePoint19Y" fmla="*/ 103 h 155"/>
                    <a:gd name="GluePoint20X" fmla="*/ 79 w 184"/>
                    <a:gd name="GluePoint20Y" fmla="*/ 115 h 155"/>
                    <a:gd name="GluePoint21X" fmla="*/ 99 w 184"/>
                    <a:gd name="GluePoint21Y" fmla="*/ 143 h 155"/>
                    <a:gd name="GluePoint22X" fmla="*/ 101 w 184"/>
                    <a:gd name="GluePoint22Y" fmla="*/ 135 h 155"/>
                    <a:gd name="GluePoint23X" fmla="*/ 107 w 184"/>
                    <a:gd name="GluePoint23Y" fmla="*/ 135 h 155"/>
                    <a:gd name="GluePoint24X" fmla="*/ 88 w 184"/>
                    <a:gd name="GluePoint24Y" fmla="*/ 108 h 155"/>
                    <a:gd name="GluePoint25X" fmla="*/ 94 w 184"/>
                    <a:gd name="GluePoint25Y" fmla="*/ 99 h 155"/>
                    <a:gd name="GluePoint26X" fmla="*/ 114 w 184"/>
                    <a:gd name="GluePoint26Y" fmla="*/ 127 h 155"/>
                    <a:gd name="GluePoint27X" fmla="*/ 123 w 184"/>
                    <a:gd name="GluePoint27Y" fmla="*/ 144 h 155"/>
                    <a:gd name="GluePoint28X" fmla="*/ 127 w 184"/>
                    <a:gd name="GluePoint28Y" fmla="*/ 154 h 155"/>
                    <a:gd name="GluePoint29X" fmla="*/ 131 w 184"/>
                    <a:gd name="GluePoint29Y" fmla="*/ 136 h 155"/>
                    <a:gd name="GluePoint30X" fmla="*/ 144 w 184"/>
                    <a:gd name="GluePoint30Y" fmla="*/ 130 h 155"/>
                    <a:gd name="GluePoint31X" fmla="*/ 153 w 184"/>
                    <a:gd name="GluePoint31Y" fmla="*/ 126 h 155"/>
                    <a:gd name="GluePoint32X" fmla="*/ 150 w 184"/>
                    <a:gd name="GluePoint32Y" fmla="*/ 113 h 155"/>
                    <a:gd name="GluePoint33X" fmla="*/ 157 w 184"/>
                    <a:gd name="GluePoint33Y" fmla="*/ 90 h 155"/>
                    <a:gd name="GluePoint34X" fmla="*/ 166 w 184"/>
                    <a:gd name="GluePoint34Y" fmla="*/ 93 h 155"/>
                    <a:gd name="GluePoint35X" fmla="*/ 169 w 184"/>
                    <a:gd name="GluePoint35Y" fmla="*/ 103 h 155"/>
                    <a:gd name="GluePoint36X" fmla="*/ 177 w 184"/>
                    <a:gd name="GluePoint36Y" fmla="*/ 98 h 155"/>
                    <a:gd name="GluePoint37X" fmla="*/ 175 w 184"/>
                    <a:gd name="GluePoint37Y" fmla="*/ 95 h 155"/>
                    <a:gd name="GluePoint38X" fmla="*/ 180 w 184"/>
                    <a:gd name="GluePoint38Y" fmla="*/ 81 h 155"/>
                    <a:gd name="GluePoint39X" fmla="*/ 183 w 184"/>
                    <a:gd name="GluePoint39Y" fmla="*/ 98 h 155"/>
                    <a:gd name="GluePoint40X" fmla="*/ 120 w 184"/>
                    <a:gd name="GluePoint40Y" fmla="*/ 0 h 1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</a:cxnLst>
                  <a:rect l="l" t="t" r="r" b="b"/>
                  <a:pathLst>
                    <a:path w="184" h="155">
                      <a:moveTo>
                        <a:pt x="120" y="0"/>
                      </a:moveTo>
                      <a:lnTo>
                        <a:pt x="120" y="10"/>
                      </a:lnTo>
                      <a:lnTo>
                        <a:pt x="124" y="14"/>
                      </a:lnTo>
                      <a:lnTo>
                        <a:pt x="144" y="14"/>
                      </a:lnTo>
                      <a:lnTo>
                        <a:pt x="144" y="20"/>
                      </a:lnTo>
                      <a:lnTo>
                        <a:pt x="129" y="20"/>
                      </a:lnTo>
                      <a:lnTo>
                        <a:pt x="129" y="37"/>
                      </a:lnTo>
                      <a:lnTo>
                        <a:pt x="123" y="29"/>
                      </a:lnTo>
                      <a:lnTo>
                        <a:pt x="123" y="40"/>
                      </a:lnTo>
                      <a:lnTo>
                        <a:pt x="114" y="50"/>
                      </a:lnTo>
                      <a:lnTo>
                        <a:pt x="109" y="44"/>
                      </a:lnTo>
                      <a:lnTo>
                        <a:pt x="100" y="51"/>
                      </a:lnTo>
                      <a:lnTo>
                        <a:pt x="99" y="49"/>
                      </a:lnTo>
                      <a:lnTo>
                        <a:pt x="88" y="49"/>
                      </a:lnTo>
                      <a:lnTo>
                        <a:pt x="94" y="42"/>
                      </a:lnTo>
                      <a:lnTo>
                        <a:pt x="94" y="39"/>
                      </a:lnTo>
                      <a:lnTo>
                        <a:pt x="88" y="34"/>
                      </a:lnTo>
                      <a:lnTo>
                        <a:pt x="88" y="26"/>
                      </a:lnTo>
                      <a:lnTo>
                        <a:pt x="81" y="34"/>
                      </a:lnTo>
                      <a:lnTo>
                        <a:pt x="81" y="49"/>
                      </a:lnTo>
                      <a:lnTo>
                        <a:pt x="73" y="49"/>
                      </a:lnTo>
                      <a:lnTo>
                        <a:pt x="62" y="60"/>
                      </a:lnTo>
                      <a:lnTo>
                        <a:pt x="58" y="60"/>
                      </a:lnTo>
                      <a:lnTo>
                        <a:pt x="52" y="67"/>
                      </a:lnTo>
                      <a:lnTo>
                        <a:pt x="30" y="67"/>
                      </a:lnTo>
                      <a:lnTo>
                        <a:pt x="38" y="77"/>
                      </a:lnTo>
                      <a:lnTo>
                        <a:pt x="38" y="93"/>
                      </a:lnTo>
                      <a:lnTo>
                        <a:pt x="30" y="102"/>
                      </a:lnTo>
                      <a:lnTo>
                        <a:pt x="22" y="93"/>
                      </a:lnTo>
                      <a:lnTo>
                        <a:pt x="5" y="93"/>
                      </a:lnTo>
                      <a:lnTo>
                        <a:pt x="5" y="104"/>
                      </a:lnTo>
                      <a:lnTo>
                        <a:pt x="0" y="111"/>
                      </a:lnTo>
                      <a:lnTo>
                        <a:pt x="0" y="126"/>
                      </a:lnTo>
                      <a:lnTo>
                        <a:pt x="10" y="138"/>
                      </a:lnTo>
                      <a:lnTo>
                        <a:pt x="26" y="138"/>
                      </a:lnTo>
                      <a:lnTo>
                        <a:pt x="50" y="109"/>
                      </a:lnTo>
                      <a:lnTo>
                        <a:pt x="72" y="109"/>
                      </a:lnTo>
                      <a:lnTo>
                        <a:pt x="75" y="103"/>
                      </a:lnTo>
                      <a:lnTo>
                        <a:pt x="80" y="109"/>
                      </a:lnTo>
                      <a:lnTo>
                        <a:pt x="79" y="115"/>
                      </a:lnTo>
                      <a:lnTo>
                        <a:pt x="99" y="135"/>
                      </a:lnTo>
                      <a:lnTo>
                        <a:pt x="99" y="143"/>
                      </a:lnTo>
                      <a:lnTo>
                        <a:pt x="104" y="140"/>
                      </a:lnTo>
                      <a:lnTo>
                        <a:pt x="101" y="135"/>
                      </a:lnTo>
                      <a:lnTo>
                        <a:pt x="104" y="132"/>
                      </a:lnTo>
                      <a:lnTo>
                        <a:pt x="107" y="135"/>
                      </a:lnTo>
                      <a:lnTo>
                        <a:pt x="109" y="134"/>
                      </a:lnTo>
                      <a:lnTo>
                        <a:pt x="88" y="108"/>
                      </a:lnTo>
                      <a:lnTo>
                        <a:pt x="88" y="99"/>
                      </a:lnTo>
                      <a:lnTo>
                        <a:pt x="94" y="99"/>
                      </a:lnTo>
                      <a:lnTo>
                        <a:pt x="94" y="104"/>
                      </a:lnTo>
                      <a:lnTo>
                        <a:pt x="114" y="127"/>
                      </a:lnTo>
                      <a:lnTo>
                        <a:pt x="114" y="134"/>
                      </a:lnTo>
                      <a:lnTo>
                        <a:pt x="123" y="144"/>
                      </a:lnTo>
                      <a:lnTo>
                        <a:pt x="121" y="146"/>
                      </a:lnTo>
                      <a:lnTo>
                        <a:pt x="127" y="154"/>
                      </a:lnTo>
                      <a:lnTo>
                        <a:pt x="137" y="143"/>
                      </a:lnTo>
                      <a:lnTo>
                        <a:pt x="131" y="136"/>
                      </a:lnTo>
                      <a:lnTo>
                        <a:pt x="137" y="130"/>
                      </a:lnTo>
                      <a:lnTo>
                        <a:pt x="144" y="130"/>
                      </a:lnTo>
                      <a:lnTo>
                        <a:pt x="148" y="126"/>
                      </a:lnTo>
                      <a:lnTo>
                        <a:pt x="153" y="126"/>
                      </a:lnTo>
                      <a:lnTo>
                        <a:pt x="147" y="117"/>
                      </a:lnTo>
                      <a:lnTo>
                        <a:pt x="150" y="113"/>
                      </a:lnTo>
                      <a:lnTo>
                        <a:pt x="150" y="98"/>
                      </a:lnTo>
                      <a:lnTo>
                        <a:pt x="157" y="90"/>
                      </a:lnTo>
                      <a:lnTo>
                        <a:pt x="160" y="93"/>
                      </a:lnTo>
                      <a:lnTo>
                        <a:pt x="166" y="93"/>
                      </a:lnTo>
                      <a:lnTo>
                        <a:pt x="163" y="97"/>
                      </a:lnTo>
                      <a:lnTo>
                        <a:pt x="169" y="103"/>
                      </a:lnTo>
                      <a:lnTo>
                        <a:pt x="172" y="98"/>
                      </a:lnTo>
                      <a:lnTo>
                        <a:pt x="177" y="98"/>
                      </a:lnTo>
                      <a:lnTo>
                        <a:pt x="177" y="95"/>
                      </a:lnTo>
                      <a:lnTo>
                        <a:pt x="175" y="95"/>
                      </a:lnTo>
                      <a:lnTo>
                        <a:pt x="171" y="93"/>
                      </a:lnTo>
                      <a:lnTo>
                        <a:pt x="180" y="81"/>
                      </a:lnTo>
                      <a:lnTo>
                        <a:pt x="180" y="98"/>
                      </a:lnTo>
                      <a:lnTo>
                        <a:pt x="183" y="98"/>
                      </a:lnTo>
                      <a:lnTo>
                        <a:pt x="183" y="0"/>
                      </a:lnTo>
                      <a:lnTo>
                        <a:pt x="120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3" name=""/>
                <p:cNvSpPr/>
                <p:nvPr/>
              </p:nvSpPr>
              <p:spPr>
                <a:xfrm>
                  <a:off x="7310520" y="4746240"/>
                  <a:ext cx="1239840" cy="876960"/>
                </a:xfrm>
                <a:custGeom>
                  <a:avLst/>
                  <a:gdLst>
                    <a:gd name="GluePoint1X" fmla="*/ 22 w 782"/>
                    <a:gd name="GluePoint1Y" fmla="*/ 145 h 553"/>
                    <a:gd name="GluePoint2X" fmla="*/ 71 w 782"/>
                    <a:gd name="GluePoint2Y" fmla="*/ 96 h 553"/>
                    <a:gd name="GluePoint3X" fmla="*/ 101 w 782"/>
                    <a:gd name="GluePoint3Y" fmla="*/ 130 h 553"/>
                    <a:gd name="GluePoint4X" fmla="*/ 84 w 782"/>
                    <a:gd name="GluePoint4Y" fmla="*/ 128 h 553"/>
                    <a:gd name="GluePoint5X" fmla="*/ 155 w 782"/>
                    <a:gd name="GluePoint5Y" fmla="*/ 123 h 553"/>
                    <a:gd name="GluePoint6X" fmla="*/ 172 w 782"/>
                    <a:gd name="GluePoint6Y" fmla="*/ 79 h 553"/>
                    <a:gd name="GluePoint7X" fmla="*/ 172 w 782"/>
                    <a:gd name="GluePoint7Y" fmla="*/ 89 h 553"/>
                    <a:gd name="GluePoint8X" fmla="*/ 160 w 782"/>
                    <a:gd name="GluePoint8Y" fmla="*/ 123 h 553"/>
                    <a:gd name="GluePoint9X" fmla="*/ 216 w 782"/>
                    <a:gd name="GluePoint9Y" fmla="*/ 95 h 553"/>
                    <a:gd name="GluePoint10X" fmla="*/ 330 w 782"/>
                    <a:gd name="GluePoint10Y" fmla="*/ 16 h 553"/>
                    <a:gd name="GluePoint11X" fmla="*/ 412 w 782"/>
                    <a:gd name="GluePoint11Y" fmla="*/ 20 h 553"/>
                    <a:gd name="GluePoint12X" fmla="*/ 503 w 782"/>
                    <a:gd name="GluePoint12Y" fmla="*/ 10 h 553"/>
                    <a:gd name="GluePoint13X" fmla="*/ 602 w 782"/>
                    <a:gd name="GluePoint13Y" fmla="*/ 51 h 553"/>
                    <a:gd name="GluePoint14X" fmla="*/ 718 w 782"/>
                    <a:gd name="GluePoint14Y" fmla="*/ 65 h 553"/>
                    <a:gd name="GluePoint15X" fmla="*/ 775 w 782"/>
                    <a:gd name="GluePoint15Y" fmla="*/ 112 h 553"/>
                    <a:gd name="GluePoint16X" fmla="*/ 731 w 782"/>
                    <a:gd name="GluePoint16Y" fmla="*/ 148 h 553"/>
                    <a:gd name="GluePoint17X" fmla="*/ 707 w 782"/>
                    <a:gd name="GluePoint17Y" fmla="*/ 194 h 553"/>
                    <a:gd name="GluePoint18X" fmla="*/ 678 w 782"/>
                    <a:gd name="GluePoint18Y" fmla="*/ 196 h 553"/>
                    <a:gd name="GluePoint19X" fmla="*/ 687 w 782"/>
                    <a:gd name="GluePoint19Y" fmla="*/ 132 h 553"/>
                    <a:gd name="GluePoint20X" fmla="*/ 650 w 782"/>
                    <a:gd name="GluePoint20Y" fmla="*/ 166 h 553"/>
                    <a:gd name="GluePoint21X" fmla="*/ 623 w 782"/>
                    <a:gd name="GluePoint21Y" fmla="*/ 196 h 553"/>
                    <a:gd name="GluePoint22X" fmla="*/ 632 w 782"/>
                    <a:gd name="GluePoint22Y" fmla="*/ 228 h 553"/>
                    <a:gd name="GluePoint23X" fmla="*/ 600 w 782"/>
                    <a:gd name="GluePoint23Y" fmla="*/ 276 h 553"/>
                    <a:gd name="GluePoint24X" fmla="*/ 605 w 782"/>
                    <a:gd name="GluePoint24Y" fmla="*/ 315 h 553"/>
                    <a:gd name="GluePoint25X" fmla="*/ 602 w 782"/>
                    <a:gd name="GluePoint25Y" fmla="*/ 296 h 553"/>
                    <a:gd name="GluePoint26X" fmla="*/ 572 w 782"/>
                    <a:gd name="GluePoint26Y" fmla="*/ 299 h 553"/>
                    <a:gd name="GluePoint27X" fmla="*/ 594 w 782"/>
                    <a:gd name="GluePoint27Y" fmla="*/ 356 h 553"/>
                    <a:gd name="GluePoint28X" fmla="*/ 539 w 782"/>
                    <a:gd name="GluePoint28Y" fmla="*/ 423 h 553"/>
                    <a:gd name="GluePoint29X" fmla="*/ 524 w 782"/>
                    <a:gd name="GluePoint29Y" fmla="*/ 442 h 553"/>
                    <a:gd name="GluePoint30X" fmla="*/ 504 w 782"/>
                    <a:gd name="GluePoint30Y" fmla="*/ 507 h 553"/>
                    <a:gd name="GluePoint31X" fmla="*/ 477 w 782"/>
                    <a:gd name="GluePoint31Y" fmla="*/ 508 h 553"/>
                    <a:gd name="GluePoint32X" fmla="*/ 510 w 782"/>
                    <a:gd name="GluePoint32Y" fmla="*/ 552 h 553"/>
                    <a:gd name="GluePoint33X" fmla="*/ 455 w 782"/>
                    <a:gd name="GluePoint33Y" fmla="*/ 449 h 553"/>
                    <a:gd name="GluePoint34X" fmla="*/ 391 w 782"/>
                    <a:gd name="GluePoint34Y" fmla="*/ 428 h 553"/>
                    <a:gd name="GluePoint35X" fmla="*/ 361 w 782"/>
                    <a:gd name="GluePoint35Y" fmla="*/ 495 h 553"/>
                    <a:gd name="GluePoint36X" fmla="*/ 338 w 782"/>
                    <a:gd name="GluePoint36Y" fmla="*/ 530 h 553"/>
                    <a:gd name="GluePoint37X" fmla="*/ 298 w 782"/>
                    <a:gd name="GluePoint37Y" fmla="*/ 425 h 553"/>
                    <a:gd name="GluePoint38X" fmla="*/ 267 w 782"/>
                    <a:gd name="GluePoint38Y" fmla="*/ 436 h 553"/>
                    <a:gd name="GluePoint39X" fmla="*/ 241 w 782"/>
                    <a:gd name="GluePoint39Y" fmla="*/ 391 h 553"/>
                    <a:gd name="GluePoint40X" fmla="*/ 160 w 782"/>
                    <a:gd name="GluePoint40Y" fmla="*/ 366 h 553"/>
                    <a:gd name="GluePoint41X" fmla="*/ 188 w 782"/>
                    <a:gd name="GluePoint41Y" fmla="*/ 414 h 553"/>
                    <a:gd name="GluePoint42X" fmla="*/ 167 w 782"/>
                    <a:gd name="GluePoint42Y" fmla="*/ 445 h 553"/>
                    <a:gd name="GluePoint43X" fmla="*/ 136 w 782"/>
                    <a:gd name="GluePoint43Y" fmla="*/ 434 h 553"/>
                    <a:gd name="GluePoint44X" fmla="*/ 85 w 782"/>
                    <a:gd name="GluePoint44Y" fmla="*/ 355 h 553"/>
                    <a:gd name="GluePoint45X" fmla="*/ 106 w 782"/>
                    <a:gd name="GluePoint45Y" fmla="*/ 310 h 553"/>
                    <a:gd name="GluePoint46X" fmla="*/ 119 w 782"/>
                    <a:gd name="GluePoint46Y" fmla="*/ 276 h 553"/>
                    <a:gd name="GluePoint47X" fmla="*/ 106 w 782"/>
                    <a:gd name="GluePoint47Y" fmla="*/ 162 h 553"/>
                    <a:gd name="GluePoint48X" fmla="*/ 61 w 782"/>
                    <a:gd name="GluePoint48Y" fmla="*/ 138 h 553"/>
                    <a:gd name="GluePoint49X" fmla="*/ 39 w 782"/>
                    <a:gd name="GluePoint49Y" fmla="*/ 150 h 553"/>
                    <a:gd name="GluePoint50X" fmla="*/ 0 w 782"/>
                    <a:gd name="GluePoint50Y" fmla="*/ 162 h 55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</a:cxnLst>
                  <a:rect l="l" t="t" r="r" b="b"/>
                  <a:pathLst>
                    <a:path w="782" h="553">
                      <a:moveTo>
                        <a:pt x="0" y="162"/>
                      </a:moveTo>
                      <a:lnTo>
                        <a:pt x="22" y="145"/>
                      </a:lnTo>
                      <a:lnTo>
                        <a:pt x="44" y="112"/>
                      </a:lnTo>
                      <a:lnTo>
                        <a:pt x="71" y="96"/>
                      </a:lnTo>
                      <a:lnTo>
                        <a:pt x="98" y="115"/>
                      </a:lnTo>
                      <a:lnTo>
                        <a:pt x="101" y="130"/>
                      </a:lnTo>
                      <a:lnTo>
                        <a:pt x="95" y="130"/>
                      </a:lnTo>
                      <a:lnTo>
                        <a:pt x="84" y="128"/>
                      </a:lnTo>
                      <a:lnTo>
                        <a:pt x="98" y="145"/>
                      </a:lnTo>
                      <a:lnTo>
                        <a:pt x="155" y="123"/>
                      </a:lnTo>
                      <a:lnTo>
                        <a:pt x="147" y="107"/>
                      </a:lnTo>
                      <a:lnTo>
                        <a:pt x="172" y="79"/>
                      </a:lnTo>
                      <a:lnTo>
                        <a:pt x="188" y="79"/>
                      </a:lnTo>
                      <a:lnTo>
                        <a:pt x="172" y="89"/>
                      </a:lnTo>
                      <a:lnTo>
                        <a:pt x="160" y="109"/>
                      </a:lnTo>
                      <a:lnTo>
                        <a:pt x="160" y="123"/>
                      </a:lnTo>
                      <a:lnTo>
                        <a:pt x="183" y="138"/>
                      </a:lnTo>
                      <a:lnTo>
                        <a:pt x="216" y="95"/>
                      </a:lnTo>
                      <a:lnTo>
                        <a:pt x="330" y="45"/>
                      </a:lnTo>
                      <a:lnTo>
                        <a:pt x="330" y="16"/>
                      </a:lnTo>
                      <a:lnTo>
                        <a:pt x="382" y="5"/>
                      </a:lnTo>
                      <a:lnTo>
                        <a:pt x="412" y="20"/>
                      </a:lnTo>
                      <a:lnTo>
                        <a:pt x="481" y="0"/>
                      </a:lnTo>
                      <a:lnTo>
                        <a:pt x="503" y="10"/>
                      </a:lnTo>
                      <a:lnTo>
                        <a:pt x="549" y="61"/>
                      </a:lnTo>
                      <a:lnTo>
                        <a:pt x="602" y="51"/>
                      </a:lnTo>
                      <a:lnTo>
                        <a:pt x="635" y="69"/>
                      </a:lnTo>
                      <a:lnTo>
                        <a:pt x="718" y="65"/>
                      </a:lnTo>
                      <a:lnTo>
                        <a:pt x="781" y="84"/>
                      </a:lnTo>
                      <a:lnTo>
                        <a:pt x="775" y="112"/>
                      </a:lnTo>
                      <a:lnTo>
                        <a:pt x="722" y="130"/>
                      </a:lnTo>
                      <a:lnTo>
                        <a:pt x="731" y="148"/>
                      </a:lnTo>
                      <a:lnTo>
                        <a:pt x="708" y="158"/>
                      </a:lnTo>
                      <a:lnTo>
                        <a:pt x="707" y="194"/>
                      </a:lnTo>
                      <a:lnTo>
                        <a:pt x="686" y="218"/>
                      </a:lnTo>
                      <a:lnTo>
                        <a:pt x="678" y="196"/>
                      </a:lnTo>
                      <a:lnTo>
                        <a:pt x="689" y="175"/>
                      </a:lnTo>
                      <a:lnTo>
                        <a:pt x="687" y="132"/>
                      </a:lnTo>
                      <a:lnTo>
                        <a:pt x="666" y="154"/>
                      </a:lnTo>
                      <a:lnTo>
                        <a:pt x="650" y="166"/>
                      </a:lnTo>
                      <a:lnTo>
                        <a:pt x="634" y="147"/>
                      </a:lnTo>
                      <a:lnTo>
                        <a:pt x="623" y="196"/>
                      </a:lnTo>
                      <a:lnTo>
                        <a:pt x="635" y="196"/>
                      </a:lnTo>
                      <a:lnTo>
                        <a:pt x="632" y="228"/>
                      </a:lnTo>
                      <a:lnTo>
                        <a:pt x="618" y="263"/>
                      </a:lnTo>
                      <a:lnTo>
                        <a:pt x="600" y="276"/>
                      </a:lnTo>
                      <a:lnTo>
                        <a:pt x="615" y="299"/>
                      </a:lnTo>
                      <a:lnTo>
                        <a:pt x="605" y="315"/>
                      </a:lnTo>
                      <a:lnTo>
                        <a:pt x="602" y="301"/>
                      </a:lnTo>
                      <a:lnTo>
                        <a:pt x="602" y="296"/>
                      </a:lnTo>
                      <a:lnTo>
                        <a:pt x="590" y="288"/>
                      </a:lnTo>
                      <a:lnTo>
                        <a:pt x="572" y="299"/>
                      </a:lnTo>
                      <a:lnTo>
                        <a:pt x="588" y="337"/>
                      </a:lnTo>
                      <a:lnTo>
                        <a:pt x="594" y="356"/>
                      </a:lnTo>
                      <a:lnTo>
                        <a:pt x="574" y="408"/>
                      </a:lnTo>
                      <a:lnTo>
                        <a:pt x="539" y="423"/>
                      </a:lnTo>
                      <a:lnTo>
                        <a:pt x="509" y="420"/>
                      </a:lnTo>
                      <a:lnTo>
                        <a:pt x="524" y="442"/>
                      </a:lnTo>
                      <a:lnTo>
                        <a:pt x="525" y="472"/>
                      </a:lnTo>
                      <a:lnTo>
                        <a:pt x="504" y="507"/>
                      </a:lnTo>
                      <a:lnTo>
                        <a:pt x="480" y="488"/>
                      </a:lnTo>
                      <a:lnTo>
                        <a:pt x="477" y="508"/>
                      </a:lnTo>
                      <a:lnTo>
                        <a:pt x="495" y="526"/>
                      </a:lnTo>
                      <a:lnTo>
                        <a:pt x="510" y="552"/>
                      </a:lnTo>
                      <a:lnTo>
                        <a:pt x="485" y="536"/>
                      </a:lnTo>
                      <a:lnTo>
                        <a:pt x="455" y="449"/>
                      </a:lnTo>
                      <a:lnTo>
                        <a:pt x="418" y="426"/>
                      </a:lnTo>
                      <a:lnTo>
                        <a:pt x="391" y="428"/>
                      </a:lnTo>
                      <a:lnTo>
                        <a:pt x="356" y="477"/>
                      </a:lnTo>
                      <a:lnTo>
                        <a:pt x="361" y="495"/>
                      </a:lnTo>
                      <a:lnTo>
                        <a:pt x="349" y="530"/>
                      </a:lnTo>
                      <a:lnTo>
                        <a:pt x="338" y="530"/>
                      </a:lnTo>
                      <a:lnTo>
                        <a:pt x="298" y="457"/>
                      </a:lnTo>
                      <a:lnTo>
                        <a:pt x="298" y="425"/>
                      </a:lnTo>
                      <a:lnTo>
                        <a:pt x="290" y="437"/>
                      </a:lnTo>
                      <a:lnTo>
                        <a:pt x="267" y="436"/>
                      </a:lnTo>
                      <a:lnTo>
                        <a:pt x="276" y="416"/>
                      </a:lnTo>
                      <a:lnTo>
                        <a:pt x="241" y="391"/>
                      </a:lnTo>
                      <a:lnTo>
                        <a:pt x="197" y="391"/>
                      </a:lnTo>
                      <a:lnTo>
                        <a:pt x="160" y="366"/>
                      </a:lnTo>
                      <a:lnTo>
                        <a:pt x="157" y="391"/>
                      </a:lnTo>
                      <a:lnTo>
                        <a:pt x="188" y="414"/>
                      </a:lnTo>
                      <a:lnTo>
                        <a:pt x="199" y="414"/>
                      </a:lnTo>
                      <a:lnTo>
                        <a:pt x="167" y="445"/>
                      </a:lnTo>
                      <a:lnTo>
                        <a:pt x="136" y="452"/>
                      </a:lnTo>
                      <a:lnTo>
                        <a:pt x="136" y="434"/>
                      </a:lnTo>
                      <a:lnTo>
                        <a:pt x="91" y="372"/>
                      </a:lnTo>
                      <a:lnTo>
                        <a:pt x="85" y="355"/>
                      </a:lnTo>
                      <a:lnTo>
                        <a:pt x="109" y="335"/>
                      </a:lnTo>
                      <a:lnTo>
                        <a:pt x="106" y="310"/>
                      </a:lnTo>
                      <a:lnTo>
                        <a:pt x="106" y="282"/>
                      </a:lnTo>
                      <a:lnTo>
                        <a:pt x="119" y="276"/>
                      </a:lnTo>
                      <a:lnTo>
                        <a:pt x="106" y="263"/>
                      </a:lnTo>
                      <a:lnTo>
                        <a:pt x="106" y="162"/>
                      </a:lnTo>
                      <a:lnTo>
                        <a:pt x="43" y="162"/>
                      </a:lnTo>
                      <a:lnTo>
                        <a:pt x="61" y="138"/>
                      </a:lnTo>
                      <a:lnTo>
                        <a:pt x="60" y="130"/>
                      </a:lnTo>
                      <a:lnTo>
                        <a:pt x="39" y="150"/>
                      </a:lnTo>
                      <a:lnTo>
                        <a:pt x="32" y="162"/>
                      </a:lnTo>
                      <a:lnTo>
                        <a:pt x="0" y="162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4" name=""/>
                <p:cNvSpPr/>
                <p:nvPr/>
              </p:nvSpPr>
              <p:spPr>
                <a:xfrm>
                  <a:off x="8288280" y="5105160"/>
                  <a:ext cx="106560" cy="177840"/>
                </a:xfrm>
                <a:custGeom>
                  <a:avLst/>
                  <a:gdLst>
                    <a:gd name="GluePoint1X" fmla="*/ 45 w 68"/>
                    <a:gd name="GluePoint1Y" fmla="*/ 0 h 113"/>
                    <a:gd name="GluePoint2X" fmla="*/ 45 w 68"/>
                    <a:gd name="GluePoint2Y" fmla="*/ 14 h 113"/>
                    <a:gd name="GluePoint3X" fmla="*/ 39 w 68"/>
                    <a:gd name="GluePoint3Y" fmla="*/ 23 h 113"/>
                    <a:gd name="GluePoint4X" fmla="*/ 41 w 68"/>
                    <a:gd name="GluePoint4Y" fmla="*/ 38 h 113"/>
                    <a:gd name="GluePoint5X" fmla="*/ 33 w 68"/>
                    <a:gd name="GluePoint5Y" fmla="*/ 58 h 113"/>
                    <a:gd name="GluePoint6X" fmla="*/ 22 w 68"/>
                    <a:gd name="GluePoint6Y" fmla="*/ 77 h 113"/>
                    <a:gd name="GluePoint7X" fmla="*/ 5 w 68"/>
                    <a:gd name="GluePoint7Y" fmla="*/ 89 h 113"/>
                    <a:gd name="GluePoint8X" fmla="*/ 0 w 68"/>
                    <a:gd name="GluePoint8Y" fmla="*/ 110 h 113"/>
                    <a:gd name="GluePoint9X" fmla="*/ 7 w 68"/>
                    <a:gd name="GluePoint9Y" fmla="*/ 112 h 113"/>
                    <a:gd name="GluePoint10X" fmla="*/ 7 w 68"/>
                    <a:gd name="GluePoint10Y" fmla="*/ 92 h 113"/>
                    <a:gd name="GluePoint11X" fmla="*/ 31 w 68"/>
                    <a:gd name="GluePoint11Y" fmla="*/ 91 h 113"/>
                    <a:gd name="GluePoint12X" fmla="*/ 49 w 68"/>
                    <a:gd name="GluePoint12Y" fmla="*/ 78 h 113"/>
                    <a:gd name="GluePoint13X" fmla="*/ 49 w 68"/>
                    <a:gd name="GluePoint13Y" fmla="*/ 51 h 113"/>
                    <a:gd name="GluePoint14X" fmla="*/ 55 w 68"/>
                    <a:gd name="GluePoint14Y" fmla="*/ 41 h 113"/>
                    <a:gd name="GluePoint15X" fmla="*/ 46 w 68"/>
                    <a:gd name="GluePoint15Y" fmla="*/ 24 h 113"/>
                    <a:gd name="GluePoint16X" fmla="*/ 59 w 68"/>
                    <a:gd name="GluePoint16Y" fmla="*/ 19 h 113"/>
                    <a:gd name="GluePoint17X" fmla="*/ 67 w 68"/>
                    <a:gd name="GluePoint17Y" fmla="*/ 5 h 113"/>
                    <a:gd name="GluePoint18X" fmla="*/ 49 w 68"/>
                    <a:gd name="GluePoint18Y" fmla="*/ 7 h 113"/>
                    <a:gd name="GluePoint19X" fmla="*/ 45 w 68"/>
                    <a:gd name="GluePoint19Y" fmla="*/ 0 h 11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l" t="t" r="r" b="b"/>
                  <a:pathLst>
                    <a:path w="68" h="113">
                      <a:moveTo>
                        <a:pt x="45" y="0"/>
                      </a:moveTo>
                      <a:lnTo>
                        <a:pt x="45" y="14"/>
                      </a:lnTo>
                      <a:lnTo>
                        <a:pt x="39" y="23"/>
                      </a:lnTo>
                      <a:lnTo>
                        <a:pt x="41" y="38"/>
                      </a:lnTo>
                      <a:lnTo>
                        <a:pt x="33" y="58"/>
                      </a:lnTo>
                      <a:lnTo>
                        <a:pt x="22" y="77"/>
                      </a:lnTo>
                      <a:lnTo>
                        <a:pt x="5" y="89"/>
                      </a:lnTo>
                      <a:lnTo>
                        <a:pt x="0" y="110"/>
                      </a:lnTo>
                      <a:lnTo>
                        <a:pt x="7" y="112"/>
                      </a:lnTo>
                      <a:lnTo>
                        <a:pt x="7" y="92"/>
                      </a:lnTo>
                      <a:lnTo>
                        <a:pt x="31" y="91"/>
                      </a:lnTo>
                      <a:lnTo>
                        <a:pt x="49" y="78"/>
                      </a:lnTo>
                      <a:lnTo>
                        <a:pt x="49" y="51"/>
                      </a:lnTo>
                      <a:lnTo>
                        <a:pt x="55" y="41"/>
                      </a:lnTo>
                      <a:lnTo>
                        <a:pt x="46" y="24"/>
                      </a:lnTo>
                      <a:lnTo>
                        <a:pt x="59" y="19"/>
                      </a:lnTo>
                      <a:lnTo>
                        <a:pt x="67" y="5"/>
                      </a:lnTo>
                      <a:lnTo>
                        <a:pt x="49" y="7"/>
                      </a:lnTo>
                      <a:lnTo>
                        <a:pt x="45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5" name=""/>
                <p:cNvSpPr/>
                <p:nvPr/>
              </p:nvSpPr>
              <p:spPr>
                <a:xfrm>
                  <a:off x="7885080" y="5583240"/>
                  <a:ext cx="25560" cy="39960"/>
                </a:xfrm>
                <a:custGeom>
                  <a:avLst/>
                  <a:gdLst>
                    <a:gd name="GluePoint1X" fmla="*/ 8 w 17"/>
                    <a:gd name="GluePoint1Y" fmla="*/ 0 h 26"/>
                    <a:gd name="GluePoint2X" fmla="*/ 0 w 17"/>
                    <a:gd name="GluePoint2Y" fmla="*/ 11 h 26"/>
                    <a:gd name="GluePoint3X" fmla="*/ 5 w 17"/>
                    <a:gd name="GluePoint3Y" fmla="*/ 25 h 26"/>
                    <a:gd name="GluePoint4X" fmla="*/ 16 w 17"/>
                    <a:gd name="GluePoint4Y" fmla="*/ 15 h 26"/>
                    <a:gd name="GluePoint5X" fmla="*/ 8 w 17"/>
                    <a:gd name="GluePoint5Y" fmla="*/ 0 h 2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</a:cxnLst>
                  <a:rect l="l" t="t" r="r" b="b"/>
                  <a:pathLst>
                    <a:path w="17" h="26">
                      <a:moveTo>
                        <a:pt x="8" y="0"/>
                      </a:moveTo>
                      <a:lnTo>
                        <a:pt x="0" y="11"/>
                      </a:lnTo>
                      <a:lnTo>
                        <a:pt x="5" y="25"/>
                      </a:lnTo>
                      <a:lnTo>
                        <a:pt x="16" y="15"/>
                      </a:lnTo>
                      <a:lnTo>
                        <a:pt x="8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6840" rIns="90000" bIns="-684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6" name=""/>
                <p:cNvSpPr/>
                <p:nvPr/>
              </p:nvSpPr>
              <p:spPr>
                <a:xfrm>
                  <a:off x="8047080" y="5626080"/>
                  <a:ext cx="249120" cy="106560"/>
                </a:xfrm>
                <a:custGeom>
                  <a:avLst/>
                  <a:gdLst>
                    <a:gd name="GluePoint1X" fmla="*/ 0 w 158"/>
                    <a:gd name="GluePoint1Y" fmla="*/ 0 h 68"/>
                    <a:gd name="GluePoint2X" fmla="*/ 23 w 158"/>
                    <a:gd name="GluePoint2Y" fmla="*/ 5 h 68"/>
                    <a:gd name="GluePoint3X" fmla="*/ 58 w 158"/>
                    <a:gd name="GluePoint3Y" fmla="*/ 29 h 68"/>
                    <a:gd name="GluePoint4X" fmla="*/ 53 w 158"/>
                    <a:gd name="GluePoint4Y" fmla="*/ 43 h 68"/>
                    <a:gd name="GluePoint5X" fmla="*/ 82 w 158"/>
                    <a:gd name="GluePoint5Y" fmla="*/ 55 h 68"/>
                    <a:gd name="GluePoint6X" fmla="*/ 157 w 158"/>
                    <a:gd name="GluePoint6Y" fmla="*/ 55 h 68"/>
                    <a:gd name="GluePoint7X" fmla="*/ 75 w 158"/>
                    <a:gd name="GluePoint7Y" fmla="*/ 67 h 68"/>
                    <a:gd name="GluePoint8X" fmla="*/ 53 w 158"/>
                    <a:gd name="GluePoint8Y" fmla="*/ 43 h 68"/>
                    <a:gd name="GluePoint9X" fmla="*/ 32 w 158"/>
                    <a:gd name="GluePoint9Y" fmla="*/ 38 h 68"/>
                    <a:gd name="GluePoint10X" fmla="*/ 0 w 158"/>
                    <a:gd name="GluePoint10Y" fmla="*/ 0 h 6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</a:cxnLst>
                  <a:rect l="l" t="t" r="r" b="b"/>
                  <a:pathLst>
                    <a:path w="158" h="68">
                      <a:moveTo>
                        <a:pt x="0" y="0"/>
                      </a:moveTo>
                      <a:lnTo>
                        <a:pt x="23" y="5"/>
                      </a:lnTo>
                      <a:lnTo>
                        <a:pt x="58" y="29"/>
                      </a:lnTo>
                      <a:lnTo>
                        <a:pt x="53" y="43"/>
                      </a:lnTo>
                      <a:lnTo>
                        <a:pt x="82" y="55"/>
                      </a:lnTo>
                      <a:lnTo>
                        <a:pt x="157" y="55"/>
                      </a:lnTo>
                      <a:lnTo>
                        <a:pt x="75" y="67"/>
                      </a:lnTo>
                      <a:lnTo>
                        <a:pt x="53" y="43"/>
                      </a:lnTo>
                      <a:lnTo>
                        <a:pt x="32" y="3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7" name=""/>
                <p:cNvSpPr/>
                <p:nvPr/>
              </p:nvSpPr>
              <p:spPr>
                <a:xfrm>
                  <a:off x="8247240" y="5715000"/>
                  <a:ext cx="266400" cy="250920"/>
                </a:xfrm>
                <a:custGeom>
                  <a:avLst/>
                  <a:gdLst>
                    <a:gd name="GluePoint1X" fmla="*/ 135 w 169"/>
                    <a:gd name="GluePoint1Y" fmla="*/ 155 h 159"/>
                    <a:gd name="GluePoint2X" fmla="*/ 127 w 169"/>
                    <a:gd name="GluePoint2Y" fmla="*/ 152 h 159"/>
                    <a:gd name="GluePoint3X" fmla="*/ 110 w 169"/>
                    <a:gd name="GluePoint3Y" fmla="*/ 134 h 159"/>
                    <a:gd name="GluePoint4X" fmla="*/ 92 w 169"/>
                    <a:gd name="GluePoint4Y" fmla="*/ 130 h 159"/>
                    <a:gd name="GluePoint5X" fmla="*/ 88 w 169"/>
                    <a:gd name="GluePoint5Y" fmla="*/ 119 h 159"/>
                    <a:gd name="GluePoint6X" fmla="*/ 78 w 169"/>
                    <a:gd name="GluePoint6Y" fmla="*/ 111 h 159"/>
                    <a:gd name="GluePoint7X" fmla="*/ 62 w 169"/>
                    <a:gd name="GluePoint7Y" fmla="*/ 111 h 159"/>
                    <a:gd name="GluePoint8X" fmla="*/ 44 w 169"/>
                    <a:gd name="GluePoint8Y" fmla="*/ 118 h 159"/>
                    <a:gd name="GluePoint9X" fmla="*/ 28 w 169"/>
                    <a:gd name="GluePoint9Y" fmla="*/ 121 h 159"/>
                    <a:gd name="GluePoint10X" fmla="*/ 10 w 169"/>
                    <a:gd name="GluePoint10Y" fmla="*/ 121 h 159"/>
                    <a:gd name="GluePoint11X" fmla="*/ 10 w 169"/>
                    <a:gd name="GluePoint11Y" fmla="*/ 109 h 159"/>
                    <a:gd name="GluePoint12X" fmla="*/ 3 w 169"/>
                    <a:gd name="GluePoint12Y" fmla="*/ 91 h 159"/>
                    <a:gd name="GluePoint13X" fmla="*/ 2 w 169"/>
                    <a:gd name="GluePoint13Y" fmla="*/ 81 h 159"/>
                    <a:gd name="GluePoint14X" fmla="*/ 2 w 169"/>
                    <a:gd name="GluePoint14Y" fmla="*/ 56 h 159"/>
                    <a:gd name="GluePoint15X" fmla="*/ 31 w 169"/>
                    <a:gd name="GluePoint15Y" fmla="*/ 43 h 159"/>
                    <a:gd name="GluePoint16X" fmla="*/ 34 w 169"/>
                    <a:gd name="GluePoint16Y" fmla="*/ 29 h 159"/>
                    <a:gd name="GluePoint17X" fmla="*/ 40 w 169"/>
                    <a:gd name="GluePoint17Y" fmla="*/ 30 h 159"/>
                    <a:gd name="GluePoint18X" fmla="*/ 55 w 169"/>
                    <a:gd name="GluePoint18Y" fmla="*/ 15 h 159"/>
                    <a:gd name="GluePoint19X" fmla="*/ 70 w 169"/>
                    <a:gd name="GluePoint19Y" fmla="*/ 17 h 159"/>
                    <a:gd name="GluePoint20X" fmla="*/ 80 w 169"/>
                    <a:gd name="GluePoint20Y" fmla="*/ 7 h 159"/>
                    <a:gd name="GluePoint21X" fmla="*/ 89 w 169"/>
                    <a:gd name="GluePoint21Y" fmla="*/ 5 h 159"/>
                    <a:gd name="GluePoint22X" fmla="*/ 103 w 169"/>
                    <a:gd name="GluePoint22Y" fmla="*/ 24 h 159"/>
                    <a:gd name="GluePoint23X" fmla="*/ 116 w 169"/>
                    <a:gd name="GluePoint23Y" fmla="*/ 30 h 159"/>
                    <a:gd name="GluePoint24X" fmla="*/ 117 w 169"/>
                    <a:gd name="GluePoint24Y" fmla="*/ 11 h 159"/>
                    <a:gd name="GluePoint25X" fmla="*/ 122 w 169"/>
                    <a:gd name="GluePoint25Y" fmla="*/ 0 h 159"/>
                    <a:gd name="GluePoint26X" fmla="*/ 132 w 169"/>
                    <a:gd name="GluePoint26Y" fmla="*/ 15 h 159"/>
                    <a:gd name="GluePoint27X" fmla="*/ 140 w 169"/>
                    <a:gd name="GluePoint27Y" fmla="*/ 43 h 159"/>
                    <a:gd name="GluePoint28X" fmla="*/ 156 w 169"/>
                    <a:gd name="GluePoint28Y" fmla="*/ 59 h 159"/>
                    <a:gd name="GluePoint29X" fmla="*/ 165 w 169"/>
                    <a:gd name="GluePoint29Y" fmla="*/ 72 h 159"/>
                    <a:gd name="GluePoint30X" fmla="*/ 168 w 169"/>
                    <a:gd name="GluePoint30Y" fmla="*/ 95 h 159"/>
                    <a:gd name="GluePoint31X" fmla="*/ 157 w 169"/>
                    <a:gd name="GluePoint31Y" fmla="*/ 121 h 159"/>
                    <a:gd name="GluePoint32X" fmla="*/ 155 w 169"/>
                    <a:gd name="GluePoint32Y" fmla="*/ 145 h 159"/>
                    <a:gd name="GluePoint33X" fmla="*/ 140 w 169"/>
                    <a:gd name="GluePoint33Y" fmla="*/ 154 h 15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</a:cxnLst>
                  <a:rect l="l" t="t" r="r" b="b"/>
                  <a:pathLst>
                    <a:path w="169" h="159">
                      <a:moveTo>
                        <a:pt x="140" y="154"/>
                      </a:moveTo>
                      <a:lnTo>
                        <a:pt x="135" y="155"/>
                      </a:lnTo>
                      <a:lnTo>
                        <a:pt x="132" y="158"/>
                      </a:lnTo>
                      <a:lnTo>
                        <a:pt x="127" y="152"/>
                      </a:lnTo>
                      <a:lnTo>
                        <a:pt x="112" y="145"/>
                      </a:lnTo>
                      <a:lnTo>
                        <a:pt x="110" y="134"/>
                      </a:lnTo>
                      <a:lnTo>
                        <a:pt x="105" y="130"/>
                      </a:lnTo>
                      <a:lnTo>
                        <a:pt x="92" y="130"/>
                      </a:lnTo>
                      <a:lnTo>
                        <a:pt x="92" y="122"/>
                      </a:lnTo>
                      <a:lnTo>
                        <a:pt x="88" y="119"/>
                      </a:lnTo>
                      <a:lnTo>
                        <a:pt x="87" y="112"/>
                      </a:lnTo>
                      <a:lnTo>
                        <a:pt x="78" y="111"/>
                      </a:lnTo>
                      <a:lnTo>
                        <a:pt x="70" y="109"/>
                      </a:lnTo>
                      <a:lnTo>
                        <a:pt x="62" y="111"/>
                      </a:lnTo>
                      <a:lnTo>
                        <a:pt x="62" y="112"/>
                      </a:lnTo>
                      <a:lnTo>
                        <a:pt x="44" y="118"/>
                      </a:lnTo>
                      <a:lnTo>
                        <a:pt x="44" y="121"/>
                      </a:lnTo>
                      <a:lnTo>
                        <a:pt x="28" y="121"/>
                      </a:lnTo>
                      <a:lnTo>
                        <a:pt x="20" y="126"/>
                      </a:lnTo>
                      <a:lnTo>
                        <a:pt x="10" y="121"/>
                      </a:lnTo>
                      <a:lnTo>
                        <a:pt x="10" y="119"/>
                      </a:lnTo>
                      <a:lnTo>
                        <a:pt x="10" y="109"/>
                      </a:lnTo>
                      <a:lnTo>
                        <a:pt x="7" y="99"/>
                      </a:lnTo>
                      <a:lnTo>
                        <a:pt x="3" y="91"/>
                      </a:lnTo>
                      <a:lnTo>
                        <a:pt x="5" y="84"/>
                      </a:lnTo>
                      <a:lnTo>
                        <a:pt x="2" y="81"/>
                      </a:lnTo>
                      <a:lnTo>
                        <a:pt x="0" y="66"/>
                      </a:lnTo>
                      <a:lnTo>
                        <a:pt x="2" y="56"/>
                      </a:lnTo>
                      <a:lnTo>
                        <a:pt x="11" y="48"/>
                      </a:lnTo>
                      <a:lnTo>
                        <a:pt x="31" y="43"/>
                      </a:lnTo>
                      <a:lnTo>
                        <a:pt x="36" y="36"/>
                      </a:lnTo>
                      <a:lnTo>
                        <a:pt x="34" y="29"/>
                      </a:lnTo>
                      <a:lnTo>
                        <a:pt x="39" y="27"/>
                      </a:lnTo>
                      <a:lnTo>
                        <a:pt x="40" y="30"/>
                      </a:lnTo>
                      <a:lnTo>
                        <a:pt x="42" y="25"/>
                      </a:lnTo>
                      <a:lnTo>
                        <a:pt x="55" y="15"/>
                      </a:lnTo>
                      <a:lnTo>
                        <a:pt x="62" y="20"/>
                      </a:lnTo>
                      <a:lnTo>
                        <a:pt x="70" y="17"/>
                      </a:lnTo>
                      <a:lnTo>
                        <a:pt x="72" y="9"/>
                      </a:lnTo>
                      <a:lnTo>
                        <a:pt x="80" y="7"/>
                      </a:lnTo>
                      <a:lnTo>
                        <a:pt x="78" y="1"/>
                      </a:lnTo>
                      <a:lnTo>
                        <a:pt x="89" y="5"/>
                      </a:lnTo>
                      <a:lnTo>
                        <a:pt x="98" y="3"/>
                      </a:lnTo>
                      <a:lnTo>
                        <a:pt x="103" y="24"/>
                      </a:lnTo>
                      <a:lnTo>
                        <a:pt x="110" y="30"/>
                      </a:lnTo>
                      <a:lnTo>
                        <a:pt x="116" y="30"/>
                      </a:lnTo>
                      <a:lnTo>
                        <a:pt x="119" y="17"/>
                      </a:lnTo>
                      <a:lnTo>
                        <a:pt x="117" y="11"/>
                      </a:lnTo>
                      <a:lnTo>
                        <a:pt x="119" y="1"/>
                      </a:lnTo>
                      <a:lnTo>
                        <a:pt x="122" y="0"/>
                      </a:lnTo>
                      <a:lnTo>
                        <a:pt x="127" y="12"/>
                      </a:lnTo>
                      <a:lnTo>
                        <a:pt x="132" y="15"/>
                      </a:lnTo>
                      <a:lnTo>
                        <a:pt x="135" y="27"/>
                      </a:lnTo>
                      <a:lnTo>
                        <a:pt x="140" y="43"/>
                      </a:lnTo>
                      <a:lnTo>
                        <a:pt x="147" y="47"/>
                      </a:lnTo>
                      <a:lnTo>
                        <a:pt x="156" y="59"/>
                      </a:lnTo>
                      <a:lnTo>
                        <a:pt x="157" y="65"/>
                      </a:lnTo>
                      <a:lnTo>
                        <a:pt x="165" y="72"/>
                      </a:lnTo>
                      <a:lnTo>
                        <a:pt x="168" y="85"/>
                      </a:lnTo>
                      <a:lnTo>
                        <a:pt x="168" y="95"/>
                      </a:lnTo>
                      <a:lnTo>
                        <a:pt x="165" y="111"/>
                      </a:lnTo>
                      <a:lnTo>
                        <a:pt x="157" y="121"/>
                      </a:lnTo>
                      <a:lnTo>
                        <a:pt x="155" y="134"/>
                      </a:lnTo>
                      <a:lnTo>
                        <a:pt x="155" y="145"/>
                      </a:lnTo>
                      <a:lnTo>
                        <a:pt x="147" y="147"/>
                      </a:lnTo>
                      <a:lnTo>
                        <a:pt x="140" y="154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8" name=""/>
                <p:cNvSpPr/>
                <p:nvPr/>
              </p:nvSpPr>
              <p:spPr>
                <a:xfrm>
                  <a:off x="8461440" y="5980320"/>
                  <a:ext cx="25200" cy="30240"/>
                </a:xfrm>
                <a:custGeom>
                  <a:avLst/>
                  <a:gdLst>
                    <a:gd name="GluePoint1X" fmla="*/ 8 w 17"/>
                    <a:gd name="GluePoint1Y" fmla="*/ 16 h 20"/>
                    <a:gd name="GluePoint2X" fmla="*/ 2 w 17"/>
                    <a:gd name="GluePoint2Y" fmla="*/ 13 h 20"/>
                    <a:gd name="GluePoint3X" fmla="*/ 2 w 17"/>
                    <a:gd name="GluePoint3Y" fmla="*/ 10 h 20"/>
                    <a:gd name="GluePoint4X" fmla="*/ 2 w 17"/>
                    <a:gd name="GluePoint4Y" fmla="*/ 8 h 20"/>
                    <a:gd name="GluePoint5X" fmla="*/ 1 w 17"/>
                    <a:gd name="GluePoint5Y" fmla="*/ 5 h 20"/>
                    <a:gd name="GluePoint6X" fmla="*/ 0 w 17"/>
                    <a:gd name="GluePoint6Y" fmla="*/ 0 h 20"/>
                    <a:gd name="GluePoint7X" fmla="*/ 2 w 17"/>
                    <a:gd name="GluePoint7Y" fmla="*/ 0 h 20"/>
                    <a:gd name="GluePoint8X" fmla="*/ 8 w 17"/>
                    <a:gd name="GluePoint8Y" fmla="*/ 2 h 20"/>
                    <a:gd name="GluePoint9X" fmla="*/ 11 w 17"/>
                    <a:gd name="GluePoint9Y" fmla="*/ 2 h 20"/>
                    <a:gd name="GluePoint10X" fmla="*/ 12 w 17"/>
                    <a:gd name="GluePoint10Y" fmla="*/ 2 h 20"/>
                    <a:gd name="GluePoint11X" fmla="*/ 16 w 17"/>
                    <a:gd name="GluePoint11Y" fmla="*/ 0 h 20"/>
                    <a:gd name="GluePoint12X" fmla="*/ 16 w 17"/>
                    <a:gd name="GluePoint12Y" fmla="*/ 8 h 20"/>
                    <a:gd name="GluePoint13X" fmla="*/ 14 w 17"/>
                    <a:gd name="GluePoint13Y" fmla="*/ 10 h 20"/>
                    <a:gd name="GluePoint14X" fmla="*/ 12 w 17"/>
                    <a:gd name="GluePoint14Y" fmla="*/ 13 h 20"/>
                    <a:gd name="GluePoint15X" fmla="*/ 12 w 17"/>
                    <a:gd name="GluePoint15Y" fmla="*/ 16 h 20"/>
                    <a:gd name="GluePoint16X" fmla="*/ 11 w 17"/>
                    <a:gd name="GluePoint16Y" fmla="*/ 16 h 20"/>
                    <a:gd name="GluePoint17X" fmla="*/ 11 w 17"/>
                    <a:gd name="GluePoint17Y" fmla="*/ 19 h 20"/>
                    <a:gd name="GluePoint18X" fmla="*/ 8 w 17"/>
                    <a:gd name="GluePoint18Y" fmla="*/ 16 h 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</a:cxnLst>
                  <a:rect l="l" t="t" r="r" b="b"/>
                  <a:pathLst>
                    <a:path w="17" h="20">
                      <a:moveTo>
                        <a:pt x="8" y="16"/>
                      </a:moveTo>
                      <a:lnTo>
                        <a:pt x="2" y="13"/>
                      </a:lnTo>
                      <a:lnTo>
                        <a:pt x="2" y="10"/>
                      </a:lnTo>
                      <a:lnTo>
                        <a:pt x="2" y="8"/>
                      </a:lnTo>
                      <a:lnTo>
                        <a:pt x="1" y="5"/>
                      </a:ln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8" y="2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6" y="0"/>
                      </a:lnTo>
                      <a:lnTo>
                        <a:pt x="16" y="8"/>
                      </a:lnTo>
                      <a:lnTo>
                        <a:pt x="14" y="10"/>
                      </a:lnTo>
                      <a:lnTo>
                        <a:pt x="12" y="13"/>
                      </a:lnTo>
                      <a:lnTo>
                        <a:pt x="12" y="16"/>
                      </a:lnTo>
                      <a:lnTo>
                        <a:pt x="11" y="16"/>
                      </a:lnTo>
                      <a:lnTo>
                        <a:pt x="11" y="19"/>
                      </a:lnTo>
                      <a:lnTo>
                        <a:pt x="8" y="16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-16560" rIns="90000" bIns="-1656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  <p:sp>
              <p:nvSpPr>
                <p:cNvPr id="29" name=""/>
                <p:cNvSpPr/>
                <p:nvPr/>
              </p:nvSpPr>
              <p:spPr>
                <a:xfrm>
                  <a:off x="7523280" y="5693040"/>
                  <a:ext cx="28440" cy="118800"/>
                </a:xfrm>
                <a:custGeom>
                  <a:avLst/>
                  <a:gdLst>
                    <a:gd name="GluePoint1X" fmla="*/ 2 w 19"/>
                    <a:gd name="GluePoint1Y" fmla="*/ 26 h 76"/>
                    <a:gd name="GluePoint2X" fmla="*/ 9 w 19"/>
                    <a:gd name="GluePoint2Y" fmla="*/ 20 h 76"/>
                    <a:gd name="GluePoint3X" fmla="*/ 14 w 19"/>
                    <a:gd name="GluePoint3Y" fmla="*/ 0 h 76"/>
                    <a:gd name="GluePoint4X" fmla="*/ 18 w 19"/>
                    <a:gd name="GluePoint4Y" fmla="*/ 30 h 76"/>
                    <a:gd name="GluePoint5X" fmla="*/ 12 w 19"/>
                    <a:gd name="GluePoint5Y" fmla="*/ 67 h 76"/>
                    <a:gd name="GluePoint6X" fmla="*/ 0 w 19"/>
                    <a:gd name="GluePoint6Y" fmla="*/ 75 h 76"/>
                    <a:gd name="GluePoint7X" fmla="*/ 0 w 19"/>
                    <a:gd name="GluePoint7Y" fmla="*/ 57 h 76"/>
                    <a:gd name="GluePoint8X" fmla="*/ 3 w 19"/>
                    <a:gd name="GluePoint8Y" fmla="*/ 45 h 76"/>
                    <a:gd name="GluePoint9X" fmla="*/ 2 w 19"/>
                    <a:gd name="GluePoint9Y" fmla="*/ 26 h 7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</a:cxnLst>
                  <a:rect l="l" t="t" r="r" b="b"/>
                  <a:pathLst>
                    <a:path w="19" h="76">
                      <a:moveTo>
                        <a:pt x="2" y="26"/>
                      </a:moveTo>
                      <a:lnTo>
                        <a:pt x="9" y="20"/>
                      </a:lnTo>
                      <a:lnTo>
                        <a:pt x="14" y="0"/>
                      </a:lnTo>
                      <a:lnTo>
                        <a:pt x="18" y="30"/>
                      </a:lnTo>
                      <a:lnTo>
                        <a:pt x="12" y="67"/>
                      </a:lnTo>
                      <a:lnTo>
                        <a:pt x="0" y="75"/>
                      </a:lnTo>
                      <a:lnTo>
                        <a:pt x="0" y="57"/>
                      </a:lnTo>
                      <a:lnTo>
                        <a:pt x="3" y="45"/>
                      </a:lnTo>
                      <a:lnTo>
                        <a:pt x="2" y="26"/>
                      </a:lnTo>
                    </a:path>
                  </a:pathLst>
                </a:custGeom>
                <a:solidFill>
                  <a:srgbClr val="FFFFFF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6800" rIns="90000" bIns="46800" anchor="ctr">
                  <a:noAutofit/>
                </a:bodyPr>
                <a:p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Times New Roman"/>
                  </a:endParaRPr>
                </a:p>
              </p:txBody>
            </p:sp>
          </p:grpSp>
        </p:grp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85800" y="285840"/>
            <a:ext cx="7770960" cy="11412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85800" y="1657080"/>
            <a:ext cx="7770960" cy="41130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t">
            <a:normAutofit lnSpcReduction="9999"/>
          </a:bodyPr>
          <a:lstStyle>
            <a:lvl1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343080" indent="-343080" algn="l">
              <a:spcBef>
                <a:spcPts val="814"/>
              </a:spcBef>
              <a:spcAft>
                <a:spcPts val="11"/>
              </a:spcAft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1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2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3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4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5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lvl="6" indent="-343080" algn="l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49280" algn="l"/>
                <a:tab pos="898560" algn="l"/>
                <a:tab pos="1347840" algn="l"/>
                <a:tab pos="1797120" algn="l"/>
                <a:tab pos="2246400" algn="l"/>
                <a:tab pos="2695680" algn="l"/>
                <a:tab pos="3144960" algn="l"/>
                <a:tab pos="3594240" algn="l"/>
                <a:tab pos="4043520" algn="l"/>
                <a:tab pos="449280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85800" y="6400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"/>
          </p:nvPr>
        </p:nvSpPr>
        <p:spPr>
          <a:xfrm>
            <a:off x="6553080" y="6399000"/>
            <a:ext cx="1903680" cy="45540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ctr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568FF7A-669B-4F3F-A989-6631C556970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676520" y="6438960"/>
            <a:ext cx="558144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Liang, Introduction to Java Programming, Eleventh Edition, (c) 2017 Pearson Education, Inc. All rights reserved.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9.emf"/><Relationship Id="rId3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10.emf"/><Relationship Id="rId5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5.bin"/><Relationship Id="rId2" Type="http://schemas.openxmlformats.org/officeDocument/2006/relationships/image" Target="../media/image9.emf"/><Relationship Id="rId3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6.bin"/><Relationship Id="rId2" Type="http://schemas.openxmlformats.org/officeDocument/2006/relationships/image" Target="../media/image9.emf"/><Relationship Id="rId3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7.bin"/><Relationship Id="rId2" Type="http://schemas.openxmlformats.org/officeDocument/2006/relationships/image" Target="../media/image9.emf"/><Relationship Id="rId3" Type="http://schemas.openxmlformats.org/officeDocument/2006/relationships/oleObject" Target="../embeddings/oleObject8.bin"/><Relationship Id="rId4" Type="http://schemas.openxmlformats.org/officeDocument/2006/relationships/image" Target="../media/image10.emf"/><Relationship Id="rId5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9.bin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0.bin"/><Relationship Id="rId2" Type="http://schemas.openxmlformats.org/officeDocument/2006/relationships/image" Target="../media/image12.emf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3.emf"/><Relationship Id="rId5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DBFF4C1-5E83-439C-A692-943E8C56B0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54120" y="58752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Chapter 8 Multidimensional Arrays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324C401-B0EB-4D15-8CEF-C58C2323F72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85800" y="0"/>
            <a:ext cx="7772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Motivations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23050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0" name=""/>
          <p:cNvGraphicFramePr/>
          <p:nvPr/>
        </p:nvGraphicFramePr>
        <p:xfrm>
          <a:off x="577800" y="2738520"/>
          <a:ext cx="7988400" cy="3654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1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77800" y="2738520"/>
                    <a:ext cx="7988400" cy="3654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2" name=""/>
          <p:cNvSpPr/>
          <p:nvPr/>
        </p:nvSpPr>
        <p:spPr>
          <a:xfrm>
            <a:off x="304920" y="1066680"/>
            <a:ext cx="8529480" cy="19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Thus far, you have used one-dimensional arrays to model linear collections of elements. You can use a two-dimensional array to represent a matrix or a table. For example, the following table that describes the distances between the cities can be represented using a two-dimensional array.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83F2A8D-5B8D-462A-A555-1C03F8E0F33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685800" y="0"/>
            <a:ext cx="7772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Motivations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23050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"/>
          <p:cNvPicPr/>
          <p:nvPr/>
        </p:nvPicPr>
        <p:blipFill>
          <a:blip r:embed="rId1"/>
          <a:stretch/>
        </p:blipFill>
        <p:spPr>
          <a:xfrm>
            <a:off x="1447920" y="2009880"/>
            <a:ext cx="6248160" cy="28382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255FAF5F-F101-4D9C-B815-57E32422952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228600"/>
            <a:ext cx="7772400" cy="4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Objectives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52280" y="855720"/>
            <a:ext cx="8991720" cy="55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give examples of representing data using two-dimensional arrays (§8.1).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declare variables for two-dimensional arrays, create arrays, and access array elements in a two-dimensional array using row and column indexes (§8.2).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program common operations for two-dimensional arrays (displaying arrays, summing all elements, finding the minimum and maximum elements, and random shuffling) (§8.3).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pass two-dimensional arrays to methods (§8.4).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write a program for grading multiple-choice questions using two-dimensional arrays (§8.5).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solve the closest-pair problem using two-dimensional arrays (§8.6).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check a Sudoku solution using two-dimensional arrays (§8.7).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3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To use multidimensional arrays (§8.8).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3D4DD7D1-283B-46A1-96B4-6046B47EC3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70000" y="357120"/>
            <a:ext cx="856440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Declare/Create Two-dimensional Arrays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309600" y="1432080"/>
            <a:ext cx="8602560" cy="44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// Declare array ref var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dataType[][] refVar;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// Create array and assign its reference to variable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refVar = new dataType[10][10];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// Combine declaration and creation in one statement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dataType[][] refVar = new dataType[10][10];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// Alternative syntax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dataType refVar[][] = new dataType[10][10];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02BC5F7-0D2E-4799-8D5A-B3491185678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152280"/>
            <a:ext cx="800100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Declaring Variables of Two-dimensional Arrays and Creating Two-dimensional Arrays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52280" y="2057400"/>
            <a:ext cx="89917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int[][] matrix = new int[10][10];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or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int matrix[][] = new int[10][10];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matrix[0][0] = 3;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for (int i = 0; i &lt; matrix.length; i++)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  for (int j = 0; j &lt; matrix[i].length; j++)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    matrix[i][j] = (int)(Math.random() * 1000);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Microsoft YaHei"/>
              </a:rPr>
              <a:t>double[][] x;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FEBFB18-BD04-45B0-AFB9-BC78DB82D68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57200" y="0"/>
            <a:ext cx="853452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Two-dimensional Array Illustration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2324160" y="247644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6108840" y="5234040"/>
            <a:ext cx="274320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6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array.length? 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26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array[0].length?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70040" y="5195880"/>
            <a:ext cx="274320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spAutoFit/>
          </a:bodyPr>
          <a:p>
            <a:pPr>
              <a:spcBef>
                <a:spcPts val="126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matrix.length? 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126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matrix[0].length?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"/>
          <p:cNvPicPr/>
          <p:nvPr/>
        </p:nvPicPr>
        <p:blipFill>
          <a:blip r:embed="rId1"/>
          <a:stretch/>
        </p:blipFill>
        <p:spPr>
          <a:xfrm>
            <a:off x="0" y="1179360"/>
            <a:ext cx="9128160" cy="39164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9517A5C4-4B7F-44CE-BFE9-A8664E1331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52280" y="228600"/>
            <a:ext cx="883944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Declaring, Creating, and Initializing Using Shorthand Notations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28600" y="1523880"/>
            <a:ext cx="876312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You can also use an array initializer to declare, create and initialize a two-dimensional array. For example,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3809880" y="3124080"/>
            <a:ext cx="5178600" cy="1905120"/>
          </a:xfrm>
          <a:prstGeom prst="rect">
            <a:avLst/>
          </a:prstGeom>
          <a:noFill/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4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int[][] array = new int[4][3];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array[0][0] = 1; array[0][1] = 2; array[0][2] = 3;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array[1][0] = 4; array[1][1] = 5; array[1][2] = 6;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array[2][0] = 7; array[2][1] = 8; array[2][2] = 9;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array[3][0] = 10; array[3][1] = 11; array[3][2] = 12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;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Times New Roman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228600" y="2971800"/>
            <a:ext cx="1905120" cy="2286000"/>
          </a:xfrm>
          <a:prstGeom prst="rect">
            <a:avLst/>
          </a:prstGeom>
          <a:noFill/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int[][] array = {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{1, 2, 3},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{4, 5, 6},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{7, 8, 9},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{10, 11, 12}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5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};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133720" y="4191120"/>
            <a:ext cx="1600200" cy="1440"/>
          </a:xfrm>
          <a:prstGeom prst="line">
            <a:avLst/>
          </a:prstGeom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2438280" y="3657600"/>
            <a:ext cx="13716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Same 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133720" y="4114800"/>
            <a:ext cx="1600200" cy="1440"/>
          </a:xfrm>
          <a:prstGeom prst="line">
            <a:avLst/>
          </a:prstGeom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H="1">
            <a:off x="1906560" y="1905120"/>
            <a:ext cx="2743200" cy="1752480"/>
          </a:xfrm>
          <a:prstGeom prst="line">
            <a:avLst/>
          </a:prstGeom>
          <a:ln w="12600">
            <a:solidFill>
              <a:srgbClr val="FF0000"/>
            </a:solidFill>
            <a:miter/>
            <a:tailEnd len="sm" type="stealth" w="sm"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9F96BDA-C946-4F01-A67E-C239760F376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09480" y="380880"/>
            <a:ext cx="77724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Lengths of Two-dimensional Arrays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467080" y="279072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85800" y="1657440"/>
            <a:ext cx="655308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int[][] x = new int[3][4];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117360" y="2471760"/>
            <a:ext cx="8909280" cy="259884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9A3DA3AC-3BEA-4F4C-A300-FE2F826B7D8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09480" y="380880"/>
            <a:ext cx="77724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Lengths of Two-dimensional Arrays, cont.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685800" y="1657440"/>
            <a:ext cx="3352680" cy="314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int[][] array = {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{1, 2, 3},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{4, 5, 6},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{7, 8, 9},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{10, 11, 12}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};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029200" y="1752480"/>
            <a:ext cx="3352680" cy="283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array.length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array[0].length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array[1].length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array[2].length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array[3].length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838080" y="5181480"/>
            <a:ext cx="8305920" cy="62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array[4].length      ArrayIndexOutOfBoundsException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349333ED-6DFE-4B4D-B28B-6FC26F294EB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09480" y="380880"/>
            <a:ext cx="77724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Ragged Arrays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228600" y="1295280"/>
            <a:ext cx="8686800" cy="51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Each row in a two-dimensional array is itself an array. So, the rows can have different lengths. Such an array is known as </a:t>
            </a:r>
            <a:r>
              <a:rPr lang="en-US" sz="28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ragged array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For example,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int[][] matrix = {   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{1, 2, 3, 4, 5},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{2, 3, 4, 5},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{3, 4, 5},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{4, 5},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{5}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};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886200" y="2971800"/>
            <a:ext cx="4648320" cy="335268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matrix.length is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matrix[0].length is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matrix[1].length is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matrix[2].length is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matrix[3].length is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matrix[4].length is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9EAB45CC-E0EC-43E6-9705-AF85457E55C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609480" y="380880"/>
            <a:ext cx="777240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Ragged Arrays, cont.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2585880" y="27669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27669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" name=""/>
          <p:cNvPicPr/>
          <p:nvPr/>
        </p:nvPicPr>
        <p:blipFill>
          <a:blip r:embed="rId1"/>
          <a:stretch/>
        </p:blipFill>
        <p:spPr>
          <a:xfrm>
            <a:off x="270000" y="1547640"/>
            <a:ext cx="8475480" cy="3354480"/>
          </a:xfrm>
          <a:prstGeom prst="rect">
            <a:avLst/>
          </a:prstGeom>
          <a:noFill/>
          <a:ln w="0">
            <a:noFill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3568CA80-2549-4442-B950-B05DAE2D7A8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Processing Two-Dimensional Arrays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309600" y="1432080"/>
            <a:ext cx="8682120" cy="457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201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See the examples in the text.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(Initializing arrays with input values)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(Printing arrays)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(Summing all elements)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(Summing all elements by column)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(Which row has the largest sum)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(Finding the smallest index of the largest element)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1826"/>
              </a:spcBef>
              <a:spcAft>
                <a:spcPts val="11"/>
              </a:spcAft>
              <a:buClr>
                <a:srgbClr val="000000"/>
              </a:buClr>
              <a:buSzPct val="75000"/>
              <a:buFont typeface="Times New Roman"/>
              <a:buAutoNum type="arabicPeriod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(</a:t>
            </a:r>
            <a:r>
              <a:rPr lang="en-US" sz="29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Random shuffling</a:t>
            </a: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) 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C8180EB-39AB-4705-AD61-A813AB8BF8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Initializing arrays with input values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55520" y="1778040"/>
            <a:ext cx="8794800" cy="32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java.util.Scanner input = new Scanner(System.in);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System.out.println("Enter " + matrix.length + " rows and " +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matrix[0].length + " columns: ");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row = 0; row &lt; matrix.length; row++)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column = 0; column &lt; matrix[row].length; column++)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matrix[row][column] = input.nextInt();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0FBBEA3-3229-472B-9D30-7EFAD3A3117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Initializing arrays with random values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55520" y="1778040"/>
            <a:ext cx="8836200" cy="20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row = 0; row &lt; matrix.length; row++)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column = 0; column &lt; matrix[row].length; column++)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matrix[row][column] = (int)(Math.random() * 100);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BF471131-13D3-4DB0-AAAF-B395DF5930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Printing arrays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55520" y="1778040"/>
            <a:ext cx="883296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row = 0; row &lt; matrix.length; row++)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column = 0; column &lt; matrix[row].length; column++)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System.out.print(matrix[row][column] + " ");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System.out.println();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8879A16-55FE-4B6B-BFAF-07094B59F8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Summing all elements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55520" y="1778040"/>
            <a:ext cx="883296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int total = 0;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row = 0; row &lt; matrix.length; row++)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column = 0; column &lt; matrix[row].length; column++)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total += matrix[row][column];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185FD94-49E2-4E16-B495-6411D3503E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Summing elements by column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55520" y="1778040"/>
            <a:ext cx="8718480" cy="31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column = 0; column &lt; matrix[0].length; column++) {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int total = 0;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row = 0; row &lt; matrix.length; row++)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total += matrix[row][column];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System.out.println("Sum for column " + column + " is " 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+ total);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689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C26CC7A-2858-46E2-8E09-0D64505C8B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09600" y="380880"/>
            <a:ext cx="8564400" cy="78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Random shuffling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5520" y="1355760"/>
            <a:ext cx="8718480" cy="506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for (int i = 0; i &lt; matrix.length; i++) {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for (int j = 0; j &lt; matrix[i].length; j++) {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int i1 = (int)(Math.random() * matrix.length);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int j1 = (int)(Math.random() * matrix[i].length);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// Swap matrix[i][j] with matrix[i1][j1]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int temp = matrix[i][j];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matrix[i][j] = matrix[i1][j1];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  matrix[i1][j1] = temp;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 }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09480" indent="-609480">
              <a:lnSpc>
                <a:spcPct val="80000"/>
              </a:lnSpc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}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6B82EC2-B47B-4D3A-9EB6-AE8F0570F07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93680" y="380880"/>
            <a:ext cx="875664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Passing Tow-Dimensional Arrays to Methods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227400" y="4119480"/>
            <a:ext cx="3225960" cy="38124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PassTwoDimensionalArray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6591240" y="4119480"/>
            <a:ext cx="698400" cy="381240"/>
          </a:xfrm>
          <a:custGeom>
            <a:avLst/>
            <a:gdLst>
              <a:gd name="textAreaLeft" fmla="*/ 24480 w 698400"/>
              <a:gd name="textAreaRight" fmla="*/ 673920 w 698400"/>
              <a:gd name="textAreaTop" fmla="*/ 24480 h 381240"/>
              <a:gd name="textAreaBottom" fmla="*/ 356760 h 381240"/>
            </a:gdLst>
            <a:ahLst/>
            <a:cxnLst/>
            <a:rect l="textAreaLeft" t="textAreaTop" r="textAreaRight" b="textAreaBottom"/>
            <a:pathLst>
              <a:path w="39552" h="21600">
                <a:moveTo>
                  <a:pt x="0" y="0"/>
                </a:moveTo>
                <a:lnTo>
                  <a:pt x="39552" y="0"/>
                </a:lnTo>
                <a:lnTo>
                  <a:pt x="39552" y="21600"/>
                </a:lnTo>
                <a:lnTo>
                  <a:pt x="0" y="21600"/>
                </a:lnTo>
                <a:close/>
              </a:path>
              <a:path fill="lightenLess" w="39552" h="21600">
                <a:moveTo>
                  <a:pt x="0" y="0"/>
                </a:moveTo>
                <a:lnTo>
                  <a:pt x="39552" y="0"/>
                </a:lnTo>
                <a:lnTo>
                  <a:pt x="38153" y="1400"/>
                </a:lnTo>
                <a:lnTo>
                  <a:pt x="1400" y="1400"/>
                </a:lnTo>
                <a:close/>
              </a:path>
              <a:path fill="darken" w="39552" h="21600">
                <a:moveTo>
                  <a:pt x="39552" y="0"/>
                </a:moveTo>
                <a:lnTo>
                  <a:pt x="39552" y="21600"/>
                </a:lnTo>
                <a:lnTo>
                  <a:pt x="38153" y="20200"/>
                </a:lnTo>
                <a:lnTo>
                  <a:pt x="38153" y="1400"/>
                </a:lnTo>
                <a:close/>
              </a:path>
              <a:path fill="darkenLess" w="39552" h="21600">
                <a:moveTo>
                  <a:pt x="39552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153" y="20200"/>
                </a:lnTo>
                <a:close/>
              </a:path>
              <a:path fill="lighten" w="39552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0342B1BB-84E6-4E12-8E76-E9E4F492C82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15960" y="395280"/>
            <a:ext cx="777240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Problem: Grading Multiple-Choice Test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340240" y="1905120"/>
            <a:ext cx="365148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spcBef>
                <a:spcPts val="86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Objective: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 a program that grades multiple-choice test</a:t>
            </a: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193680" y="2471760"/>
            <a:ext cx="5033880" cy="280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193680" y="1752480"/>
            <a:ext cx="27781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Students’ answer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"/>
          <p:cNvPicPr/>
          <p:nvPr/>
        </p:nvPicPr>
        <p:blipFill>
          <a:blip r:embed="rId2"/>
          <a:stretch/>
        </p:blipFill>
        <p:spPr>
          <a:xfrm>
            <a:off x="5238720" y="3873600"/>
            <a:ext cx="3695760" cy="131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3862440" y="5656320"/>
            <a:ext cx="322560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PassTwoDimensionalArray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224840" y="5656320"/>
            <a:ext cx="699840" cy="380880"/>
          </a:xfrm>
          <a:custGeom>
            <a:avLst/>
            <a:gdLst>
              <a:gd name="textAreaLeft" fmla="*/ 24480 w 699840"/>
              <a:gd name="textAreaRight" fmla="*/ 675360 w 69984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671" h="21600">
                <a:moveTo>
                  <a:pt x="0" y="0"/>
                </a:moveTo>
                <a:lnTo>
                  <a:pt x="39671" y="0"/>
                </a:lnTo>
                <a:lnTo>
                  <a:pt x="39671" y="21600"/>
                </a:lnTo>
                <a:lnTo>
                  <a:pt x="0" y="21600"/>
                </a:lnTo>
                <a:close/>
              </a:path>
              <a:path fill="lightenLess" w="39671" h="21600">
                <a:moveTo>
                  <a:pt x="0" y="0"/>
                </a:moveTo>
                <a:lnTo>
                  <a:pt x="39671" y="0"/>
                </a:lnTo>
                <a:lnTo>
                  <a:pt x="38271" y="1400"/>
                </a:lnTo>
                <a:lnTo>
                  <a:pt x="1400" y="1400"/>
                </a:lnTo>
                <a:close/>
              </a:path>
              <a:path fill="darken" w="39671" h="21600">
                <a:moveTo>
                  <a:pt x="39671" y="0"/>
                </a:moveTo>
                <a:lnTo>
                  <a:pt x="39671" y="21600"/>
                </a:lnTo>
                <a:lnTo>
                  <a:pt x="38271" y="20200"/>
                </a:lnTo>
                <a:lnTo>
                  <a:pt x="38271" y="1400"/>
                </a:lnTo>
                <a:close/>
              </a:path>
              <a:path fill="darkenLess" w="39671" h="21600">
                <a:moveTo>
                  <a:pt x="39671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271" y="20200"/>
                </a:lnTo>
                <a:close/>
              </a:path>
              <a:path fill="lighten" w="39671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925D5A4-2CE9-4681-957C-936C40630B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9200" y="165240"/>
            <a:ext cx="660564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Problem: Finding Two Points Nearest to Each Other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267480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41832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358920" y="1754280"/>
            <a:ext cx="8591400" cy="405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5032440" y="1322280"/>
            <a:ext cx="418608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90000"/>
              </a:lnSpc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https://liveexample.pearsoncmg.com/dsanimation/ClosestPaireBook.html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7826400" y="2379600"/>
            <a:ext cx="517680" cy="576360"/>
          </a:xfrm>
          <a:custGeom>
            <a:avLst/>
            <a:gdLst>
              <a:gd name="textAreaLeft" fmla="*/ 33480 w 517680"/>
              <a:gd name="textAreaRight" fmla="*/ 484200 w 517680"/>
              <a:gd name="textAreaTop" fmla="*/ 33480 h 576360"/>
              <a:gd name="textAreaBottom" fmla="*/ 542880 h 576360"/>
            </a:gdLst>
            <a:ahLst/>
            <a:cxnLst/>
            <a:rect l="textAreaLeft" t="textAreaTop" r="textAreaRight" b="textAreaBottom"/>
            <a:pathLst>
              <a:path w="21600" h="24047">
                <a:moveTo>
                  <a:pt x="0" y="0"/>
                </a:moveTo>
                <a:lnTo>
                  <a:pt x="21600" y="0"/>
                </a:lnTo>
                <a:lnTo>
                  <a:pt x="21600" y="24047"/>
                </a:lnTo>
                <a:lnTo>
                  <a:pt x="0" y="24047"/>
                </a:lnTo>
                <a:close/>
              </a:path>
              <a:path fill="lightenLess" w="21600" h="24047">
                <a:moveTo>
                  <a:pt x="0" y="0"/>
                </a:moveTo>
                <a:lnTo>
                  <a:pt x="21600" y="0"/>
                </a:lnTo>
                <a:lnTo>
                  <a:pt x="20200" y="1400"/>
                </a:lnTo>
                <a:lnTo>
                  <a:pt x="1400" y="1400"/>
                </a:lnTo>
                <a:close/>
              </a:path>
              <a:path fill="darken" w="21600" h="24047">
                <a:moveTo>
                  <a:pt x="21600" y="0"/>
                </a:moveTo>
                <a:lnTo>
                  <a:pt x="21600" y="24047"/>
                </a:lnTo>
                <a:lnTo>
                  <a:pt x="20200" y="22647"/>
                </a:lnTo>
                <a:lnTo>
                  <a:pt x="20200" y="1400"/>
                </a:lnTo>
                <a:close/>
              </a:path>
              <a:path fill="darkenLess" w="21600" h="24047">
                <a:moveTo>
                  <a:pt x="21600" y="24047"/>
                </a:moveTo>
                <a:lnTo>
                  <a:pt x="0" y="24047"/>
                </a:lnTo>
                <a:lnTo>
                  <a:pt x="1400" y="22647"/>
                </a:lnTo>
                <a:lnTo>
                  <a:pt x="20200" y="22647"/>
                </a:lnTo>
                <a:close/>
              </a:path>
              <a:path fill="lighten" w="21600" h="24047">
                <a:moveTo>
                  <a:pt x="0" y="24047"/>
                </a:moveTo>
                <a:lnTo>
                  <a:pt x="0" y="0"/>
                </a:lnTo>
                <a:lnTo>
                  <a:pt x="1400" y="1400"/>
                </a:lnTo>
                <a:lnTo>
                  <a:pt x="1400" y="22647"/>
                </a:lnTo>
                <a:close/>
              </a:path>
              <a:path fill="darkenLess" w="21600" h="24047">
                <a:moveTo>
                  <a:pt x="5273" y="5208"/>
                </a:moveTo>
                <a:lnTo>
                  <a:pt x="12271" y="5208"/>
                </a:lnTo>
                <a:lnTo>
                  <a:pt x="16327" y="8707"/>
                </a:lnTo>
                <a:lnTo>
                  <a:pt x="16327" y="18838"/>
                </a:lnTo>
                <a:lnTo>
                  <a:pt x="5273" y="18838"/>
                </a:lnTo>
                <a:close/>
              </a:path>
              <a:path fill="darken" w="21600" h="24047">
                <a:moveTo>
                  <a:pt x="12271" y="5208"/>
                </a:moveTo>
                <a:lnTo>
                  <a:pt x="16327" y="8707"/>
                </a:lnTo>
                <a:lnTo>
                  <a:pt x="12271" y="8707"/>
                </a:lnTo>
                <a:close/>
              </a:path>
            </a:pathLst>
          </a:cu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4281480" y="5924520"/>
            <a:ext cx="322596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PassTwoDimensionalArray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7643880" y="5924520"/>
            <a:ext cx="700200" cy="380880"/>
          </a:xfrm>
          <a:custGeom>
            <a:avLst/>
            <a:gdLst>
              <a:gd name="textAreaLeft" fmla="*/ 24480 w 700200"/>
              <a:gd name="textAreaRight" fmla="*/ 675720 w 70020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692" h="21600">
                <a:moveTo>
                  <a:pt x="0" y="0"/>
                </a:moveTo>
                <a:lnTo>
                  <a:pt x="39692" y="0"/>
                </a:lnTo>
                <a:lnTo>
                  <a:pt x="39692" y="21600"/>
                </a:lnTo>
                <a:lnTo>
                  <a:pt x="0" y="21600"/>
                </a:lnTo>
                <a:close/>
              </a:path>
              <a:path fill="lightenLess" w="39692" h="21600">
                <a:moveTo>
                  <a:pt x="0" y="0"/>
                </a:moveTo>
                <a:lnTo>
                  <a:pt x="39692" y="0"/>
                </a:lnTo>
                <a:lnTo>
                  <a:pt x="38292" y="1400"/>
                </a:lnTo>
                <a:lnTo>
                  <a:pt x="1400" y="1400"/>
                </a:lnTo>
                <a:close/>
              </a:path>
              <a:path fill="darken" w="39692" h="21600">
                <a:moveTo>
                  <a:pt x="39692" y="0"/>
                </a:moveTo>
                <a:lnTo>
                  <a:pt x="39692" y="21600"/>
                </a:lnTo>
                <a:lnTo>
                  <a:pt x="38292" y="20200"/>
                </a:lnTo>
                <a:lnTo>
                  <a:pt x="38292" y="1400"/>
                </a:lnTo>
                <a:close/>
              </a:path>
              <a:path fill="darkenLess" w="39692" h="21600">
                <a:moveTo>
                  <a:pt x="39692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292" y="20200"/>
                </a:lnTo>
                <a:close/>
              </a:path>
              <a:path fill="lighten" w="39692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DC91917-099F-45DB-8C2D-F7D9A1F023E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85800" y="228600"/>
            <a:ext cx="77724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What is Sudoku?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56" name=""/>
          <p:cNvGraphicFramePr/>
          <p:nvPr/>
        </p:nvGraphicFramePr>
        <p:xfrm>
          <a:off x="193680" y="1623960"/>
          <a:ext cx="3252960" cy="3303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57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3680" y="1623960"/>
                    <a:ext cx="3252960" cy="330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58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803760" y="1751040"/>
            <a:ext cx="5146560" cy="10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90000"/>
              </a:lnSpc>
              <a:spcBef>
                <a:spcPts val="7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https://liveexample.pearsoncmg.com/dsanimation/Sudoku.html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027320" y="2698920"/>
            <a:ext cx="517680" cy="576000"/>
          </a:xfrm>
          <a:custGeom>
            <a:avLst/>
            <a:gdLst>
              <a:gd name="textAreaLeft" fmla="*/ 33480 w 517680"/>
              <a:gd name="textAreaRight" fmla="*/ 484200 w 517680"/>
              <a:gd name="textAreaTop" fmla="*/ 33480 h 576000"/>
              <a:gd name="textAreaBottom" fmla="*/ 542520 h 576000"/>
            </a:gdLst>
            <a:ahLst/>
            <a:cxnLst/>
            <a:rect l="textAreaLeft" t="textAreaTop" r="textAreaRight" b="textAreaBottom"/>
            <a:pathLst>
              <a:path w="21600" h="24032">
                <a:moveTo>
                  <a:pt x="0" y="0"/>
                </a:moveTo>
                <a:lnTo>
                  <a:pt x="21600" y="0"/>
                </a:lnTo>
                <a:lnTo>
                  <a:pt x="21600" y="24032"/>
                </a:lnTo>
                <a:lnTo>
                  <a:pt x="0" y="24032"/>
                </a:lnTo>
                <a:close/>
              </a:path>
              <a:path fill="lightenLess" w="21600" h="24032">
                <a:moveTo>
                  <a:pt x="0" y="0"/>
                </a:moveTo>
                <a:lnTo>
                  <a:pt x="21600" y="0"/>
                </a:lnTo>
                <a:lnTo>
                  <a:pt x="20200" y="1400"/>
                </a:lnTo>
                <a:lnTo>
                  <a:pt x="1400" y="1400"/>
                </a:lnTo>
                <a:close/>
              </a:path>
              <a:path fill="darken" w="21600" h="24032">
                <a:moveTo>
                  <a:pt x="21600" y="0"/>
                </a:moveTo>
                <a:lnTo>
                  <a:pt x="21600" y="24032"/>
                </a:lnTo>
                <a:lnTo>
                  <a:pt x="20200" y="22632"/>
                </a:lnTo>
                <a:lnTo>
                  <a:pt x="20200" y="1400"/>
                </a:lnTo>
                <a:close/>
              </a:path>
              <a:path fill="darkenLess" w="21600" h="24032">
                <a:moveTo>
                  <a:pt x="21600" y="24032"/>
                </a:moveTo>
                <a:lnTo>
                  <a:pt x="0" y="24032"/>
                </a:lnTo>
                <a:lnTo>
                  <a:pt x="1400" y="22632"/>
                </a:lnTo>
                <a:lnTo>
                  <a:pt x="20200" y="22632"/>
                </a:lnTo>
                <a:close/>
              </a:path>
              <a:path fill="lighten" w="21600" h="24032">
                <a:moveTo>
                  <a:pt x="0" y="24032"/>
                </a:moveTo>
                <a:lnTo>
                  <a:pt x="0" y="0"/>
                </a:lnTo>
                <a:lnTo>
                  <a:pt x="1400" y="1400"/>
                </a:lnTo>
                <a:lnTo>
                  <a:pt x="1400" y="22632"/>
                </a:lnTo>
                <a:close/>
              </a:path>
              <a:path fill="darkenLess" w="21600" h="24032">
                <a:moveTo>
                  <a:pt x="5273" y="5201"/>
                </a:moveTo>
                <a:lnTo>
                  <a:pt x="12271" y="5201"/>
                </a:lnTo>
                <a:lnTo>
                  <a:pt x="16327" y="8700"/>
                </a:lnTo>
                <a:lnTo>
                  <a:pt x="16327" y="18831"/>
                </a:lnTo>
                <a:lnTo>
                  <a:pt x="5273" y="18831"/>
                </a:lnTo>
                <a:close/>
              </a:path>
              <a:path fill="darken" w="21600" h="24032">
                <a:moveTo>
                  <a:pt x="12271" y="5201"/>
                </a:moveTo>
                <a:lnTo>
                  <a:pt x="16327" y="8700"/>
                </a:lnTo>
                <a:lnTo>
                  <a:pt x="12271" y="8700"/>
                </a:lnTo>
                <a:close/>
              </a:path>
            </a:pathLst>
          </a:cu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6B422158-2234-4DAE-90CA-B799A532EA6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685800" y="28584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Every row contains the numbers 1 to 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66" name=""/>
          <p:cNvGraphicFramePr/>
          <p:nvPr/>
        </p:nvGraphicFramePr>
        <p:xfrm>
          <a:off x="193680" y="1623960"/>
          <a:ext cx="3252960" cy="3303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67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3680" y="1623960"/>
                    <a:ext cx="3252960" cy="330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68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69" name=""/>
          <p:cNvGraphicFramePr/>
          <p:nvPr/>
        </p:nvGraphicFramePr>
        <p:xfrm>
          <a:off x="4726080" y="1585800"/>
          <a:ext cx="3336840" cy="33782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70" name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726080" y="1585800"/>
                    <a:ext cx="3336840" cy="33782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pSp>
        <p:nvGrpSpPr>
          <p:cNvPr id="171" name=""/>
          <p:cNvGrpSpPr/>
          <p:nvPr/>
        </p:nvGrpSpPr>
        <p:grpSpPr>
          <a:xfrm>
            <a:off x="4341960" y="1930320"/>
            <a:ext cx="3914640" cy="2687760"/>
            <a:chOff x="4341960" y="1930320"/>
            <a:chExt cx="3914640" cy="2687760"/>
          </a:xfrm>
        </p:grpSpPr>
        <p:sp>
          <p:nvSpPr>
            <p:cNvPr id="172" name=""/>
            <p:cNvSpPr/>
            <p:nvPr/>
          </p:nvSpPr>
          <p:spPr>
            <a:xfrm>
              <a:off x="4379760" y="1930320"/>
              <a:ext cx="387684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4379760" y="2238120"/>
              <a:ext cx="387684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4341960" y="2584080"/>
              <a:ext cx="387648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4341960" y="2891880"/>
              <a:ext cx="387648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6" name=""/>
            <p:cNvSpPr/>
            <p:nvPr/>
          </p:nvSpPr>
          <p:spPr>
            <a:xfrm>
              <a:off x="4379760" y="3274200"/>
              <a:ext cx="387684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"/>
            <p:cNvSpPr/>
            <p:nvPr/>
          </p:nvSpPr>
          <p:spPr>
            <a:xfrm>
              <a:off x="4379760" y="3582000"/>
              <a:ext cx="387684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4341960" y="3927960"/>
              <a:ext cx="387648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4341960" y="4235760"/>
              <a:ext cx="387648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4341960" y="4618080"/>
              <a:ext cx="3876480" cy="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0" rIns="90000" bIns="-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4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dur="indefinite" presetID="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CD8D71AD-7546-465F-AF86-2CF6998607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685800" y="28584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Every column contains the numbers 1 to 9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6" name=""/>
          <p:cNvGraphicFramePr/>
          <p:nvPr/>
        </p:nvGraphicFramePr>
        <p:xfrm>
          <a:off x="193680" y="1623960"/>
          <a:ext cx="3252960" cy="3303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87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3680" y="1623960"/>
                    <a:ext cx="3252960" cy="330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8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4726080" y="1585800"/>
            <a:ext cx="3336840" cy="33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725720" y="15858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91" name=""/>
          <p:cNvGrpSpPr/>
          <p:nvPr/>
        </p:nvGrpSpPr>
        <p:grpSpPr>
          <a:xfrm>
            <a:off x="4897440" y="1757520"/>
            <a:ext cx="2989440" cy="3054240"/>
            <a:chOff x="4897440" y="1757520"/>
            <a:chExt cx="2989440" cy="3054240"/>
          </a:xfrm>
        </p:grpSpPr>
        <p:sp>
          <p:nvSpPr>
            <p:cNvPr id="192" name=""/>
            <p:cNvSpPr/>
            <p:nvPr/>
          </p:nvSpPr>
          <p:spPr>
            <a:xfrm>
              <a:off x="4897440" y="1757520"/>
              <a:ext cx="2989440" cy="3054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4897440" y="1757520"/>
              <a:ext cx="2989440" cy="3054240"/>
            </a:xfrm>
            <a:prstGeom prst="rect">
              <a:avLst/>
            </a:prstGeom>
            <a:noFill/>
            <a:ln cap="rnd" w="30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4" name=""/>
          <p:cNvSpPr/>
          <p:nvPr/>
        </p:nvSpPr>
        <p:spPr>
          <a:xfrm>
            <a:off x="5645160" y="180504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6006960" y="1805040"/>
            <a:ext cx="1047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668196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699300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735660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7667640" y="180504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4920840" y="1806480"/>
            <a:ext cx="710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5    3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564480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748480" y="18064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600696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6113160" y="180648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7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668160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6784200" y="1806480"/>
            <a:ext cx="152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6940080" y="18064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99264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095960" y="18064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735624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7459560" y="18064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766728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770600" y="18064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5334120" y="213048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64516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6993000" y="213048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30404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766764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4920840" y="213192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533376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5437080" y="21319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64480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5749560" y="2131920"/>
            <a:ext cx="1166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1    9     5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940080" y="21319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699264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7095960" y="21319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30368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7407360" y="21319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766728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7770600" y="21319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022720" y="24541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6006960" y="24541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6318360" y="24541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6681960" y="24541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6993000" y="24541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667640" y="24541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491940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497016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02272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126040" y="2454120"/>
            <a:ext cx="862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9    8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600696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111720" y="2454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631800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423120" y="2454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68160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784920" y="2454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699264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097400" y="245412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766728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777060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33412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645160" y="27957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6006960" y="2795760"/>
            <a:ext cx="1047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668196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699300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7304040" y="27957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4920840" y="279720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8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533376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543708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564480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748480" y="279720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600696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6111360" y="2797200"/>
            <a:ext cx="507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6629040" y="27972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668160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678492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99264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709596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730368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7408440" y="279720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7770600" y="27972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5334120" y="31543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5645160" y="31543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6318360" y="31543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6993000" y="31543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7304040" y="31543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4920840" y="315756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4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33376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437080" y="31575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564480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749560" y="315756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8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31800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424200" y="315756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3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699264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7095960" y="31575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730368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7407000" y="31575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7458840" y="3157560"/>
            <a:ext cx="304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7770600" y="31575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33412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645160" y="3513240"/>
            <a:ext cx="10332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6006960" y="3513240"/>
            <a:ext cx="1047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68196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99300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304040" y="3513240"/>
            <a:ext cx="10332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920840" y="351468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7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33376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43708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564480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5748480" y="35146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00696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6113160" y="351468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2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668160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678492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699264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709596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730368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7408440" y="351468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7770600" y="35146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502272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564516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6006960" y="3840120"/>
            <a:ext cx="1047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318360" y="3840120"/>
            <a:ext cx="1047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668196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699300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735660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766764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49194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02272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125680" y="3840120"/>
            <a:ext cx="507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56448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574848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00696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11172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63180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642312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66816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678492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699264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709596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735624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745956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766728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7770600" y="3840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5022720" y="41799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33412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5645160" y="41799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699300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735660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91940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502272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5126040" y="41799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533376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5437080" y="41799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564480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749560" y="4179960"/>
            <a:ext cx="1166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4    1     9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940080" y="41799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699264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7095960" y="417996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735624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7458840" y="4179960"/>
            <a:ext cx="304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7770600" y="41799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5022720" y="4521240"/>
            <a:ext cx="10332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533412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645160" y="4521240"/>
            <a:ext cx="10332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6006960" y="4521240"/>
            <a:ext cx="1047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668196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99300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49194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502272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512604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533376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543708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56448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748480" y="452916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600696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611172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6317640" y="452916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66816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678492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699264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7095600" y="4529160"/>
            <a:ext cx="659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7    9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7770600" y="45291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5208480" y="1757520"/>
            <a:ext cx="180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5537160" y="1757520"/>
            <a:ext cx="180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5883120" y="1757520"/>
            <a:ext cx="1800" cy="303840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 flipH="1">
            <a:off x="6178680" y="1757520"/>
            <a:ext cx="1728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654048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6540480" y="1757520"/>
            <a:ext cx="144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6867360" y="1757520"/>
            <a:ext cx="180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721368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7213680" y="1757520"/>
            <a:ext cx="1440" cy="305568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7542360" y="1757520"/>
            <a:ext cx="144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788832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6867360" y="1757520"/>
            <a:ext cx="1800" cy="3055680"/>
          </a:xfrm>
          <a:prstGeom prst="line">
            <a:avLst/>
          </a:prstGeom>
          <a:ln w="22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 flipH="1">
            <a:off x="4881600" y="2050920"/>
            <a:ext cx="300816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 flipH="1">
            <a:off x="4881600" y="2397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 flipH="1">
            <a:off x="4881600" y="2397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 flipH="1">
            <a:off x="4881600" y="274176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 flipH="1">
            <a:off x="4881600" y="2741760"/>
            <a:ext cx="3008160" cy="144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 flipH="1">
            <a:off x="4881600" y="308772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 flipH="1">
            <a:off x="4881600" y="3432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 flipH="1">
            <a:off x="4881600" y="3432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 flipH="1">
            <a:off x="4881600" y="3778200"/>
            <a:ext cx="3008160" cy="180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 flipH="1">
            <a:off x="4881600" y="412272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 flipH="1">
            <a:off x="4863600" y="4468680"/>
            <a:ext cx="300852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 flipH="1">
            <a:off x="4898880" y="4468680"/>
            <a:ext cx="299088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 flipH="1">
            <a:off x="4863600" y="4813200"/>
            <a:ext cx="300852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399" name=""/>
          <p:cNvGrpSpPr/>
          <p:nvPr/>
        </p:nvGrpSpPr>
        <p:grpSpPr>
          <a:xfrm>
            <a:off x="5072040" y="1585800"/>
            <a:ext cx="2647800" cy="3416400"/>
            <a:chOff x="5072040" y="1585800"/>
            <a:chExt cx="2647800" cy="3416400"/>
          </a:xfrm>
        </p:grpSpPr>
        <p:sp>
          <p:nvSpPr>
            <p:cNvPr id="400" name=""/>
            <p:cNvSpPr/>
            <p:nvPr/>
          </p:nvSpPr>
          <p:spPr>
            <a:xfrm>
              <a:off x="507204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1" name=""/>
            <p:cNvSpPr/>
            <p:nvPr/>
          </p:nvSpPr>
          <p:spPr>
            <a:xfrm>
              <a:off x="537804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2" name=""/>
            <p:cNvSpPr/>
            <p:nvPr/>
          </p:nvSpPr>
          <p:spPr>
            <a:xfrm>
              <a:off x="572364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3" name=""/>
            <p:cNvSpPr/>
            <p:nvPr/>
          </p:nvSpPr>
          <p:spPr>
            <a:xfrm>
              <a:off x="603036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4" name=""/>
            <p:cNvSpPr/>
            <p:nvPr/>
          </p:nvSpPr>
          <p:spPr>
            <a:xfrm>
              <a:off x="637596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5" name=""/>
            <p:cNvSpPr/>
            <p:nvPr/>
          </p:nvSpPr>
          <p:spPr>
            <a:xfrm>
              <a:off x="668196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6" name=""/>
            <p:cNvSpPr/>
            <p:nvPr/>
          </p:nvSpPr>
          <p:spPr>
            <a:xfrm>
              <a:off x="702792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7" name=""/>
            <p:cNvSpPr/>
            <p:nvPr/>
          </p:nvSpPr>
          <p:spPr>
            <a:xfrm>
              <a:off x="737388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8" name=""/>
            <p:cNvSpPr/>
            <p:nvPr/>
          </p:nvSpPr>
          <p:spPr>
            <a:xfrm>
              <a:off x="7719840" y="1585800"/>
              <a:ext cx="0" cy="3416400"/>
            </a:xfrm>
            <a:prstGeom prst="line">
              <a:avLst/>
            </a:prstGeom>
            <a:ln w="12600">
              <a:solidFill>
                <a:srgbClr val="FF66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iming>
    <p:tnLst>
      <p:par>
        <p:cTn id="9" dur="indefinite" restart="never" nodeType="tmRoot">
          <p:childTnLst>
            <p:seq>
              <p:cTn id="10" dur="indefinite" nodeType="mainSeq">
                <p:childTnLst>
                  <p:par>
                    <p:cTn id="11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12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4C09F6AB-5093-48D0-A2E7-F2E3D294CF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461880" y="285840"/>
            <a:ext cx="814248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Every 3×3 box contains the numbers 1 to 9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14" name=""/>
          <p:cNvGraphicFramePr/>
          <p:nvPr/>
        </p:nvGraphicFramePr>
        <p:xfrm>
          <a:off x="193680" y="1623960"/>
          <a:ext cx="3252960" cy="33037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15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93680" y="1623960"/>
                    <a:ext cx="3252960" cy="33037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16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4726080" y="1585800"/>
            <a:ext cx="3336840" cy="33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4725720" y="15858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19" name=""/>
          <p:cNvGrpSpPr/>
          <p:nvPr/>
        </p:nvGrpSpPr>
        <p:grpSpPr>
          <a:xfrm>
            <a:off x="4897440" y="1757520"/>
            <a:ext cx="2989440" cy="3054240"/>
            <a:chOff x="4897440" y="1757520"/>
            <a:chExt cx="2989440" cy="3054240"/>
          </a:xfrm>
        </p:grpSpPr>
        <p:sp>
          <p:nvSpPr>
            <p:cNvPr id="420" name=""/>
            <p:cNvSpPr/>
            <p:nvPr/>
          </p:nvSpPr>
          <p:spPr>
            <a:xfrm>
              <a:off x="4897440" y="1757520"/>
              <a:ext cx="2989440" cy="305424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1" name=""/>
            <p:cNvSpPr/>
            <p:nvPr/>
          </p:nvSpPr>
          <p:spPr>
            <a:xfrm>
              <a:off x="4897440" y="1757520"/>
              <a:ext cx="2989440" cy="3054240"/>
            </a:xfrm>
            <a:prstGeom prst="rect">
              <a:avLst/>
            </a:prstGeom>
            <a:noFill/>
            <a:ln cap="rnd" w="302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6800" rIns="90000" bIns="46800" anchor="ctr">
              <a:noAutofit/>
            </a:bodyPr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22" name=""/>
          <p:cNvSpPr/>
          <p:nvPr/>
        </p:nvSpPr>
        <p:spPr>
          <a:xfrm>
            <a:off x="5645160" y="180504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006960" y="1805040"/>
            <a:ext cx="1047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68196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99300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7356600" y="180504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7667640" y="180504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4920840" y="1806480"/>
            <a:ext cx="7102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5    3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564480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748480" y="18064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600696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113160" y="180648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7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668160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6784200" y="1806480"/>
            <a:ext cx="1526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6940080" y="18064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699264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095960" y="18064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735624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459560" y="18064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7667280" y="18064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7770600" y="18064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334120" y="213048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64516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6993000" y="213048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730404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7667640" y="213048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4920840" y="213192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33376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437080" y="21319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564480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749560" y="2131920"/>
            <a:ext cx="1166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1    9     5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6940080" y="21319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699264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7095960" y="21319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730368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7407360" y="21319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7667280" y="21319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7770600" y="21319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5022720" y="24541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6006960" y="24541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6318360" y="24541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6681960" y="24541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6993000" y="24541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7667640" y="24541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491940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497016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02272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5126040" y="2454120"/>
            <a:ext cx="8622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9    8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600696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6111720" y="2454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631800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6423120" y="2454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668160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6784920" y="2454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99264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7097400" y="245412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7667280" y="2454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7770600" y="2454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33412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5645160" y="27957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6006960" y="2795760"/>
            <a:ext cx="1047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68196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6993000" y="27957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7304040" y="27957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4920840" y="279720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8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533376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43708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564480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748480" y="279720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600696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6111360" y="2797200"/>
            <a:ext cx="507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6629040" y="27972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668160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678492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699264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7095960" y="279720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7303680" y="279720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7408440" y="279720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7770600" y="279720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5334120" y="31543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645160" y="31543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6318360" y="3154320"/>
            <a:ext cx="1047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6993000" y="3154320"/>
            <a:ext cx="10296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7304040" y="3154320"/>
            <a:ext cx="103320" cy="2383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4920840" y="315756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4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33376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5437080" y="31575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564480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749560" y="315756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8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631800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6424200" y="315756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3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699264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7095960" y="31575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7303680" y="31575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7407000" y="31575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7458840" y="3157560"/>
            <a:ext cx="304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7770600" y="31575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33412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645160" y="3513240"/>
            <a:ext cx="10332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6006960" y="3513240"/>
            <a:ext cx="1047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668196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6993000" y="3513240"/>
            <a:ext cx="10296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7304040" y="3513240"/>
            <a:ext cx="103320" cy="2397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4920840" y="3514680"/>
            <a:ext cx="4060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7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533376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543708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564480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5748480" y="351468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600696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6113160" y="3514680"/>
            <a:ext cx="5580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2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668160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678492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699264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7095960" y="351468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7303680" y="351468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7408440" y="351468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7770600" y="351468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02272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64516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6006960" y="3840120"/>
            <a:ext cx="1047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6318360" y="3840120"/>
            <a:ext cx="1047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668196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699300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7356600" y="3840120"/>
            <a:ext cx="10296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7667640" y="3840120"/>
            <a:ext cx="103320" cy="2365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49194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502272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125680" y="3840120"/>
            <a:ext cx="5076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6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56448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74848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600696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611172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63180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642312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668160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678492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699264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7095960" y="384012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735624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7459560" y="384012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7667280" y="384012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7770600" y="384012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5022720" y="41799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533412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645160" y="4179960"/>
            <a:ext cx="10332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699300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7356600" y="4179960"/>
            <a:ext cx="102960" cy="23796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491940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02272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126040" y="41799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33376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5437080" y="41799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564480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5749560" y="4179960"/>
            <a:ext cx="1166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4    1     9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6940080" y="41799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699264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7095960" y="417996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7356240" y="41799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7458840" y="4179960"/>
            <a:ext cx="304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7770600" y="41799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5022720" y="4521240"/>
            <a:ext cx="10332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533412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5645160" y="4521240"/>
            <a:ext cx="10332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6006960" y="4521240"/>
            <a:ext cx="1047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668196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6993000" y="4521240"/>
            <a:ext cx="102960" cy="24444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49194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502272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512604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33376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543708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56448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5748480" y="4529160"/>
            <a:ext cx="25416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600696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611172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6317640" y="4529160"/>
            <a:ext cx="3553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8 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668160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6784920" y="4529160"/>
            <a:ext cx="20340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6992640" y="4529160"/>
            <a:ext cx="1022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7095600" y="4529160"/>
            <a:ext cx="6595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    7    9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7770600" y="4529160"/>
            <a:ext cx="5148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5208480" y="1757520"/>
            <a:ext cx="180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5537160" y="1757520"/>
            <a:ext cx="180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5883120" y="1757520"/>
            <a:ext cx="1800" cy="303840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 flipH="1">
            <a:off x="6178680" y="1757520"/>
            <a:ext cx="1728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654048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6540480" y="1757520"/>
            <a:ext cx="144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6867360" y="1757520"/>
            <a:ext cx="180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721368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7213680" y="1757520"/>
            <a:ext cx="1440" cy="305568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7542360" y="1757520"/>
            <a:ext cx="1440" cy="30384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7888320" y="1757520"/>
            <a:ext cx="1440" cy="259056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6867360" y="1757520"/>
            <a:ext cx="1800" cy="3055680"/>
          </a:xfrm>
          <a:prstGeom prst="line">
            <a:avLst/>
          </a:prstGeom>
          <a:ln w="2232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 flipH="1">
            <a:off x="4881600" y="2050920"/>
            <a:ext cx="300816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 flipH="1">
            <a:off x="4881600" y="2397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 flipH="1">
            <a:off x="4881600" y="2397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 flipH="1">
            <a:off x="4881600" y="274176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 flipH="1">
            <a:off x="4881600" y="2741760"/>
            <a:ext cx="3008160" cy="144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 flipH="1">
            <a:off x="4881600" y="308772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 flipH="1">
            <a:off x="4881600" y="3432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 flipH="1">
            <a:off x="4881600" y="343224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 flipH="1">
            <a:off x="4881600" y="3778200"/>
            <a:ext cx="3008160" cy="1800"/>
          </a:xfrm>
          <a:prstGeom prst="line">
            <a:avLst/>
          </a:prstGeom>
          <a:ln w="30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 flipH="1">
            <a:off x="4881600" y="4122720"/>
            <a:ext cx="3008160" cy="144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360" rIns="90000" bIns="-45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 flipH="1">
            <a:off x="4863600" y="4468680"/>
            <a:ext cx="300852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 flipH="1">
            <a:off x="4898880" y="4468680"/>
            <a:ext cx="299088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 flipH="1">
            <a:off x="4863600" y="4813200"/>
            <a:ext cx="3008520" cy="1800"/>
          </a:xfrm>
          <a:prstGeom prst="line">
            <a:avLst/>
          </a:prstGeom>
          <a:ln cap="rnd"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4917960" y="177804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916600" y="177804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6877080" y="177804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4917960" y="2776680"/>
            <a:ext cx="960480" cy="96012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5916600" y="2776680"/>
            <a:ext cx="960480" cy="96012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6877080" y="2776680"/>
            <a:ext cx="960480" cy="96012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4917960" y="381312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916600" y="381312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6877080" y="3813120"/>
            <a:ext cx="960480" cy="960480"/>
          </a:xfrm>
          <a:prstGeom prst="rect">
            <a:avLst/>
          </a:prstGeom>
          <a:solidFill>
            <a:srgbClr val="CBCBCB">
              <a:alpha val="12000"/>
            </a:srgbClr>
          </a:solidFill>
          <a:ln w="1260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dur="indefinite" fill="hold" nodeType="clickEffect">
                      <p:stCondLst>
                        <p:cond delay="indefinite"/>
                      </p:stCondLst>
                      <p:childTnLst>
                        <p:par>
                          <p:cTn id="20" dur="indefinite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dur="indefinite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dur="indefinite" fill="hold" nodeType="afterEffect">
                            <p:stCondLst>
                              <p:cond delay="500"/>
                            </p:stCondLst>
                            <p:childTnLst>
                              <p:par>
                                <p:cTn id="26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dur="indefinite" fill="hold" nodeType="afterEffect">
                            <p:stCondLst>
                              <p:cond delay="1000"/>
                            </p:stCondLst>
                            <p:childTnLst>
                              <p:par>
                                <p:cTn id="31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dur="indefinite" fill="hold" nodeType="afterEffect">
                            <p:stCondLst>
                              <p:cond delay="1500"/>
                            </p:stCondLst>
                            <p:childTnLst>
                              <p:par>
                                <p:cTn id="36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9" dur="500" fill="hold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dur="indefinite" fill="hold" nodeType="afterEffect">
                            <p:stCondLst>
                              <p:cond delay="2000"/>
                            </p:stCondLst>
                            <p:childTnLst>
                              <p:par>
                                <p:cTn id="41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dur="indefinite" fill="hold" nodeType="afterEffect">
                            <p:stCondLst>
                              <p:cond delay="2500"/>
                            </p:stCondLst>
                            <p:childTnLst>
                              <p:par>
                                <p:cTn id="46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" dur="50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dur="indefinite" fill="hold" nodeType="afterEffect">
                            <p:stCondLst>
                              <p:cond delay="3000"/>
                            </p:stCondLst>
                            <p:childTnLst>
                              <p:par>
                                <p:cTn id="51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4" dur="500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dur="indefinite" fill="hold" nodeType="afterEffect">
                            <p:stCondLst>
                              <p:cond delay="3500"/>
                            </p:stCondLst>
                            <p:childTnLst>
                              <p:par>
                                <p:cTn id="56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" dur="5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dur="indefinite" fill="hold" nodeType="afterEffect">
                            <p:stCondLst>
                              <p:cond delay="4000"/>
                            </p:stCondLst>
                            <p:childTnLst>
                              <p:par>
                                <p:cTn id="61" dur="indefinite" presetID="2" presetClass="entr" fill="hold" nodeType="after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3" dur="30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4" dur="3000" fill="hold"/>
                                        <p:tgtEl>
                                          <p:spTgt spid="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2DF4F2B-84C4-4602-B180-2010BBDB8B0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93680" y="228600"/>
            <a:ext cx="8794800" cy="8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Checking Whether a Solution Is Correct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0" y="237024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448776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41" name=""/>
          <p:cNvGraphicFramePr/>
          <p:nvPr/>
        </p:nvGraphicFramePr>
        <p:xfrm>
          <a:off x="1000080" y="1278000"/>
          <a:ext cx="3252960" cy="3303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642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000080" y="1278000"/>
                    <a:ext cx="3252960" cy="3303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43" name=""/>
          <p:cNvSpPr/>
          <p:nvPr/>
        </p:nvSpPr>
        <p:spPr>
          <a:xfrm>
            <a:off x="0" y="2182680"/>
            <a:ext cx="9144000" cy="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000" rIns="90000" bIns="-45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44" name=""/>
          <p:cNvGraphicFramePr/>
          <p:nvPr/>
        </p:nvGraphicFramePr>
        <p:xfrm>
          <a:off x="4456080" y="1278000"/>
          <a:ext cx="3289320" cy="33415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645" name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456080" y="1278000"/>
                    <a:ext cx="3289320" cy="33415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46" name=""/>
          <p:cNvSpPr/>
          <p:nvPr/>
        </p:nvSpPr>
        <p:spPr>
          <a:xfrm>
            <a:off x="3513240" y="5388120"/>
            <a:ext cx="322740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CheckSudokuSolution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6877080" y="5388120"/>
            <a:ext cx="698400" cy="380880"/>
          </a:xfrm>
          <a:custGeom>
            <a:avLst/>
            <a:gdLst>
              <a:gd name="textAreaLeft" fmla="*/ 24480 w 698400"/>
              <a:gd name="textAreaRight" fmla="*/ 673920 w 69840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590" h="21600">
                <a:moveTo>
                  <a:pt x="0" y="0"/>
                </a:moveTo>
                <a:lnTo>
                  <a:pt x="39590" y="0"/>
                </a:lnTo>
                <a:lnTo>
                  <a:pt x="39590" y="21600"/>
                </a:lnTo>
                <a:lnTo>
                  <a:pt x="0" y="21600"/>
                </a:lnTo>
                <a:close/>
              </a:path>
              <a:path fill="lightenLess" w="39590" h="21600">
                <a:moveTo>
                  <a:pt x="0" y="0"/>
                </a:moveTo>
                <a:lnTo>
                  <a:pt x="39590" y="0"/>
                </a:lnTo>
                <a:lnTo>
                  <a:pt x="38190" y="1400"/>
                </a:lnTo>
                <a:lnTo>
                  <a:pt x="1400" y="1400"/>
                </a:lnTo>
                <a:close/>
              </a:path>
              <a:path fill="darken" w="39590" h="21600">
                <a:moveTo>
                  <a:pt x="39590" y="0"/>
                </a:moveTo>
                <a:lnTo>
                  <a:pt x="39590" y="21600"/>
                </a:lnTo>
                <a:lnTo>
                  <a:pt x="38190" y="20200"/>
                </a:lnTo>
                <a:lnTo>
                  <a:pt x="38190" y="1400"/>
                </a:lnTo>
                <a:close/>
              </a:path>
              <a:path fill="darkenLess" w="39590" h="21600">
                <a:moveTo>
                  <a:pt x="39590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190" y="20200"/>
                </a:lnTo>
                <a:close/>
              </a:path>
              <a:path fill="lighten" w="39590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6231098-395A-4573-B137-99FC535DE9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685800" y="0"/>
            <a:ext cx="7772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Multidimensional Arrays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304920" y="1066680"/>
            <a:ext cx="8610480" cy="51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Occasionally, you will need to represent n-dimensional data structures. In Java, you can create n-dimensional arrays for any integer n.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The way to declare two-dimensional array variables and create two-dimensional arrays can be generalized to declare n-dimensional array variables and create n-dimensional arrays for n &gt;= 3.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814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D2E3AA10-72F5-4CE7-ADA6-514A349FC3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85800" y="0"/>
            <a:ext cx="7772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Multidimensional Arrays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304920" y="1066680"/>
            <a:ext cx="8839080" cy="32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double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[][][] scores = {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{{7.5, 20.5}, {9.0, 22.5}, {15, 33.5}, {13, 21.5}, {15, 2.5}},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{{4.5, 21.5}, {9.0, 22.5}, {15, 34.5}, {12, 20.5}, {14, 9.5}},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{{6.5, 30.5}, {9.4, 10.5}, {11, 33.5}, {11, 23.5}, {10, 2.5}},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{{6.5, 23.5}, {9.4, 32.5}, {13, 34.5}, {11, 20.5}, {16, 7.5}},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{{8.5, 26.5}, {9.4, 52.5}, {13, 36.5}, {13, 24.5}, {16, 2.5}},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 {{9.5, 20.5}, {9.4, 42.5}, {13, 31.5}, {12, 20.5}, {16, 6.5}}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};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54" name=""/>
          <p:cNvGraphicFramePr/>
          <p:nvPr/>
        </p:nvGraphicFramePr>
        <p:xfrm>
          <a:off x="0" y="4556160"/>
          <a:ext cx="9144000" cy="18810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655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0" y="4556160"/>
                    <a:ext cx="9144000" cy="18810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BB662B5-5A74-4637-926A-C17D5413EB2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609480" y="228600"/>
            <a:ext cx="7772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Problem: Calculating Total Scores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66760" y="1393920"/>
            <a:ext cx="8763120" cy="38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spcBef>
                <a:spcPts val="76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Objective: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write a program that calculates the total score for students in a class. Suppose the scores are stored in a three-dimensional array named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scores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The first index in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scores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refers to a student, the second refers to an exam, and the third refers to the part of the exam. Suppose there are 7 students, 5 exams, and each exam has two parts--the multiple-choice part and the programming part. So,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scores[i][j][0]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represents the score on the multiple-choice part for the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’s student on the </a:t>
            </a:r>
            <a:r>
              <a:rPr lang="en-US" sz="24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’s exam. Your program displays the total score for each student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802040" y="5187960"/>
            <a:ext cx="130824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TotalScore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246720" y="5187960"/>
            <a:ext cx="698760" cy="380880"/>
          </a:xfrm>
          <a:custGeom>
            <a:avLst/>
            <a:gdLst>
              <a:gd name="textAreaLeft" fmla="*/ 24480 w 698760"/>
              <a:gd name="textAreaRight" fmla="*/ 674280 w 69876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610" h="21600">
                <a:moveTo>
                  <a:pt x="0" y="0"/>
                </a:moveTo>
                <a:lnTo>
                  <a:pt x="39610" y="0"/>
                </a:lnTo>
                <a:lnTo>
                  <a:pt x="39610" y="21600"/>
                </a:lnTo>
                <a:lnTo>
                  <a:pt x="0" y="21600"/>
                </a:lnTo>
                <a:close/>
              </a:path>
              <a:path fill="lightenLess" w="39610" h="21600">
                <a:moveTo>
                  <a:pt x="0" y="0"/>
                </a:moveTo>
                <a:lnTo>
                  <a:pt x="39610" y="0"/>
                </a:lnTo>
                <a:lnTo>
                  <a:pt x="38210" y="1400"/>
                </a:lnTo>
                <a:lnTo>
                  <a:pt x="1400" y="1400"/>
                </a:lnTo>
                <a:close/>
              </a:path>
              <a:path fill="darken" w="39610" h="21600">
                <a:moveTo>
                  <a:pt x="39610" y="0"/>
                </a:moveTo>
                <a:lnTo>
                  <a:pt x="39610" y="21600"/>
                </a:lnTo>
                <a:lnTo>
                  <a:pt x="38210" y="20200"/>
                </a:lnTo>
                <a:lnTo>
                  <a:pt x="38210" y="1400"/>
                </a:lnTo>
                <a:close/>
              </a:path>
              <a:path fill="darkenLess" w="39610" h="21600">
                <a:moveTo>
                  <a:pt x="39610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210" y="20200"/>
                </a:lnTo>
                <a:close/>
              </a:path>
              <a:path fill="lighten" w="39610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1AF3AD7E-0FCB-4501-9290-D9794A8A6B1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70000" y="228600"/>
            <a:ext cx="8564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Problem: Weather Information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70000" y="1163520"/>
            <a:ext cx="8874000" cy="25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80000"/>
              </a:lnSpc>
              <a:spcBef>
                <a:spcPts val="763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Suppose a meteorology station records the temperature and humidity at each hour of every day and stores the data for the past ten days in a text file named weather.txt. Each line of the file consists of four numbers that indicate the day, hour, temperature, and humidity. Your task is to write a program that calculates the average daily temperature and humidity for the </a:t>
            </a:r>
            <a:r>
              <a:rPr lang="en-US" sz="3000" b="0" u="sng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10</a:t>
            </a:r>
            <a:r>
              <a:rPr lang="en-US" sz="3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 days. 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0" y="26812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69" name=""/>
          <p:cNvGraphicFramePr/>
          <p:nvPr/>
        </p:nvGraphicFramePr>
        <p:xfrm>
          <a:off x="0" y="4356000"/>
          <a:ext cx="3303720" cy="18018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670" name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0" y="4356000"/>
                    <a:ext cx="3303720" cy="180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71" name=""/>
          <p:cNvSpPr/>
          <p:nvPr/>
        </p:nvSpPr>
        <p:spPr>
          <a:xfrm>
            <a:off x="0" y="26812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72" name=""/>
          <p:cNvGraphicFramePr/>
          <p:nvPr/>
        </p:nvGraphicFramePr>
        <p:xfrm>
          <a:off x="3381480" y="4351320"/>
          <a:ext cx="3187440" cy="17384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673" name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3381480" y="4351320"/>
                    <a:ext cx="3187440" cy="1738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74" name=""/>
          <p:cNvSpPr/>
          <p:nvPr/>
        </p:nvSpPr>
        <p:spPr>
          <a:xfrm>
            <a:off x="6597720" y="5772240"/>
            <a:ext cx="130644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Weather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8040600" y="5772240"/>
            <a:ext cx="698760" cy="380880"/>
          </a:xfrm>
          <a:custGeom>
            <a:avLst/>
            <a:gdLst>
              <a:gd name="textAreaLeft" fmla="*/ 24480 w 698760"/>
              <a:gd name="textAreaRight" fmla="*/ 674280 w 69876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610" h="21600">
                <a:moveTo>
                  <a:pt x="0" y="0"/>
                </a:moveTo>
                <a:lnTo>
                  <a:pt x="39610" y="0"/>
                </a:lnTo>
                <a:lnTo>
                  <a:pt x="39610" y="21600"/>
                </a:lnTo>
                <a:lnTo>
                  <a:pt x="0" y="21600"/>
                </a:lnTo>
                <a:close/>
              </a:path>
              <a:path fill="lightenLess" w="39610" h="21600">
                <a:moveTo>
                  <a:pt x="0" y="0"/>
                </a:moveTo>
                <a:lnTo>
                  <a:pt x="39610" y="0"/>
                </a:lnTo>
                <a:lnTo>
                  <a:pt x="38210" y="1400"/>
                </a:lnTo>
                <a:lnTo>
                  <a:pt x="1400" y="1400"/>
                </a:lnTo>
                <a:close/>
              </a:path>
              <a:path fill="darken" w="39610" h="21600">
                <a:moveTo>
                  <a:pt x="39610" y="0"/>
                </a:moveTo>
                <a:lnTo>
                  <a:pt x="39610" y="21600"/>
                </a:lnTo>
                <a:lnTo>
                  <a:pt x="38210" y="20200"/>
                </a:lnTo>
                <a:lnTo>
                  <a:pt x="38210" y="1400"/>
                </a:lnTo>
                <a:close/>
              </a:path>
              <a:path fill="darkenLess" w="39610" h="21600">
                <a:moveTo>
                  <a:pt x="39610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210" y="20200"/>
                </a:lnTo>
                <a:close/>
              </a:path>
              <a:path fill="lighten" w="39610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>
            <a:off x="6553080" y="639936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tIns="46080" rIns="92160" bIns="46080" anchor="ctr">
            <a:noAutofit/>
          </a:bodyPr>
          <a:p>
            <a:pPr algn="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fld id="{88A55B42-5B88-4785-9D3A-25E8C37C197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270000" y="228600"/>
            <a:ext cx="856440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ctr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7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Problem: Guessing Birthday</a:t>
            </a:r>
            <a:endParaRPr lang="en-US" sz="3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17360" y="1316160"/>
            <a:ext cx="8871120" cy="32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tIns="46080" rIns="92160" bIns="46080" anchor="t">
            <a:noAutofit/>
          </a:bodyPr>
          <a:p>
            <a:pPr>
              <a:lnSpc>
                <a:spcPct val="80000"/>
              </a:lnSpc>
              <a:spcBef>
                <a:spcPts val="887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Microsoft YaHei"/>
              </a:rPr>
              <a:t>Listing 4.3, GuessBirthday.java, gives a program that guesses a birthday. The program can be simplified by storing the numbers in five sets in a three-dimensional array, and it prompts the user for the answers using a loop. 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971800" y="25146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3352680" y="297180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26812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2681280"/>
            <a:ext cx="9144000" cy="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45360" rIns="90000" bIns="-4536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4572000" y="4888080"/>
            <a:ext cx="3168720" cy="3808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Autofit/>
          </a:bodyPr>
          <a:p>
            <a:pPr algn="ctr"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Arial"/>
              </a:rPr>
              <a:t>GuessBirthdayUsingArray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7877160" y="4888080"/>
            <a:ext cx="698400" cy="380880"/>
          </a:xfrm>
          <a:custGeom>
            <a:avLst/>
            <a:gdLst>
              <a:gd name="textAreaLeft" fmla="*/ 24480 w 698400"/>
              <a:gd name="textAreaRight" fmla="*/ 673920 w 698400"/>
              <a:gd name="textAreaTop" fmla="*/ 24480 h 380880"/>
              <a:gd name="textAreaBottom" fmla="*/ 356400 h 380880"/>
            </a:gdLst>
            <a:ahLst/>
            <a:cxnLst/>
            <a:rect l="textAreaLeft" t="textAreaTop" r="textAreaRight" b="textAreaBottom"/>
            <a:pathLst>
              <a:path w="39590" h="21600">
                <a:moveTo>
                  <a:pt x="0" y="0"/>
                </a:moveTo>
                <a:lnTo>
                  <a:pt x="39590" y="0"/>
                </a:lnTo>
                <a:lnTo>
                  <a:pt x="39590" y="21600"/>
                </a:lnTo>
                <a:lnTo>
                  <a:pt x="0" y="21600"/>
                </a:lnTo>
                <a:close/>
              </a:path>
              <a:path fill="lightenLess" w="39590" h="21600">
                <a:moveTo>
                  <a:pt x="0" y="0"/>
                </a:moveTo>
                <a:lnTo>
                  <a:pt x="39590" y="0"/>
                </a:lnTo>
                <a:lnTo>
                  <a:pt x="38190" y="1400"/>
                </a:lnTo>
                <a:lnTo>
                  <a:pt x="1400" y="1400"/>
                </a:lnTo>
                <a:close/>
              </a:path>
              <a:path fill="darken" w="39590" h="21600">
                <a:moveTo>
                  <a:pt x="39590" y="0"/>
                </a:moveTo>
                <a:lnTo>
                  <a:pt x="39590" y="21600"/>
                </a:lnTo>
                <a:lnTo>
                  <a:pt x="38190" y="20200"/>
                </a:lnTo>
                <a:lnTo>
                  <a:pt x="38190" y="1400"/>
                </a:lnTo>
                <a:close/>
              </a:path>
              <a:path fill="darkenLess" w="39590" h="21600">
                <a:moveTo>
                  <a:pt x="39590" y="21600"/>
                </a:moveTo>
                <a:lnTo>
                  <a:pt x="0" y="21600"/>
                </a:lnTo>
                <a:lnTo>
                  <a:pt x="1400" y="20200"/>
                </a:lnTo>
                <a:lnTo>
                  <a:pt x="38190" y="20200"/>
                </a:lnTo>
                <a:close/>
              </a:path>
              <a:path fill="lighten" w="39590" h="21600">
                <a:moveTo>
                  <a:pt x="0" y="21600"/>
                </a:moveTo>
                <a:lnTo>
                  <a:pt x="0" y="0"/>
                </a:lnTo>
                <a:lnTo>
                  <a:pt x="1400" y="1400"/>
                </a:lnTo>
                <a:lnTo>
                  <a:pt x="1400" y="20200"/>
                </a:lnTo>
                <a:close/>
              </a:path>
            </a:pathLst>
          </a:custGeom>
          <a:solidFill>
            <a:srgbClr val="38A1BA"/>
          </a:solidFill>
          <a:ln w="0">
            <a:noFill/>
          </a:ln>
          <a:effectLst>
            <a:outerShdw dist="17819" dir="2700000" rotWithShape="0">
              <a:srgbClr val="22617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pPr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80" algn="l"/>
                <a:tab pos="1078236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Book Antiqua"/>
                <a:ea typeface="Arial"/>
              </a:rPr>
              <a:t>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498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Por que este capítulo está aqui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Este material é um capítulo do livro Introduction to Java Programming, de Y. Daniel Liang (Pearson), incluído como referência sobre arrays multidimensionais.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A linguagem usada é Java, não Julia — mas o conceito de array (estrutura que organiza dados em posições indexadas) é o mesmo que vimos nas Aulas 10-12.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Foco da leitura: como um array bidimensional organiza dados em linhas e colunas, e como percorrê-lo com laços aninhados.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17920"/>
            <a:ext cx="7498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Arial"/>
              </a:rPr>
              <a:t>Aula 13 de 15 • 2 horas • Arrays / Estruturas de Dados (material de referência)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33860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1995-06-10T14:31:50Z</dcterms:created>
  <dc:creator>Y. Daniel Liang</dc:creator>
  <dc:description/>
  <dc:language>en-US</dc:language>
  <cp:lastModifiedBy>Y. Daniel Liang</cp:lastModifiedBy>
  <dcterms:modified xsi:type="dcterms:W3CDTF">2017-01-22T23:34:53Z</dcterms:modified>
  <cp:revision>292</cp:revision>
  <dc:subject/>
  <dc:title>Chapter 5 Arrays</dc:title>
</cp:coreProperties>
</file>