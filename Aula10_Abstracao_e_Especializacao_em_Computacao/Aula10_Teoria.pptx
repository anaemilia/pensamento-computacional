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  <p:sldId id="264" r:id="rId15"/>
    <p:sldId id="265" r:id="rId16"/>
    <p:sldId id="266" r:id="rId1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  <Relationship Id="rId17" Type="http://schemas.openxmlformats.org/officeDocument/2006/relationships/slide" Target="slides/slide1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413" y="1109853"/>
            <a:ext cx="477774" cy="47777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10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Abstração e Especialização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Computação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destacar o essencial e organizar hierarquias de conceitos — os dois pilares que fundamentam tipos e estruturas de dados.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C8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de Mestrado · Sequência: Abstração, Tipos e Estruturas de Dados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97" y="570357"/>
            <a:ext cx="276606" cy="27660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11480"/>
            <a:ext cx="6629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Abstração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6126480" cy="470916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5C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17373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14884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Abstração</a:t>
            </a:r>
            <a:pPr algn="l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 o processo de destacar apenas os aspectos essenciais de um conceito ou sistema, ocultando detalhes irrelevantes ou desnecessários.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914400" y="3291840"/>
            <a:ext cx="5394960" cy="0"/>
          </a:xfrm>
          <a:prstGeom prst="line">
            <a:avLst/>
          </a:prstGeom>
          <a:noFill/>
          <a:ln w="12700">
            <a:solidFill>
              <a:srgbClr val="E3E9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34747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reduz a complexidade?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38404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ocultar o que não é relevante para a tarefa em questão, a abstração diminui a quantidade de informação que precisamos processar de uma vez — tornando sistemas complexos compreensíveis e manejáveis.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914400" y="502920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BF0E2"/>
          </a:solidFill>
          <a:ln/>
        </p:spPr>
      </p:sp>
      <p:sp>
        <p:nvSpPr>
          <p:cNvPr id="12" name="Text 9"/>
          <p:cNvSpPr/>
          <p:nvPr/>
        </p:nvSpPr>
        <p:spPr>
          <a:xfrm>
            <a:off x="1143000" y="502920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Ideia-chave: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detalhes visíveis = mais foco no que importa.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949440" y="1417320"/>
            <a:ext cx="4709160" cy="4709160"/>
          </a:xfrm>
          <a:prstGeom prst="roundRect">
            <a:avLst>
              <a:gd name="adj" fmla="val 194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101600" dist="38100" dir="5400000">
              <a:srgbClr val="1B3A5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778240" y="1828800"/>
            <a:ext cx="1051560" cy="105156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4841" y="2065401"/>
            <a:ext cx="578358" cy="57835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269480" y="310896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do dia a dia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269480" y="34290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Dirigir um carro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7360920" y="4023360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7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usa o volante, o acelerador e o freio sem precisar entender a combustão interna do motor. A interface (volante) abstrai a complexidade mecânica.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7360920" y="539496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como um motorista, um programador usa funções e objetos sem precisar reimplementar seus detalhes internos a cada uso.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97" y="570357"/>
            <a:ext cx="276606" cy="27660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11480"/>
            <a:ext cx="7543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Especialização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101600" dist="38100" dir="5400000">
              <a:srgbClr val="1B3A5C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1371600"/>
            <a:ext cx="10332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</a:t>
            </a:r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(ou generalização-especificação) é a criação de classes ou modelos mais específicos a partir de algo genérico, herdando e refinando atributos e comportamentos. Isso permite </a:t>
            </a:r>
            <a:pPr algn="l" indent="0" marL="0">
              <a:lnSpc>
                <a:spcPct val="132000"/>
              </a:lnSpc>
              <a:buNone/>
            </a:pPr>
            <a:r>
              <a:rPr lang="en-US" sz="155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reuso, hierarquia e extensibilidade.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4724248" y="306324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724248" y="3063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Veículo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724248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genérico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95848" y="4142232"/>
            <a:ext cx="0" cy="320040"/>
          </a:xfrm>
          <a:prstGeom prst="line">
            <a:avLst/>
          </a:prstGeom>
          <a:noFill/>
          <a:ln w="19050">
            <a:solidFill>
              <a:srgbClr val="B7C4D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29688" y="4462272"/>
            <a:ext cx="7132320" cy="0"/>
          </a:xfrm>
          <a:prstGeom prst="line">
            <a:avLst/>
          </a:prstGeom>
          <a:noFill/>
          <a:ln w="19050">
            <a:solidFill>
              <a:srgbClr val="B7C4D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29688" y="4462272"/>
            <a:ext cx="0" cy="292608"/>
          </a:xfrm>
          <a:prstGeom prst="line">
            <a:avLst/>
          </a:prstGeom>
          <a:noFill/>
          <a:ln w="19050">
            <a:solidFill>
              <a:srgbClr val="B7C4D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95848" y="4462272"/>
            <a:ext cx="0" cy="292608"/>
          </a:xfrm>
          <a:prstGeom prst="line">
            <a:avLst/>
          </a:prstGeom>
          <a:noFill/>
          <a:ln w="19050">
            <a:solidFill>
              <a:srgbClr val="B7C4D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662008" y="4462272"/>
            <a:ext cx="0" cy="292608"/>
          </a:xfrm>
          <a:prstGeom prst="line">
            <a:avLst/>
          </a:prstGeom>
          <a:noFill/>
          <a:ln w="19050">
            <a:solidFill>
              <a:srgbClr val="B7C4D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98068" y="4754880"/>
            <a:ext cx="3063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226668" y="4956048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825" y="5069205"/>
            <a:ext cx="276606" cy="27660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866748" y="49194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Carro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226668" y="55321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Passageiros, 4 rodas, uso urbano.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564228" y="4754880"/>
            <a:ext cx="3063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792828" y="4956048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5" y="5069205"/>
            <a:ext cx="276606" cy="27660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432908" y="49194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Moto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792828" y="55321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rodas, ágil, baixo consumo.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30388" y="4754880"/>
            <a:ext cx="3063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358988" y="4956048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145" y="5069205"/>
            <a:ext cx="276606" cy="27660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99068" y="49194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Ônibus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8358988" y="55321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capacidade, transporte coletivo.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97" y="570357"/>
            <a:ext cx="276606" cy="27660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11480"/>
            <a:ext cx="8458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Conceitos opostos e complementares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abstração </a:t>
            </a:r>
            <a:pPr algn="l" indent="0" marL="0"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 no conceito geral; a </a:t>
            </a:r>
            <a:pPr algn="l"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</a:t>
            </a:r>
            <a:pPr algn="l" indent="0" marL="0">
              <a:buNone/>
            </a:pPr>
            <a:r>
              <a:rPr lang="en-US" sz="16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como cada tipo se comporta na prática.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9720" y="1874520"/>
            <a:ext cx="2606040" cy="28803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482700" y="2148840"/>
            <a:ext cx="640080" cy="6400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319" y="23024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9720" y="2971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499720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Inteiro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00888" y="3840480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exato, sem casas decimais.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361792" y="1874520"/>
            <a:ext cx="2606040" cy="28803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44772" y="2148840"/>
            <a:ext cx="640080" cy="6400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391" y="230245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61792" y="2971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3361792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flutuante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3562960" y="3840480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— usa mais memória para as casas decimais.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223864" y="1874520"/>
            <a:ext cx="2606040" cy="28803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206844" y="2148840"/>
            <a:ext cx="640080" cy="6400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463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223864" y="2971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"one"</a:t>
            </a:r>
            <a:endParaRPr lang="en-US" sz="2400" dirty="0"/>
          </a:p>
        </p:txBody>
      </p:sp>
      <p:sp>
        <p:nvSpPr>
          <p:cNvPr id="22" name="Text 16"/>
          <p:cNvSpPr/>
          <p:nvPr/>
        </p:nvSpPr>
        <p:spPr>
          <a:xfrm>
            <a:off x="6223864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(string)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425032" y="3840480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caracteres, não um número.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9085936" y="1874520"/>
            <a:ext cx="2606040" cy="28803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10068916" y="2148840"/>
            <a:ext cx="640080" cy="6400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2535" y="2302459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085936" y="29718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1//1</a:t>
            </a:r>
            <a:endParaRPr lang="en-US" sz="2400" dirty="0"/>
          </a:p>
        </p:txBody>
      </p:sp>
      <p:sp>
        <p:nvSpPr>
          <p:cNvPr id="28" name="Text 21"/>
          <p:cNvSpPr/>
          <p:nvPr/>
        </p:nvSpPr>
        <p:spPr>
          <a:xfrm>
            <a:off x="9085936" y="34747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Racional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9287104" y="3840480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como numerador e denominador.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499720" y="5074920"/>
            <a:ext cx="11192256" cy="777240"/>
          </a:xfrm>
          <a:prstGeom prst="roundRect">
            <a:avLst>
              <a:gd name="adj" fmla="val 9412"/>
            </a:avLst>
          </a:prstGeom>
          <a:solidFill>
            <a:srgbClr val="1B3A5C"/>
          </a:solidFill>
          <a:ln/>
        </p:spPr>
      </p:sp>
      <p:sp>
        <p:nvSpPr>
          <p:cNvPr id="31" name="Text 24"/>
          <p:cNvSpPr/>
          <p:nvPr/>
        </p:nvSpPr>
        <p:spPr>
          <a:xfrm>
            <a:off x="865480" y="5074920"/>
            <a:ext cx="10460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ideia, formas diferentes: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quatro representações significam "um", mas usam tipos de dados distintos.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97" y="570357"/>
            <a:ext cx="276606" cy="27660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11480"/>
            <a:ext cx="8458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Abstração na prática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conceito pode se manifestar de formas diferentes — em objetos do cotidiano, em tipos numéricos ou em formatos de arquivo.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21996" y="187452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2036" y="2194560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939" y="2334463"/>
            <a:ext cx="341986" cy="34198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2036" y="29718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cotidiano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742036" y="3246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Cadeira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742036" y="384048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madeira, ferro ou plástico — independentemente do material, todas as instâncias compartilham a mesma ideia: um objeto para sentar.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2036" y="5029200"/>
            <a:ext cx="2971800" cy="0"/>
          </a:xfrm>
          <a:prstGeom prst="line">
            <a:avLst/>
          </a:prstGeom>
          <a:noFill/>
          <a:ln w="12700">
            <a:solidFill>
              <a:srgbClr val="E3E9E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42036" y="5148072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POO: a classe "Cadeira" é a abstração; os materiais são instâncias especializadas.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289908" y="187452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09948" y="2194560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851" y="2334463"/>
            <a:ext cx="341986" cy="3419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09948" y="29718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numéricos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4609948" y="3246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 1.0, "one", 1/1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4609948" y="384048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Representam o mesmo valor (unidade) usando tipos de dados diferentes: inteiro, ponto flutuante, string e racional.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609948" y="5029200"/>
            <a:ext cx="2971800" cy="0"/>
          </a:xfrm>
          <a:prstGeom prst="line">
            <a:avLst/>
          </a:prstGeom>
          <a:noFill/>
          <a:ln w="12700">
            <a:solidFill>
              <a:srgbClr val="E3E9EE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609948" y="5148072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Python ou Julia, esses tipos coexistem e podem ser tratados de forma genérica em funções.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157820" y="1874520"/>
            <a:ext cx="3611880" cy="41605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477860" y="2194560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7763" y="2334463"/>
            <a:ext cx="341986" cy="34198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477860" y="29718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de mídia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8477860" y="32461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MP3, WAV, OGG</a:t>
            </a:r>
            <a:endParaRPr lang="en-US" sz="1900" dirty="0"/>
          </a:p>
        </p:txBody>
      </p:sp>
      <p:sp>
        <p:nvSpPr>
          <p:cNvPr id="27" name="Text 21"/>
          <p:cNvSpPr/>
          <p:nvPr/>
        </p:nvSpPr>
        <p:spPr>
          <a:xfrm>
            <a:off x="8477860" y="384048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diferentes que representam o mesmo conteúdo abstrato: "música".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8477860" y="5029200"/>
            <a:ext cx="2971800" cy="0"/>
          </a:xfrm>
          <a:prstGeom prst="line">
            <a:avLst/>
          </a:prstGeom>
          <a:noFill/>
          <a:ln w="12700">
            <a:solidFill>
              <a:srgbClr val="E3E9EE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477860" y="5148072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Abstração aplicada a tipos de arquivo ou interfaces de dados em software.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657600" cy="3657600"/>
          </a:xfrm>
          <a:prstGeom prst="ellipse">
            <a:avLst/>
          </a:prstGeom>
          <a:solidFill>
            <a:srgbClr val="2C7A8C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-1005840"/>
            <a:ext cx="3108960" cy="310896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1508" y="6858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6961" y="881253"/>
            <a:ext cx="477774" cy="47777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1783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214884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Abstração + Especialização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45920" y="3063240"/>
            <a:ext cx="8899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conjunto, tornam os sistemas mais organizados, compreensíveis e modulares — princípios centrais da Programação Orientada a Objetos.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04008" y="4343400"/>
            <a:ext cx="6583680" cy="1051560"/>
          </a:xfrm>
          <a:prstGeom prst="roundRect">
            <a:avLst>
              <a:gd name="adj" fmla="val 8696"/>
            </a:avLst>
          </a:prstGeom>
          <a:solidFill>
            <a:srgbClr val="1B3A5C"/>
          </a:solidFill>
          <a:ln w="12700">
            <a:solidFill>
              <a:srgbClr val="2C7A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61208" y="45079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NESTA AULA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261208" y="4800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Dados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336128" y="4526280"/>
            <a:ext cx="685800" cy="68580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7578" y="4697730"/>
            <a:ext cx="342900" cy="3429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C8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75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402336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dado tem um tipo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160020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como no mundo real classificamos as coisas — números, palavras, objetos —, o computador também precisa saber que tipo de informação está manipulando.</a:t>
            </a:r>
            <a:endParaRPr lang="en-US" sz="16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é o que diz ao computador como interpretar e como usar aquele dado.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4709160"/>
            <a:ext cx="5029200" cy="1234440"/>
          </a:xfrm>
          <a:prstGeom prst="roundRect">
            <a:avLst>
              <a:gd name="adj" fmla="val 7407"/>
            </a:avLst>
          </a:prstGeom>
          <a:solidFill>
            <a:srgbClr val="E9EDF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709160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Ideia-chave: </a:t>
            </a:r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símbolo pode significar coisas diferentes — o tipo resolve essa ambiguidade.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080760" y="1600200"/>
            <a:ext cx="5623560" cy="4343400"/>
          </a:xfrm>
          <a:prstGeom prst="roundRect">
            <a:avLst>
              <a:gd name="adj" fmla="val 2526"/>
            </a:avLst>
          </a:prstGeom>
          <a:solidFill>
            <a:srgbClr val="F5F7FA"/>
          </a:solidFill>
          <a:ln/>
        </p:spPr>
      </p:sp>
      <p:sp>
        <p:nvSpPr>
          <p:cNvPr id="9" name="Text 6"/>
          <p:cNvSpPr/>
          <p:nvPr/>
        </p:nvSpPr>
        <p:spPr>
          <a:xfrm>
            <a:off x="6080760" y="1874520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"25"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080760" y="2606040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leituras possíveis para o mesmo dado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55080" y="32004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E9F2F3"/>
          </a:solidFill>
          <a:ln/>
        </p:spPr>
      </p:sp>
      <p:sp>
        <p:nvSpPr>
          <p:cNvPr id="12" name="Shape 9"/>
          <p:cNvSpPr/>
          <p:nvPr/>
        </p:nvSpPr>
        <p:spPr>
          <a:xfrm>
            <a:off x="7328916" y="3456432"/>
            <a:ext cx="566928" cy="56692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475" y="3583991"/>
            <a:ext cx="311810" cy="3118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55080" y="4160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92240" y="45262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 para calcular: 20 + 5 = 25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92240" y="5166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idade, quantidade, valor...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189720" y="32004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E9F2F3"/>
          </a:solidFill>
          <a:ln/>
        </p:spPr>
      </p:sp>
      <p:sp>
        <p:nvSpPr>
          <p:cNvPr id="18" name="Shape 14"/>
          <p:cNvSpPr/>
          <p:nvPr/>
        </p:nvSpPr>
        <p:spPr>
          <a:xfrm>
            <a:off x="10163556" y="3456432"/>
            <a:ext cx="566928" cy="56692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1115" y="3583991"/>
            <a:ext cx="311810" cy="31181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189720" y="4160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Texto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9326880" y="45262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 como rótulo: "casa 25"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9326880" y="5166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endereço, nome, código...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75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402336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tipo tem um comportamento próprio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diferentes ocupam espaços diferentes na memória e permitem operações diferentes. O tipo define o que pode — e o que não pode — ser feito com um dado.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2F3"/>
          </a:solidFill>
          <a:ln/>
          <a:effectLst>
            <a:outerShdw sx="100000" sy="100000" kx="0" ky="0" algn="bl" rotWithShape="0" blurRad="101600" dist="38100" dir="5400000">
              <a:srgbClr val="1B3A5C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697480"/>
            <a:ext cx="548640" cy="54864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" y="2820924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6974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Números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457200" y="352044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+ 3 = 5</a:t>
            </a:r>
            <a:endParaRPr lang="en-US" sz="3800" dirty="0"/>
          </a:p>
        </p:txBody>
      </p:sp>
      <p:sp>
        <p:nvSpPr>
          <p:cNvPr id="11" name="Text 7"/>
          <p:cNvSpPr/>
          <p:nvPr/>
        </p:nvSpPr>
        <p:spPr>
          <a:xfrm>
            <a:off x="914400" y="461772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válida — números podem ser somados diretamente.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55080" y="233172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BEEE0"/>
          </a:solidFill>
          <a:ln/>
          <a:effectLst>
            <a:outerShdw sx="100000" sy="100000" kx="0" ky="0" algn="bl" rotWithShape="0" blurRad="101600" dist="38100" dir="5400000">
              <a:srgbClr val="1B3A5C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720840" y="2697480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84" y="2820924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452360" y="26974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Textos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355080" y="352044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"dois" + "três" = ?</a:t>
            </a:r>
            <a:endParaRPr lang="en-US" sz="3000" dirty="0"/>
          </a:p>
        </p:txBody>
      </p:sp>
      <p:sp>
        <p:nvSpPr>
          <p:cNvPr id="17" name="Text 12"/>
          <p:cNvSpPr/>
          <p:nvPr/>
        </p:nvSpPr>
        <p:spPr>
          <a:xfrm>
            <a:off x="6812280" y="461772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inválida — textos não podem ser somados dessa forma.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75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402336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ajudam a organizar o pensamento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457200" y="14173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programar — ou planejar um algoritmo —, pensar em tipos é como organizar as gavetas de uma casa: cada coisa tem seu lugar.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Misturar os tipos causa confusão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assim como no computador.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423160"/>
            <a:ext cx="5349240" cy="3383280"/>
          </a:xfrm>
          <a:prstGeom prst="roundRect">
            <a:avLst>
              <a:gd name="adj" fmla="val 3243"/>
            </a:avLst>
          </a:prstGeom>
          <a:solidFill>
            <a:srgbClr val="F5F7FA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743200"/>
            <a:ext cx="548640" cy="54864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" y="2866644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7432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Gaveta de Frutas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822960" y="3566160"/>
            <a:ext cx="46177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1005840" y="379476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997" y="3907917"/>
            <a:ext cx="276606" cy="27660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91640" y="356616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Maçã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822960" y="4754880"/>
            <a:ext cx="46177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5" name="Shape 10"/>
          <p:cNvSpPr/>
          <p:nvPr/>
        </p:nvSpPr>
        <p:spPr>
          <a:xfrm>
            <a:off x="1005840" y="49834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997" y="5096637"/>
            <a:ext cx="276606" cy="27660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91640" y="475488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Banana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6355080" y="2423160"/>
            <a:ext cx="5349240" cy="3383280"/>
          </a:xfrm>
          <a:prstGeom prst="roundRect">
            <a:avLst>
              <a:gd name="adj" fmla="val 3243"/>
            </a:avLst>
          </a:prstGeom>
          <a:solidFill>
            <a:srgbClr val="F5F7FA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720840" y="2743200"/>
            <a:ext cx="548640" cy="54864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284" y="2866644"/>
            <a:ext cx="301752" cy="30175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06640" y="27432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Gaveta de Roupas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6720840" y="3566160"/>
            <a:ext cx="46177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23" name="Shape 16"/>
          <p:cNvSpPr/>
          <p:nvPr/>
        </p:nvSpPr>
        <p:spPr>
          <a:xfrm>
            <a:off x="6903720" y="379476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6877" y="3907917"/>
            <a:ext cx="276606" cy="27660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589520" y="356616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Camisa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6720840" y="4754880"/>
            <a:ext cx="46177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27" name="Shape 19"/>
          <p:cNvSpPr/>
          <p:nvPr/>
        </p:nvSpPr>
        <p:spPr>
          <a:xfrm>
            <a:off x="6903720" y="49834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6877" y="5096637"/>
            <a:ext cx="276606" cy="27660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589520" y="475488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Calça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em tipos ajuda a estruturar o raciocínio lógico e evitar erros no código.</a:t>
            </a:r>
            <a:endParaRPr lang="en-US" sz="1350" dirty="0"/>
          </a:p>
        </p:txBody>
      </p:sp>
      <p:sp>
        <p:nvSpPr>
          <p:cNvPr id="31" name="Text 22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en-US" sz="1000" dirty="0"/>
          </a:p>
        </p:txBody>
      </p:sp>
      <p:sp>
        <p:nvSpPr>
          <p:cNvPr id="32" name="Text 23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Dados, em três ideias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91640" y="191109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dado tem um tipo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225856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4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diz ao computador como interpretar e usar a informação — número ou texto, por exemplo.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154680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1546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91640" y="309981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tipo tem um comportamento próprio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91640" y="344728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4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diferentes ocupam espaços diferentes na memória e definem o que pode, ou não, ser feito com o dado.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4343400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343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91640" y="4288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ajudam a organizar o pensamento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91640" y="4636008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4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gavetas bem organizadas, os tipos estruturam o raciocínio lógico e evitam erros no código.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10515600" cy="777240"/>
          </a:xfrm>
          <a:prstGeom prst="roundRect">
            <a:avLst>
              <a:gd name="adj" fmla="val 11765"/>
            </a:avLst>
          </a:prstGeom>
          <a:solidFill>
            <a:srgbClr val="1B2E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56235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 — AULA 11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651760" y="56235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Definindo Novos Tipos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0561320" y="5747004"/>
            <a:ext cx="530352" cy="530352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3908" y="5879592"/>
            <a:ext cx="265176" cy="26517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49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encias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40" y="548640"/>
            <a:ext cx="1048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40" y="1097280"/>
            <a:ext cx="104851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pt-BR" sz="3000" dirty="0"/>
          </a:p>
        </p:txBody>
      </p:sp>
      <p:sp>
        <p:nvSpPr>
          <p:cNvPr id="902" name="Citacoes"/>
          <p:cNvSpPr/>
          <p:nvPr/>
        </p:nvSpPr>
        <p:spPr>
          <a:xfrm>
            <a:off x="548640" y="2057400"/>
            <a:ext cx="10485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RAABE, André; ZORZO, Avelino F.; BLIKSTEIN, Paulo. Computação na Educação Básica: Fundamentos e Experiências. Porto Alegre: Penso, 2020. Ebook. ISBN 9786581334048.</a:t>
            </a:r>
            <a:endParaRPr lang="pt-BR" sz="1400" dirty="0"/>
          </a:p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RIBEIRO, João Araújo. Introdução à Programação e aos algoritmos. Rio de Janeiro: LTC, 2019. ISBN 978-85-216-3640-3.</a:t>
            </a:r>
            <a:endParaRPr lang="pt-BR" sz="1400" dirty="0"/>
          </a:p>
        </p:txBody>
      </p:sp>
      <p:sp>
        <p:nvSpPr>
          <p:cNvPr id="903" name="Rodape"/>
          <p:cNvSpPr/>
          <p:nvPr/>
        </p:nvSpPr>
        <p:spPr>
          <a:xfrm>
            <a:off x="548640" y="6343650"/>
            <a:ext cx="104851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10 · Abstração e Especialização em Computação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2026-08-20T18:58:11Z</dcterms:created>
  <dcterms:modified xsi:type="dcterms:W3CDTF">2026-08-20T18:58:11Z</dcterms:modified>
</cp:coreProperties>
</file>