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14"/>
    <p:sldId id="260" r:id="rId6"/>
    <p:sldId id="261" r:id="rId7"/>
    <p:sldId id="264" r:id="rId15"/>
    <p:sldId id="262" r:id="rId8"/>
    <p:sldId id="265" r:id="rId16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5.xml"/><Relationship Id="rId15" Type="http://schemas.openxmlformats.org/officeDocument/2006/relationships/slide" Target="slides/slide8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ABSTRAÇÃO, TIPOS E ESTRUTURAS DE DADOS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744200" y="502920"/>
            <a:ext cx="914400" cy="91440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4" name="Image 0" descr="/home/claude/work/decks/final/qa_render/build/icons/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2" y="6217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231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Definindo Novos Tipos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3703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entender o que são tipos, o próximo passo é aprender a criar os nossos: estruturas próprias para representar pessoas, objetos e situações do mundo real.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4892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DE 15 · JULIA + PLUTO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/home/claude/work/decks/final/qa_render/build/icons/lay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7662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48056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de Informação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agrupamos informações relacionadas no dia a dia, podemos organizar dados que pertencem a uma mesma categoria em uma única estrutura.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697480"/>
            <a:ext cx="5577840" cy="192024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permite reunir elementos que fazem sentido juntos, como: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idade</a:t>
            </a:r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uma pessoa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 modelo</a:t>
            </a:r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um carro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8920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uma nova categoria (um novo tipo) é o primeiro passo para representar, com precisão, um conceito do mundo real dentro de um programa.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2240" y="15819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 — DEFININDO UMA CATEGORIA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92240" y="1920240"/>
            <a:ext cx="5120640" cy="3749040"/>
          </a:xfrm>
          <a:prstGeom prst="roundRect">
            <a:avLst>
              <a:gd name="adj" fmla="val 2195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48272" y="2139696"/>
            <a:ext cx="460857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Pessoa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nome::String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idade::Int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email::String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/home/claude/work/decks/final/qa_render/build/icons/us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Representando Pessoas e Coisas do Dia a Dia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920240" y="1897380"/>
            <a:ext cx="777240" cy="7772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7" name="Image 1" descr="/home/claude/work/decks/final/qa_render/build/icons/grad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281" y="1998421"/>
            <a:ext cx="575158" cy="5751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Aluno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2296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estudantes com matrícula, nome e notas.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89120" y="16002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60720" y="1897380"/>
            <a:ext cx="777240" cy="7772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2" name="Image 2" descr="/home/claude/work/decks/final/qa_render/build/icons/bag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761" y="1998421"/>
            <a:ext cx="575158" cy="5751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66344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código, descrição e preço de um item.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0" y="16002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601200" y="1897380"/>
            <a:ext cx="777240" cy="7772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7" name="Image 3" descr="/home/claude/work/decks/final/qa_render/build/icons/car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2241" y="1998421"/>
            <a:ext cx="575158" cy="57515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5820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Carro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850392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Contém marca, modelo e especificações técnicas.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1B3A5C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" y="45079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definir uma nova categoria, podemos criar versões específicas para representar situações reais.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4400" y="496519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exemplo, dentro da categoria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“Pessoa”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podemos ter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cada um com suas características próprias — como idade e endereço.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3" name="Image 0" descr="/home/claude/work/decks/final/qa_render/build/icons/paw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Instâncias na Vida Real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definir uma categoria, podemos imaginar exemplos concretos que pertencem a ela.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Categoria: Animal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234440" y="3017520"/>
            <a:ext cx="731520" cy="7315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9" name="Image 1" descr="/home/claude/work/decks/final/qa_render/build/icons/do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538" y="3112618"/>
            <a:ext cx="541325" cy="5413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Cachorro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788920" y="3017520"/>
            <a:ext cx="731520" cy="7315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2" name="Image 2" descr="/home/claude/work/decks/final/qa_render/build/icons/c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018" y="3112618"/>
            <a:ext cx="541325" cy="5413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7744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343400" y="3017520"/>
            <a:ext cx="731520" cy="7315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5" name="Image 3" descr="/home/claude/work/decks/final/qa_render/build/icons/do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498" y="3112618"/>
            <a:ext cx="541325" cy="5413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3192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Pássaro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548640" y="44348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pertence à mesma categoria, mas tem suas próprias características.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507492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B3A5C"/>
          </a:solidFill>
          <a:ln/>
        </p:spPr>
      </p:sp>
      <p:sp>
        <p:nvSpPr>
          <p:cNvPr id="19" name="Text 13"/>
          <p:cNvSpPr/>
          <p:nvPr/>
        </p:nvSpPr>
        <p:spPr>
          <a:xfrm>
            <a:off x="804672" y="5074920"/>
            <a:ext cx="4700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Instância: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criado é único, com seus próprios valores armazenados na memória.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080760" y="153619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 — TIPO E INSTÂNCIA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080760" y="1874520"/>
            <a:ext cx="5532120" cy="4160520"/>
          </a:xfrm>
          <a:prstGeom prst="roundRect">
            <a:avLst>
              <a:gd name="adj" fmla="val 1978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336792" y="2093976"/>
            <a:ext cx="5020056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Carro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marca::String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modelo::String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ano::Int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velocidade::Float64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meu_carro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Carro("Toyota", "Corolla", 2023, 0.0)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 ·  Exemplo — Tipo e Instância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criar uma instância de um novo tipo?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21488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21488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Carro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marca::String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modelo::String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ano::Int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velocidade::Float64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meu_carro = Carro("Toyota", "Corolla", 2023, 0.0)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611880"/>
            <a:ext cx="11185855" cy="29260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611880"/>
            <a:ext cx="54864" cy="29260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03320"/>
            <a:ext cx="1072865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Carro(...)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chama o construtor do tipo Carro, associando cada argumento posicional ao campo correspondente: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"Toyota"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"Corolla"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velocidade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meu_carro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Carro("Toyota", "Corolla", 2023, 0.0)  (uma instância do tipo Carro)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/home/claude/work/decks/final/qa_render/build/icons/exchang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Pode ou Não Pode Mudar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Algumas coisas podem ser alteradas depois de criadas — como um trabalho em andamento. Outras permanecem iguais depois de prontas — como uma fotografia impressa.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1" descr="/home/claude/work/decks/final/qa_render/build/icons/lo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70" y="2414930"/>
            <a:ext cx="473659" cy="4736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3591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Coisas que não mudam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68680" y="30632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Permanecem iguais depois de criadas — como uma foto revelada ou uma escultura finalizada.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68680" y="3794760"/>
            <a:ext cx="4709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nada é alterado sem querer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Previsibilidade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sempre do mesmo jeito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não precisam ser refeitas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10312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BF1E4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7960" y="2331720"/>
            <a:ext cx="640080" cy="64008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4" name="Image 2" descr="/home/claude/work/decks/final/qa_render/build/icons/lockopen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170" y="2414930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0" y="23591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Coisas que podem mudar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6583680" y="30632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ser alteradas sempre que necessário — como um documento em edição ou uma receita ajustada.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583680" y="37947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permitem atualizar e corrigir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acompanham mudanças constantes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584301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organizar informações, é importante decidir o que pode mudar e o que deve permanecer fixo.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3" name="Image 0" descr="/home/claude/work/decks/final/qa_render/build/icons/walle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Coisas Que Podem Mudar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vezes precisamos representar algo que se transforma com o tempo. Criar categorias que aceitam mudanças traz mais flexibilidade e ajuda a acompanhar o que evolui na vida real.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89788" y="2875788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" y="28757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70" dirty="0"/>
          </a:p>
        </p:txBody>
      </p:sp>
      <p:sp>
        <p:nvSpPr>
          <p:cNvPr id="8" name="Text 5"/>
          <p:cNvSpPr/>
          <p:nvPr/>
        </p:nvSpPr>
        <p:spPr>
          <a:xfrm>
            <a:off x="1234440" y="283464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água de um rio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9788" y="358902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0" name="Text 7"/>
          <p:cNvSpPr/>
          <p:nvPr/>
        </p:nvSpPr>
        <p:spPr>
          <a:xfrm>
            <a:off x="589788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70" dirty="0"/>
          </a:p>
        </p:txBody>
      </p:sp>
      <p:sp>
        <p:nvSpPr>
          <p:cNvPr id="11" name="Text 8"/>
          <p:cNvSpPr/>
          <p:nvPr/>
        </p:nvSpPr>
        <p:spPr>
          <a:xfrm>
            <a:off x="1234440" y="354787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 uma loja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9788" y="4302252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3" name="Text 10"/>
          <p:cNvSpPr/>
          <p:nvPr/>
        </p:nvSpPr>
        <p:spPr>
          <a:xfrm>
            <a:off x="589788" y="43022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70" dirty="0"/>
          </a:p>
        </p:txBody>
      </p:sp>
      <p:sp>
        <p:nvSpPr>
          <p:cNvPr id="14" name="Text 11"/>
          <p:cNvSpPr/>
          <p:nvPr/>
        </p:nvSpPr>
        <p:spPr>
          <a:xfrm>
            <a:off x="1234440" y="42611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Placar de um jogo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9788" y="5015484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6" name="Text 13"/>
          <p:cNvSpPr/>
          <p:nvPr/>
        </p:nvSpPr>
        <p:spPr>
          <a:xfrm>
            <a:off x="589788" y="5015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70" dirty="0"/>
          </a:p>
        </p:txBody>
      </p:sp>
      <p:sp>
        <p:nvSpPr>
          <p:cNvPr id="17" name="Text 14"/>
          <p:cNvSpPr/>
          <p:nvPr/>
        </p:nvSpPr>
        <p:spPr>
          <a:xfrm>
            <a:off x="1234440" y="49743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de uma conta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158191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 — CRIANDO E MODIFICANDO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80760" y="1920240"/>
            <a:ext cx="5532120" cy="4114800"/>
          </a:xfrm>
          <a:prstGeom prst="roundRect">
            <a:avLst>
              <a:gd name="adj" fmla="val 2000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336792" y="2139696"/>
            <a:ext cx="502005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mutable struct ContaBancaria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titular::String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saldo::Float64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ativa::Bool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ContaBancaria("Maria Silva", 1000.0, true)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Agora podemos modificar!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conta.saldo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1500.0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conta.ativa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false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 ·  Exemplo — Criando e Modificando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criar e depois modificar uma instância mutável?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233172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233172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 struct ContaBancaria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titular::String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saldo::Float64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ativa::Bool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 = ContaBancaria("Maria Silva", 1000.0, true)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Agora podemos modificar!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conta.saldo = 1500.0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conta.ativa = false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794760"/>
            <a:ext cx="11185855" cy="274320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794760"/>
            <a:ext cx="54864" cy="274320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86200"/>
            <a:ext cx="1072865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ContaBancaria(...)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chama o construtor, associando cada argumento posicional ao campo correspondente: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titular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"Maria Silva"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ativa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ContaBancaria("Maria Silva", 1000.0, true)  (uma instância mutável)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conta.saldo = 1500.0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sobrescreve o campo saldo — conta passa a ter saldo = 1500.0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conta.ativa = false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sobrescreve o campo ativa — conta passa a ter ativa = false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960120"/>
            <a:ext cx="822960" cy="82296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/home/claude/work/decks/final/qa_render/build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825" y="106710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25146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a criar novos tipos — reunindo dados relacionados em uma única estrutura — nos ajuda a representar melhor pessoas, objetos e situações do mundo real, organizando as ideias e apoiando um raciocínio mais estruturado.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3977640"/>
            <a:ext cx="9875520" cy="1417320"/>
          </a:xfrm>
          <a:prstGeom prst="roundRect">
            <a:avLst>
              <a:gd name="adj" fmla="val 6452"/>
            </a:avLst>
          </a:prstGeom>
          <a:solidFill>
            <a:srgbClr val="18304F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3977640"/>
            <a:ext cx="9235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fixos 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trazem segurança e previsibilidade  ·  </a:t>
            </a:r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mutáveis 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trazem flexibilidade e adaptação.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 — AULA 12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5897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Ligadas a Categorias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ias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Kicker"/>
          <p:cNvSpPr/>
          <p:nvPr/>
        </p:nvSpPr>
        <p:spPr>
          <a:xfrm>
            <a:off x="548640" y="548640"/>
            <a:ext cx="1048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pt-BR" sz="1200" dirty="0"/>
          </a:p>
        </p:txBody>
      </p:sp>
      <p:sp>
        <p:nvSpPr>
          <p:cNvPr id="901" name="Titulo"/>
          <p:cNvSpPr/>
          <p:nvPr/>
        </p:nvSpPr>
        <p:spPr>
          <a:xfrm>
            <a:off x="548640" y="1097280"/>
            <a:ext cx="104851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pt-BR" sz="3000" dirty="0"/>
          </a:p>
        </p:txBody>
      </p:sp>
      <p:sp>
        <p:nvSpPr>
          <p:cNvPr id="902" name="Citacoes"/>
          <p:cNvSpPr/>
          <p:nvPr/>
        </p:nvSpPr>
        <p:spPr>
          <a:xfrm>
            <a:off x="548640" y="2057400"/>
            <a:ext cx="1048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228600" marL="228600">
              <a:lnSpc>
                <a:spcPct val="125000"/>
              </a:lnSpc>
              <a:spcAft>
                <a:spcPts val="320"/>
              </a:spcAft>
              <a:buFont typeface="Arial"/>
              <a:buNone/>
            </a:pPr>
            <a:r>
              <a:rPr sz="1400" b="0">
                <a:solidFill>
                  <a:srgbClr val="E4ECF3"/>
                </a:solidFill>
                <a:latin typeface="Calibri"/>
              </a:rPr>
              <a:t>RIBEIRO, João Araújo. Introdução à Programação e aos algoritmos. Rio de Janeiro: LTC, 2019. ISBN 978-85-216-3640-3.</a:t>
            </a:r>
            <a:endParaRPr lang="pt-BR" sz="1400" dirty="0"/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E4ECF3"/>
                </a:solidFill>
                <a:latin typeface="Calibri"/>
              </a:rPr>
              <a:t>FELLEISEN, Matthias; FINDLER, Robert Bruce; FLATT, Matthew; KRISHNAMURTHI, Shriram. How to Design Programs. The MIT Press, 2001. Disponível em: www.htdp.org.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E4ECF3"/>
                </a:solidFill>
                <a:latin typeface="Calibri"/>
              </a:rPr>
              <a:t>RAABE, André; ZORZO, Avelino F.; BLIKSTEIN, Paulo. Computação na Educação Básica: Fundamentos e Experiências. Porto Alegre: Penso, 2020. Ebook. ISBN 9786581334048. Disponível em: https://integrada.minhabiblioteca.com.br/#/books/9786581334048.</a:t>
            </a:r>
          </a:p>
        </p:txBody>
      </p:sp>
      <p:sp>
        <p:nvSpPr>
          <p:cNvPr id="903" name="Rodape"/>
          <p:cNvSpPr/>
          <p:nvPr/>
        </p:nvSpPr>
        <p:spPr>
          <a:xfrm>
            <a:off x="548640" y="6343650"/>
            <a:ext cx="10485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pt-B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2026-08-20T19:06:51Z</dcterms:created>
  <dcterms:modified xsi:type="dcterms:W3CDTF">2026-08-20T19:06:51Z</dcterms:modified>
</cp:coreProperties>
</file>