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19"/>
    <p:sldId id="259" r:id="rId5"/>
    <p:sldId id="260" r:id="rId6"/>
    <p:sldId id="269" r:id="rId20"/>
    <p:sldId id="261" r:id="rId7"/>
    <p:sldId id="262" r:id="rId8"/>
    <p:sldId id="263" r:id="rId9"/>
    <p:sldId id="270" r:id="rId21"/>
    <p:sldId id="264" r:id="rId10"/>
    <p:sldId id="265" r:id="rId11"/>
    <p:sldId id="266" r:id="rId12"/>
    <p:sldId id="267" r:id="rId13"/>
    <p:sldId id="271" r:id="rId22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4.xml"/><Relationship Id="rId20" Type="http://schemas.openxmlformats.org/officeDocument/2006/relationships/slide" Target="slides/slide7.xml"/><Relationship Id="rId21" Type="http://schemas.openxmlformats.org/officeDocument/2006/relationships/slide" Target="slides/slide11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899855" y="-1645920"/>
            <a:ext cx="4206240" cy="4206240"/>
          </a:xfrm>
          <a:prstGeom prst="ellipse">
            <a:avLst/>
          </a:prstGeom>
          <a:solidFill>
            <a:srgbClr val="2C7A8C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54335" y="548640"/>
            <a:ext cx="2194560" cy="2194560"/>
          </a:xfrm>
          <a:prstGeom prst="ellipse">
            <a:avLst/>
          </a:prstGeom>
          <a:solidFill>
            <a:srgbClr val="E8963C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914400"/>
            <a:ext cx="868680" cy="868680"/>
          </a:xfrm>
          <a:prstGeom prst="ellipse">
            <a:avLst/>
          </a:prstGeom>
          <a:solidFill>
            <a:srgbClr val="2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ula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120140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1488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963C"/>
                </a:solidFill>
                <a:latin typeface="Calibri"/>
              </a:rPr>
              <a:t>PENSAMENTO COMPUTACIONAL · AULA 15 DE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Fechamento para discussão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77640"/>
            <a:ext cx="9509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C9D3DE"/>
                </a:solidFill>
                <a:latin typeface="Calibri"/>
              </a:rPr>
              <a:t>Julia e Pluto na disciplina de Pensamento Computacional — PROFCOMP, Mestrado Profissional em Computação em Rede Nacional.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CA0B3"/>
                </a:solidFill>
                <a:latin typeface="Calibri"/>
              </a:rPr>
              <a:t>Aula 15 · Fechamento e Discussão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5288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CA0B3"/>
                </a:solidFill>
                <a:latin typeface="Calibri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Sumário do fechamento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Perguntas de discussão e tarefas curtas para o treino inicial em Pluto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581912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6916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Visibilidade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33472" y="16824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O que o Pluto tornou visível que ficaria menos evidente em código tradicional?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713232" y="2660904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1F5F9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770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Reatividade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33472" y="27614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A reatividade ajudou a perceber relações entre variáveis?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713232" y="3739896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96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Indução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33472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Em quais momentos usamos pensamento indutivo?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713232" y="4818888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1F5F9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928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Dedução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33472" y="49194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Em quais momentos usamos pensamento dedutivo?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245352" y="1581912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169164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Decomposição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165592" y="168249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Quais tarefas exigiram decomposição?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6245352" y="2660904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1F5F9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27706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Generalização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65592" y="27614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Onde apareceu generalização?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>
            <a:off x="6245352" y="3739896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384962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Transformação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165592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Onde apareceu transformação de dados?</a:t>
            </a:r>
            <a:endParaRPr lang="en-US" sz="1030" dirty="0"/>
          </a:p>
        </p:txBody>
      </p:sp>
      <p:sp>
        <p:nvSpPr>
          <p:cNvPr id="28" name="Shape 26"/>
          <p:cNvSpPr/>
          <p:nvPr/>
        </p:nvSpPr>
        <p:spPr>
          <a:xfrm>
            <a:off x="6245352" y="4818888"/>
            <a:ext cx="5074920" cy="713232"/>
          </a:xfrm>
          <a:prstGeom prst="roundRect">
            <a:avLst>
              <a:gd name="adj" fmla="val 12821"/>
            </a:avLst>
          </a:prstGeom>
          <a:solidFill>
            <a:srgbClr val="F1F5F9"/>
          </a:solidFill>
          <a:ln w="10160">
            <a:solidFill>
              <a:srgbClr val="E9EEF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46520" y="492861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E7A"/>
                </a:solidFill>
              </a:rPr>
              <a:t>Limites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165592" y="491947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30" dirty="0">
                <a:solidFill>
                  <a:srgbClr val="0E1B2A"/>
                </a:solidFill>
              </a:rPr>
              <a:t>Quais foram os limites dos modelos criados?</a:t>
            </a:r>
            <a:endParaRPr lang="en-US" sz="1030" dirty="0"/>
          </a:p>
        </p:txBody>
      </p:sp>
      <p:sp>
        <p:nvSpPr>
          <p:cNvPr id="31" name="Shape 29"/>
          <p:cNvSpPr/>
          <p:nvPr/>
        </p:nvSpPr>
        <p:spPr>
          <a:xfrm>
            <a:off x="713232" y="566928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5797296"/>
            <a:ext cx="10149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0E1B2A"/>
                </a:solidFill>
              </a:rPr>
              <a:t>Parâmetro qualitativo do relato: avaliar a tarefa pelo que ela permite representar, manipular, visualizar, comparar, interpretar, reconstruir e justificar.</a:t>
            </a:r>
            <a:endParaRPr lang="en-US" sz="1120" dirty="0"/>
          </a:p>
        </p:txBody>
      </p:sp>
      <p:sp>
        <p:nvSpPr>
          <p:cNvPr id="33" name="Text 31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1. O que o Pluto tornou visível?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representação como mediação conceitual e visualização do processo.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notas = [7, 8, 6, 9]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media = sum(notas) / length(notas)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md"""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Notas: $notas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Média: $media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"""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Executar as células separadas de dados, cálculo e texto.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Apontar o que ficou explícito na relação entre entrada, processamento e saída.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Comparar com um script linear e registrar o que ficaria “escondido”.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Representação + visualização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Uma frase sobre o que se tornou observável no notebook.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15  ·  1. O que o Pluto tornou visível?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 tarefa no Pluto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69164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69164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1545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 = [7, 8, 6, 9]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 = sum(notas) / length(notas)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md"""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Notas: $notas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Média: $media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3154680"/>
            <a:ext cx="11185855" cy="338328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3154680"/>
            <a:ext cx="54864" cy="338328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246120"/>
            <a:ext cx="1072865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notas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[7, 8, 6, 9]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length(notas)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 = 7.5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2. A reatividade ajudou a perceber relações?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manipulação de parâmetros, feedback imediato e comparação entre estados.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valor = 100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taxa = 0.05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tempo = 10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final = valor * (1 + taxa)^tempo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3A9D78"/>
          </a:solidFill>
          <a:ln w="12700">
            <a:solidFill>
              <a:srgbClr val="3A9D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Alterar taxa e tempo, executando a célula de entrada.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3A9D78"/>
          </a:solidFill>
          <a:ln w="12700">
            <a:solidFill>
              <a:srgbClr val="3A9D7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Observar quais resultados mudam sem reescrever o algoritmo.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3A9D78"/>
          </a:solidFill>
          <a:ln w="12700">
            <a:solidFill>
              <a:srgbClr val="3A9D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Explicar a relação causal entre variável alterada e resultado.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Manipulação + feedback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Tabela curta: alteração feita → efeito observado.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3. Onde usamos pensamento indutivo?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investigação exploratória, padrões observados e formulação de hipóteses.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seq = [2, 4, 6, 8, 10]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hipotese = "somar 2"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proximo = last(seq) + 2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Observar três sequências diferentes.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Formular uma hipótese para cada padrão.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Testar a hipótese gerando o próximo termo.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Investigação exploratória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Hipótese + teste + revisão quando a regra falhar.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15  ·  3. Onde usamos pensamento indutivo?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 tarefa no Pluto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0629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0629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9166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 = [2, 4, 6, 8, 10]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hipotese = "somar 2"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proximo = last(seq) + 2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526030"/>
            <a:ext cx="11185855" cy="40119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526030"/>
            <a:ext cx="54864" cy="40119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17470"/>
            <a:ext cx="10728655" cy="3829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[2, 4, 6, 8, 10]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last(seq)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(último elemento de seq)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proximo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+ 2 = 12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4. Onde usamos pensamento dedutivo?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aplicação de regras gerais a casos particulares.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numero = 14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eh_par = numero % 2 == 0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resultado = eh_par ? "par" : "ímpar"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Escrever a regra antes de executar o código.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Aplicar a regra a cinco números diferentes.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Verificar se a saída confirma a previsão.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Modelo qualitativo → quantitativo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Regra geral, casos testados e justificativa.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5. Quais tarefas exigiram decomposição?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interação baseada em tarefas e organização do processo.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n1, n2, n3 = 8, 6, 7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media = (n1 + n2 + n3) / 3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situacao = media &gt;= 7 ? "aprovado" : "rever"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1B4E7A"/>
          </a:solidFill>
          <a:ln w="12700">
            <a:solidFill>
              <a:srgbClr val="1B4E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Separar o problema em entrada, processamento e saída.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1B4E7A"/>
          </a:solidFill>
          <a:ln w="12700">
            <a:solidFill>
              <a:srgbClr val="1B4E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Criar uma célula para cada parte.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1B4E7A"/>
          </a:solidFill>
          <a:ln w="12700">
            <a:solidFill>
              <a:srgbClr val="1B4E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Identificar que mudança em uma parte afeta as demais.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Interação por tarefa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Mapa Entrada → Processo → Saída.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6. Onde apareceu generalização?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reconstrução de estratégia e passagem do caso particular para função.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function media(notas)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sum(notas) / length(notas)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end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media([8, 6, 7])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media([10, 9, 8])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Resolver primeiro um caso manualmente.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Transformar o cálculo repetido em função.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2C7A7B"/>
          </a:solidFill>
          <a:ln w="12700">
            <a:solidFill>
              <a:srgbClr val="2C7A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Aplicar a função a casos novos e comparar.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Flexibilidade notacional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Descrição do que a função generalizou.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58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15  ·  6. Onde apareceu generalização?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111858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Pequena tarefa no Pluto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11185855" cy="1558290"/>
          </a:xfrm>
          <a:prstGeom prst="rect">
            <a:avLst/>
          </a:prstGeom>
          <a:solidFill>
            <a:srgbClr val="F2F4F7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54864" cy="155829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10728655" cy="141198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media(notas)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sum(notas) / length(notas)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 6, 7])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media([10, 9, 8])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021330"/>
            <a:ext cx="11185855" cy="3516630"/>
          </a:xfrm>
          <a:prstGeom prst="rect">
            <a:avLst/>
          </a:prstGeom>
          <a:solidFill>
            <a:srgbClr val="EFF5F1"/>
          </a:solidFill>
          <a:ln w="9525">
            <a:solidFill>
              <a:srgbClr val="C7CF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3021330"/>
            <a:ext cx="54864" cy="3516630"/>
          </a:xfrm>
          <a:prstGeom prst="rect">
            <a:avLst/>
          </a:prstGeom>
          <a:solidFill>
            <a:srgbClr val="2C7A8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112770"/>
            <a:ext cx="10728655" cy="33337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media([8, 6, 7])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= 21, length = 3 → 21/3 = 7.0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3A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media([10, 9, 8])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B6B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 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= 27, length = 3 → 27/3 = 9.0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7. Onde apareceu transformação de dados?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transformar representações sem perder o sentido do dado.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celsius = [25, 28, 30]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fahrenheit = celsius .* 9/5 .+ 32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pares = [celsius fahrenheit]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A23E48"/>
          </a:solidFill>
          <a:ln w="12700">
            <a:solidFill>
              <a:srgbClr val="A23E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Explicar o significado dos dados originais.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A23E48"/>
          </a:solidFill>
          <a:ln w="12700">
            <a:solidFill>
              <a:srgbClr val="A23E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Aplicar uma regra de transformação.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A23E48"/>
          </a:solidFill>
          <a:ln w="12700">
            <a:solidFill>
              <a:srgbClr val="A23E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Comparar as duas representações e interpretar.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Representação + transformação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Antes/depois com explicação do que mudou.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8. Quais são os limites dos modelos?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Foco: reflexão metaconceitual e crítica ao resultado computacional.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4892040" cy="3611880"/>
          </a:xfrm>
          <a:prstGeom prst="roundRect">
            <a:avLst>
              <a:gd name="adj" fmla="val 2025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4672" y="1700784"/>
            <a:ext cx="4562856" cy="33558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pop0 = 1000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taxa = 0.05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anos = 20</a:t>
            </a:r>
            <a:endParaRPr lang="en-US" sz="1220" dirty="0"/>
          </a:p>
          <a:p>
            <a:pPr indent="0" marL="0">
              <a:buNone/>
            </a:pPr>
            <a:r>
              <a:rPr lang="en-US" sz="1220" dirty="0">
                <a:solidFill>
                  <a:srgbClr val="E5E7EB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pop = pop0 * (1 + taxa)^anos</a:t>
            </a:r>
            <a:endParaRPr lang="en-US" sz="1220" dirty="0"/>
          </a:p>
        </p:txBody>
      </p:sp>
      <p:sp>
        <p:nvSpPr>
          <p:cNvPr id="9" name="Text 7"/>
          <p:cNvSpPr/>
          <p:nvPr/>
        </p:nvSpPr>
        <p:spPr>
          <a:xfrm>
            <a:off x="5897880" y="153619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2A"/>
                </a:solidFill>
              </a:rPr>
              <a:t>Pequena tarefa no Pluto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897880" y="1901952"/>
            <a:ext cx="512064" cy="512064"/>
          </a:xfrm>
          <a:prstGeom prst="ellipse">
            <a:avLst/>
          </a:prstGeom>
          <a:solidFill>
            <a:srgbClr val="52616B"/>
          </a:solidFill>
          <a:ln w="12700">
            <a:solidFill>
              <a:srgbClr val="5261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984248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0528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Executar o modelo e interpretar o resultado.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5897880" y="2505456"/>
            <a:ext cx="512064" cy="512064"/>
          </a:xfrm>
          <a:prstGeom prst="ellipse">
            <a:avLst/>
          </a:prstGeom>
          <a:solidFill>
            <a:srgbClr val="52616B"/>
          </a:solidFill>
          <a:ln w="12700">
            <a:solidFill>
              <a:srgbClr val="5261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97880" y="25877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10528" y="2523744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Listar três fatores que o modelo ignora.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5897880" y="3108960"/>
            <a:ext cx="512064" cy="512064"/>
          </a:xfrm>
          <a:prstGeom prst="ellipse">
            <a:avLst/>
          </a:prstGeom>
          <a:solidFill>
            <a:srgbClr val="52616B"/>
          </a:solidFill>
          <a:ln w="12700">
            <a:solidFill>
              <a:srgbClr val="5261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7880" y="3191256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0528" y="3145536"/>
            <a:ext cx="4892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0E1B2A"/>
                </a:solidFill>
              </a:rPr>
              <a:t>Reescrever a pergunta para torná-la mais responsável.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62472" y="489204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4E7A"/>
                </a:solidFill>
              </a:rPr>
              <a:t>Aspecto qualitativo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62472" y="5120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Limite da ferramenta + reflexão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8366760" y="475488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49640" y="4892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2400E"/>
                </a:solidFill>
              </a:rPr>
              <a:t>Registro esperado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549640" y="512064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0E1B2A"/>
                </a:solidFill>
              </a:rPr>
              <a:t>Lista de pressupostos e limites do modelo.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Síntese para a discussão final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Julia não é o fim; o notebook é um espaço de investigação, representação e reflexão.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63240" y="3364992"/>
            <a:ext cx="1417320" cy="0"/>
          </a:xfrm>
          <a:prstGeom prst="line">
            <a:avLst/>
          </a:prstGeom>
          <a:noFill/>
          <a:ln w="27940">
            <a:solidFill>
              <a:srgbClr val="2AA7C9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223760" y="3364992"/>
            <a:ext cx="1325880" cy="0"/>
          </a:xfrm>
          <a:prstGeom prst="line">
            <a:avLst/>
          </a:prstGeom>
          <a:noFill/>
          <a:ln w="27940">
            <a:solidFill>
              <a:srgbClr val="2AA7C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14400" y="2971800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1B4E7A"/>
          </a:solidFill>
          <a:ln w="12700">
            <a:solidFill>
              <a:srgbClr val="1B4E7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78992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Representar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1078992" y="3429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dados, relações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 modelos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074920" y="2971800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3A9D78"/>
          </a:solidFill>
          <a:ln w="12700">
            <a:solidFill>
              <a:srgbClr val="3A9D78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39512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Testar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239512" y="3429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hipóteses, regras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 variações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9144000" y="2971800"/>
            <a:ext cx="2103120" cy="868680"/>
          </a:xfrm>
          <a:prstGeom prst="roundRect">
            <a:avLst>
              <a:gd name="adj" fmla="val 12632"/>
            </a:avLst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08592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</a:rPr>
              <a:t>Discutir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9308592" y="34290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interpretações, erros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e limites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08960" y="5504688"/>
            <a:ext cx="5897880" cy="493776"/>
          </a:xfrm>
          <a:prstGeom prst="roundRect">
            <a:avLst>
              <a:gd name="adj" fmla="val 14815"/>
            </a:avLst>
          </a:prstGeom>
          <a:solidFill>
            <a:srgbClr val="D8F1F6"/>
          </a:solidFill>
          <a:ln w="12700">
            <a:solidFill>
              <a:srgbClr val="D8F1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37560" y="5650992"/>
            <a:ext cx="5440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1B2A"/>
                </a:solidFill>
              </a:rPr>
              <a:t>Critério central do relato: avaliar o percurso da tarefa, não apenas o código final.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9875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E1B2A"/>
                </a:solidFill>
              </a:rPr>
              <a:t>Referências essenciais do relato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21792" y="96012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2616B"/>
                </a:solidFill>
              </a:rPr>
              <a:t>Bibliografia do relato usada como parâmetro qualitativo para as tarefas.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316736"/>
            <a:ext cx="10972800" cy="0"/>
          </a:xfrm>
          <a:prstGeom prst="line">
            <a:avLst/>
          </a:prstGeom>
          <a:noFill/>
          <a:ln w="15240">
            <a:solidFill>
              <a:srgbClr val="E9EE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536192"/>
            <a:ext cx="54864" cy="50292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51790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QUEIROZ, A. E. de M. A conceitualização sobre estruturas aditivas e multiplicativas no uso de expressões da representação visual em uma interface educativa. Tese, UFES, 2012.</a:t>
            </a:r>
            <a:endParaRPr lang="en-US" sz="890" dirty="0"/>
          </a:p>
        </p:txBody>
      </p:sp>
      <p:sp>
        <p:nvSpPr>
          <p:cNvPr id="9" name="Shape 7"/>
          <p:cNvSpPr/>
          <p:nvPr/>
        </p:nvSpPr>
        <p:spPr>
          <a:xfrm>
            <a:off x="685800" y="2359152"/>
            <a:ext cx="54864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34086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SEDIG, K.; SUMNER, M. Characterizing interaction with visual mathematical representations. International Journal of Computers for Mathematical Learning, 2006.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685800" y="3182112"/>
            <a:ext cx="54864" cy="50292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316382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SEDIG, K.; KLAWE, M.; WESTROM, M. Role of interface manipulation style and scaffolding on cognition and concept learning in learnware. ACM TOCHI, 2001.</a:t>
            </a:r>
            <a:endParaRPr lang="en-US" sz="890" dirty="0"/>
          </a:p>
        </p:txBody>
      </p:sp>
      <p:sp>
        <p:nvSpPr>
          <p:cNvPr id="13" name="Shape 11"/>
          <p:cNvSpPr/>
          <p:nvPr/>
        </p:nvSpPr>
        <p:spPr>
          <a:xfrm>
            <a:off x="685800" y="4005072"/>
            <a:ext cx="54864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398678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DE-SOUZA, C. S.; SEDIG, K. Semiotic considerations on direct concept manipulation as a distinct interface style for learnware, 2001.</a:t>
            </a:r>
            <a:endParaRPr lang="en-US" sz="890" dirty="0"/>
          </a:p>
        </p:txBody>
      </p:sp>
      <p:sp>
        <p:nvSpPr>
          <p:cNvPr id="15" name="Shape 13"/>
          <p:cNvSpPr/>
          <p:nvPr/>
        </p:nvSpPr>
        <p:spPr>
          <a:xfrm>
            <a:off x="685800" y="4828032"/>
            <a:ext cx="54864" cy="50292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480974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WOOD, D.; BRUNER, J. S.; ROSS, G. The role of tutoring in problem solving. Journal of Child Psychology and Psychiatry, 1976.</a:t>
            </a:r>
            <a:endParaRPr lang="en-US" sz="890" dirty="0"/>
          </a:p>
        </p:txBody>
      </p:sp>
      <p:sp>
        <p:nvSpPr>
          <p:cNvPr id="17" name="Shape 15"/>
          <p:cNvSpPr/>
          <p:nvPr/>
        </p:nvSpPr>
        <p:spPr>
          <a:xfrm>
            <a:off x="6217920" y="1536192"/>
            <a:ext cx="54864" cy="50292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27648" y="151790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GÉRARD, V. A comprehensive theory of representation for mathematics education. Journal of Mathematical Behavior, 1998.</a:t>
            </a:r>
            <a:endParaRPr lang="en-US" sz="890" dirty="0"/>
          </a:p>
        </p:txBody>
      </p:sp>
      <p:sp>
        <p:nvSpPr>
          <p:cNvPr id="19" name="Shape 17"/>
          <p:cNvSpPr/>
          <p:nvPr/>
        </p:nvSpPr>
        <p:spPr>
          <a:xfrm>
            <a:off x="6217920" y="2359152"/>
            <a:ext cx="54864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27648" y="234086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VERGNAUD, G. Psicologia do desenvolvimento cognitivo e didáctica das matemáticas: as estruturas aditivas. Análise Psicológica, 1986.</a:t>
            </a:r>
            <a:endParaRPr lang="en-US" sz="890" dirty="0"/>
          </a:p>
        </p:txBody>
      </p:sp>
      <p:sp>
        <p:nvSpPr>
          <p:cNvPr id="21" name="Shape 19"/>
          <p:cNvSpPr/>
          <p:nvPr/>
        </p:nvSpPr>
        <p:spPr>
          <a:xfrm>
            <a:off x="6217920" y="3182112"/>
            <a:ext cx="54864" cy="50292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7648" y="316382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GOLDIN, G.; KAPUT, J. A joint perspective on representation in learning and doing mathematics. In: Theories of Mathematical Learning, 1996.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6217920" y="4005072"/>
            <a:ext cx="54864" cy="50292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398678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KAPUT, J. J. The representational roles of technology in connecting mathematics with authentic experience. 1994.</a:t>
            </a:r>
            <a:endParaRPr lang="en-US" sz="890" dirty="0"/>
          </a:p>
        </p:txBody>
      </p:sp>
      <p:sp>
        <p:nvSpPr>
          <p:cNvPr id="25" name="Shape 23"/>
          <p:cNvSpPr/>
          <p:nvPr/>
        </p:nvSpPr>
        <p:spPr>
          <a:xfrm>
            <a:off x="6217920" y="4828032"/>
            <a:ext cx="54864" cy="502920"/>
          </a:xfrm>
          <a:prstGeom prst="rect">
            <a:avLst/>
          </a:prstGeom>
          <a:solidFill>
            <a:srgbClr val="2AA7C9"/>
          </a:solidFill>
          <a:ln w="12700">
            <a:solidFill>
              <a:srgbClr val="2AA7C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27648" y="4809744"/>
            <a:ext cx="5074920" cy="59436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indent="0" marL="0">
              <a:buNone/>
            </a:pPr>
            <a:r>
              <a:rPr lang="en-US" sz="890" dirty="0">
                <a:solidFill>
                  <a:srgbClr val="0E1B2A"/>
                </a:solidFill>
              </a:rPr>
              <a:t>VALENTE, J. A. et al. O computador na sociedade do conhecimento. Campinas: Unicamp/NIED, 1999.</a:t>
            </a:r>
            <a:endParaRPr lang="en-US" sz="890" dirty="0"/>
          </a:p>
        </p:txBody>
      </p:sp>
      <p:sp>
        <p:nvSpPr>
          <p:cNvPr id="27" name="Shape 25"/>
          <p:cNvSpPr/>
          <p:nvPr/>
        </p:nvSpPr>
        <p:spPr>
          <a:xfrm>
            <a:off x="685800" y="5943600"/>
            <a:ext cx="10881360" cy="347472"/>
          </a:xfrm>
          <a:prstGeom prst="roundRect">
            <a:avLst>
              <a:gd name="adj" fmla="val 15789"/>
            </a:avLst>
          </a:prstGeom>
          <a:solidFill>
            <a:srgbClr val="EEF6F8"/>
          </a:solidFill>
          <a:ln w="12700">
            <a:solidFill>
              <a:srgbClr val="EEF6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6044184"/>
            <a:ext cx="10469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2616B"/>
                </a:solidFill>
              </a:rPr>
              <a:t>As referências foram selecionadas da bibliografia do relato e da tese que o fundamenta, com foco em representação, interação, manipulação, feedback, modelização e reflexão.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502920" y="6510528"/>
            <a:ext cx="8686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616B"/>
                </a:solidFill>
              </a:rPr>
              <a:t>PROFCOMP · Pensamento Computacional · Julia + Pluto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1384280" y="6437376"/>
            <a:ext cx="347472" cy="228600"/>
          </a:xfrm>
          <a:prstGeom prst="rect">
            <a:avLst/>
          </a:prstGeom>
          <a:solidFill>
            <a:srgbClr val="1B4E7A"/>
          </a:solidFill>
          <a:ln>
            <a:solidFill>
              <a:srgbClr val="1B4E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encias">
    <p:bg>
      <p:bgPr>
        <a:solidFill>
          <a:srgbClr val="1223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26" y="548640"/>
            <a:ext cx="10484857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963C"/>
                </a:solidFill>
                <a:latin typeface="Calibri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26" y="1097280"/>
            <a:ext cx="10484857" cy="754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Referências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2057400"/>
            <a:ext cx="1048485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4ECF3"/>
                </a:solidFill>
                <a:latin typeface="Calibri"/>
              </a:rPr>
              <a:t>RAABE, André; ZORZO, Avelino F.; BLIKSTEIN, Paulo. Computação na Educação Básica: Fundamentos e Experiências. Porto Alegre: Penso, 2020. Ebook. ISBN 9786581334048.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26" y="6343650"/>
            <a:ext cx="10484857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AA5B1"/>
                </a:solidFill>
                <a:latin typeface="Calibri"/>
              </a:rPr>
              <a:t>Aula 15 · Fechamento e Discussão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UNIVASF / PROFCOMP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Julia e Pluto no PROFCOMP — Fechamento para discussão</dc:title>
  <dc:subject>Fechamento para discussão: Julia e Pluto no Pensamento Computacional</dc:subject>
  <dc:creator>OpenAI</dc:creator>
  <cp:lastModifiedBy>OpenAI</cp:lastModifiedBy>
  <cp:revision>1</cp:revision>
  <dcterms:created xsi:type="dcterms:W3CDTF">2026-06-04T17:09:19Z</dcterms:created>
  <dcterms:modified xsi:type="dcterms:W3CDTF">2026-06-04T17:09:19Z</dcterms:modified>
</cp:coreProperties>
</file>