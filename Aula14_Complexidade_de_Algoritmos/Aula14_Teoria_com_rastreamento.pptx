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</c:v>
                </c:pt>
              </c:strCache>
            </c:strRef>
          </c:tx>
          <c:spPr>
            <a:solidFill>
              <a:srgbClr val="2C7A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n²</c:v>
                </c:pt>
              </c:strCache>
            </c:strRef>
          </c:tx>
          <c:spPr>
            <a:solidFill>
              <a:srgbClr val="E896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400</c:v>
                </c:pt>
                <c:pt idx="2">
                  <c:v>900</c:v>
                </c:pt>
                <c:pt idx="3">
                  <c:v>1600</c:v>
                </c:pt>
                <c:pt idx="4">
                  <c:v>2500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n³</c:v>
                </c:pt>
              </c:strCache>
            </c:strRef>
          </c:tx>
          <c:spPr>
            <a:solidFill>
              <a:srgbClr val="44546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1000</c:v>
                </c:pt>
                <c:pt idx="1">
                  <c:v>8000</c:v>
                </c:pt>
                <c:pt idx="2">
                  <c:v>27000</c:v>
                </c:pt>
                <c:pt idx="3">
                  <c:v>64000</c:v>
                </c:pt>
                <c:pt idx="4">
                  <c:v>125000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2n</c:v>
                </c:pt>
              </c:strCache>
            </c:strRef>
          </c:tx>
          <c:spPr>
            <a:solidFill>
              <a:srgbClr val="2C7A8C"/>
            </a:solidFill>
            <a:ln w="31750" cap="flat">
              <a:solidFill>
                <a:srgbClr val="2C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7A8C"/>
              </a:solidFill>
              <a:ln w="9525" cap="flat">
                <a:solidFill>
                  <a:srgbClr val="2C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100</c:v>
                  </c:pt>
                  <c:pt idx="1">
                    <c:v>500</c:v>
                  </c:pt>
                  <c:pt idx="2">
                    <c:v>1000</c:v>
                  </c:pt>
                  <c:pt idx="3">
                    <c:v>2000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</c:v>
                </c:pt>
                <c:pt idx="1">
                  <c:v>1000</c:v>
                </c:pt>
                <c:pt idx="2">
                  <c:v>2000</c:v>
                </c:pt>
                <c:pt idx="3">
                  <c:v>4000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2000n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100</c:v>
                  </c:pt>
                  <c:pt idx="1">
                    <c:v>500</c:v>
                  </c:pt>
                  <c:pt idx="2">
                    <c:v>1000</c:v>
                  </c:pt>
                  <c:pt idx="3">
                    <c:v>2000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200000</c:v>
                </c:pt>
                <c:pt idx="1">
                  <c:v>1000000</c:v>
                </c:pt>
                <c:pt idx="2">
                  <c:v>2000000</c:v>
                </c:pt>
                <c:pt idx="3">
                  <c:v>4000000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T(n)</c:v>
                </c:pt>
              </c:strCache>
            </c:strRef>
          </c:tx>
          <c:spPr>
            <a:solidFill>
              <a:srgbClr val="2C7A8C"/>
            </a:solidFill>
            <a:ln w="31750" cap="flat">
              <a:solidFill>
                <a:srgbClr val="2C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7A8C"/>
              </a:solidFill>
              <a:ln w="9525" cap="flat">
                <a:solidFill>
                  <a:srgbClr val="2C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11</c:v>
                </c:pt>
                <c:pt idx="2">
                  <c:v>14</c:v>
                </c:pt>
                <c:pt idx="3">
                  <c:v>17</c:v>
                </c:pt>
                <c:pt idx="4">
                  <c:v>20</c:v>
                </c:pt>
                <c:pt idx="5">
                  <c:v>23</c:v>
                </c:pt>
                <c:pt idx="6">
                  <c:v>26</c:v>
                </c:pt>
                <c:pt idx="7">
                  <c:v>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ΔT(n)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T(n)</c:v>
                </c:pt>
              </c:strCache>
            </c:strRef>
          </c:tx>
          <c:spPr>
            <a:solidFill>
              <a:srgbClr val="2C7A8C"/>
            </a:solidFill>
            <a:ln w="31750" cap="flat">
              <a:solidFill>
                <a:srgbClr val="2C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7A8C"/>
              </a:solidFill>
              <a:ln w="9525" cap="flat">
                <a:solidFill>
                  <a:srgbClr val="2C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4</c:v>
                </c:pt>
                <c:pt idx="2">
                  <c:v>9</c:v>
                </c:pt>
                <c:pt idx="3">
                  <c:v>16</c:v>
                </c:pt>
                <c:pt idx="4">
                  <c:v>25</c:v>
                </c:pt>
                <c:pt idx="5">
                  <c:v>36</c:v>
                </c:pt>
                <c:pt idx="6">
                  <c:v>49</c:v>
                </c:pt>
                <c:pt idx="7">
                  <c:v>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ΔT(n)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  <c:pt idx="5">
                  <c:v>11</c:v>
                </c:pt>
                <c:pt idx="6">
                  <c:v>13</c:v>
                </c:pt>
                <c:pt idx="7">
                  <c:v>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n²</c:v>
                </c:pt>
              </c:strCache>
            </c:strRef>
          </c:tx>
          <c:spPr>
            <a:solidFill>
              <a:srgbClr val="2C7A8C"/>
            </a:solidFill>
            <a:ln w="31750" cap="flat">
              <a:solidFill>
                <a:srgbClr val="2C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7A8C"/>
              </a:solidFill>
              <a:ln w="9525" cap="flat">
                <a:solidFill>
                  <a:srgbClr val="2C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5</c:v>
                  </c:pt>
                  <c:pt idx="1">
                    <c:v>10</c:v>
                  </c:pt>
                  <c:pt idx="2">
                    <c:v>15</c:v>
                  </c:pt>
                  <c:pt idx="3">
                    <c:v>20</c:v>
                  </c:pt>
                  <c:pt idx="4">
                    <c:v>25</c:v>
                  </c:pt>
                  <c:pt idx="5">
                    <c:v>30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100</c:v>
                </c:pt>
                <c:pt idx="2">
                  <c:v>225</c:v>
                </c:pt>
                <c:pt idx="3">
                  <c:v>400</c:v>
                </c:pt>
                <c:pt idx="4">
                  <c:v>625</c:v>
                </c:pt>
                <c:pt idx="5">
                  <c:v>900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φ^n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5</c:v>
                  </c:pt>
                  <c:pt idx="1">
                    <c:v>10</c:v>
                  </c:pt>
                  <c:pt idx="2">
                    <c:v>15</c:v>
                  </c:pt>
                  <c:pt idx="3">
                    <c:v>20</c:v>
                  </c:pt>
                  <c:pt idx="4">
                    <c:v>25</c:v>
                  </c:pt>
                  <c:pt idx="5">
                    <c:v>30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</c:v>
                </c:pt>
                <c:pt idx="1">
                  <c:v>123</c:v>
                </c:pt>
                <c:pt idx="2">
                  <c:v>1364</c:v>
                </c:pt>
                <c:pt idx="3">
                  <c:v>15127</c:v>
                </c:pt>
                <c:pt idx="4">
                  <c:v>167761</c:v>
                </c:pt>
                <c:pt idx="5">
                  <c:v>1860498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2^n</c:v>
                </c:pt>
              </c:strCache>
            </c:strRef>
          </c:tx>
          <c:spPr>
            <a:solidFill>
              <a:srgbClr val="44546A"/>
            </a:solidFill>
            <a:ln w="31750" cap="flat">
              <a:solidFill>
                <a:srgbClr val="4454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4546A"/>
              </a:solidFill>
              <a:ln w="9525" cap="flat">
                <a:solidFill>
                  <a:srgbClr val="4454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5</c:v>
                  </c:pt>
                  <c:pt idx="1">
                    <c:v>10</c:v>
                  </c:pt>
                  <c:pt idx="2">
                    <c:v>15</c:v>
                  </c:pt>
                  <c:pt idx="3">
                    <c:v>20</c:v>
                  </c:pt>
                  <c:pt idx="4">
                    <c:v>25</c:v>
                  </c:pt>
                  <c:pt idx="5">
                    <c:v>30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</c:v>
                </c:pt>
                <c:pt idx="1">
                  <c:v>1024</c:v>
                </c:pt>
                <c:pt idx="2">
                  <c:v>32768</c:v>
                </c:pt>
                <c:pt idx="3">
                  <c:v>1048576</c:v>
                </c:pt>
                <c:pt idx="4">
                  <c:v>33554432</c:v>
                </c:pt>
                <c:pt idx="5">
                  <c:v>1073741824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 (chamadas/operações aprox.)</c:v>
                </c:pt>
              </c:strCache>
            </c:strRef>
          </c:tx>
          <c:spPr>
            <a:solidFill>
              <a:srgbClr val="2C7A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recursivo</c:v>
                  </c:pt>
                  <c:pt idx="1">
                    <c:v>memoizado</c:v>
                  </c:pt>
                  <c:pt idx="2">
                    <c:v>iterativo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2692537</c:v>
                </c:pt>
                <c:pt idx="1">
                  <c:v>31</c:v>
                </c:pt>
                <c:pt idx="2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</c:v>
                </c:pt>
              </c:strCache>
            </c:strRef>
          </c:tx>
          <c:spPr>
            <a:solidFill>
              <a:srgbClr val="2C7A8C"/>
            </a:solidFill>
            <a:ln w="31750" cap="flat">
              <a:solidFill>
                <a:srgbClr val="2C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7A8C"/>
              </a:solidFill>
              <a:ln w="9525" cap="flat">
                <a:solidFill>
                  <a:srgbClr val="2C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n²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25</c:v>
                </c:pt>
                <c:pt idx="2">
                  <c:v>100</c:v>
                </c:pt>
                <c:pt idx="3">
                  <c:v>225</c:v>
                </c:pt>
                <c:pt idx="4">
                  <c:v>400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n³</c:v>
                </c:pt>
              </c:strCache>
            </c:strRef>
          </c:tx>
          <c:spPr>
            <a:solidFill>
              <a:srgbClr val="44546A"/>
            </a:solidFill>
            <a:ln w="31750" cap="flat">
              <a:solidFill>
                <a:srgbClr val="4454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4546A"/>
              </a:solidFill>
              <a:ln w="9525" cap="flat">
                <a:solidFill>
                  <a:srgbClr val="4454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125</c:v>
                </c:pt>
                <c:pt idx="2">
                  <c:v>1000</c:v>
                </c:pt>
                <c:pt idx="3">
                  <c:v>3375</c:v>
                </c:pt>
                <c:pt idx="4">
                  <c:v>8000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ula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1488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PENSAMENTO COMPUTACIONAL · AULA 14 DE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Complexidade de Algoritmos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77640"/>
            <a:ext cx="9509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9D3DE"/>
                </a:solidFill>
                <a:latin typeface="Calibri"/>
              </a:rPr>
              <a:t>Da função de custo ao Big O, com experimentos em Julia + Pluto — roteiro visual para aula ou minicurso.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CA0B3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CA0B3"/>
                </a:solidFill>
                <a:latin typeface="Calibri"/>
              </a:rPr>
              <a:t>01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aprendizagem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686800" y="640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DA AULA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4663440"/>
          </a:xfrm>
          <a:prstGeom prst="roundRect">
            <a:avLst>
              <a:gd name="adj" fmla="val 1569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84248"/>
            <a:ext cx="512064" cy="512064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84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84708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a função de custo T(n) a partir da contagem de passos.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2990088"/>
            <a:ext cx="512064" cy="512064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285292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sequência, decisão, repetição e recursão como contribuições distintas ao custo.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3995928"/>
            <a:ext cx="512064" cy="512064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995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91640" y="385876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eficiência prática, escalabilidade e classificação assintótica.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14400" y="5001768"/>
            <a:ext cx="512064" cy="512064"/>
          </a:xfrm>
          <a:prstGeom prst="ellipse">
            <a:avLst/>
          </a:prstGeom>
          <a:solidFill>
            <a:srgbClr val="2C7A8C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001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48646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Julia + Pluto para testar hipóteses com gráficos e sliders.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central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algoritmo que funciona para 100 entradas ainda será viável para 100 mil?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de complexidade não pergunta apenas “funciona?”. Ela pergunta “como o trabalho cresce?”.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pergunta antecede o tempo em segundos, porque segundos mudam com a máquina; passos pertencem ao algoritmo.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97764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passos ↑↑   em função de   n ↑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CUSTO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Passos, não segundos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medido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processador, cache, compilador, linguagem, SO, I/O e concorrência.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EEF3F8"/>
          </a:solidFill>
          <a:ln w="12700">
            <a:solidFill>
              <a:srgbClr val="2C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1945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Passos lógicos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Pertencem ao algoritmo e permitem comparar soluções antes de executar.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5257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Complexidade começa na contagem de ações fundamentais.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código ao Big 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423160" cy="1554480"/>
          </a:xfrm>
          <a:prstGeom prst="roundRect">
            <a:avLst>
              <a:gd name="adj" fmla="val 588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44546A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3774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Código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71800" y="219456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9000" y="2194560"/>
            <a:ext cx="2423160" cy="1554480"/>
          </a:xfrm>
          <a:prstGeom prst="roundRect">
            <a:avLst>
              <a:gd name="adj" fmla="val 588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44546A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23774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T(n)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29000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de custo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0" y="219456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423160" cy="1554480"/>
          </a:xfrm>
          <a:prstGeom prst="roundRect">
            <a:avLst>
              <a:gd name="adj" fmla="val 588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44546A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23774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Termo dominante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do crescimento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32520" y="219456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189720" y="2194560"/>
            <a:ext cx="2423160" cy="1554480"/>
          </a:xfrm>
          <a:prstGeom prst="roundRect">
            <a:avLst>
              <a:gd name="adj" fmla="val 5882"/>
            </a:avLst>
          </a:prstGeom>
          <a:solidFill>
            <a:srgbClr val="E8963C"/>
          </a:solidFill>
          <a:ln/>
          <a:effectLst>
            <a:outerShdw sx="100000" sy="100000" kx="0" ky="0" algn="bl" rotWithShape="0" blurRad="63500" dist="25400" dir="5400000">
              <a:srgbClr val="44546A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89720" y="23774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89720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3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114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assintótica é o último passo. Ela não substitui a função de custo.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DECISÃO DA ANÁLISE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Ação fundamental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contar, é preciso definir o que será contado.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 →  v[i] &gt; 0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 →  s += v[i]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chamada  →  fib(n-1)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precisa ser coerente durante toda a análise.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Sequências calibram o crescimento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ações dentro do laço geram uma constante multiplicativa.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3n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Big O, isso vira O(n), mas a constante representa trabalho real.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1:n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+=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+=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 +=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an +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Constante aditiva e multiplicativa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laço: custo fixo.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do laço: custo por elemento.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laço: custo fixo.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aproximado: T(n) = 2n + 4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1:n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soma += v[i]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 +=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 = soma / cont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Condicionais ajustam caminhos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com dois caminhos, apenas um é executado.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costuma permanecer constante: O(1).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condicionais importam para melhor caso, pior caso e caso médio.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x &gt;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soma +=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soma -=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CUSTO SE REPETE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IF dentro do laço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IF é constante, mas está sendo executado n vezes.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≈ c · n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prática é: quantas vezes esta decisão será tomada?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1:n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v[i] &gt;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 +=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Laços multiplicam trabalho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laço aninhado introduz uma nova dimensão de crescimento.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laço → O(n)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laços → O(n²)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laços → O(n³)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Laço simples: crescimento linear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há uma ação principal por elemento: T(n) = n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marginal: T(n) − T(n−1) =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soma(v)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 =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x in v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 += x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 ·  Laço simples ("crescimento linear")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soma(v) — qual é a resultante para um vetor genérico?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2633472"/>
          </a:xfrm>
          <a:prstGeom prst="roundRect">
            <a:avLst>
              <a:gd name="adj" fmla="val 347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104241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soma(v)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 = 0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x in v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 += x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EEF3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5720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parte de 0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x em v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s acumula s + x (uma soma por elemento — não há valor concreto de v neste slide, então o traço é estrutural)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soma(v)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retorna s = soma de todos os elementos de v, ao final do laço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DE DIMENSÕES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Laço duplo: crescimento quadrático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laço interno executa n vezes para cada valor de i.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· n = n²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marginal aproximado cresce com 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1:n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j in 1:n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 +=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ÍNDICES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Multiplicação clássica de matrizes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n² posições em C.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posição, somamos n produtos.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≈ n² · n = n³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exemplo mostra como a estrutura do problema impõe crescimento.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1:n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j in 1:n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C[i,j] =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k in 1:n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C[i,j] += A[i,k]*B[k,j]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O e o papel de n₀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n₀ admite que o início da curva pode ser irregular.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O não nega as constantes. Ele escolhe olhar para a região assintótica.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97764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f(n) = O(g(n))  quando existem c &gt; 0 e n₀ tais que  f(n) ≤ c·g(n)  para todo n ≥ n₀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× ESCALABILIDADE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Constantes escondidas ainda importam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são O(n).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constante multiplicativa muda o custo concreto.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O avalia escalabilidade; T(n) preserva eficiência aproximada.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COM CÁLCULO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Coeficiente angular e custo marginal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T(n) = an + b, o coeficiente a é a inclinação da reta de custo.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Interpretação: quanto custa adicionar mais um elemento à entrada.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ideia aproxima análise de algoritmos e cálculo discreto.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97764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Derivada discreta:   ΔT(n) = T(n) − T(n−1)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local estável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novo elemento acrescenta praticamente o mesmo bloco de trabalho.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percorrer um vetor uma única vez.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3n + 5  e  ΔT(n) = 3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QUADRÁTICO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local crescente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adicional por novo elemento cresce com n.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 algoritmos quadráticos ficam rapidamente caros.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n²  e  ΔT(n) = 2n − 1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Fibonacci como função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definição é curta, mas a implementação recursiva ingênua gera uma árvore de chamadas.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“usar recursão”. O problema é recalcular os mesmos subproblemas.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97764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F(0) = 0      F(1) = 1      F(n) = F(n−1) + F(n−2)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Fibonacci recursivo ingênuo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poucas linhas de código, mas muitas chamadas repetidas.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código não medem complexidade.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de chamadas é o objeto da análise.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fib(n)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 &lt;=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fib(n-1) + fib(n-2)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 ·  Fibonacci recursivo ingênuo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fib(n) — árvore de chamadas para fib(5)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2944368"/>
          </a:xfrm>
          <a:prstGeom prst="roundRect">
            <a:avLst>
              <a:gd name="adj" fmla="val 3106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104241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fib(n)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 &lt;= 1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fib(n-1) + fib(n-2)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chamada: fib(5)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745736"/>
            <a:ext cx="11064240" cy="1243584"/>
          </a:xfrm>
          <a:prstGeom prst="roundRect">
            <a:avLst>
              <a:gd name="adj" fmla="val 5882"/>
            </a:avLst>
          </a:prstGeom>
          <a:solidFill>
            <a:srgbClr val="EEF3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882896"/>
            <a:ext cx="10515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fib(5)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= fib(4) + fib(3)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fib(4)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= fib(3) + fib(2)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fib(3) (chamada 2×)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= fib(2) + fib(1), em cada uma das duas vezes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fib(2) (chamada 3×)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= fib(1) + fib(0), em cada uma das três vezes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fib(1) (caso-base, chamado 5×)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retorna 1 diretamente, sem nova chamada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fib(0) (caso-base, chamado 3×)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retorna 0 diretamente, sem nova chamada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de chamadas à função fib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15 (1×fib(5) + 1×fib(4) + 2×fib(3) + 3×fib(2) + 5×fib(1) + 3×fib(0))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fib(5)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5 (resultado final, depois de somar toda a árvore)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RECOMPUTAÇÃO VISUAL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Árvore de chamadas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349240" y="17830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5" name="Text 3"/>
          <p:cNvSpPr/>
          <p:nvPr/>
        </p:nvSpPr>
        <p:spPr>
          <a:xfrm>
            <a:off x="5349240" y="17830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Fib(5)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91840" y="260604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26060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Fib(4)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260604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0" y="26060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Fib(3)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flipH="1">
            <a:off x="3817620" y="2286000"/>
            <a:ext cx="20574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75020" y="2286000"/>
            <a:ext cx="20574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0240" y="342900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34290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Fib(3)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342900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34290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Fib(2)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42900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4290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Fib(2)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78240" y="342900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0" y="34290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Fib(1)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 flipH="1">
            <a:off x="2446020" y="3108960"/>
            <a:ext cx="1371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17620" y="3108960"/>
            <a:ext cx="1371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6835140" y="3108960"/>
            <a:ext cx="109728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32420" y="3108960"/>
            <a:ext cx="1371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Fib(2)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1488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21488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Fib(1)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9776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39776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Fib(1)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3492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53492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Fib(0)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7208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67208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Fib(1)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0924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80924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Fib(0)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 flipH="1">
            <a:off x="1074420" y="3931920"/>
            <a:ext cx="1371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46020" y="3931920"/>
            <a:ext cx="228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>
            <a:off x="4503420" y="3931920"/>
            <a:ext cx="6858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89220" y="3931920"/>
            <a:ext cx="6858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35140" y="3931920"/>
            <a:ext cx="41148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35140" y="3931920"/>
            <a:ext cx="178308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50749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Fib(3) e Fib(2) aparecem mais de uma vez. Isso é recomputação.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 DE CUSTO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do Fibonacci ingênuo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aproximado: T(n) = T(n−1) + T(n−2) + 1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soma das duas chamadas gera uma expansão em árvore.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(1+√5)/2 ≈ 1,618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97764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T(n−1) + T(n−2) + 1     →     O(φ^n)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ESTRUTURAL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Polinomial versus exponencial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n², a variável está na base.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φ^n, a variável está no expoente.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diferença explica a explosão.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 CONCEITUAL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Recursão não é sinônimo de explosão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44240" cy="3017520"/>
          </a:xfrm>
          <a:prstGeom prst="roundRect">
            <a:avLst>
              <a:gd name="adj" fmla="val 3030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289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289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T(n−1) + 1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8640" y="1965960"/>
            <a:ext cx="3444240" cy="3017520"/>
          </a:xfrm>
          <a:prstGeom prst="roundRect">
            <a:avLst>
              <a:gd name="adj" fmla="val 3030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2960" y="2194560"/>
            <a:ext cx="289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Logarítmica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32960" y="2834640"/>
            <a:ext cx="289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T(n/2) + 1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68640" y="1965960"/>
            <a:ext cx="3444240" cy="3017520"/>
          </a:xfrm>
          <a:prstGeom prst="roundRect">
            <a:avLst>
              <a:gd name="adj" fmla="val 3030"/>
            </a:avLst>
          </a:prstGeom>
          <a:solidFill>
            <a:srgbClr val="EEF3F8"/>
          </a:solidFill>
          <a:ln w="12700">
            <a:solidFill>
              <a:srgbClr val="2C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2960" y="2194560"/>
            <a:ext cx="289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sobreposição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42960" y="2834640"/>
            <a:ext cx="289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T(n−1) + T(n−2) + 1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O(φ^n)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257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dos subproblemas determina o crescimento.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RECOMPUTAÇÃO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Programação dinâmica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memória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subproblema é resolvido várias vezes.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EEF3F8"/>
          </a:solidFill>
          <a:ln w="12700">
            <a:solidFill>
              <a:srgbClr val="2C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1945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memoização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estado F(i) é calculado uma única vez e armazenado.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Custo: O(n)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FUNÇÃO, OUTRA ESTRATÉGIA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Fibonacci iterativo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algoritmo percorre os estados de 0 até n.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O(n)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Memória: O(1)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recomputação.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fib_iter(n)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a, b = 0,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2:n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a, b = b, a + b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== 0 ? 0 : b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 ·  Fibonacci iterativo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fib_iter(n) — passo a passo para fib_iter(5)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3255264"/>
          </a:xfrm>
          <a:prstGeom prst="roundRect">
            <a:avLst>
              <a:gd name="adj" fmla="val 280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10424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fib_iter(n)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a, b = 0, 1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2:n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a, b = b, a + b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== 0 ? 0 : b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chamada: fib_iter(5)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505663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EEF3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519379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a, b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começam em 0, 1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2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a, b = 1, 0+1  →  a=1, b=1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3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a, b = 1, 1+1  →  a=1, b=2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4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a, b = 2, 1+2  →  a=2, b=3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5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a, b = 3, 2+3  →  a=3, b=5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fib_iter(5)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5 (n ≠ 0, então retorna b)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Comparando estratégias para Fibonacci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programação dinâmica não muda a definição de Fibonacci.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muda a organização do cálculo.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de exponencial para linear.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USAR NA AULA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Julia + Pluto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Pluto permite transformar complexidade em experimento visual.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 →  alteram n em tempo real.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 →  mostram crescimento.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 →  gera a própria evidência.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EXECUTÁVEL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 do notebook Pluto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notebook acompanha a apresentação e contém quatro experimentos.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Contagem de operações em laços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Curvas n, n² e n³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Fibonacci: recursivo, memoizado e iterativo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Custo marginal ΔT(n)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PlutoUI, Plots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@bind n Slider(1:100, default=20)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plot(ns, [ns, ns.^2, ns.^3])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1: LAÇOS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Contar, não cronometrar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altera n e observa a diferença entre crescimento linear, quadrático e cúbico.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é uma ponte entre código e função de custo.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ops_linear(n) = 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ops_quadratico(n) = n^2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ops_cubico(n) = n^3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 ops_linear(n) ops_quadratico(n) ops_cubico(n)]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 ·  Experimento 1: laços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ops_linear, ops_quadratico, ops_cubico — para n = 20 (valor padrão do slider)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2011680"/>
          </a:xfrm>
          <a:prstGeom prst="roundRect">
            <a:avLst>
              <a:gd name="adj" fmla="val 4545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ops_linear(n) = 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ops_quadratico(n) = n^2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ops_cubico(n) = n^3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 ops_linear(n) ops_quadratico(n) ops_cubico(n)]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813048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EF3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950208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20 (valor padrão do slider)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ops_linear(20)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20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ops_quadratico(20)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20² = 400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ops_cubico(20)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20³ = 8000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 (vetor-linha)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[20  20  400  8000]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2: CURVAS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Visualização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visualização torna perceptível a diferença entre “funcionar” e “escalar”.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gráfico é gerado a partir das funções de custo.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3: FIBONACCI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Contagem de chamadas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evitar travar a aula, o notebook modela a quantidade de chamadas pela recorrência de custo.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não é esperar o algoritmo terminar, mas entender por que ele explode.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calls_naive(n) =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 &lt;= 1 ? 1 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calls_naive(n-1) +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calls_naive(n-2) + 1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fib_iter_ops(n) = max(n, 1)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 ·  Experimento 3: Fibonacci (contagem de chamadas)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calls_naive(n) — quantas chamadas a recorrência prevê, para n = 5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389888"/>
          </a:xfrm>
          <a:prstGeom prst="roundRect">
            <a:avLst>
              <a:gd name="adj" fmla="val 657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10424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calls_naive(n) = n &lt;= 1 ? 1 : calls_naive(n-1) + calls_naive(n-2) + 1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chamada: calls_naive(5)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191256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EEF3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328416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calls_naive(0)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1 (caso-base)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calls_naive(1)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1 (caso-base)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calls_naive(2)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calls_naive(1) + calls_naive(0) + 1 = 1 + 1 + 1 = 3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calls_naive(3)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calls_naive(2) + calls_naive(1) + 1 = 3 + 1 + 1 = 5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calls_naive(4)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calls_naive(3) + calls_naive(2) + 1 = 5 + 3 + 1 = 9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calls_naive(5)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calls_naive(4) + calls_naive(3) + 1 = 9 + 5 + 1 = 15 (bate com o total de chamadas contado na árvore de fib(5))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4: CUSTO MARGINAL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ΔT(n)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derivada discreta mostra o custo de aumentar a entrada em uma unidade.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é a ponte com coeficiente angular, inclinação e custo marginal.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783080"/>
            <a:ext cx="5669280" cy="3749040"/>
          </a:xfrm>
          <a:prstGeom prst="roundRect">
            <a:avLst>
              <a:gd name="adj" fmla="val 2927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36208" y="2039112"/>
            <a:ext cx="5084064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delta(T, n) = T(n) - T(n-1)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linear(n) = 3n + 5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quadratica(n) = n^2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plot(ns[2:end], [delta.(Ref(linear), ns[2:end]),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delta.(Ref(quadratica), ns[2:end])])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 ·  Experimento 4: custo marginal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delta(T, n) — para as funções linear e quadratica, em n = 4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2633472"/>
          </a:xfrm>
          <a:prstGeom prst="roundRect">
            <a:avLst>
              <a:gd name="adj" fmla="val 347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104241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delta(T, n) = T(n) - T(n-1)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linear(n) = 3n + 5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quadratica(n) = n^2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delta(linear, 4)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delta(quadratica, 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EEF3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delta(T, n)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recebe uma função T como argumento e calcula T(n) − T(n−1)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linear(4)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3×4+5 = 17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linear(3)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3×3+5 = 14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delta(linear, 4)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17 − 14 = 3 (confere com ΔT(n)=3 da tabela “T(n)=3n+5”)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quadratica(4)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4² = 16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quadratica(3)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3² = 9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C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delta(quadratica, 4)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4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16 − 9 = 7 (confere com ΔT(n)=7 da linha n=4 da tabela “T(n)=n²”)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 DURANTE A ESCRITA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em sala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executar, peça que os alunos respondam: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1951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ação fundamental?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vezes ela ocorre?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sequência gera constante aditiva ou multiplicativa?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IF muda a ordem ou apenas o caminho?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5221224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221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5129784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dobrar n, o trabalho dobra, quadruplica ou cresce mais?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2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SÍNTESE DA AULA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Big O não é o ponto de partida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75564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mbria"/>
              </a:rPr>
              <a:t>Big O não é o ponto de partida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57400"/>
            <a:ext cx="98755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3DE"/>
                </a:solidFill>
                <a:latin typeface="Calibri"/>
              </a:rPr>
              <a:t>O ponto de partida é a função de custo T(n) do algoritmo — o Big O resume apenas o seu termo dominante.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679192"/>
            <a:ext cx="457200" cy="457200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67919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651760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mbria"/>
              </a:rPr>
              <a:t>Laços moldam o crescimento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953512"/>
            <a:ext cx="98755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3DE"/>
                </a:solidFill>
                <a:latin typeface="Calibri"/>
              </a:rPr>
              <a:t>Sequências calibram constantes; laços aninhados multiplicam o crescimento — é aí que nascem O(n²) e O(n log n).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75304"/>
            <a:ext cx="457200" cy="457200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7530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547872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mbria"/>
              </a:rPr>
              <a:t>Programação dinâmica elimina recomputação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849624"/>
            <a:ext cx="98755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3DE"/>
                </a:solidFill>
                <a:latin typeface="Calibri"/>
              </a:rPr>
              <a:t>Guardar resultados de subproblemas troca uma explosão exponencial, como no Fibonacci ingênuo, por custo linear.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11496"/>
            <a:ext cx="11274552" cy="1051560"/>
          </a:xfrm>
          <a:prstGeom prst="roundRect">
            <a:avLst>
              <a:gd name="adj" fmla="val 7800"/>
            </a:avLst>
          </a:prstGeom>
          <a:solidFill>
            <a:srgbClr val="1E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5385816"/>
            <a:ext cx="502920" cy="502920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rrow_a_segu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504688"/>
            <a:ext cx="265176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08760" y="529437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A SEGUIR — AULA 15 de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56869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mbria"/>
              </a:rPr>
              <a:t>Encerramento e Discussão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CA0B3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CA0B3"/>
                </a:solidFill>
                <a:latin typeface="Calibri"/>
              </a:rPr>
              <a:t>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26" y="548640"/>
            <a:ext cx="1048485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26" y="1097280"/>
            <a:ext cx="10484857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2057400"/>
            <a:ext cx="1048485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4ECF3"/>
                </a:solidFill>
                <a:latin typeface="Calibri"/>
              </a:rPr>
              <a:t>RAABE, André; ZORZO, Avelino F.; BLIKSTEIN, Paulo. Computação na Educação Básica: Fundamentos e Experiências. Porto Alegre: Penso, 2020. Ebook. ISBN 9786581334048.</a:t>
            </a:r>
          </a:p>
          <a:p>
            <a:pPr algn="l">
              <a:spcBef>
                <a:spcPts val="1600"/>
              </a:spcBef>
            </a:pPr>
            <a:r>
              <a:rPr sz="1400" b="0">
                <a:solidFill>
                  <a:srgbClr val="E4ECF3"/>
                </a:solidFill>
                <a:latin typeface="Calibri"/>
              </a:rPr>
              <a:t>RIBEIRO, João Araújo. Introdução à Programação e aos algoritmos. Rio de Janeiro: LTC, 2019. ISBN 978-85-216-3640-3.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26" y="6343650"/>
            <a:ext cx="1048485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2026-08-25T00:52:41Z</dcterms:created>
  <dcterms:modified xsi:type="dcterms:W3CDTF">2026-08-25T00:52:41Z</dcterms:modified>
</cp:coreProperties>
</file>