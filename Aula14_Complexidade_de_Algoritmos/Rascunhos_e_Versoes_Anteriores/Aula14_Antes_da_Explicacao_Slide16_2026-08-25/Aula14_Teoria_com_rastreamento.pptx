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3" r:id="rId41"/>
    <p:sldId id="304" r:id="rId40"/>
    <p:sldId id="262" r:id="rId8"/>
    <p:sldId id="263" r:id="rId9"/>
    <p:sldId id="305" r:id="rId39"/>
    <p:sldId id="264" r:id="rId10"/>
    <p:sldId id="265" r:id="rId11"/>
    <p:sldId id="306" r:id="rId38"/>
    <p:sldId id="266" r:id="rId12"/>
    <p:sldId id="267" r:id="rId13"/>
    <p:sldId id="307" r:id="rId37"/>
    <p:sldId id="309" r:id="rId35"/>
    <p:sldId id="302" r:id="rId53"/>
    <p:sldId id="269" r:id="rId15"/>
    <p:sldId id="301" r:id="rId52"/>
    <p:sldId id="274" r:id="rId20"/>
    <p:sldId id="313" r:id="rId31"/>
    <p:sldId id="275" r:id="rId21"/>
    <p:sldId id="312" r:id="rId32"/>
    <p:sldId id="314" r:id="rId28"/>
    <p:sldId id="272" r:id="rId18"/>
    <p:sldId id="308" r:id="rId36"/>
    <p:sldId id="310" r:id="rId34"/>
    <p:sldId id="276" r:id="rId22"/>
    <p:sldId id="300" r:id="rId51"/>
    <p:sldId id="277" r:id="rId23"/>
    <p:sldId id="279" r:id="rId25"/>
    <p:sldId id="280" r:id="rId26"/>
    <p:sldId id="311" r:id="rId33"/>
    <p:sldId id="281" r:id="rId27"/>
    <p:sldId id="299" r:id="rId50"/>
    <p:sldId id="283" r:id="rId29"/>
    <p:sldId id="284" r:id="rId30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5" Type="http://schemas.openxmlformats.org/officeDocument/2006/relationships/slide" Target="slides/slide20.xml"/><Relationship Id="rId18" Type="http://schemas.openxmlformats.org/officeDocument/2006/relationships/slide" Target="slides/slide27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30.xml"/><Relationship Id="rId23" Type="http://schemas.openxmlformats.org/officeDocument/2006/relationships/slide" Target="slides/slide32.xml"/><Relationship Id="rId25" Type="http://schemas.openxmlformats.org/officeDocument/2006/relationships/slide" Target="slides/slide33.xml"/><Relationship Id="rId26" Type="http://schemas.openxmlformats.org/officeDocument/2006/relationships/slide" Target="slides/slide34.xml"/><Relationship Id="rId27" Type="http://schemas.openxmlformats.org/officeDocument/2006/relationships/slide" Target="slides/slide36.xml"/><Relationship Id="rId28" Type="http://schemas.openxmlformats.org/officeDocument/2006/relationships/slide" Target="slides/slide26.xml"/><Relationship Id="rId29" Type="http://schemas.openxmlformats.org/officeDocument/2006/relationships/slide" Target="slides/slide38.xml"/><Relationship Id="rId30" Type="http://schemas.openxmlformats.org/officeDocument/2006/relationships/slide" Target="slides/slide39.xml"/><Relationship Id="rId31" Type="http://schemas.openxmlformats.org/officeDocument/2006/relationships/slide" Target="slides/slide23.xml"/><Relationship Id="rId32" Type="http://schemas.openxmlformats.org/officeDocument/2006/relationships/slide" Target="slides/slide25.xml"/><Relationship Id="rId33" Type="http://schemas.openxmlformats.org/officeDocument/2006/relationships/slide" Target="slides/slide35.xml"/><Relationship Id="rId34" Type="http://schemas.openxmlformats.org/officeDocument/2006/relationships/slide" Target="slides/slide29.xml"/><Relationship Id="rId35" Type="http://schemas.openxmlformats.org/officeDocument/2006/relationships/slide" Target="slides/slide18.xml"/><Relationship Id="rId36" Type="http://schemas.openxmlformats.org/officeDocument/2006/relationships/slide" Target="slides/slide28.xml"/><Relationship Id="rId37" Type="http://schemas.openxmlformats.org/officeDocument/2006/relationships/slide" Target="slides/slide17.xml"/><Relationship Id="rId38" Type="http://schemas.openxmlformats.org/officeDocument/2006/relationships/slide" Target="slides/slide14.xml"/><Relationship Id="rId39" Type="http://schemas.openxmlformats.org/officeDocument/2006/relationships/slide" Target="slides/slide11.xml"/><Relationship Id="rId40" Type="http://schemas.openxmlformats.org/officeDocument/2006/relationships/slide" Target="slides/slide8.xml"/><Relationship Id="rId41" Type="http://schemas.openxmlformats.org/officeDocument/2006/relationships/slide" Target="slides/slide7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7.xml"/><Relationship Id="rId51" Type="http://schemas.openxmlformats.org/officeDocument/2006/relationships/slide" Target="slides/slide31.xml"/><Relationship Id="rId52" Type="http://schemas.openxmlformats.org/officeDocument/2006/relationships/slide" Target="slides/slide21.xml"/><Relationship Id="rId53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Como o trabalho de um algoritmo cresce, sentido na prática com atividades desplugadas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 a diferença entre um algoritmo rápido na prática e um que escala melhor conforme os dados crescem.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o crescimento na prática, com atividades desplugadas e exemplos concretos.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crescimento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de crescimento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crescimento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tamanho da pilha não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que é um custo que não cresce.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pilha de livros ou cadernos (pequena ou grande).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Peça a um aluno para pegar o livro do topo e cronometre. Depois peça para pegar um do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Agora dobre o tamanho da pilha e repita: pegar o do topo continua levando o mesmo tempo.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Pegar o do topo é sempre 1 passo, não importa quantos livros existam por baixo — isso é custo fixo.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aluno, os mesmos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veja o total crescer junto com a fila.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Simule uma fila de lanche com a turma.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faz sempre os 3 mesmos passos: pega a bandeja, escolhe o item, paga.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5 alunos na fila, depois 10 — o tempo total dobra junto com o número de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cresce proporcional ao número de alunos: dobrar a fila dobra o tempo.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ainda cresce proporcional a n, mas a constante representa trabalho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2n + 4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Decidir não muda quantos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o caminho muda, o número de passos não.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monte de roupas (ou cartões coloridos representando roupas).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Para cada peça, decida em voz alta “lavar” ou “guardar” e coloque na pilha certa.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10 peças: decidir e colocar leva praticamente o mesmo tempo por peça, qualquer que seja a decisão.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ainda cresce proporcional ao número de peças — o “se” não faz o trabalho dobrar.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o mesmo, não importa o tamanho da entrada.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≈ n (supondo c = 1)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Procurando um por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custo de procurar sem atalho.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lista de nomes da turma, fora de ordem.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Escolha um nome e peça para um aluno encontrá-lo, dizendo cada nome em voz alta até achar.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Repita com um nome no início da lista e outro no fim — o segundo demora muito mais.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Sem uma lista organizada, encontrar um nome pode exigir olhar a lista inteira.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cresce proporcional a n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cresce proporcional a n²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cresce proporcional a n³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Custo marginal: T(n) − T(n−1) = 1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Cortando a busca ao meio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descubra como cortar pela metade economiza passos.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Pense em um número entre 1 e 100 e não conte a ninguém.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Os alunos só podem perguntar “é maior ou menor que X?” — cada resposta corta a lista de possibilidades ao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Conte quantas perguntas foram precisas para acertar (normalmente, 7 ou menos).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Cortar pela metade a cada passo faz a busca crescer muito mais devagar do que ir um por 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BUSCA MAIS ESPERTA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Cortar pela metade economiza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lista de chamada, cada tentativa elimina só 1 nome — o trabalho cresce junto com o tamanho da lista.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No jogo de adivinhar, cada pergunta elimina metade das possibilidades — sobra muito menos para procurar a cada rodada.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Por isso 100 possibilidades caem para 1 em cerca de 7 perguntas, não em 100 tentativas.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 b="0">
                <a:solidFill>
                  <a:srgbClr val="44546A"/>
                </a:solidFill>
                <a:latin typeface="Calibri"/>
              </a:rPr>
              <a:t>E se fossem três laços aninhados? O crescimento fica ainda mais rápido — proporcional a n³.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é sempre 3, não importa se n é 5 ou 50 — por isso o gráfico sobe em linha reta (ex.: T(5) = 20 e T(4) = 17, logo ΔT(5) = 20 − 17 = 3).</a:t>
            </a:r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300" i="1">
                <a:solidFill>
                  <a:srgbClr val="44546A"/>
                </a:solidFill>
                <a:latin typeface="Calibri"/>
              </a:rPr>
              <a:t>Na prática: embalar caixas idênticas — cada caixa nova leva sempre os mesmos 3 minutos para fechar, não importa quantas já foram embaladas.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Linear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3n + 5: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 + 5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cresce junto com n (2n − 1) — por isso o gráfico curva para cima, cada vez mais rápido (ex.: T(5) = 25 e T(4) = 16, logo ΔT(5) = 25 − 16 = 9).</a:t>
            </a: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300" i="1">
                <a:solidFill>
                  <a:srgbClr val="44546A"/>
                </a:solidFill>
                <a:latin typeface="Calibri"/>
              </a:rPr>
              <a:t>Na prática: é o aperto de mãos da atividade — quem chega cumprimenta todo mundo que já está no grupo, então o custo extra cresce junto com n.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Quadrático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n²: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n²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 = 2n − 1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CUSTO MARGINAL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mãos,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Aplicando a fórmula do aperto de mãos (n·(n−1)/2) a um grupo real, com cada cumprimento levando 3 segundos: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229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000"/>
                <a:gridCol w="1970000"/>
                <a:gridCol w="1970000"/>
                <a:gridCol w="1970000"/>
                <a:gridCol w="197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T(n) — tempo total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 min 15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 min 30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21 min 45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ΔT(n) — quem chega por último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12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87 seg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86000"/>
            <a:ext cx="1106424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 é o tamanho do grupo; T(n) é o tempo total já gasto em cumprimentos até esse ponto; ΔT(n) é quanto a última pessoa a chegar gastou cumprimentando quem já estava lá.</a:t>
            </a:r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T(n) cresce rápido porque soma todos os pares possíveis do grupo — com 30 pessoas (duas turmas juntas) já passa de 21 minutos só em cumprimentos.</a:t>
            </a:r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não fica fixo: cada pessoa nova custa mais que a anterior, porque encontra um grupo maior pela frente — 12 segundos com 5 pessoas, 87 segundos com 30. É essa progressão que mostra, na prática, um custo marginal crescente.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crescem proporcional a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para o crescimento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dobra dobra o tamanho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como o crescimento explosivo foge do controle rápido.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folha de papel (quanto maior e mais fina, melhor).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 a folha ao meio e conte: 1 dobra. Dobre de novo: 2 dobras. Continue até não conseguir mais.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Na prática, ninguém passa de 7 ou 8 dobras — mas se desse para continuar até 42 dobras, a pilha chegaria à Lua.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dobra dobra a espessura anterior — é assim que um crescimento explosivo foge do controle rápido.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CRESCIMENTO EXPLOSIVO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Quando cada passo dobra o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dobradura, o tamanho da pilha de papel dobra a cada passo — não soma, multiplica.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É o mesmo tipo de crescimento da árvore de chamadas do Fibonacci ingênuo: cada chamada nova gera duas novas.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Poucos passos bastam para o número ficar impossível de continuar na mão — ou no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quase dobra a cada chamada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 recorrência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Calculando T(n) = T(n−1) + T(n−2) + 1 passo a passo, a partir de T(0) = T(1) = 1: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78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000"/>
                <a:gridCol w="1550000"/>
                <a:gridCol w="1550000"/>
                <a:gridCol w="1550000"/>
                <a:gridCol w="1550000"/>
                <a:gridCol w="1550000"/>
                <a:gridCol w="155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proporcional a 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proporcional a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praticamente fixa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conferir a resposta,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que importa não é quantas linhas o código tem, mas quantas vezes cada passo se repete conforme os dados crescem.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os crescimentos quadrático e outros ainda mais rápidos.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