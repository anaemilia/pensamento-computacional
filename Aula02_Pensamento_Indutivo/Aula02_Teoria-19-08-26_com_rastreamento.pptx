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71" r:id="rId20"/>
    <p:sldId id="263" r:id="rId11"/>
    <p:sldId id="272" r:id="rId21"/>
    <p:sldId id="264" r:id="rId12"/>
    <p:sldId id="265" r:id="rId13"/>
    <p:sldId id="273" r:id="rId22"/>
    <p:sldId id="266" r:id="rId14"/>
    <p:sldId id="274" r:id="rId23"/>
    <p:sldId id="267" r:id="rId15"/>
    <p:sldId id="275" r:id="rId24"/>
    <p:sldId id="268" r:id="rId16"/>
    <p:sldId id="269" r:id="rId17"/>
    <p:sldId id="276" r:id="rId25"/>
    <p:sldId id="270" r:id="rId18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slide" Target="slides/slide15.xml"/><Relationship Id="rId19" Type="http://schemas.openxmlformats.org/officeDocument/2006/relationships/presProps" Target="presProps.xml"/>  <Relationship Id="rId20" Type="http://schemas.openxmlformats.org/officeDocument/2006/relationships/slide" Target="slides/slide16.xml"/>
  <Relationship Id="rId21" Type="http://schemas.openxmlformats.org/officeDocument/2006/relationships/slide" Target="slides/slide17.xml"/>
  <Relationship Id="rId22" Type="http://schemas.openxmlformats.org/officeDocument/2006/relationships/slide" Target="slides/slide18.xml"/>
  <Relationship Id="rId23" Type="http://schemas.openxmlformats.org/officeDocument/2006/relationships/slide" Target="slides/slide19.xml"/>
  <Relationship Id="rId24" Type="http://schemas.openxmlformats.org/officeDocument/2006/relationships/slide" Target="slides/slide20.xml"/>
  <Relationship Id="rId25" Type="http://schemas.openxmlformats.org/officeDocument/2006/relationships/slide" Target="slides/slide21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mover o slide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Clique para editar o formato de notas</a:t>
            </a:r>
            <a:endParaRPr b="0" lang="pt-BR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 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7312F480-6E45-437B-B2FE-8A0A80FF155C}" type="slidenum">
              <a:rPr b="0" lang="pt-BR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1</a:t>
            </a:fld>
            <a:endParaRPr b="0" lang="pt-BR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5B1DB80-9E44-4F5E-A4D7-55A8EE66BD2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35B2EAB-BE5C-4064-B7D5-B2CE3A65B08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80D46E9-BC71-4E74-A2F9-F7EE9A569AA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4D9FCA23-2B14-42DB-8C29-42F04FE325BA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8C82A3E6-D316-4115-8BFD-53AA45351F6C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2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5D16F398-8A77-42F9-B0FD-D6A97D2979B9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A5D00A4-6640-45D6-87B4-356E09B5B163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3575CE9-D8BC-428E-9EFE-4066BE84E55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1C662E3-2C97-47B4-960A-AD4ACCF47F3B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39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0" name="PlaceHolder 3"/>
          <p:cNvSpPr>
            <a:spLocks noGrp="1"/>
          </p:cNvSpPr>
          <p:nvPr>
            <p:ph type="sldNum" idx="13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223119E-D4E0-4CC1-A6FD-A8031BEF3795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15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4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43" name="PlaceHolder 3"/>
          <p:cNvSpPr>
            <a:spLocks noGrp="1"/>
          </p:cNvSpPr>
          <p:nvPr>
            <p:ph type="sldNum" idx="1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D6D8A55-DD27-4E11-BFD0-77CD320AD4D6}" type="slidenum">
              <a:rPr b="0" lang="en-US" sz="1200" strike="noStrike" u="none">
                <a:solidFill>
                  <a:schemeClr val="dk1"/>
                </a:solidFill>
                <a:effectLst/>
                <a:uFillTx/>
                <a:latin typeface="+mn-lt"/>
                <a:ea typeface="+mn-ea"/>
              </a:rPr>
              <a:t>&lt;número&gt;</a:t>
            </a:fld>
            <a:endParaRPr b="0" lang="pt-BR" sz="12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r>
              <a:rPr b="0" lang="pt-BR" sz="18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do texto do título</a:t>
            </a:r>
            <a:endParaRPr b="0" lang="pt-BR" sz="18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Clique para editar o formato de texto dos tópicos</a:t>
            </a:r>
            <a:endParaRPr b="0" lang="pt-BR" sz="32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4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2.º nível de tópicos</a:t>
            </a:r>
            <a:endParaRPr b="0" lang="pt-BR" sz="24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3.º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4.º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5.º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6.º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trike="noStrike" u="none">
                <a:solidFill>
                  <a:schemeClr val="dk1"/>
                </a:solidFill>
                <a:effectLst/>
                <a:uFillTx/>
                <a:latin typeface="Aptos"/>
              </a:rPr>
              <a:t>7.º nível de tópicos</a:t>
            </a:r>
            <a:endParaRPr b="0" lang="pt-BR" sz="2000" strike="noStrike" u="none">
              <a:solidFill>
                <a:schemeClr val="dk1"/>
              </a:solidFill>
              <a:effectLst/>
              <a:uFillTx/>
              <a:latin typeface="Apto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Objetivos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esperamos desta aula?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Reconhecer o raciocínio indutivo como generalização a partir de casos.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Diferenciar indução de dedução (retomando a Aula 1).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Formular hipóteses a partir de padrões observados em dados.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Testar hipóteses indutivas com novos casos e contraexemplos.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Relacionar indução à construção de modelos computacionais.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15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Praticar as 10 tarefas do Bloco 2 em Julia/Pluto.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Aula 2 de 15 • 2 horas • Pensamento Indutivo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Conceito central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O que é raciocínio indutivo?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Definição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Parte de observações e casos específicos para propor uma regra geral.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 conclusão é provável, não certa — pode ser revista com novos dados.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Exemplo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Observar 2, 4, 6, 8 e propor “a sequência soma 2 a cada termo”.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Testar com um novo termo: a hipótese se confirma ou é refutada?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3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Indução: do caso particular à regra geral — base do método científico.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5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Por que importa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6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7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Por que indução importa em Computação?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Na ciência de dados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Aprendizado de máquina aprende padrões a partir de exemplos — é indução aplicada.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Toda generalização estatística carrega incerteza e precisa de validação.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0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Na sala de aula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Peça que o estudante proponha a regra antes de revelar a fórmula.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Inclua sempre um contraexemplo para testar a robustez da hipótese.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1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 qualitativo recorrente nesta disciplina: investigação e revisão de hipóteses.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Conexão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5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6" name="Text 4"/>
          <p:cNvSpPr/>
          <p:nvPr/>
        </p:nvSpPr>
        <p:spPr>
          <a:xfrm>
            <a:off x="594360" y="713160"/>
            <a:ext cx="10972440" cy="54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6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Do Bloco 1 ao Bloco 2</a:t>
            </a:r>
            <a:endParaRPr b="0" lang="pt-BR" sz="2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7" name="Text 5"/>
          <p:cNvSpPr/>
          <p:nvPr/>
        </p:nvSpPr>
        <p:spPr>
          <a:xfrm>
            <a:off x="77724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que já vimos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Aula 1: computar é formular, representar e testar problemas.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8" name="Text 6"/>
          <p:cNvSpPr/>
          <p:nvPr/>
        </p:nvSpPr>
        <p:spPr>
          <a:xfrm>
            <a:off x="6400800" y="1554480"/>
            <a:ext cx="5257440" cy="3931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Para onde vamos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6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Aula 3: pensamento dedutivo — de regras gerais a casos específicos.</a:t>
            </a:r>
            <a:endParaRPr b="0" lang="pt-BR" sz="16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9" name="Text 7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Pensamento Computacional — Aula 2 de 15.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1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2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3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Text 4"/>
          <p:cNvSpPr/>
          <p:nvPr/>
        </p:nvSpPr>
        <p:spPr>
          <a:xfrm>
            <a:off x="594360" y="822960"/>
            <a:ext cx="1188360" cy="7768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42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2</a:t>
            </a:r>
            <a:endParaRPr b="0" lang="pt-BR" sz="4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5" name="Text 5"/>
          <p:cNvSpPr/>
          <p:nvPr/>
        </p:nvSpPr>
        <p:spPr>
          <a:xfrm>
            <a:off x="1828800" y="768240"/>
            <a:ext cx="9600840" cy="822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Pensamento indutivo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Text 6"/>
          <p:cNvSpPr/>
          <p:nvPr/>
        </p:nvSpPr>
        <p:spPr>
          <a:xfrm>
            <a:off x="1828800" y="1691640"/>
            <a:ext cx="93265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5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10 tarefas em formato de pergunta, com exemplos em Julia/Pluto.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7" name="Text 7"/>
          <p:cNvSpPr/>
          <p:nvPr/>
        </p:nvSpPr>
        <p:spPr>
          <a:xfrm>
            <a:off x="685800" y="2743200"/>
            <a:ext cx="2559960" cy="273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Pergunta-guia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Text 8"/>
          <p:cNvSpPr/>
          <p:nvPr/>
        </p:nvSpPr>
        <p:spPr>
          <a:xfrm>
            <a:off x="685800" y="3108960"/>
            <a:ext cx="10972440" cy="1096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7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construir hipóteses a partir de padrões observados em dados e saídas?</a:t>
            </a:r>
            <a:endParaRPr b="0" lang="pt-BR" sz="27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9" name="Text 9"/>
          <p:cNvSpPr/>
          <p:nvPr/>
        </p:nvSpPr>
        <p:spPr>
          <a:xfrm>
            <a:off x="685800" y="4892040"/>
            <a:ext cx="10972440" cy="68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40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Neste bloco, as tarefas usam Julia e Pluto para transformar conceitos da ementa em ações observáveis: organizar, representar, manipular, interpretar e revisar.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Text 10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A pergunta abre a aula; o código serve para tornar a relação conceitual discutível.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06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Que padrão parece surgir nesta sequência?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5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Observe os termos.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a próxima saída.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5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se a hipótese se sustenta.</a:t>
            </a:r>
            <a:endParaRPr b="0" lang="pt-BR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[2, 4, 8,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proximo = 32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"multiplicar por 2"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6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Investigação exploratória e reconhecimento de padrões.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Favorecer investigação antes da formalização.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sequência mobiliza a passagem de casos particulares para uma regra provável, ainda sujeita a revisão.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07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2.2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calcular diferenças ajuda a levantar hipóteses?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uma sequência.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Calcule diferenças consecutivas.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Interprete a regularidade.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[3, 6, 9, 12]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dif = diff(seq)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7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7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Arranjo sequencial de dados.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Organizar dados é componente crítico da representação.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05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0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diferença transforma a sequência em outra representação, destacando relações entre termos vizinhos.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08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2.3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Quando uma hipótese indutiva falha?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Teste uma regra em novo caso.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Inclua um contraexemplo.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Discuta a necessidade de revisão.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[1, 2, 4, 8, 15]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all(diff(seq) .== 2)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Erro como oportunidade de reformulação.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Incluir revisão, depuração e reconstrução.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forma de representação influencia erros, antecipações e reorganizações.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contraexemplo mostra que indução não é certeza: ela depende de padrões observados e de testes.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09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2.4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usar compreensão de listas para formular padrões?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Gere dados com uma regra.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com dados observados.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Procure coincidências e desvios.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0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observado = [1, 4, 9, 16]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gerado = [n^2 for n in 1:4]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observado == gerado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1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Representação e comparação entre modelos.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análise qualitativa observa invariantes e relações mobilizadas na 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Permitir manipulação de parâmetros e comparação de estados.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comparação entre observado e gerado torna a hipótese computável e discutível.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10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1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2.5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 turma pode inventar uma representação não padrão?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 Peça que inventem uma codificação.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Represente pares ou símbolos.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com a lista original.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seq = [1, 3, 5, 7]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marcas = repeat.("*", seq)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2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idiossincráticas revelam pensamento.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Respostas idiossincráticas também revelam modos de pensar.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2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inventadas podem ajudar a perceber crescimento, quantidade e regularidade.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2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3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11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4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5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6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2.6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7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o padrão muda quando mudamos o contexto?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8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39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dados de frequência.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Agrupe por categorias.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Observe tendências.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0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1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respostas = ["A","B","A","C","A"]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contagem = Dict(r =&gt; count(==(r), respostas) for r in unique(respostas))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42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3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Contexto e tipo de dado influenciam representação.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contexto e o tipo de dado influenciam a representação escolhida.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forma de representação influencia erros, antecipações e reorganizações.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Explicitar variáveis, relações e restrições.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4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5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indução sobre categorias exige outra organização: contar ocorrências em vez de calcular diferenças.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6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8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49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12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0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1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2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2.7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3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um gráfico textual pode apoiar a indução?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4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5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Crie barras de texto.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Compare visualmente as frequências.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Formule a tendência dominante.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6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7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valores = [2, 5, 3]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barras = repeat.("█", valores)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58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9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Apoio icônico no modo concreto-simbólico.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Apoio icônico favorece análise em modos concretos e simbólicos.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Representações ampliam a percepção de propriedades e relações.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Articular código, texto, tabela, gráfico e interpretação.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0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1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visualização textual amplia a percepção de maior, menor e tendência sem depender de gráfico formal.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2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4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5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13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6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7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8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2.8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9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distinguir padrão real de coincidência?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0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1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Use poucos dados.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Proponha duas regras possíveis.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3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Mostre que ambas explicam os casos.</a:t>
            </a:r>
            <a:endParaRPr b="0" lang="pt-BR" sz="1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2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3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dados = [2, 4, 6]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regra1(n)=2n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regra2(n)=n^2-n+2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74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5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interpretações exigem monitoramento.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resultado final não esgota a aprendizagem do conceito.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Reconhecer limites da ferramenta e do modelo.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6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7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01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 tarefa mostra que poucos casos podem sustentar várias regras; a indução exige cautela.</a:t>
            </a:r>
            <a:endParaRPr b="0" lang="pt-BR" sz="101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78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0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1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14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2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3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4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2.9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5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registrar uma hipótese para ser testada?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6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7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Escreva uma hipótese em texto.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Crie uma função correspondente.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4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Teste a função em novos casos.</a:t>
            </a:r>
            <a:endParaRPr b="0" lang="pt-BR" sz="1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8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89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hipotese = "dobrar e somar 1"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f(n)=2n+1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[f(n) for n in 1:5]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190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1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Articulação entre linguagem natural e regra formal.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representações indicam modelagem mais bem-sucedida.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Múltiplas expressões exibem aspectos distintos do mesmo conceito.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1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Solicitar explicação do raciocínio desenvolvido.</a:t>
            </a:r>
            <a:endParaRPr b="0" lang="pt-BR" sz="1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2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3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registro transforma a hipótese em objeto compartilhável e testável pela turma.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4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Text 0"/>
          <p:cNvSpPr/>
          <p:nvPr/>
        </p:nvSpPr>
        <p:spPr>
          <a:xfrm>
            <a:off x="502920" y="164520"/>
            <a:ext cx="71319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78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PROFCOMP • Pensamento Computacional • Julia + Pluto</a:t>
            </a:r>
            <a:endParaRPr b="0" lang="pt-BR" sz="78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6" name="Text 1"/>
          <p:cNvSpPr/>
          <p:nvPr/>
        </p:nvSpPr>
        <p:spPr>
          <a:xfrm>
            <a:off x="7955280" y="164520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76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2 • Indução</a:t>
            </a:r>
            <a:endParaRPr b="0" lang="pt-BR" sz="76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7" name="Text 2"/>
          <p:cNvSpPr/>
          <p:nvPr/>
        </p:nvSpPr>
        <p:spPr>
          <a:xfrm>
            <a:off x="11064240" y="109800"/>
            <a:ext cx="731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120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15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8" name="Shape 3"/>
          <p:cNvSpPr/>
          <p:nvPr/>
        </p:nvSpPr>
        <p:spPr>
          <a:xfrm>
            <a:off x="502920" y="502920"/>
            <a:ext cx="11247120" cy="360"/>
          </a:xfrm>
          <a:prstGeom prst="line">
            <a:avLst/>
          </a:prstGeom>
          <a:ln w="7620">
            <a:solidFill>
              <a:srgbClr val="d7dee9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90000" rIns="90000" tIns="-44640" bIns="-44640" anchor="t" anchorCtr="1">
            <a:noAutofit/>
          </a:bodyPr>
          <a:p>
            <a:endParaRPr b="0" lang="pt-BR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99" name="Text 4"/>
          <p:cNvSpPr/>
          <p:nvPr/>
        </p:nvSpPr>
        <p:spPr>
          <a:xfrm>
            <a:off x="530280" y="749880"/>
            <a:ext cx="411120" cy="502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80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?</a:t>
            </a:r>
            <a:endParaRPr b="0" lang="pt-BR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0" name="Text 5"/>
          <p:cNvSpPr/>
          <p:nvPr/>
        </p:nvSpPr>
        <p:spPr>
          <a:xfrm>
            <a:off x="960120" y="859680"/>
            <a:ext cx="731160" cy="228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850" strike="noStrike" u="none">
                <a:solidFill>
                  <a:srgbClr val="2a9d8f"/>
                </a:solidFill>
                <a:effectLst/>
                <a:uFillTx/>
                <a:latin typeface="Aptos"/>
                <a:ea typeface="Aptos"/>
              </a:rPr>
              <a:t>2.10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1" name="Text 6"/>
          <p:cNvSpPr/>
          <p:nvPr/>
        </p:nvSpPr>
        <p:spPr>
          <a:xfrm>
            <a:off x="960120" y="667440"/>
            <a:ext cx="10698120" cy="63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2350" strike="noStrike" u="none">
                <a:solidFill>
                  <a:srgbClr val="243447"/>
                </a:solidFill>
                <a:effectLst/>
                <a:uFillTx/>
                <a:latin typeface="Aptos Display"/>
                <a:ea typeface="Aptos Display"/>
              </a:rPr>
              <a:t>Como avaliar pensamento indutivo?</a:t>
            </a:r>
            <a:endParaRPr b="0" lang="pt-BR" sz="23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2" name="Text 7"/>
          <p:cNvSpPr/>
          <p:nvPr/>
        </p:nvSpPr>
        <p:spPr>
          <a:xfrm>
            <a:off x="594360" y="1481400"/>
            <a:ext cx="512028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TAREFA BREVE NO PLUTO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3" name="Text 8"/>
          <p:cNvSpPr/>
          <p:nvPr/>
        </p:nvSpPr>
        <p:spPr>
          <a:xfrm>
            <a:off x="594360" y="1783080"/>
            <a:ext cx="50745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102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Peça hipótese, teste e revisão.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Analise se o estudante justifica a regra.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Valorize o percurso, não só o acerto.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4" name="Text 9"/>
          <p:cNvSpPr/>
          <p:nvPr/>
        </p:nvSpPr>
        <p:spPr>
          <a:xfrm>
            <a:off x="5925240" y="1481400"/>
            <a:ext cx="562320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EXEMPLO EM JULIA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5" name="Text 10"/>
          <p:cNvSpPr/>
          <p:nvPr/>
        </p:nvSpPr>
        <p:spPr>
          <a:xfrm>
            <a:off x="5925240" y="1755720"/>
            <a:ext cx="5623200" cy="1371240"/>
          </a:xfrm>
          <a:prstGeom prst="rect">
            <a:avLst/>
          </a:prstGeom>
          <a:solidFill>
            <a:srgbClr val="111827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970" strike="noStrike" u="none">
                <a:solidFill>
                  <a:srgbClr val="f9fafb"/>
                </a:solidFill>
                <a:effectLst/>
                <a:uFillTx/>
                <a:latin typeface="Cascadia Mono"/>
                <a:ea typeface="Cascadia Mono"/>
              </a:rPr>
              <a:t>avaliacao = (hipotese="2n", teste=true, revisao="incluir mais casos")</a:t>
            </a:r>
            <a:endParaRPr b="0" lang="pt-BR" sz="970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206" name="Text 11"/>
          <p:cNvSpPr/>
          <p:nvPr/>
        </p:nvSpPr>
        <p:spPr>
          <a:xfrm>
            <a:off x="594360" y="336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ASPECTOS QUALITATIVOS DA ANÁLISE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7" name="Text 12"/>
          <p:cNvSpPr/>
          <p:nvPr/>
        </p:nvSpPr>
        <p:spPr>
          <a:xfrm>
            <a:off x="594360" y="3675960"/>
            <a:ext cx="11018160" cy="1234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normAutofit/>
          </a:bodyPr>
          <a:p>
            <a:pPr defTabSz="914400">
              <a:lnSpc>
                <a:spcPct val="100000"/>
              </a:lnSpc>
            </a:pPr>
            <a:r>
              <a:rPr b="0" lang="en-US" sz="939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• </a:t>
            </a: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de resposta podem indicar maior integração.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Níveis SOLO ajudam a observar respostas de menor a maior integração.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O percurso da tarefa revela mudanças no discurso e na ação.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defTabSz="914400">
              <a:lnSpc>
                <a:spcPct val="100000"/>
              </a:lnSpc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o percurso de pensamento, não apenas o código final.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8" name="Text 13"/>
          <p:cNvSpPr/>
          <p:nvPr/>
        </p:nvSpPr>
        <p:spPr>
          <a:xfrm>
            <a:off x="594360" y="5074920"/>
            <a:ext cx="11018160" cy="255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1" lang="en-US" sz="950" strike="noStrike" u="none">
                <a:solidFill>
                  <a:srgbClr val="2a9d8f"/>
                </a:solidFill>
                <a:effectLst/>
                <a:uFillTx/>
                <a:latin typeface="Aptos Display"/>
                <a:ea typeface="Aptos Display"/>
              </a:rPr>
              <a:t>IMPORTÂNCIA NA APRENDIZAGEM DE CONCEITOS E RELAÇÕES</a:t>
            </a:r>
            <a:endParaRPr b="0" lang="pt-BR" sz="9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09" name="Text 14"/>
          <p:cNvSpPr/>
          <p:nvPr/>
        </p:nvSpPr>
        <p:spPr>
          <a:xfrm>
            <a:off x="594360" y="5376600"/>
            <a:ext cx="11018160" cy="658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1200" strike="noStrike" u="none">
                <a:solidFill>
                  <a:srgbClr val="243447"/>
                </a:solidFill>
                <a:effectLst/>
                <a:uFillTx/>
                <a:latin typeface="Aptos"/>
                <a:ea typeface="Aptos"/>
              </a:rPr>
              <a:t>Avaliar a indução significa observar como o estudante gera, testa e reformula explicações.</a:t>
            </a:r>
            <a:endParaRPr b="0" lang="pt-BR" sz="12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0" name="Text 15"/>
          <p:cNvSpPr/>
          <p:nvPr/>
        </p:nvSpPr>
        <p:spPr>
          <a:xfrm>
            <a:off x="594360" y="6263640"/>
            <a:ext cx="11018160" cy="319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rm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50" strike="noStrike" u="none">
                <a:solidFill>
                  <a:srgbClr val="64748b"/>
                </a:solidFill>
                <a:effectLst/>
                <a:uFillTx/>
                <a:latin typeface="Aptos"/>
                <a:ea typeface="Aptos"/>
              </a:rPr>
              <a:t>Critérios recorrentes: representação, manipulação, feedback, investigação, transnumeração, reflexão metaconceitual e limites do modelo.</a:t>
            </a:r>
            <a:endParaRPr b="0" lang="pt-BR" sz="85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calcular diferenças ajuda a levantar hipóteses?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[3, 6, 9, 12]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 = diff(seq)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6, 9, 12]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calcula a diferença entre cada par de termos consecutivos: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6 − 3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9 − 6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12 − 9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3, 3]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Quando uma hipótese indutiva falha?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[1, 2, 4, 8, 15]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all(diff(seq) .== 2)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4, 8, 15]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diff(seq)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2, 4, 7]  (2−1, 4−2, 8−4, 15−8)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diff(seq) .== 2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[false, true, false, false]  (compara cada diferença com 2)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all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false  (nem todas as diferenças são iguais a 2 — a hipótese falha)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 turma pode inventar uma representação não padrão?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 = [1, 3, 5, 7]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marcas = repeat.("*", seq)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seq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[1, 3, 5, 7]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repeat.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 repeat("*", n) a cada elemento de seq: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1× → "*"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3× → "***"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5× → "*****"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"*" repetido 7× → "*******"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marcas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["*", "***", "*****", "*******"]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padrão muda quando mudamos o contexto?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 = ["A","B","A","C","A"]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 = Dict(r =&gt; count(==(r), respostas) for r in unique(respostas))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respostas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"A", "C", "A"]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unique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["A", "B", "C"]  (cada valor distinto, na ordem em que aparece primeiro)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count(==(r), respostas)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 quantas vezes cada r de unique aparece em respostas: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"A" → 3 ocorrências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"B"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r = "C" → 1 ocorrência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contagem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{"A" =&gt; 3, "B" =&gt; 1, "C" =&gt; 1}  (ordem de impressão do Dict pode variar)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um gráfico textual pode apoiar a indução?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 = [2, 5, 3]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barras = repeat.("█", valores)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valores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[2, 5, 3]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repeat.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aplica repeat("█", n) a cada elemento de valores: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"█" repetido 2× → "██"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"█" repetido 5× → "█████"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"█" repetido 3× → "███"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barras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["██", "█████", "███"]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18585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B5651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AULA 02  ·  Tarefa 2.9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02920" y="658368"/>
            <a:ext cx="1118585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registrar uma hipótese para ser testada?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502920" y="1298448"/>
            <a:ext cx="11185855" cy="815340"/>
          </a:xfrm>
          <a:prstGeom prst="rect">
            <a:avLst/>
          </a:prstGeom>
          <a:solidFill>
            <a:srgbClr val="F2F4F7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298448"/>
            <a:ext cx="54864" cy="81534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371600"/>
            <a:ext cx="10728655" cy="6690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 = 2n+1</a:t>
            </a:r>
            <a:endParaRPr lang="en-US" sz="13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[f(n) for n in 1:5]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2278380"/>
            <a:ext cx="11185855" cy="4259580"/>
          </a:xfrm>
          <a:prstGeom prst="rect">
            <a:avLst/>
          </a:prstGeom>
          <a:solidFill>
            <a:srgbClr val="EFF5F1"/>
          </a:solidFill>
          <a:ln w="9525">
            <a:solidFill>
              <a:srgbClr val="C7CFD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278380"/>
            <a:ext cx="54864" cy="4259580"/>
          </a:xfrm>
          <a:prstGeom prst="rect">
            <a:avLst/>
          </a:prstGeom>
          <a:solidFill>
            <a:srgbClr val="2C7A8C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2369820"/>
            <a:ext cx="10728655" cy="40767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f(n)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define a regra 2n + 1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 aplicada a 1:5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f(1) = 2×1+1 = 3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f(2) = 2×2+1 = 5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f(3) = 2×3+1 = 7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f(4) = 2×4+1 = 9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f(5) = 2×5+1 = 11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000000"/>
                </a:solidFill>
              </a:rPr>
              <a:t>
</a:t>
            </a:r>
            <a:pPr indent="0" marL="0">
              <a:lnSpc>
                <a:spcPct val="112000"/>
              </a:lnSpc>
              <a:buNone/>
            </a:pPr>
            <a:r>
              <a:rPr lang="en-US" sz="1300" b="1" dirty="0">
                <a:solidFill>
                  <a:srgbClr val="1B3A5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resultado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5B6B7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→  </a:t>
            </a:r>
            <a:pPr indent="0" marL="0">
              <a:lnSpc>
                <a:spcPct val="112000"/>
              </a:lnSpc>
              <a:buNone/>
            </a:pPr>
            <a:r>
              <a:rPr lang="en-US" sz="1300" dirty="0">
                <a:solidFill>
                  <a:srgbClr val="1A1A1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[3, 5, 7, 9, 11]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 pitchFamily="0" charset="1"/>
        <a:ea typeface=""/>
        <a:cs typeface=""/>
      </a:majorFont>
      <a:minorFont>
        <a:latin typeface="Aptos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lumMod val="110000"/>
                <a:tint val="67000"/>
              </a:schemeClr>
            </a:gs>
            <a:gs pos="50000">
              <a:schemeClr val="phClr">
                <a:lumMod val="105000"/>
                <a:tint val="73000"/>
              </a:schemeClr>
            </a:gs>
            <a:gs pos="100000">
              <a:schemeClr val="phClr">
                <a:lumMod val="105000"/>
                <a:tint val="81000"/>
              </a:schemeClr>
            </a:gs>
          </a:gsLst>
          <a:lin ang="5400000" scaled="0"/>
          <a:tileRect l="0" t="0" r="0" b="0"/>
        </a:gradFill>
        <a:gradFill>
          <a:gsLst>
            <a:gs pos="0">
              <a:schemeClr val="phClr">
                <a:lumMod val="102000"/>
                <a:tint val="94000"/>
              </a:schemeClr>
            </a:gs>
            <a:gs pos="50000">
              <a:schemeClr val="phClr">
                <a:lumMod val="100000"/>
                <a:shade val="100000"/>
              </a:schemeClr>
            </a:gs>
            <a:gs pos="100000">
              <a:schemeClr val="phClr">
                <a:lumMod val="99000"/>
                <a:shade val="78000"/>
              </a:schemeClr>
            </a:gs>
          </a:gsLst>
          <a:lin ang="5400000" scaled="0"/>
          <a:tileRect l="0" t="0" r="0" b="0"/>
        </a:gradFill>
      </a:fillStyleLst>
      <a:lnStyleLst>
        <a:ln w="6350" cap="flat" cmpd="sng" algn="ctr">
          <a:prstDash val="solid"/>
          <a:miter lim="800000"/>
        </a:ln>
        <a:ln w="12700" cap="flat" cmpd="sng" algn="ctr">
          <a:prstDash val="solid"/>
          <a:miter lim="800000"/>
        </a:ln>
        <a:ln w="19050" cap="flat" cmpd="sng" algn="ctr"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 l="0" t="0" r="0" b="0"/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1781</TotalTime>
  <Application>LibreOffice/25.2.7.2$Windows_X86_64 LibreOffice_project/5cbfd1ab6520636bb5f7b99185aa69bd7456825d</Application>
  <AppVersion>15.0000</AppVersion>
  <Words>0</Words>
  <Paragraphs>0</Paragraphs>
  <Company>PROFCOMP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2026-06-04T19:39:33Z</dcterms:created>
  <dc:creator>OpenAI</dc:creator>
  <dc:description/>
  <dc:language>pt-BR</dc:language>
  <cp:lastModifiedBy/>
  <dcterms:modified xsi:type="dcterms:W3CDTF">2026-08-20T15:31:30Z</dcterms:modified>
  <cp:revision>12</cp:revision>
  <dc:subject>Julia e Pluto para Pensamento Computacional — PROFCOMP</dc:subject>
  <dc:title>Aula por perguntas — Julia + Pluto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102</vt:i4>
  </property>
  <property fmtid="{D5CDD505-2E9C-101B-9397-08002B2CF9AE}" pid="3" name="PresentationFormat">
    <vt:lpwstr>On-screen Show (16:9)</vt:lpwstr>
  </property>
  <property fmtid="{D5CDD505-2E9C-101B-9397-08002B2CF9AE}" pid="4" name="Slides">
    <vt:i4>102</vt:i4>
  </property>
</Properties>
</file>