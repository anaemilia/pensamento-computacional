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495E2F7-AF72-4D95-B69B-C475DFD9A662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F5F978-9F30-44B7-B88A-1254242D301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ABBF64-76ED-480F-91C6-3A1E2BE796F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3EC5C99-1043-451F-85F9-FDDA9518E3F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4A1F497-5DB6-42C7-B15E-5A011FAD3E2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E56E53-F6EA-4FDC-AAF6-007C1D54804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800C74-1772-482B-9A5F-64644EB7D66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15AE19C-FE71-43AA-9F24-C0574C3D218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7EB1F8-A472-47A6-8F00-B7D9F08D4C9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F9316F-8E38-42FF-BAA8-678BFAB9FB0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9F98A6-DCF2-438A-8C03-E15BACEFA81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F9997AD-8E69-437D-B999-8550FC82512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E9FC1D-1AEB-4441-B377-ED1DB9E3A69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9BD66A-7D3D-4ED0-830C-0D5286A8AF3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640080" y="685800"/>
            <a:ext cx="10054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6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5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828800" y="749880"/>
            <a:ext cx="94179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Aula por perguntas</a:t>
            </a:r>
            <a:endParaRPr b="0" lang="pt-BR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828800" y="1481400"/>
            <a:ext cx="9417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Julia + Pluto em Pensamento Computacional —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77240" y="288036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90 slides organizados pela ementa: 9 blocos × 10 tarefas. Cada tarefa articula código, representação, modelagem e critérios qualitativos.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77240" y="438912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Fontes de análise: relato do GT, tese de Queiroz, e Wessels sobre organização e representação de dados.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77240" y="56235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 ferramenta não é o centro. A tarefa é o centro.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Visão geral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Quais assuntos da ementa orientam a sequência?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1. Introdução à Computação e ao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2. Pensamento indutivo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3. Pensamento dedutivo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4. Problemas e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5. Fundamentos da representação de processos e dados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6. Técnicas de construção de algoritmos: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7. Técnicas de construção de algoritmos: generalização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8. Técnicas de construção de algoritmos: transformação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9. Noções dos limites da Computação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Cada bloco contém 10 tarefas em Pluto, sempre em formato de pergunta.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Objetivos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esperamos desta aula?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Situar a Computação como ciência do processamento de informação.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Reconhecer a origem histórica do Pensamento Computacional (PC).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Diferenciar “programar” de “pensar computacionalmente”.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os quatro pilares do PC: decomposição, padrões, abstração e algoritmos.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Relacionar o PC à BNCC e à formação de professores no PROFCOMP.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Preparar-se para as 10 tarefas práticas em Julia/Pluto do Bloco 1.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Aula 1 de 15 • 2 horas • Introdução à Computação e ao Pensamento Computacional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Contexto histórico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De Papert a Wing: uma ideia com mais de 40 anos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1980 — Seymour Papert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Em “Mindstorms”, Papert propõe que programar pode ser um modo de “pensar sobre o pensar”.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criança não aprende só a programar: aprende a testar e depurar as próprias ideias no computador.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2006 — Jeannette Wing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Wing recoloca o termo no centro do debate educacional no artigo “Computational Thinking” (CACM).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Defende que formular e resolver problemas com conceitos da Ciência da Computação é uma habilidade para todos.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Papert, S. (1980). Mindstorms. • Wing, J. M. (2006). Computational thinking. Communications of the ACM, 49(3).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Definição de referência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Uma definição de referência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“Pensamento computacional é o processo de pensamento envolvido em formular um problema e expressar sua solução de forma que ela possa ser executada por um agente que processa informação.”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— Jeannette Wing (2006), tradução livre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“agente” pode ser uma pessoa, um computador, ou os dois.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ênfase está em formular o problema — não apenas em codificar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 solução precisa ser expressa de forma efetiva, passível de execução e de verificação.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Wing, J. M. (2006). Computational thinking. Communications of the ACM, 49(3), 33–35.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Pilares do PC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Os quatro pilares do Pensamento Computacional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1 · Decomposição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Dividir um problema complexo em partes menores e mais fáceis de resolver.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2 · Reconhecimento de padrões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Identificar semelhanças e regularidades entre problemas ou dentro de um mesmo problema.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3 · Abstração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Filtrar o que é essencial, ignorando detalhes irrelevantes para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4 · Algoritmos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Projetar uma sequência de passos lógicos e replicáveis até a solução.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Fonte: BNCC Computação — eixo Pensamento Computacional; Wing (2006).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PC x programar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Pensamento Computacional não é apenas programar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Programar (codificar)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Traduzir uma solução já pensada para uma linguagem de programação.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Foco na sintaxe e na execução correta do código.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Pensar computacionalmente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Formular o problema, modelar dados e processos, avaliar soluções.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 código é o meio de tornar o raciocínio testável — “a ferramenta não é o centro, a tarefa é o centro”.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Controvérsia recorrente na literatura: PC é “mais do que programar” (ver Aula01_Sintese, slide 1.2).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e PROFCOMP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4"/>
          <p:cNvSpPr/>
          <p:nvPr/>
        </p:nvSpPr>
        <p:spPr>
          <a:xfrm>
            <a:off x="594360" y="713160"/>
            <a:ext cx="10972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Por que isso importa para quem forma professores?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5"/>
          <p:cNvSpPr/>
          <p:nvPr/>
        </p:nvSpPr>
        <p:spPr>
          <a:xfrm>
            <a:off x="77724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BNCC Computação — três eixos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Pensamento Computacional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Mundo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Cultura Digital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6400800" y="1554480"/>
            <a:ext cx="525744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No PROFCOMP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Mestrado profissional que forma professores para ensinar Computação na Educação Básica.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Entender os fundamentos do PC é pré-requisito para desenhar boas tarefas — como as que faremos com Julia e Pluto.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7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BNCC Computação (2022) • PROFCOMP — Mestrado Profissional em Computação em Rede Nacional.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09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94360" y="822960"/>
            <a:ext cx="1188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1</a:t>
            </a:r>
            <a:endParaRPr b="0" lang="pt-BR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1828800" y="76824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Introdução à Computação e ao Pensamento Computacional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1828800" y="1691640"/>
            <a:ext cx="932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10 tarefas em formato de pergunta, com exemplos em Julia/Pluto.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685800" y="274320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Pergunta-guia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685800" y="310896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transformar “computar” em uma prática de representar, testar e explicar problemas?</a:t>
            </a:r>
            <a:endParaRPr b="0" lang="pt-BR" sz="2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9"/>
          <p:cNvSpPr/>
          <p:nvPr/>
        </p:nvSpPr>
        <p:spPr>
          <a:xfrm>
            <a:off x="685800" y="4892040"/>
            <a:ext cx="10972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Neste bloco, as tarefas usam Julia e Pluto para transformar conceitos da ementa em ações observáveis: organizar, representar, manipular, interpretar e revisar.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A pergunta abre a aula; o código serve para tornar a relação conceitual discutível.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10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é computar quando usamos Julia no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Execute uma expressão simples.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entrada, processamento e saída.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o que o computador fez e o que ele não entendeu.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 + 3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5 * 4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2^5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Representação como mediação entre cálculo e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Deslocar foco da ferramenta para a tarefa.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Organizar dados é componente crítico da representação.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resultado final não esgota a aprendizagem do conceito.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primeira tarefa separa cálculo de compreensão: o computador executa operações, mas a turma interpreta o sentido da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1.2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variável transforma um número em conceito?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Nomeie valores com significado.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Altere o nome ou o valor.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como o nome orienta a leitura do modelo.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 = 35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anos = 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idade_futura = idade + anos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Variável como representação de grandeza.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Explicitar variáveis, relações e restrições.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contexto e o tipo de dado influenciam a representação escolhida.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variável deixa de ser apenas armazenamento e passa a indicar uma relação conceitual entre valor, papel e contexto.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1.3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lista torna visível uma coleção de casos?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Crie uma lista de valores.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quantidade e ordem.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3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Pergunte o que muda se a ordem mudar.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length(dados)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dados[1]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Coleção, ordem e índice como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Organizar dados é componente crítico da representação.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expressões exibem aspectos distintos do mesmo conceito.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Articular código, texto, tabela, gráfico e interpretação.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lista aproxima teoria de conjuntos e estrutura computacional: valores aparecem como coleção e como sequência indexada.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1.4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Pluto ajuda a ver dependências?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Separe as células em dados, regra e saída.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Mude um valor inicial.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atualização das células dependentes.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valor = 100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taxa = 0.1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final = valor * (1 + taxa)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Manipulação de parâmetros e feedback imediato.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Permitir manipulação de parâmetros e comparação de estados.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interação consciente com a forma favorece reflexão conceitual.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reatividade torna explícita a dependência entre variáveis, permitindo comparar estados do mesmo modelo.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1.5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texto e código podem coexistir na mesma explicação?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célula Markdown.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Mostre valores calculados no texto.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Peça que a turma explique a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media = 7.5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md"""A média foi **$media**."""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representações: linguagem natural e cálculo.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representações indicam modelagem mais bem-sucedida.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Múltiplas expressões exibem aspectos distintos do mesmo conceito.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Articular código, texto, tabela, gráfico e interpretação.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texto integrado ao código aproxima cálculo, comunicação e justificativa conceitual.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15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1.6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O que muda quando a saída vira tabela?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Calcule quadrados.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Agrupe entrada e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Interprete a correspondência em pares.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dados = [1, 2, 3, 4]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quadrados = dados .^ 2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collect(zip(dados, quadrados))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Transnumeração: lista para pares interpretáveis.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Transnumeração torna dados interpretáveis em nova forma.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Representações ampliam a percepção de propriedades e relações.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Solicitar explicação do raciocínio desenvolvido.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tabela de pares faz aparecer a relação funcional que ficaria escondida em uma lista de resultados.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16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1.7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uma função sintetiza uma ideia computacional?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Transforme uma conta repetida em função.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diferentes entradas.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Compare os resultados.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dobro(x) = 2x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dobro(4)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dobro(10)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Generalização inicial e relação entrada–saída.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Níveis SOLO ajudam a observar respostas de menor a maior integração.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análise qualitativa observa invariantes e relações mobilizadas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função introduz a ideia de regra reutilizável e permite discutir domínio, imagem e transformação.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17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1.8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o computador representa decisões?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Use uma condição simples.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Teste dois casos.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Discuta a regra antes de executar.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nota = 6.5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situacao = nota &gt;= 7 ? "aprovado" : "rever"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Representação de regra e classificação.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Solicitar explicação do raciocínio desenvolvido.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Feedback visual/textual deve orientar interpretação, não apenas corrigir.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decisão computacional mostra que regras precisam ser formuladas, testadas e interpretadas.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18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1.9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um erro pode virar dado de aprendizagem?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Altere uma variável inexistente.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Observe a mensagem de erro.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Explique que relação estava faltando.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x = 10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y = x + z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</a:t>
            </a: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 Feedback como informação para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Feedback visual/textual deve orientar interpretação, não apenas corrigir.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Incluir revisão, depuração e reconstrução.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05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Respostas idiossincráticas também revelam modos de pensar.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erro revela dependências ausentes e ajuda a discutir a estrutura necessária para o modelo funcionar.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502920" y="164520"/>
            <a:ext cx="7131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8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PROFCOMP • Pensamento Computacional • Julia + Pluto</a:t>
            </a:r>
            <a:endParaRPr b="0" lang="pt-BR" sz="78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7955280" y="164520"/>
            <a:ext cx="29257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1 • Introdução</a:t>
            </a:r>
            <a:endParaRPr b="0" lang="pt-BR" sz="76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11064240" y="109800"/>
            <a:ext cx="731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19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3"/>
          <p:cNvSpPr/>
          <p:nvPr/>
        </p:nvSpPr>
        <p:spPr>
          <a:xfrm>
            <a:off x="502920" y="502920"/>
            <a:ext cx="11247120" cy="360"/>
          </a:xfrm>
          <a:prstGeom prst="line">
            <a:avLst/>
          </a:prstGeom>
          <a:ln w="7620">
            <a:solidFill>
              <a:srgbClr val="d7de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"/>
          <p:cNvSpPr/>
          <p:nvPr/>
        </p:nvSpPr>
        <p:spPr>
          <a:xfrm>
            <a:off x="530280" y="749880"/>
            <a:ext cx="411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?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5"/>
          <p:cNvSpPr/>
          <p:nvPr/>
        </p:nvSpPr>
        <p:spPr>
          <a:xfrm>
            <a:off x="960120" y="8596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trike="noStrike" u="none">
                <a:solidFill>
                  <a:srgbClr val="5b6cff"/>
                </a:solidFill>
                <a:effectLst/>
                <a:uFillTx/>
                <a:latin typeface="Aptos"/>
                <a:ea typeface="Aptos"/>
              </a:rPr>
              <a:t>1.10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6"/>
          <p:cNvSpPr/>
          <p:nvPr/>
        </p:nvSpPr>
        <p:spPr>
          <a:xfrm>
            <a:off x="960120" y="66744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trike="noStrike" u="none">
                <a:solidFill>
                  <a:srgbClr val="243447"/>
                </a:solidFill>
                <a:effectLst/>
                <a:uFillTx/>
                <a:latin typeface="Aptos Display"/>
                <a:ea typeface="Aptos Display"/>
              </a:rPr>
              <a:t>Como avaliar a primeira experiência com Pluto?</a:t>
            </a:r>
            <a:endParaRPr b="0" lang="pt-BR" sz="2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594360" y="1481400"/>
            <a:ext cx="51202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TAREFA BREVE NO PLUTO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594360" y="1783080"/>
            <a:ext cx="50745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102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Peça um registro curto.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Liste o que ficou visível.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Classifique uma dificuldade como dado, regra ou saída.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5925240" y="1481400"/>
            <a:ext cx="56232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EXEMPLO EM JULIA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0"/>
          <p:cNvSpPr/>
          <p:nvPr/>
        </p:nvSpPr>
        <p:spPr>
          <a:xfrm>
            <a:off x="5925240" y="1755720"/>
            <a:ext cx="5623200" cy="1371240"/>
          </a:xfrm>
          <a:prstGeom prst="rect">
            <a:avLst/>
          </a:prstGeom>
          <a:solidFill>
            <a:srgbClr val="11182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reflexao = "Expliquei a relação entre dados e saída"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70" strike="noStrike" u="none">
                <a:solidFill>
                  <a:srgbClr val="f9fafb"/>
                </a:solidFill>
                <a:effectLst/>
                <a:uFillTx/>
                <a:latin typeface="Cascadia Mono"/>
                <a:ea typeface="Cascadia Mono"/>
              </a:rPr>
              <a:t>length(reflexao)</a:t>
            </a:r>
            <a:endParaRPr b="0" lang="pt-BR" sz="9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1"/>
          <p:cNvSpPr/>
          <p:nvPr/>
        </p:nvSpPr>
        <p:spPr>
          <a:xfrm>
            <a:off x="594360" y="336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ASPECTOS QUALITATIVOS DA ANÁLISE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2"/>
          <p:cNvSpPr/>
          <p:nvPr/>
        </p:nvSpPr>
        <p:spPr>
          <a:xfrm>
            <a:off x="594360" y="3675960"/>
            <a:ext cx="110181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100000"/>
              </a:lnSpc>
            </a:pPr>
            <a:r>
              <a:rPr b="0" lang="en-US" sz="939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• </a:t>
            </a: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Reflexão metaconceitual sobre o percurso.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Avaliar o percurso de pensamento, não apenas o código final.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O percurso da tarefa revela mudanças no discurso e na ação.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Atividades planejadas desenvolvem representação e pensamento de ordem superior.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594360" y="5074920"/>
            <a:ext cx="11018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trike="noStrike" u="none">
                <a:solidFill>
                  <a:srgbClr val="5b6cff"/>
                </a:solidFill>
                <a:effectLst/>
                <a:uFillTx/>
                <a:latin typeface="Aptos Display"/>
                <a:ea typeface="Aptos Display"/>
              </a:rPr>
              <a:t>IMPORTÂNCIA NA APRENDIZAGEM DE CONCEITOS E RELAÇÕES</a:t>
            </a:r>
            <a:endParaRPr b="0" lang="pt-BR" sz="9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4"/>
          <p:cNvSpPr/>
          <p:nvPr/>
        </p:nvSpPr>
        <p:spPr>
          <a:xfrm>
            <a:off x="594360" y="5376600"/>
            <a:ext cx="1101816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A avaliação inicial observa como o estudante descreve e reorganiza a tarefa, não apenas se o código exec</a:t>
            </a:r>
            <a:r>
              <a:rPr b="0" lang="en-US" sz="1010" strike="noStrike" u="none">
                <a:solidFill>
                  <a:srgbClr val="243447"/>
                </a:solidFill>
                <a:effectLst/>
                <a:uFillTx/>
                <a:latin typeface="Aptos"/>
                <a:ea typeface="Aptos"/>
              </a:rPr>
              <a:t>utou.</a:t>
            </a:r>
            <a:endParaRPr b="0" lang="pt-BR" sz="101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594360" y="6263640"/>
            <a:ext cx="11018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trike="noStrike" u="none">
                <a:solidFill>
                  <a:srgbClr val="64748b"/>
                </a:solidFill>
                <a:effectLst/>
                <a:uFillTx/>
                <a:latin typeface="Aptos"/>
                <a:ea typeface="Aptos"/>
              </a:rPr>
              <a:t>Critérios recorrentes: representação, manipulação, feedback, investigação, transnumeração, reflexão metaconceitual e limites do modelo.</a:t>
            </a:r>
            <a:endParaRPr b="0" lang="pt-BR" sz="8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1244</TotalTime>
  <Application>LibreOffice/25.2.7.2$Windows_X86_64 LibreOffice_project/5cbfd1ab6520636bb5f7b99185aa69bd7456825d</Application>
  <AppVersion>15.0000</AppVersion>
  <Words>0</Words>
  <Paragraphs>0</Paragraphs>
  <Company>PROFCOMP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2026-06-04T19:39:33Z</dcterms:created>
  <dc:creator>OpenAI</dc:creator>
  <dc:description/>
  <dc:language>pt-BR</dc:language>
  <cp:lastModifiedBy/>
  <dcterms:modified xsi:type="dcterms:W3CDTF">2026-08-19T09:47:46Z</dcterms:modified>
  <cp:revision>11</cp:revision>
  <dc:subject>Julia e Pluto para Pensamento Computacional — PROFCOMP</dc:subject>
  <dc:title>Aula por perguntas — Julia + Pluto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102</vt:i4>
  </property>
  <property fmtid="{D5CDD505-2E9C-101B-9397-08002B2CF9AE}" pid="3" name="PresentationFormat">
    <vt:lpwstr>On-screen Show (16:9)</vt:lpwstr>
  </property>
  <property fmtid="{D5CDD505-2E9C-101B-9397-08002B2CF9AE}" pid="4" name="Slides">
    <vt:i4>102</vt:i4>
  </property>
</Properties>
</file>