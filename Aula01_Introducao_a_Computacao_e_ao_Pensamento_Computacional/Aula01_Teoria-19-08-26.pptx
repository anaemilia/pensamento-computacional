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A1D73DD-3E15-4DD3-A805-CE1FC8EBA2A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A156D56-00F3-44AF-A764-1D7602C30ED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B1B723F-41FB-440A-8F49-8F63DE57412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F7B8998-5E03-45A9-90C2-2DDDA525BF2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497CD5-D56D-4FD4-8A3D-5C0615E6EF6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7ED018F-20DD-42D2-B001-0389580DEA8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F7A0DE2-BD08-4D32-80F1-9DAE93A3509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84356B-7DDF-4862-8790-47A827B613F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5BB583-AB73-4AA1-AC5B-FA01BD7C64C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75C8CE-418A-455D-8422-7A7E756064E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DEB9CF3-588C-47BA-B951-D6F5C2CE703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895A08-4100-4F64-9CA8-1BA61B71AD5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CBD5C1D-3381-49A2-B38C-59728594827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CF919D2-2437-47FF-9CC3-5D9A9F1B8BF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85F44B-1F7F-443E-9817-56994E94620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640080" y="685800"/>
            <a:ext cx="100512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6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5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1828800" y="749880"/>
            <a:ext cx="941760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Aula por perguntas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828800" y="1481400"/>
            <a:ext cx="9417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Julia + Pluto em Pensamento Computacional — PROFCOMP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77240" y="2880360"/>
            <a:ext cx="106063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90 slides organizados pela ementa: 9 blocos × 10 tarefas. Cada tarefa articula código, representação, modelagem e critérios qualitativos.</a:t>
            </a:r>
            <a:endParaRPr b="0" lang="pt-BR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777240" y="4389120"/>
            <a:ext cx="10606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Fontes de análise: relato do GT, tese de Queiroz, e Wessels sobre organização e representação de dados.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777240" y="5623560"/>
            <a:ext cx="10606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 ferramenta não é o centro. A tarefa é o centro.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Visão geral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02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Quais assuntos da ementa orientam a sequência?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1. Introdução à Computação e ao Pensamento Computacional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2. Pensamento indutivo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3. Pensamento dedutivo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4. Problemas e algoritmos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5. Fundamentos da representação de processos e dados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6. Técnicas de construção de algoritmos: decomposição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7. Técnicas de construção de algoritmos: generalização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8. Técnicas de construção de algoritmos: transformação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9. Noções dos limites da Computação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Cada bloco contém 10 tarefas em Pluto, sempre em formato de pergunta.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Objetivos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03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esperamos desta aula?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Situar a Computação como ciência do processamento de informação.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Reconhecer a origem histórica do Pensamento Computacional (PC).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Diferenciar “programar” de “pensar computacionalmente”.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Identificar os quatro pilares do PC: decomposição, padrões, abstração e algoritmos.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Relacionar o PC à BNCC e à formação de professores no PROFCOMP.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Preparar-se para as 10 tarefas práticas em Julia/Pluto do Bloco 1.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Aula 1 de 15 • 2 horas • Introdução à Computação e ao Pensamento Computacional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Contexto histórico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04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De Papert a Wing: uma ideia com mais de 40 anos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1980 — Seymour Papert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Em “Mindstorms”, Papert propõe que programar pode ser um modo de “pensar sobre o pensar”.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 criança não aprende só a programar: aprende a testar e depurar as próprias ideias no computador.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2006 — Jeannette Wing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Wing recoloca o termo no centro do debate educacional no artigo “Computational Thinking” (CACM).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Defende que formular e resolver problemas com conceitos da Ciência da Computação é uma habilidade para todos.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Papert, S. (1980). Mindstorms. • Wing, J. M. (2006). Computational thinking. Communications of the ACM, 49(3).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Definição de referência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Uma definição de referência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“Pensamento computacional é o processo de pensamento envolvido em formular um problema e expressar sua solução de forma que ela possa ser executada por um agente que processa informação.”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— Jeannette Wing (2006), tradução livre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 “agente” pode ser uma pessoa, um computador, ou os dois.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 ênfase está em formular o problema — não apenas em codificar a solução.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 solução precisa ser expressa de forma efetiva, passível de execução e de verificação.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Wing, J. M. (2006). Computational thinking. Communications of the ACM, 49(3), 33–35.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Pilares do PC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Os quatro pilares do Pensamento Computacional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1 · Decomposição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Dividir um problema complexo em partes menores e mais fáceis de resolver.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2 · Reconhecimento de padrões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Identificar semelhanças e regularidades entre problemas ou dentro de um mesmo problema.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3 · Abstração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Filtrar o que é essencial, ignorando detalhes irrelevantes para a solução.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4 · Algoritmos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Projetar uma sequência de passos lógicos e replicáveis até a solução.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Fonte: BNCC Computação — eixo Pensamento Computacional; Wing (2006).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PC x programar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07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Pensamento Computacional não é apenas programar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Programar (codificar)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Traduzir uma solução já pensada para uma linguagem de programação.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Foco na sintaxe e na execução correta do código.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Pensar computacionalmente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Formular o problema, modelar dados e processos, avaliar soluções.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 código é o meio de tornar o raciocínio testável — “a ferramenta não é o centro, a tarefa é o centro”.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Controvérsia recorrente na literatura: PC é “mais do que programar” (ver Aula01_Sintese, slide 1.2).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BNCC e PROFCOMP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08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594360" y="71316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Por que isso importa para quem forma professores?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"/>
          <p:cNvSpPr/>
          <p:nvPr/>
        </p:nvSpPr>
        <p:spPr>
          <a:xfrm>
            <a:off x="77724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BNCC Computação — três eixos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Pensamento Computacional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Mundo Digital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Cultura Digital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6400800" y="1554480"/>
            <a:ext cx="52570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No PROFCOMP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Mestrado profissional que forma professores para ensinar Computação na Educação Básica.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Entender os fundamentos do PC é pré-requisito para desenhar boas tarefas — como as que faremos com Julia e Pluto.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BNCC Computação (2022) • PROFCOMP — Mestrado Profissional em Computação em Rede Nacional.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09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594360" y="822960"/>
            <a:ext cx="11880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1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1828800" y="768240"/>
            <a:ext cx="96004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Introdução à Computação e ao Pensamento Computacional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1828800" y="1691640"/>
            <a:ext cx="93261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10 tarefas em formato de pergunta, com exemplos em Julia/Pluto.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7"/>
          <p:cNvSpPr/>
          <p:nvPr/>
        </p:nvSpPr>
        <p:spPr>
          <a:xfrm>
            <a:off x="685800" y="2743200"/>
            <a:ext cx="2559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Pergunta-guia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685800" y="3108960"/>
            <a:ext cx="109720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transformar “computar” em uma prática de representar, testar e explicar problemas?</a:t>
            </a:r>
            <a:endParaRPr b="0" lang="pt-B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9"/>
          <p:cNvSpPr/>
          <p:nvPr/>
        </p:nvSpPr>
        <p:spPr>
          <a:xfrm>
            <a:off x="685800" y="4892040"/>
            <a:ext cx="10972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Neste bloco, as tarefas usam Julia e Pluto para transformar conceitos da ementa em ações observáveis: organizar, representar, manipular, interpretar e revisar.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 pergunta abre a aula; o código serve para tornar a relação conceitual discutível.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10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1.1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é computar quando usamos Julia no Pluto?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Execute uma expressão simples.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entrada, processamento e saída.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Explique o que o computador fez e o que ele não entendeu.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2 + 3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5 * 4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2^5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Representação como mediação entre cálculo e significado.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deslocar foco da ferramenta para a tarefa.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organizar dados é componente crítico da representação.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o resultado final não esgota a aprendizagem do conceito.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primeira tarefa separa cálculo de compreensão: o computador executa operações, mas a turma interpreta o sentido da 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11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1.2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variável transforma um número em conceito?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Nomeie valores com significado.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Altere o nome ou o valor.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como o nome orienta a leitura do modelo.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idade = 35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anos = 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idade_futura = idade + anos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Variável como representação de grandeza.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explicitar variáveis, relações e restrições.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representações ampliam a percepção de propriedades e relações.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o contexto e o tipo de dado influenciam a representação escolhida.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variável deixa de ser apenas armazenamento e passa a indicar uma relação conceitual entre valor, papel e contexto.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12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1.3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lista torna visível uma coleção de casos?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Crie uma lista de valores.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quantidade e ordem.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Pergunte o que muda se a ordem mudar.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= [1, 2, 3, 4]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length(dados)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dados[1]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Coleção, ordem e índice como representação.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organizar dados é componente crítico da representação.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múltiplas expressões exibem aspectos distintos do mesmo conceito.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articular código, texto, tabela, gráfico e interpretação.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lista aproxima teoria de conjuntos e estrutura computacional: valores aparecem como coleção e como sequência indexada.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13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1.4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o Pluto ajuda a ver dependências?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Separe as células em dados, regra e saída.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Mude um valor inicial.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a atualização das células dependentes.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valor = 100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taxa = 0.1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final = valor * (1 + taxa)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Manipulação de parâmetros e feedback imediato.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permitir manipulação de parâmetros e comparação de estados.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a interação consciente com a forma favorece reflexão conceitual.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múltiplas representações indicam modelagem mais bem-sucedida.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reatividade torna explícita a dependência entre variáveis, permitindo comparar estados do mesmo modelo.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14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1.5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texto e código podem coexistir na mesma explicação?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Use uma célula Markdown.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Mostre valores calculados no texto.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Peça que a turma explique a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media = 7.5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md"""A média foi **$media**."""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representações: linguagem natural e cálculo.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múltiplas representações indicam modelagem mais bem-sucedida.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múltiplas expressões exibem aspectos distintos do mesmo conceito.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articular código, texto, tabela, gráfico e interpretação.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texto integrado ao código aproxima cálculo, comunicação e justificativa conceitual.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1.6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muda quando a saída vira tabela?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Calcule quadrados.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Agrupe entrada e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Interprete a correspondência em pares.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0"/>
          <p:cNvSpPr/>
          <p:nvPr/>
        </p:nvSpPr>
        <p:spPr>
          <a:xfrm>
            <a:off x="5925240" y="1750320"/>
            <a:ext cx="5622840" cy="22096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= [1, 2, 3, 4]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quadrados = dados .^ 2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1 ^ 2 → 1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2 ^ 2 → 4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3 ^ 2 → 9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4 ^ 2 → 16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Transnumeração: lista para pares interpretáveis.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transnumeração torna dados interpretáveis em nova forma.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representações ampliam a percepção de propriedades e relações.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solicitar explicação do raciocínio desenvolvido.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tabela de pares faz aparecer a relação funcional que ficaria escondida em uma lista de resultados.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16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7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8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9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20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1.6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1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muda quando a saída vira tabela?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2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3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Calcule quadrados.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Agrupe entrada e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Interprete a correspondência em pares.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4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5"/>
          <p:cNvSpPr/>
          <p:nvPr/>
        </p:nvSpPr>
        <p:spPr>
          <a:xfrm>
            <a:off x="5897160" y="1886040"/>
            <a:ext cx="5622840" cy="189396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collect(zip(dados, quadrados))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     → [1, 2, 3, 4]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quadrados  → [1, 4, 9, 16]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zip        → associa: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          (1, 1)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          (2, 4)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          (3, 9)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              (4, 16)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collect    → [(1, 1), (2, 4), (3, 9), (4, 16)]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26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7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Transnumeração: lista para pares interpretáveis.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transnumeração torna dados interpretáveis em nova forma.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representações ampliam a percepção de propriedades e relações.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solicitar explicação do raciocínio desenvolvido.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8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9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tabela de pares faz aparecer a relação funcional que ficaria escondida em uma lista de resultados.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0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1.7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uma função sintetiza uma ideia computacional?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Transforme uma conta repetida em função.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diferentes entradas.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Compare os resultados.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dobro(x) = 2x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dobro(4)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dobro(10)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Generalização inicial e relação entrada–saída.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níveis SOLO ajudam a observar respostas de menor a maior integração.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a análise qualitativa observa invariantes e relações mobilizadas na 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avaliar o percurso de pensamento, não apenas o código final.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função introduz a ideia de regra reutilizável e permite discutir domínio, imagem e transformação.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17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1.8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o computador representa decisões?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Use uma condição simples.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dois casos.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a regra antes de executar.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nota = 6.5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situacao = nota &gt;= 7 ? "aprovado" : "rever"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Representação de regra e classificação.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solicitar explicação do raciocínio desenvolvido.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feedback visual/textual deve orientar interpretação, não apenas corrigir.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atividades planejadas desenvolvem representação e pensamento de ordem superior.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decisão computacional mostra que regras precisam ser formuladas, testadas e interpretadas.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18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1.9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 erro pode virar dado de aprendizagem?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Altere uma variável inexistente.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a mensagem de erro.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Explique que relação estava faltando.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x = 10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y = x + z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Feedback como informação para reconstrução.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feedback visual/textual deve orientar interpretação, não apenas corrigir.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incluir revisão, depuração e reconstrução.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respostas idiossincráticas também revelam modos de pensar.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erro revela dependências ausentes e ajuda a discutir a estrutura necessária para o modelo funcionar.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 0"/>
          <p:cNvSpPr/>
          <p:nvPr/>
        </p:nvSpPr>
        <p:spPr>
          <a:xfrm>
            <a:off x="502920" y="164520"/>
            <a:ext cx="7131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"/>
          <p:cNvSpPr/>
          <p:nvPr/>
        </p:nvSpPr>
        <p:spPr>
          <a:xfrm>
            <a:off x="7955280" y="164520"/>
            <a:ext cx="29253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 • Introdução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"/>
          <p:cNvSpPr/>
          <p:nvPr/>
        </p:nvSpPr>
        <p:spPr>
          <a:xfrm>
            <a:off x="11064240" y="109800"/>
            <a:ext cx="730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19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4"/>
          <p:cNvSpPr/>
          <p:nvPr/>
        </p:nvSpPr>
        <p:spPr>
          <a:xfrm>
            <a:off x="530280" y="749880"/>
            <a:ext cx="41076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5"/>
          <p:cNvSpPr/>
          <p:nvPr/>
        </p:nvSpPr>
        <p:spPr>
          <a:xfrm>
            <a:off x="960120" y="859680"/>
            <a:ext cx="7308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5b6cff"/>
                </a:solidFill>
                <a:effectLst/>
                <a:uFillTx/>
                <a:latin typeface="Aptos"/>
                <a:ea typeface="Aptos"/>
              </a:rPr>
              <a:t>1.10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6"/>
          <p:cNvSpPr/>
          <p:nvPr/>
        </p:nvSpPr>
        <p:spPr>
          <a:xfrm>
            <a:off x="960120" y="667440"/>
            <a:ext cx="106977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avaliar a primeira experiência com Pluto?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7"/>
          <p:cNvSpPr/>
          <p:nvPr/>
        </p:nvSpPr>
        <p:spPr>
          <a:xfrm>
            <a:off x="594360" y="1481400"/>
            <a:ext cx="5119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8"/>
          <p:cNvSpPr/>
          <p:nvPr/>
        </p:nvSpPr>
        <p:spPr>
          <a:xfrm>
            <a:off x="594360" y="1783080"/>
            <a:ext cx="50742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Peça um registro curto.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Liste o que ficou visível.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Classifique uma dificuldade como dado, regra ou saída.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9"/>
          <p:cNvSpPr/>
          <p:nvPr/>
        </p:nvSpPr>
        <p:spPr>
          <a:xfrm>
            <a:off x="5925240" y="1481400"/>
            <a:ext cx="56228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0"/>
          <p:cNvSpPr/>
          <p:nvPr/>
        </p:nvSpPr>
        <p:spPr>
          <a:xfrm>
            <a:off x="5925240" y="1755720"/>
            <a:ext cx="5622840" cy="137088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reflexao = "Expliquei a relação entre dados e saída"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length(reflexao)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1"/>
          <p:cNvSpPr/>
          <p:nvPr/>
        </p:nvSpPr>
        <p:spPr>
          <a:xfrm>
            <a:off x="594360" y="336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2"/>
          <p:cNvSpPr/>
          <p:nvPr/>
        </p:nvSpPr>
        <p:spPr>
          <a:xfrm>
            <a:off x="594360" y="3675960"/>
            <a:ext cx="11017800" cy="12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Reflexão metaconceitual sobre o percurso.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Relato: avaliar o percurso de pensamento, não apenas o código final.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Queiroz: o percurso da tarefa revela mudanças no discurso e na ação.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Wessels: atividades planejadas desenvolvem representação e pensamento de ordem superior.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3"/>
          <p:cNvSpPr/>
          <p:nvPr/>
        </p:nvSpPr>
        <p:spPr>
          <a:xfrm>
            <a:off x="594360" y="5074920"/>
            <a:ext cx="110178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5b6cf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14"/>
          <p:cNvSpPr/>
          <p:nvPr/>
        </p:nvSpPr>
        <p:spPr>
          <a:xfrm>
            <a:off x="594360" y="5376600"/>
            <a:ext cx="1101780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avaliação inicial observa como o estudante descreve e reorganiza a tarefa, não apenas se o código exec</a:t>
            </a: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utou.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5"/>
          <p:cNvSpPr/>
          <p:nvPr/>
        </p:nvSpPr>
        <p:spPr>
          <a:xfrm>
            <a:off x="594360" y="6263640"/>
            <a:ext cx="110178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1293</TotalTime>
  <Application>LibreOffice/25.2.7.2$Windows_X86_64 LibreOffice_project/5cbfd1ab6520636bb5f7b99185aa69bd7456825d</Application>
  <AppVersion>15.0000</AppVersion>
  <Words>0</Words>
  <Paragraphs>0</Paragraphs>
  <Company>PROFCOMP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2026-06-04T19:39:33Z</dcterms:created>
  <dc:creator>OpenAI</dc:creator>
  <dc:description/>
  <dc:language>pt-BR</dc:language>
  <cp:lastModifiedBy/>
  <dcterms:modified xsi:type="dcterms:W3CDTF">2026-08-21T16:26:03Z</dcterms:modified>
  <cp:revision>16</cp:revision>
  <dc:subject>Julia e Pluto para Pensamento Computacional — PROFCOMP</dc:subject>
  <dc:title>Aula por perguntas — Julia + Pluto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102</vt:i4>
  </property>
  <property fmtid="{D5CDD505-2E9C-101B-9397-08002B2CF9AE}" pid="3" name="PresentationFormat">
    <vt:lpwstr>On-screen Show (16:9)</vt:lpwstr>
  </property>
  <property fmtid="{D5CDD505-2E9C-101B-9397-08002B2CF9AE}" pid="4" name="Slides">
    <vt:i4>102</vt:i4>
  </property>
</Properties>
</file>