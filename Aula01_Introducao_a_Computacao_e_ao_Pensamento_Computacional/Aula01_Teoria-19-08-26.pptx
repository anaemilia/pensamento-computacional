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19.xml.rels" ContentType="application/vnd.openxmlformats-package.relationships+xml"/>
  <Override PartName="/ppt/slideLayouts/slideLayout1.xml" ContentType="application/vnd.openxmlformats-officedocument.presentationml.slideLayout+xml"/>
  <Override PartName="/ppt/slideLayouts/_rels/slideLayout1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Clique para mover o slide</a:t>
            </a:r>
            <a:endParaRPr b="0" lang="pt-BR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13567D0-11EB-4314-B678-50420D1A79B0}" type="slidenum"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89A2D0B-613C-40AD-AFA2-826BD4B497BA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CC32A9B-C35E-465F-9BD8-7F0198D51AA0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7733C6C-60EE-44B8-A121-0BCD57AFB698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2F68518-B06A-4164-BB34-E2D214ED343E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20C95B2-93AD-43A3-81FA-6BEBD9CC975D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C3823C0-5FAB-4A72-8EEC-D36DAECE0F02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493AFC4-5FF3-41AB-9C91-B8743C5E88A9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8762F01-945F-4F87-BEA3-BC11E6139751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3C7A48A-45EC-4B12-BCA7-618DFC88E32A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A056D3B-559F-4965-8AEE-598FD36E6D57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3CCBED0-37B5-4DD4-85F1-67C6283EF6D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B73446F-B84F-45BA-8AE6-65E5C6F7E39F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C317912-5472-4B96-BC25-3B7531957D3C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do texto do título</a:t>
            </a:r>
            <a:endParaRPr b="0" lang="pt-BR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de texto dos tópicos</a:t>
            </a:r>
            <a:endParaRPr b="0" lang="pt-BR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2.º nível de tópicos</a:t>
            </a:r>
            <a:endParaRPr b="0" lang="pt-BR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3.º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4.º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5.º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6.º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7.º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640080" y="685800"/>
            <a:ext cx="10054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6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5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1828800" y="749880"/>
            <a:ext cx="94179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Aula por perguntas</a:t>
            </a:r>
            <a:endParaRPr b="0" lang="pt-BR" sz="3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1828800" y="1481400"/>
            <a:ext cx="94179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Julia + Pluto em Pensamento Computacional — PROFCOMP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777240" y="2880360"/>
            <a:ext cx="10606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90 slides organizados pela ementa: 9 blocos × 10 tarefas. Cada tarefa articula código, representação, modelagem e critérios qualitativos.</a:t>
            </a:r>
            <a:endParaRPr b="0" lang="pt-BR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777240" y="438912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Fontes de análise: relato do GT, tese de Queiroz, e Wessels sobre organização e representação de dados.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777240" y="56235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 ferramenta não é o centro. A tarefa é o centro.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Visão geral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02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4"/>
          <p:cNvSpPr/>
          <p:nvPr/>
        </p:nvSpPr>
        <p:spPr>
          <a:xfrm>
            <a:off x="594360" y="713160"/>
            <a:ext cx="10972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Quais assuntos da ementa orientam a sequência?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5"/>
          <p:cNvSpPr/>
          <p:nvPr/>
        </p:nvSpPr>
        <p:spPr>
          <a:xfrm>
            <a:off x="77724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1. Introdução à Computação e ao Pensamento Computacional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2. Pensamento indutivo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3. Pensamento dedutivo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4. Problemas e algoritmos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5. Fundamentos da representação de processos e dados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6"/>
          <p:cNvSpPr/>
          <p:nvPr/>
        </p:nvSpPr>
        <p:spPr>
          <a:xfrm>
            <a:off x="640080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6. Técnicas de construção de algoritmos: decomposição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7. Técnicas de construção de algoritmos: generalização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8. Técnicas de construção de algoritmos: transformação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9. Noções dos limites da Computação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7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Cada bloco contém 10 tarefas em Pluto, sempre em formato de pergunta.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Objetivos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03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4"/>
          <p:cNvSpPr/>
          <p:nvPr/>
        </p:nvSpPr>
        <p:spPr>
          <a:xfrm>
            <a:off x="594360" y="713160"/>
            <a:ext cx="10972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O que esperamos desta aula?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5"/>
          <p:cNvSpPr/>
          <p:nvPr/>
        </p:nvSpPr>
        <p:spPr>
          <a:xfrm>
            <a:off x="77724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Situar a Computação como ciência do processamento de informação.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Reconhecer a origem histórica do Pensamento Computacional (PC).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Diferenciar “programar” de “pensar computacionalmente”.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6"/>
          <p:cNvSpPr/>
          <p:nvPr/>
        </p:nvSpPr>
        <p:spPr>
          <a:xfrm>
            <a:off x="640080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Identificar os quatro pilares do PC: decomposição, padrões, abstração e algoritmos.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Relacionar o PC à BNCC e à formação de professores no PROFCOMP.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Preparar-se para as 10 tarefas práticas em Julia/Pluto do Bloco 1.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7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Aula 1 de 15 • 2 horas • Introdução à Computação e ao Pensamento Computacional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Contexto histórico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04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4"/>
          <p:cNvSpPr/>
          <p:nvPr/>
        </p:nvSpPr>
        <p:spPr>
          <a:xfrm>
            <a:off x="594360" y="713160"/>
            <a:ext cx="10972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De Papert a Wing: uma ideia com mais de 40 anos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5"/>
          <p:cNvSpPr/>
          <p:nvPr/>
        </p:nvSpPr>
        <p:spPr>
          <a:xfrm>
            <a:off x="77724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1980 — Seymour Papert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Em “Mindstorms”, Papert propõe que programar pode ser um modo de “pensar sobre o pensar”.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A criança não aprende só a programar: aprende a testar e depurar as próprias ideias no computador.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6"/>
          <p:cNvSpPr/>
          <p:nvPr/>
        </p:nvSpPr>
        <p:spPr>
          <a:xfrm>
            <a:off x="640080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2006 — Jeannette Wing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Wing recoloca o termo no centro do debate educacional no artigo “Computational Thinking” (CACM).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Defende que formular e resolver problemas com conceitos da Ciência da Computação é uma habilidade para todos.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7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Papert, S. (1980). Mindstorms. • Wing, J. M. (2006). Computational thinking. Communications of the ACM, 49(3).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Definição de referência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05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4"/>
          <p:cNvSpPr/>
          <p:nvPr/>
        </p:nvSpPr>
        <p:spPr>
          <a:xfrm>
            <a:off x="594360" y="713160"/>
            <a:ext cx="10972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Uma definição de referência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5"/>
          <p:cNvSpPr/>
          <p:nvPr/>
        </p:nvSpPr>
        <p:spPr>
          <a:xfrm>
            <a:off x="77724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“Pensamento computacional é o processo de pensamento envolvido em formular um problema e expressar sua solução de forma que ela possa ser executada por um agente que processa informação.”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— Jeannette Wing (2006), tradução livre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6"/>
          <p:cNvSpPr/>
          <p:nvPr/>
        </p:nvSpPr>
        <p:spPr>
          <a:xfrm>
            <a:off x="640080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O “agente” pode ser uma pessoa, um computador, ou os dois.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A ênfase está em formular o problema — não apenas em codificar a solução.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A solução precisa ser expressa de forma efetiva, passível de execução e de verificação.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7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Wing, J. M. (2006). Computational thinking. Communications of the ACM, 49(3), 33–35.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Pilares do PC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06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4"/>
          <p:cNvSpPr/>
          <p:nvPr/>
        </p:nvSpPr>
        <p:spPr>
          <a:xfrm>
            <a:off x="594360" y="713160"/>
            <a:ext cx="10972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Os quatro pilares do Pensamento Computacional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5"/>
          <p:cNvSpPr/>
          <p:nvPr/>
        </p:nvSpPr>
        <p:spPr>
          <a:xfrm>
            <a:off x="77724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1 · Decomposição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Dividir um problema complexo em partes menores e mais fáceis de resolver.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2 · Reconhecimento de padrões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Identificar semelhanças e regularidades entre problemas ou dentro de um mesmo problema.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6"/>
          <p:cNvSpPr/>
          <p:nvPr/>
        </p:nvSpPr>
        <p:spPr>
          <a:xfrm>
            <a:off x="640080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3 · Abstração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Filtrar o que é essencial, ignorando detalhes irrelevantes para a solução.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4 · Algoritmos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Projetar uma sequência de passos lógicos e replicáveis até a solução.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7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Fonte: BNCC Computação — eixo Pensamento Computacional; Wing (2006).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PC x programar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07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4"/>
          <p:cNvSpPr/>
          <p:nvPr/>
        </p:nvSpPr>
        <p:spPr>
          <a:xfrm>
            <a:off x="594360" y="713160"/>
            <a:ext cx="10972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Pensamento Computacional não é apenas programar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5"/>
          <p:cNvSpPr/>
          <p:nvPr/>
        </p:nvSpPr>
        <p:spPr>
          <a:xfrm>
            <a:off x="77724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Programar (codificar)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Traduzir uma solução já pensada para uma linguagem de programação.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Foco na sintaxe e na execução correta do código.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6"/>
          <p:cNvSpPr/>
          <p:nvPr/>
        </p:nvSpPr>
        <p:spPr>
          <a:xfrm>
            <a:off x="640080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Pensar computacionalmente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Formular o problema, modelar dados e processos, avaliar soluções.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O código é o meio de tornar o raciocínio testável — “a ferramenta não é o centro, a tarefa é o centro”.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7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Controvérsia recorrente na literatura: PC é “mais do que programar” (ver Aula01_Sintese, slide 1.2).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BNCC e PROFCOMP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08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4"/>
          <p:cNvSpPr/>
          <p:nvPr/>
        </p:nvSpPr>
        <p:spPr>
          <a:xfrm>
            <a:off x="594360" y="713160"/>
            <a:ext cx="10972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Por que isso importa para quem forma professores?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5"/>
          <p:cNvSpPr/>
          <p:nvPr/>
        </p:nvSpPr>
        <p:spPr>
          <a:xfrm>
            <a:off x="77724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BNCC Computação — três eixos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Pensamento Computacional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Mundo Digital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Cultura Digital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6"/>
          <p:cNvSpPr/>
          <p:nvPr/>
        </p:nvSpPr>
        <p:spPr>
          <a:xfrm>
            <a:off x="640080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No PROFCOMP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Mestrado profissional que forma professores para ensinar Computação na Educação Básica.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Entender os fundamentos do PC é pré-requisito para desenhar boas tarefas — como as que faremos com Julia e Pluto.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7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BNCC Computação (2022) • PROFCOMP — Mestrado Profissional em Computação em Rede Nacional.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09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4"/>
          <p:cNvSpPr/>
          <p:nvPr/>
        </p:nvSpPr>
        <p:spPr>
          <a:xfrm>
            <a:off x="594360" y="822960"/>
            <a:ext cx="1188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1</a:t>
            </a:r>
            <a:endParaRPr b="0" lang="pt-BR" sz="4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5"/>
          <p:cNvSpPr/>
          <p:nvPr/>
        </p:nvSpPr>
        <p:spPr>
          <a:xfrm>
            <a:off x="1828800" y="768240"/>
            <a:ext cx="96008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Introdução à Computação e ao Pensamento Computacional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6"/>
          <p:cNvSpPr/>
          <p:nvPr/>
        </p:nvSpPr>
        <p:spPr>
          <a:xfrm>
            <a:off x="1828800" y="1691640"/>
            <a:ext cx="9326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10 tarefas em formato de pergunta, com exemplos em Julia/Pluto.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7"/>
          <p:cNvSpPr/>
          <p:nvPr/>
        </p:nvSpPr>
        <p:spPr>
          <a:xfrm>
            <a:off x="685800" y="2743200"/>
            <a:ext cx="2559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Pergunta-guia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8"/>
          <p:cNvSpPr/>
          <p:nvPr/>
        </p:nvSpPr>
        <p:spPr>
          <a:xfrm>
            <a:off x="685800" y="310896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transformar “computar” em uma prática de representar, testar e explicar problemas?</a:t>
            </a:r>
            <a:endParaRPr b="0" lang="pt-BR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9"/>
          <p:cNvSpPr/>
          <p:nvPr/>
        </p:nvSpPr>
        <p:spPr>
          <a:xfrm>
            <a:off x="685800" y="4892040"/>
            <a:ext cx="10972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Neste bloco, as tarefas usam Julia e Pluto para transformar conceitos da ementa em ações observáveis: organizar, representar, manipular, interpretar e revisar.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0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A pergunta abre a aula; o código serve para tornar a relação conceitual discutível.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10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4"/>
          <p:cNvSpPr/>
          <p:nvPr/>
        </p:nvSpPr>
        <p:spPr>
          <a:xfrm>
            <a:off x="530280" y="749880"/>
            <a:ext cx="411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5"/>
          <p:cNvSpPr/>
          <p:nvPr/>
        </p:nvSpPr>
        <p:spPr>
          <a:xfrm>
            <a:off x="960120" y="8596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5b6cff"/>
                </a:solidFill>
                <a:effectLst/>
                <a:uFillTx/>
                <a:latin typeface="Aptos"/>
                <a:ea typeface="Aptos"/>
              </a:rPr>
              <a:t>1.1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6"/>
          <p:cNvSpPr/>
          <p:nvPr/>
        </p:nvSpPr>
        <p:spPr>
          <a:xfrm>
            <a:off x="960120" y="66744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O que é computar quando usamos Julia no Pluto?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7"/>
          <p:cNvSpPr/>
          <p:nvPr/>
        </p:nvSpPr>
        <p:spPr>
          <a:xfrm>
            <a:off x="594360" y="148140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8"/>
          <p:cNvSpPr/>
          <p:nvPr/>
        </p:nvSpPr>
        <p:spPr>
          <a:xfrm>
            <a:off x="594360" y="1783080"/>
            <a:ext cx="50745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4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Execute uma expressão simples.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Observe entrada, processamento e saída.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Explique o que o computador fez e o que ele não entendeu.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9"/>
          <p:cNvSpPr/>
          <p:nvPr/>
        </p:nvSpPr>
        <p:spPr>
          <a:xfrm>
            <a:off x="5925240" y="1481400"/>
            <a:ext cx="5623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0"/>
          <p:cNvSpPr/>
          <p:nvPr/>
        </p:nvSpPr>
        <p:spPr>
          <a:xfrm>
            <a:off x="5925240" y="1755720"/>
            <a:ext cx="5623200" cy="137124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2 + 3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5 * 4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2^5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1"/>
          <p:cNvSpPr/>
          <p:nvPr/>
        </p:nvSpPr>
        <p:spPr>
          <a:xfrm>
            <a:off x="594360" y="336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2"/>
          <p:cNvSpPr/>
          <p:nvPr/>
        </p:nvSpPr>
        <p:spPr>
          <a:xfrm>
            <a:off x="594360" y="3675960"/>
            <a:ext cx="110181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</a:t>
            </a: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 Representação como mediação entre cálculo e significado.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Relato: deslocar foco da ferramenta para a tarefa.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Wessels: organizar dados é componente crítico da representação.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Queiroz: o resultado final não esgota a aprendizagem do conceito.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3"/>
          <p:cNvSpPr/>
          <p:nvPr/>
        </p:nvSpPr>
        <p:spPr>
          <a:xfrm>
            <a:off x="594360" y="507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4"/>
          <p:cNvSpPr/>
          <p:nvPr/>
        </p:nvSpPr>
        <p:spPr>
          <a:xfrm>
            <a:off x="594360" y="5376600"/>
            <a:ext cx="11018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primeira tarefa separa cálculo de compreensão: o computador executa operações, mas a turma interpreta o sentido da ação.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5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11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4"/>
          <p:cNvSpPr/>
          <p:nvPr/>
        </p:nvSpPr>
        <p:spPr>
          <a:xfrm>
            <a:off x="530280" y="749880"/>
            <a:ext cx="411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5"/>
          <p:cNvSpPr/>
          <p:nvPr/>
        </p:nvSpPr>
        <p:spPr>
          <a:xfrm>
            <a:off x="960120" y="8596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5b6cff"/>
                </a:solidFill>
                <a:effectLst/>
                <a:uFillTx/>
                <a:latin typeface="Aptos"/>
                <a:ea typeface="Aptos"/>
              </a:rPr>
              <a:t>1.2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6"/>
          <p:cNvSpPr/>
          <p:nvPr/>
        </p:nvSpPr>
        <p:spPr>
          <a:xfrm>
            <a:off x="960120" y="66744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uma variável transforma um número em conceito?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7"/>
          <p:cNvSpPr/>
          <p:nvPr/>
        </p:nvSpPr>
        <p:spPr>
          <a:xfrm>
            <a:off x="594360" y="148140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8"/>
          <p:cNvSpPr/>
          <p:nvPr/>
        </p:nvSpPr>
        <p:spPr>
          <a:xfrm>
            <a:off x="594360" y="1783080"/>
            <a:ext cx="50745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</a:t>
            </a: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 Nomeie valores com significado.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Altere o nome ou o valor.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Discuta como o nome orienta a leitura do modelo.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9"/>
          <p:cNvSpPr/>
          <p:nvPr/>
        </p:nvSpPr>
        <p:spPr>
          <a:xfrm>
            <a:off x="5925240" y="1481400"/>
            <a:ext cx="5623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0"/>
          <p:cNvSpPr/>
          <p:nvPr/>
        </p:nvSpPr>
        <p:spPr>
          <a:xfrm>
            <a:off x="5925240" y="1755720"/>
            <a:ext cx="5623200" cy="137124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idade = 35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anos = 5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idade_futura = idade + anos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1"/>
          <p:cNvSpPr/>
          <p:nvPr/>
        </p:nvSpPr>
        <p:spPr>
          <a:xfrm>
            <a:off x="594360" y="336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2"/>
          <p:cNvSpPr/>
          <p:nvPr/>
        </p:nvSpPr>
        <p:spPr>
          <a:xfrm>
            <a:off x="594360" y="3675960"/>
            <a:ext cx="110181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Variável como representação de grandeza.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Relato: explicitar variáveis, relações e restrições.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Queiroz: representações ampliam a percepção de propriedades e relações.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Wessels: o contexto e o tipo de dado influenciam a representação escolhida.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3"/>
          <p:cNvSpPr/>
          <p:nvPr/>
        </p:nvSpPr>
        <p:spPr>
          <a:xfrm>
            <a:off x="594360" y="507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4"/>
          <p:cNvSpPr/>
          <p:nvPr/>
        </p:nvSpPr>
        <p:spPr>
          <a:xfrm>
            <a:off x="594360" y="5376600"/>
            <a:ext cx="11018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1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variável deixa de ser apenas armazenamento e passa a indicar uma relação conceitual entre valor, papel e contexto.</a:t>
            </a:r>
            <a:endParaRPr b="0" lang="pt-BR" sz="10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5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12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4"/>
          <p:cNvSpPr/>
          <p:nvPr/>
        </p:nvSpPr>
        <p:spPr>
          <a:xfrm>
            <a:off x="530280" y="749880"/>
            <a:ext cx="411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5"/>
          <p:cNvSpPr/>
          <p:nvPr/>
        </p:nvSpPr>
        <p:spPr>
          <a:xfrm>
            <a:off x="960120" y="8596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5b6cff"/>
                </a:solidFill>
                <a:effectLst/>
                <a:uFillTx/>
                <a:latin typeface="Aptos"/>
                <a:ea typeface="Aptos"/>
              </a:rPr>
              <a:t>1.3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6"/>
          <p:cNvSpPr/>
          <p:nvPr/>
        </p:nvSpPr>
        <p:spPr>
          <a:xfrm>
            <a:off x="960120" y="66744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uma lista torna visível uma coleção de casos?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7"/>
          <p:cNvSpPr/>
          <p:nvPr/>
        </p:nvSpPr>
        <p:spPr>
          <a:xfrm>
            <a:off x="594360" y="148140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8"/>
          <p:cNvSpPr/>
          <p:nvPr/>
        </p:nvSpPr>
        <p:spPr>
          <a:xfrm>
            <a:off x="594360" y="1783080"/>
            <a:ext cx="50745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Crie uma lista de valores.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Observe quantidade e ordem.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Pergunte o que muda se a ordem mudar.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9"/>
          <p:cNvSpPr/>
          <p:nvPr/>
        </p:nvSpPr>
        <p:spPr>
          <a:xfrm>
            <a:off x="5925240" y="1481400"/>
            <a:ext cx="5623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0"/>
          <p:cNvSpPr/>
          <p:nvPr/>
        </p:nvSpPr>
        <p:spPr>
          <a:xfrm>
            <a:off x="5925240" y="1755720"/>
            <a:ext cx="5623200" cy="137124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dados = [1, 2, 3, 4]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length(dados)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dados[1]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1"/>
          <p:cNvSpPr/>
          <p:nvPr/>
        </p:nvSpPr>
        <p:spPr>
          <a:xfrm>
            <a:off x="594360" y="336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2"/>
          <p:cNvSpPr/>
          <p:nvPr/>
        </p:nvSpPr>
        <p:spPr>
          <a:xfrm>
            <a:off x="594360" y="3675960"/>
            <a:ext cx="110181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Coleção, ordem e índice como representação.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Wessels: organizar dados é componente crítico da representação.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Queiroz: múltiplas expressões exibem aspectos distintos do mesmo conceito.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Relato: articular código, texto, tabela, gráfico e interpretação.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3"/>
          <p:cNvSpPr/>
          <p:nvPr/>
        </p:nvSpPr>
        <p:spPr>
          <a:xfrm>
            <a:off x="594360" y="507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4"/>
          <p:cNvSpPr/>
          <p:nvPr/>
        </p:nvSpPr>
        <p:spPr>
          <a:xfrm>
            <a:off x="594360" y="5376600"/>
            <a:ext cx="11018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1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lista aproxima teoria de conjuntos e estrutura computacional: valores aparecem como coleção e como sequência indexada.</a:t>
            </a:r>
            <a:endParaRPr b="0" lang="pt-BR" sz="10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5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13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4"/>
          <p:cNvSpPr/>
          <p:nvPr/>
        </p:nvSpPr>
        <p:spPr>
          <a:xfrm>
            <a:off x="530280" y="749880"/>
            <a:ext cx="411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5"/>
          <p:cNvSpPr/>
          <p:nvPr/>
        </p:nvSpPr>
        <p:spPr>
          <a:xfrm>
            <a:off x="960120" y="8596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5b6cff"/>
                </a:solidFill>
                <a:effectLst/>
                <a:uFillTx/>
                <a:latin typeface="Aptos"/>
                <a:ea typeface="Aptos"/>
              </a:rPr>
              <a:t>1.4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6"/>
          <p:cNvSpPr/>
          <p:nvPr/>
        </p:nvSpPr>
        <p:spPr>
          <a:xfrm>
            <a:off x="960120" y="66744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o Pluto ajuda a ver dependências?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7"/>
          <p:cNvSpPr/>
          <p:nvPr/>
        </p:nvSpPr>
        <p:spPr>
          <a:xfrm>
            <a:off x="594360" y="148140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8"/>
          <p:cNvSpPr/>
          <p:nvPr/>
        </p:nvSpPr>
        <p:spPr>
          <a:xfrm>
            <a:off x="594360" y="1783080"/>
            <a:ext cx="50745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Separe as células em dados, regra e saída.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Mude um valor inicial.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Observe a atualização das células dependentes.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9"/>
          <p:cNvSpPr/>
          <p:nvPr/>
        </p:nvSpPr>
        <p:spPr>
          <a:xfrm>
            <a:off x="5925240" y="1481400"/>
            <a:ext cx="5623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0"/>
          <p:cNvSpPr/>
          <p:nvPr/>
        </p:nvSpPr>
        <p:spPr>
          <a:xfrm>
            <a:off x="5925240" y="1755720"/>
            <a:ext cx="5623200" cy="137124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valor = 100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taxa = 0.1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final = valor * (1 + taxa)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1"/>
          <p:cNvSpPr/>
          <p:nvPr/>
        </p:nvSpPr>
        <p:spPr>
          <a:xfrm>
            <a:off x="594360" y="336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2"/>
          <p:cNvSpPr/>
          <p:nvPr/>
        </p:nvSpPr>
        <p:spPr>
          <a:xfrm>
            <a:off x="594360" y="3675960"/>
            <a:ext cx="110181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Manipulação de parâmetros e feedback imediato.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Relato: permitir manipulação de parâmetros e comparação de estados.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Queiroz: a interação consciente com a forma favorece reflexão conceitual.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Wessels: múltiplas representações indicam modelagem mais bem-sucedida.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3"/>
          <p:cNvSpPr/>
          <p:nvPr/>
        </p:nvSpPr>
        <p:spPr>
          <a:xfrm>
            <a:off x="594360" y="507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4"/>
          <p:cNvSpPr/>
          <p:nvPr/>
        </p:nvSpPr>
        <p:spPr>
          <a:xfrm>
            <a:off x="594360" y="5376600"/>
            <a:ext cx="11018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1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reatividade torna explícita a dependência entre variáveis, permitindo comparar estados do mesmo modelo.</a:t>
            </a:r>
            <a:endParaRPr b="0" lang="pt-BR" sz="10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5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14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4"/>
          <p:cNvSpPr/>
          <p:nvPr/>
        </p:nvSpPr>
        <p:spPr>
          <a:xfrm>
            <a:off x="530280" y="749880"/>
            <a:ext cx="411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5"/>
          <p:cNvSpPr/>
          <p:nvPr/>
        </p:nvSpPr>
        <p:spPr>
          <a:xfrm>
            <a:off x="960120" y="8596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5b6cff"/>
                </a:solidFill>
                <a:effectLst/>
                <a:uFillTx/>
                <a:latin typeface="Aptos"/>
                <a:ea typeface="Aptos"/>
              </a:rPr>
              <a:t>1.5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6"/>
          <p:cNvSpPr/>
          <p:nvPr/>
        </p:nvSpPr>
        <p:spPr>
          <a:xfrm>
            <a:off x="960120" y="66744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texto e código podem coexistir na mesma explicação?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7"/>
          <p:cNvSpPr/>
          <p:nvPr/>
        </p:nvSpPr>
        <p:spPr>
          <a:xfrm>
            <a:off x="594360" y="148140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8"/>
          <p:cNvSpPr/>
          <p:nvPr/>
        </p:nvSpPr>
        <p:spPr>
          <a:xfrm>
            <a:off x="594360" y="1783080"/>
            <a:ext cx="50745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Use uma célula Markdown.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Mostre valores calculados no texto.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Peça que a turma explique a saída.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9"/>
          <p:cNvSpPr/>
          <p:nvPr/>
        </p:nvSpPr>
        <p:spPr>
          <a:xfrm>
            <a:off x="5925240" y="1481400"/>
            <a:ext cx="5623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0"/>
          <p:cNvSpPr/>
          <p:nvPr/>
        </p:nvSpPr>
        <p:spPr>
          <a:xfrm>
            <a:off x="5925240" y="1755720"/>
            <a:ext cx="5623200" cy="137124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media = 7.5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md"""A média foi **$media**."""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1"/>
          <p:cNvSpPr/>
          <p:nvPr/>
        </p:nvSpPr>
        <p:spPr>
          <a:xfrm>
            <a:off x="594360" y="336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2"/>
          <p:cNvSpPr/>
          <p:nvPr/>
        </p:nvSpPr>
        <p:spPr>
          <a:xfrm>
            <a:off x="594360" y="3675960"/>
            <a:ext cx="110181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Múltiplas representações: linguagem natural e cálculo.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Wessels: múltiplas representações indicam modelagem mais bem-sucedida.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Queiroz: múltiplas expressões exibem aspectos distintos do mesmo conceito.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Relato: articular código, texto, tabela, gráfico e interpretação.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3"/>
          <p:cNvSpPr/>
          <p:nvPr/>
        </p:nvSpPr>
        <p:spPr>
          <a:xfrm>
            <a:off x="594360" y="507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4"/>
          <p:cNvSpPr/>
          <p:nvPr/>
        </p:nvSpPr>
        <p:spPr>
          <a:xfrm>
            <a:off x="594360" y="5376600"/>
            <a:ext cx="11018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O texto integrado ao código aproxima cálculo, comunicação e justificativa conceitual.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5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15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4"/>
          <p:cNvSpPr/>
          <p:nvPr/>
        </p:nvSpPr>
        <p:spPr>
          <a:xfrm>
            <a:off x="530280" y="749880"/>
            <a:ext cx="411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5"/>
          <p:cNvSpPr/>
          <p:nvPr/>
        </p:nvSpPr>
        <p:spPr>
          <a:xfrm>
            <a:off x="960120" y="8596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5b6cff"/>
                </a:solidFill>
                <a:effectLst/>
                <a:uFillTx/>
                <a:latin typeface="Aptos"/>
                <a:ea typeface="Aptos"/>
              </a:rPr>
              <a:t>1.6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6"/>
          <p:cNvSpPr/>
          <p:nvPr/>
        </p:nvSpPr>
        <p:spPr>
          <a:xfrm>
            <a:off x="960120" y="66744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O que muda quando a saída vira tabela?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7"/>
          <p:cNvSpPr/>
          <p:nvPr/>
        </p:nvSpPr>
        <p:spPr>
          <a:xfrm>
            <a:off x="594360" y="148140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8"/>
          <p:cNvSpPr/>
          <p:nvPr/>
        </p:nvSpPr>
        <p:spPr>
          <a:xfrm>
            <a:off x="594360" y="1783080"/>
            <a:ext cx="50745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Calcule quadrados.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Agrupe entrada e saída.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Interprete a correspondência em pares.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9"/>
          <p:cNvSpPr/>
          <p:nvPr/>
        </p:nvSpPr>
        <p:spPr>
          <a:xfrm>
            <a:off x="5925240" y="1481400"/>
            <a:ext cx="5623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0"/>
          <p:cNvSpPr/>
          <p:nvPr/>
        </p:nvSpPr>
        <p:spPr>
          <a:xfrm>
            <a:off x="5925240" y="1755720"/>
            <a:ext cx="5623200" cy="137124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dados = [1, 2, 3, 4]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quadrados = dados .^ 2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collect(zip(dados, quadrados))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1"/>
          <p:cNvSpPr/>
          <p:nvPr/>
        </p:nvSpPr>
        <p:spPr>
          <a:xfrm>
            <a:off x="594360" y="336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2"/>
          <p:cNvSpPr/>
          <p:nvPr/>
        </p:nvSpPr>
        <p:spPr>
          <a:xfrm>
            <a:off x="594360" y="3675960"/>
            <a:ext cx="110181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Transnumeração: lista para pares interpretáveis.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Wessels: transnumeração torna dados interpretáveis em nova forma.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Queiroz: representações ampliam a percepção de propriedades e relações.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Relato: solicitar explicação do raciocínio desenvolvido.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3"/>
          <p:cNvSpPr/>
          <p:nvPr/>
        </p:nvSpPr>
        <p:spPr>
          <a:xfrm>
            <a:off x="594360" y="507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4"/>
          <p:cNvSpPr/>
          <p:nvPr/>
        </p:nvSpPr>
        <p:spPr>
          <a:xfrm>
            <a:off x="594360" y="5376600"/>
            <a:ext cx="11018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tabela de pares faz aparecer a relação funcional que ficaria escondida em uma lista de resultados.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5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16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4"/>
          <p:cNvSpPr/>
          <p:nvPr/>
        </p:nvSpPr>
        <p:spPr>
          <a:xfrm>
            <a:off x="530280" y="749880"/>
            <a:ext cx="411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5"/>
          <p:cNvSpPr/>
          <p:nvPr/>
        </p:nvSpPr>
        <p:spPr>
          <a:xfrm>
            <a:off x="960120" y="8596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5b6cff"/>
                </a:solidFill>
                <a:effectLst/>
                <a:uFillTx/>
                <a:latin typeface="Aptos"/>
                <a:ea typeface="Aptos"/>
              </a:rPr>
              <a:t>1.7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6"/>
          <p:cNvSpPr/>
          <p:nvPr/>
        </p:nvSpPr>
        <p:spPr>
          <a:xfrm>
            <a:off x="960120" y="66744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uma função sintetiza uma ideia computacional?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7"/>
          <p:cNvSpPr/>
          <p:nvPr/>
        </p:nvSpPr>
        <p:spPr>
          <a:xfrm>
            <a:off x="594360" y="148140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8"/>
          <p:cNvSpPr/>
          <p:nvPr/>
        </p:nvSpPr>
        <p:spPr>
          <a:xfrm>
            <a:off x="594360" y="1783080"/>
            <a:ext cx="50745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Transforme uma conta repetida em função.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Teste diferentes entradas.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Compare os resultados.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9"/>
          <p:cNvSpPr/>
          <p:nvPr/>
        </p:nvSpPr>
        <p:spPr>
          <a:xfrm>
            <a:off x="5925240" y="1481400"/>
            <a:ext cx="5623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0"/>
          <p:cNvSpPr/>
          <p:nvPr/>
        </p:nvSpPr>
        <p:spPr>
          <a:xfrm>
            <a:off x="5925240" y="1755720"/>
            <a:ext cx="5623200" cy="137124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dobro(x) = 2x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dobro(4)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dobro(10)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1"/>
          <p:cNvSpPr/>
          <p:nvPr/>
        </p:nvSpPr>
        <p:spPr>
          <a:xfrm>
            <a:off x="594360" y="336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2"/>
          <p:cNvSpPr/>
          <p:nvPr/>
        </p:nvSpPr>
        <p:spPr>
          <a:xfrm>
            <a:off x="594360" y="3675960"/>
            <a:ext cx="110181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Generalização inicial e relação entrada–saída.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Wessels: níveis SOLO ajudam a observar respostas de menor a maior integração.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Queiroz: a análise qualitativa observa invariantes e relações mobilizadas na ação.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Relato: avaliar o percurso de pensamento, não apenas o código final.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3"/>
          <p:cNvSpPr/>
          <p:nvPr/>
        </p:nvSpPr>
        <p:spPr>
          <a:xfrm>
            <a:off x="594360" y="507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14"/>
          <p:cNvSpPr/>
          <p:nvPr/>
        </p:nvSpPr>
        <p:spPr>
          <a:xfrm>
            <a:off x="594360" y="5376600"/>
            <a:ext cx="11018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1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função introduz a ideia de regra reutilizável e permite discutir domínio, imagem e transformação.</a:t>
            </a:r>
            <a:endParaRPr b="0" lang="pt-BR" sz="10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5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17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4"/>
          <p:cNvSpPr/>
          <p:nvPr/>
        </p:nvSpPr>
        <p:spPr>
          <a:xfrm>
            <a:off x="530280" y="749880"/>
            <a:ext cx="411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5"/>
          <p:cNvSpPr/>
          <p:nvPr/>
        </p:nvSpPr>
        <p:spPr>
          <a:xfrm>
            <a:off x="960120" y="8596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5b6cff"/>
                </a:solidFill>
                <a:effectLst/>
                <a:uFillTx/>
                <a:latin typeface="Aptos"/>
                <a:ea typeface="Aptos"/>
              </a:rPr>
              <a:t>1.8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6"/>
          <p:cNvSpPr/>
          <p:nvPr/>
        </p:nvSpPr>
        <p:spPr>
          <a:xfrm>
            <a:off x="960120" y="66744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o computador representa decisões?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7"/>
          <p:cNvSpPr/>
          <p:nvPr/>
        </p:nvSpPr>
        <p:spPr>
          <a:xfrm>
            <a:off x="594360" y="148140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8"/>
          <p:cNvSpPr/>
          <p:nvPr/>
        </p:nvSpPr>
        <p:spPr>
          <a:xfrm>
            <a:off x="594360" y="1783080"/>
            <a:ext cx="50745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Use uma condição simples.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Teste dois casos.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Discuta a regra antes de executar.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9"/>
          <p:cNvSpPr/>
          <p:nvPr/>
        </p:nvSpPr>
        <p:spPr>
          <a:xfrm>
            <a:off x="5925240" y="1481400"/>
            <a:ext cx="5623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0"/>
          <p:cNvSpPr/>
          <p:nvPr/>
        </p:nvSpPr>
        <p:spPr>
          <a:xfrm>
            <a:off x="5925240" y="1755720"/>
            <a:ext cx="5623200" cy="137124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nota = 6.5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situacao = nota &gt;= 7 ? "aprovado" : "rever"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1"/>
          <p:cNvSpPr/>
          <p:nvPr/>
        </p:nvSpPr>
        <p:spPr>
          <a:xfrm>
            <a:off x="594360" y="336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12"/>
          <p:cNvSpPr/>
          <p:nvPr/>
        </p:nvSpPr>
        <p:spPr>
          <a:xfrm>
            <a:off x="594360" y="3675960"/>
            <a:ext cx="110181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Representação de regra e classificação.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Relato: solicitar explicação do raciocínio desenvolvido.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Queiroz: feedback visual/textual deve orientar interpretação, não apenas corrigir.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Wessels: atividades planejadas desenvolvem representação e pensamento de ordem superior.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3"/>
          <p:cNvSpPr/>
          <p:nvPr/>
        </p:nvSpPr>
        <p:spPr>
          <a:xfrm>
            <a:off x="594360" y="507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4"/>
          <p:cNvSpPr/>
          <p:nvPr/>
        </p:nvSpPr>
        <p:spPr>
          <a:xfrm>
            <a:off x="594360" y="5376600"/>
            <a:ext cx="11018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decisão computacional mostra que regras precisam ser formuladas, testadas e interpretadas.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5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18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4"/>
          <p:cNvSpPr/>
          <p:nvPr/>
        </p:nvSpPr>
        <p:spPr>
          <a:xfrm>
            <a:off x="530280" y="749880"/>
            <a:ext cx="411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5"/>
          <p:cNvSpPr/>
          <p:nvPr/>
        </p:nvSpPr>
        <p:spPr>
          <a:xfrm>
            <a:off x="960120" y="8596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5b6cff"/>
                </a:solidFill>
                <a:effectLst/>
                <a:uFillTx/>
                <a:latin typeface="Aptos"/>
                <a:ea typeface="Aptos"/>
              </a:rPr>
              <a:t>1.9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6"/>
          <p:cNvSpPr/>
          <p:nvPr/>
        </p:nvSpPr>
        <p:spPr>
          <a:xfrm>
            <a:off x="960120" y="66744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um erro pode virar dado de aprendizagem?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7"/>
          <p:cNvSpPr/>
          <p:nvPr/>
        </p:nvSpPr>
        <p:spPr>
          <a:xfrm>
            <a:off x="594360" y="148140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8"/>
          <p:cNvSpPr/>
          <p:nvPr/>
        </p:nvSpPr>
        <p:spPr>
          <a:xfrm>
            <a:off x="594360" y="1783080"/>
            <a:ext cx="50745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Altere uma variável inexistente.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Observe a mensagem de erro.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Explique que relação estava faltando.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9"/>
          <p:cNvSpPr/>
          <p:nvPr/>
        </p:nvSpPr>
        <p:spPr>
          <a:xfrm>
            <a:off x="5925240" y="1481400"/>
            <a:ext cx="5623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0"/>
          <p:cNvSpPr/>
          <p:nvPr/>
        </p:nvSpPr>
        <p:spPr>
          <a:xfrm>
            <a:off x="5925240" y="1755720"/>
            <a:ext cx="5623200" cy="137124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x = 10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y = x + z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1"/>
          <p:cNvSpPr/>
          <p:nvPr/>
        </p:nvSpPr>
        <p:spPr>
          <a:xfrm>
            <a:off x="594360" y="336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12"/>
          <p:cNvSpPr/>
          <p:nvPr/>
        </p:nvSpPr>
        <p:spPr>
          <a:xfrm>
            <a:off x="594360" y="3675960"/>
            <a:ext cx="110181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</a:t>
            </a: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 Feedback como informação para reconstrução.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Queiroz: feedback visual/textual deve orientar interpretação, não apenas corrigir.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Relato: incluir revisão, depuração e reconstrução.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Wessels: respostas idiossincráticas também revelam modos de pensar.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13"/>
          <p:cNvSpPr/>
          <p:nvPr/>
        </p:nvSpPr>
        <p:spPr>
          <a:xfrm>
            <a:off x="594360" y="507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4"/>
          <p:cNvSpPr/>
          <p:nvPr/>
        </p:nvSpPr>
        <p:spPr>
          <a:xfrm>
            <a:off x="594360" y="5376600"/>
            <a:ext cx="11018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1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O erro revela dependências ausentes e ajuda a discutir a estrutura necessária para o modelo funcionar.</a:t>
            </a:r>
            <a:endParaRPr b="0" lang="pt-BR" sz="10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15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19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4"/>
          <p:cNvSpPr/>
          <p:nvPr/>
        </p:nvSpPr>
        <p:spPr>
          <a:xfrm>
            <a:off x="530280" y="749880"/>
            <a:ext cx="411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5"/>
          <p:cNvSpPr/>
          <p:nvPr/>
        </p:nvSpPr>
        <p:spPr>
          <a:xfrm>
            <a:off x="960120" y="8596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5b6cff"/>
                </a:solidFill>
                <a:effectLst/>
                <a:uFillTx/>
                <a:latin typeface="Aptos"/>
                <a:ea typeface="Aptos"/>
              </a:rPr>
              <a:t>1.10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6"/>
          <p:cNvSpPr/>
          <p:nvPr/>
        </p:nvSpPr>
        <p:spPr>
          <a:xfrm>
            <a:off x="960120" y="66744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avaliar a primeira experiência com Pluto?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7"/>
          <p:cNvSpPr/>
          <p:nvPr/>
        </p:nvSpPr>
        <p:spPr>
          <a:xfrm>
            <a:off x="594360" y="148140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8"/>
          <p:cNvSpPr/>
          <p:nvPr/>
        </p:nvSpPr>
        <p:spPr>
          <a:xfrm>
            <a:off x="594360" y="1783080"/>
            <a:ext cx="50745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Peça um registro curto.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Liste o que ficou visível.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Classifique uma dificuldade como dado, regra ou saída.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9"/>
          <p:cNvSpPr/>
          <p:nvPr/>
        </p:nvSpPr>
        <p:spPr>
          <a:xfrm>
            <a:off x="5925240" y="1481400"/>
            <a:ext cx="5623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0"/>
          <p:cNvSpPr/>
          <p:nvPr/>
        </p:nvSpPr>
        <p:spPr>
          <a:xfrm>
            <a:off x="5925240" y="1755720"/>
            <a:ext cx="5623200" cy="137124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reflexao = "Expliquei a relação entre dados e saída"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length(reflexao)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1"/>
          <p:cNvSpPr/>
          <p:nvPr/>
        </p:nvSpPr>
        <p:spPr>
          <a:xfrm>
            <a:off x="594360" y="336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12"/>
          <p:cNvSpPr/>
          <p:nvPr/>
        </p:nvSpPr>
        <p:spPr>
          <a:xfrm>
            <a:off x="594360" y="3675960"/>
            <a:ext cx="110181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Reflexão metaconceitual sobre o percurso.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Relato: avaliar o percurso de pensamento, não apenas o código final.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Queiroz: o percurso da tarefa revela mudanças no discurso e na ação.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Wessels: atividades planejadas desenvolvem representação e pensamento de ordem superior.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3"/>
          <p:cNvSpPr/>
          <p:nvPr/>
        </p:nvSpPr>
        <p:spPr>
          <a:xfrm>
            <a:off x="594360" y="507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14"/>
          <p:cNvSpPr/>
          <p:nvPr/>
        </p:nvSpPr>
        <p:spPr>
          <a:xfrm>
            <a:off x="594360" y="5376600"/>
            <a:ext cx="11018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avaliação inicial observa como o estudante descreve e reorganiza a tarefa, não apenas se o código exec</a:t>
            </a:r>
            <a:r>
              <a:rPr b="0" lang="en-US" sz="101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utou.</a:t>
            </a:r>
            <a:endParaRPr b="0" lang="pt-BR" sz="10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15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1246</TotalTime>
  <Application>LibreOffice/25.2.7.2$Windows_X86_64 LibreOffice_project/5cbfd1ab6520636bb5f7b99185aa69bd7456825d</Application>
  <AppVersion>15.0000</AppVersion>
  <Words>0</Words>
  <Paragraphs>0</Paragraphs>
  <Company>PROFCOMP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2026-06-04T19:39:33Z</dcterms:created>
  <dc:creator>OpenAI</dc:creator>
  <dc:description/>
  <dc:language>pt-BR</dc:language>
  <cp:lastModifiedBy/>
  <dcterms:modified xsi:type="dcterms:W3CDTF">2026-08-19T09:49:24Z</dcterms:modified>
  <cp:revision>12</cp:revision>
  <dc:subject>Julia e Pluto para Pensamento Computacional — PROFCOMP</dc:subject>
  <dc:title>Aula por perguntas — Julia + Pluto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102</vt:i4>
  </property>
  <property fmtid="{D5CDD505-2E9C-101B-9397-08002B2CF9AE}" pid="3" name="PresentationFormat">
    <vt:lpwstr>On-screen Show (16:9)</vt:lpwstr>
  </property>
  <property fmtid="{D5CDD505-2E9C-101B-9397-08002B2CF9AE}" pid="4" name="Slides">
    <vt:i4>102</vt:i4>
  </property>
</Properties>
</file>