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C32C564-BC90-4178-A78E-830D966F415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1ACA60-53E1-420F-A561-098A1AFE350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FB5E7E-3422-4B46-A176-F6B2ED0F8EB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AEF330-1274-4237-B03A-7108E88B4E5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D6E500-2F33-454D-B5D7-213BE16DE99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CB1DB6-D386-4660-A351-F9F19090F87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567584-7857-41D1-B3C9-AE519B36D1E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12668B-E0C4-440E-854E-17D41F8CC12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FEE321-1FF9-4C16-B631-CFB67F8F8D3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761EF6-DB4A-4555-B3A9-A05398063E9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153833-B375-4FF6-8B18-7C7219172E3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777204-6444-4C46-88E4-E024ECB4DF2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854463-AD51-4590-B618-F9E43ECE97D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74A64B-7ED5-4C58-8A07-1956953B407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FA35D4-3C4E-41BB-9879-BD7D57A44D8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565F11-524B-4604-90BB-FAC20B2B351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CBDFF6-9CCA-4B4A-89C5-423D8E6050D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6B5E7C-9DB2-49F3-AFDB-1949272D322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579C95-B42B-46C0-A6AB-4956BC21A38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B82198-72A3-489A-AB9D-7DBD8E027A5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DB6ADD-229A-40F7-B1B8-A1471A0BAA1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8E44F0-B820-4737-AF82-5D907B581B8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10362960" y="-914400"/>
            <a:ext cx="2925720" cy="2925720"/>
          </a:xfrm>
          <a:prstGeom prst="ellipse">
            <a:avLst/>
          </a:prstGeom>
          <a:solidFill>
            <a:srgbClr val="213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Shape 1"/>
          <p:cNvSpPr/>
          <p:nvPr/>
        </p:nvSpPr>
        <p:spPr>
          <a:xfrm>
            <a:off x="-1097280" y="4846320"/>
            <a:ext cx="2377080" cy="2377080"/>
          </a:xfrm>
          <a:prstGeom prst="ellipse">
            <a:avLst/>
          </a:prstGeom>
          <a:solidFill>
            <a:srgbClr val="1730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141732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PENSAMENTO COMPUTACIONAL · AULA 1 DE 15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0561320" y="502920"/>
            <a:ext cx="914040" cy="91404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" name="Image 0" descr="/home/claude/work/aulas1_9/icons/question_white.png"/>
          <p:cNvPicPr/>
          <p:nvPr/>
        </p:nvPicPr>
        <p:blipFill>
          <a:blip r:embed="rId1"/>
          <a:stretch/>
        </p:blipFill>
        <p:spPr>
          <a:xfrm>
            <a:off x="10689480" y="631080"/>
            <a:ext cx="658080" cy="65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4"/>
          <p:cNvSpPr/>
          <p:nvPr/>
        </p:nvSpPr>
        <p:spPr>
          <a:xfrm>
            <a:off x="822960" y="2286000"/>
            <a:ext cx="97837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Introdução à Computação e ao Pensamento Computacional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822960" y="3749040"/>
            <a:ext cx="8777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c9d3df"/>
                </a:solidFill>
                <a:effectLst/>
                <a:uFillTx/>
                <a:latin typeface="Calibri"/>
                <a:ea typeface="Calibri"/>
              </a:rPr>
              <a:t>Uma aula por perguntas: Julia + Pluto em Pensamento Computacional — PROFCOMP</a:t>
            </a:r>
            <a:endParaRPr b="0" lang="pt-B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822960" y="4846320"/>
            <a:ext cx="8777880" cy="868320"/>
          </a:xfrm>
          <a:prstGeom prst="roundRect">
            <a:avLst>
              <a:gd name="adj" fmla="val 9474"/>
            </a:avLst>
          </a:prstGeom>
          <a:solidFill>
            <a:srgbClr val="1830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097280" y="4846320"/>
            <a:ext cx="8229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trike="noStrike" u="none">
                <a:solidFill>
                  <a:srgbClr val="e8963c"/>
                </a:solidFill>
                <a:effectLst/>
                <a:uFillTx/>
                <a:latin typeface="Cambria"/>
                <a:ea typeface="Cambria"/>
              </a:rPr>
              <a:t>“A ferramenta não é o centro. A tarefa é o centro.”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e93ae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e93ae"/>
                </a:solidFill>
                <a:effectLst/>
                <a:uFillTx/>
                <a:latin typeface="Calibri"/>
                <a:ea typeface="Calibri"/>
              </a:rPr>
              <a:t>01 / 21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548640" y="457200"/>
            <a:ext cx="621360" cy="6213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0" name="Image 0" descr="/home/claude/work/aulas1_9/icons/list_white.png"/>
          <p:cNvPicPr/>
          <p:nvPr/>
        </p:nvPicPr>
        <p:blipFill>
          <a:blip r:embed="rId1"/>
          <a:stretch/>
        </p:blipFill>
        <p:spPr>
          <a:xfrm>
            <a:off x="635760" y="544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1"/>
          <p:cNvSpPr/>
          <p:nvPr/>
        </p:nvSpPr>
        <p:spPr>
          <a:xfrm>
            <a:off x="1371600" y="43884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Aula por perguntas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548640" y="1371600"/>
            <a:ext cx="10240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90 slides organizados pela ementa: 9 blocos × 10 tarefas. Cada tarefa articula código, representação, modelagem e critérios qualitativos.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548640" y="2423160"/>
            <a:ext cx="3291480" cy="141696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 4"/>
          <p:cNvSpPr/>
          <p:nvPr/>
        </p:nvSpPr>
        <p:spPr>
          <a:xfrm>
            <a:off x="822960" y="256032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e8963c"/>
                </a:solidFill>
                <a:effectLst/>
                <a:uFillTx/>
                <a:latin typeface="Cambria"/>
                <a:ea typeface="Cambria"/>
              </a:rPr>
              <a:t>9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22960" y="32004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Blocos temáticos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4160520" y="2423160"/>
            <a:ext cx="3291480" cy="141696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Text 7"/>
          <p:cNvSpPr/>
          <p:nvPr/>
        </p:nvSpPr>
        <p:spPr>
          <a:xfrm>
            <a:off x="4434840" y="256032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e8963c"/>
                </a:solidFill>
                <a:effectLst/>
                <a:uFillTx/>
                <a:latin typeface="Cambria"/>
                <a:ea typeface="Cambria"/>
              </a:rPr>
              <a:t>10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4434840" y="32004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Tarefas por bloco, em formato de pergunta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7772400" y="2423160"/>
            <a:ext cx="3291480" cy="141696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8046720" y="256032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e8963c"/>
                </a:solidFill>
                <a:effectLst/>
                <a:uFillTx/>
                <a:latin typeface="Cambria"/>
                <a:ea typeface="Cambria"/>
              </a:rPr>
              <a:t>90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8046720" y="32004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Slides no total do curso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548640" y="4160520"/>
            <a:ext cx="10240920" cy="1416960"/>
          </a:xfrm>
          <a:prstGeom prst="roundRect">
            <a:avLst>
              <a:gd name="adj" fmla="val 5806"/>
            </a:avLst>
          </a:prstGeom>
          <a:solidFill>
            <a:srgbClr val="edf4f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822960" y="431604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FONTES DE ANÁLISE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822960" y="4645080"/>
            <a:ext cx="9692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18000"/>
              </a:lnSpc>
              <a:spcAft>
                <a:spcPts val="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sobre representações e aprendizagem de conceitos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8000"/>
              </a:lnSpc>
              <a:spcAft>
                <a:spcPts val="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sobre organização e representação de dados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5"/>
          <p:cNvSpPr/>
          <p:nvPr/>
        </p:nvSpPr>
        <p:spPr>
          <a:xfrm>
            <a:off x="548640" y="5715000"/>
            <a:ext cx="10240920" cy="594000"/>
          </a:xfrm>
          <a:prstGeom prst="roundRect">
            <a:avLst>
              <a:gd name="adj" fmla="val 13846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822960" y="5715000"/>
            <a:ext cx="9692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5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“A ferramenta não é o centro. A tarefa é o centro.”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02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548640" y="457200"/>
            <a:ext cx="621360" cy="6213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0" name="Image 0" descr="/home/claude/work/aulas1_9/icons/map_white.png"/>
          <p:cNvPicPr/>
          <p:nvPr/>
        </p:nvPicPr>
        <p:blipFill>
          <a:blip r:embed="rId1"/>
          <a:stretch/>
        </p:blipFill>
        <p:spPr>
          <a:xfrm>
            <a:off x="635760" y="544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"/>
          <p:cNvSpPr/>
          <p:nvPr/>
        </p:nvSpPr>
        <p:spPr>
          <a:xfrm>
            <a:off x="1371600" y="384120"/>
            <a:ext cx="10240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Quais assuntos da ementa orientam a sequência?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594360" y="1417320"/>
            <a:ext cx="3413520" cy="1386360"/>
          </a:xfrm>
          <a:prstGeom prst="roundRect">
            <a:avLst>
              <a:gd name="adj" fmla="val 5275"/>
            </a:avLst>
          </a:prstGeom>
          <a:solidFill>
            <a:srgbClr val="1b3a5c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795600" y="1600200"/>
            <a:ext cx="456840" cy="45684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Text 4"/>
          <p:cNvSpPr/>
          <p:nvPr/>
        </p:nvSpPr>
        <p:spPr>
          <a:xfrm>
            <a:off x="795600" y="1600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795600" y="2167200"/>
            <a:ext cx="301104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Introdução à Computação e ao Pensamento Computacional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795600" y="2511720"/>
            <a:ext cx="3011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9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ESTA AULA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7"/>
          <p:cNvSpPr/>
          <p:nvPr/>
        </p:nvSpPr>
        <p:spPr>
          <a:xfrm>
            <a:off x="4328280" y="1417320"/>
            <a:ext cx="3413520" cy="1386360"/>
          </a:xfrm>
          <a:prstGeom prst="roundRect">
            <a:avLst>
              <a:gd name="adj" fmla="val 5275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4529160" y="1600200"/>
            <a:ext cx="456840" cy="45684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Text 9"/>
          <p:cNvSpPr/>
          <p:nvPr/>
        </p:nvSpPr>
        <p:spPr>
          <a:xfrm>
            <a:off x="4529160" y="1600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4529160" y="2167200"/>
            <a:ext cx="301104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Pensamento indutivo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1"/>
          <p:cNvSpPr/>
          <p:nvPr/>
        </p:nvSpPr>
        <p:spPr>
          <a:xfrm>
            <a:off x="8061840" y="1417320"/>
            <a:ext cx="3413520" cy="1386360"/>
          </a:xfrm>
          <a:prstGeom prst="roundRect">
            <a:avLst>
              <a:gd name="adj" fmla="val 5275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8263080" y="1600200"/>
            <a:ext cx="456840" cy="45684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8263080" y="1600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4"/>
          <p:cNvSpPr/>
          <p:nvPr/>
        </p:nvSpPr>
        <p:spPr>
          <a:xfrm>
            <a:off x="8263080" y="2167200"/>
            <a:ext cx="301104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Pensamento dedutivo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5"/>
          <p:cNvSpPr/>
          <p:nvPr/>
        </p:nvSpPr>
        <p:spPr>
          <a:xfrm>
            <a:off x="594360" y="3078360"/>
            <a:ext cx="3413520" cy="1386360"/>
          </a:xfrm>
          <a:prstGeom prst="roundRect">
            <a:avLst>
              <a:gd name="adj" fmla="val 5275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Shape 16"/>
          <p:cNvSpPr/>
          <p:nvPr/>
        </p:nvSpPr>
        <p:spPr>
          <a:xfrm>
            <a:off x="795600" y="3261240"/>
            <a:ext cx="456840" cy="45684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795600" y="3261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795600" y="3828240"/>
            <a:ext cx="301104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Problemas e algoritmos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9"/>
          <p:cNvSpPr/>
          <p:nvPr/>
        </p:nvSpPr>
        <p:spPr>
          <a:xfrm>
            <a:off x="4328280" y="3078360"/>
            <a:ext cx="3413520" cy="1386360"/>
          </a:xfrm>
          <a:prstGeom prst="roundRect">
            <a:avLst>
              <a:gd name="adj" fmla="val 5275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Shape 20"/>
          <p:cNvSpPr/>
          <p:nvPr/>
        </p:nvSpPr>
        <p:spPr>
          <a:xfrm>
            <a:off x="4529160" y="3261240"/>
            <a:ext cx="456840" cy="45684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4529160" y="3261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2"/>
          <p:cNvSpPr/>
          <p:nvPr/>
        </p:nvSpPr>
        <p:spPr>
          <a:xfrm>
            <a:off x="4529160" y="3828240"/>
            <a:ext cx="301104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Fundamentos da representação de processos e dados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3"/>
          <p:cNvSpPr/>
          <p:nvPr/>
        </p:nvSpPr>
        <p:spPr>
          <a:xfrm>
            <a:off x="8061840" y="3078360"/>
            <a:ext cx="3413520" cy="1386360"/>
          </a:xfrm>
          <a:prstGeom prst="roundRect">
            <a:avLst>
              <a:gd name="adj" fmla="val 5275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Shape 24"/>
          <p:cNvSpPr/>
          <p:nvPr/>
        </p:nvSpPr>
        <p:spPr>
          <a:xfrm>
            <a:off x="8263080" y="3261240"/>
            <a:ext cx="456840" cy="45684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 25"/>
          <p:cNvSpPr/>
          <p:nvPr/>
        </p:nvSpPr>
        <p:spPr>
          <a:xfrm>
            <a:off x="8263080" y="3261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6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8263080" y="3828240"/>
            <a:ext cx="301104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Técnicas de construção de algoritmos: decomposição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7"/>
          <p:cNvSpPr/>
          <p:nvPr/>
        </p:nvSpPr>
        <p:spPr>
          <a:xfrm>
            <a:off x="594360" y="4739760"/>
            <a:ext cx="3413520" cy="1386360"/>
          </a:xfrm>
          <a:prstGeom prst="roundRect">
            <a:avLst>
              <a:gd name="adj" fmla="val 5275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Shape 28"/>
          <p:cNvSpPr/>
          <p:nvPr/>
        </p:nvSpPr>
        <p:spPr>
          <a:xfrm>
            <a:off x="795600" y="4922640"/>
            <a:ext cx="456840" cy="45684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 29"/>
          <p:cNvSpPr/>
          <p:nvPr/>
        </p:nvSpPr>
        <p:spPr>
          <a:xfrm>
            <a:off x="795600" y="4922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7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0"/>
          <p:cNvSpPr/>
          <p:nvPr/>
        </p:nvSpPr>
        <p:spPr>
          <a:xfrm>
            <a:off x="795600" y="5489280"/>
            <a:ext cx="301104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Técnicas de construção de algoritmos: generalização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1"/>
          <p:cNvSpPr/>
          <p:nvPr/>
        </p:nvSpPr>
        <p:spPr>
          <a:xfrm>
            <a:off x="4328280" y="4739760"/>
            <a:ext cx="3413520" cy="1386360"/>
          </a:xfrm>
          <a:prstGeom prst="roundRect">
            <a:avLst>
              <a:gd name="adj" fmla="val 5275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Shape 32"/>
          <p:cNvSpPr/>
          <p:nvPr/>
        </p:nvSpPr>
        <p:spPr>
          <a:xfrm>
            <a:off x="4529160" y="4922640"/>
            <a:ext cx="456840" cy="45684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 33"/>
          <p:cNvSpPr/>
          <p:nvPr/>
        </p:nvSpPr>
        <p:spPr>
          <a:xfrm>
            <a:off x="4529160" y="4922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8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4"/>
          <p:cNvSpPr/>
          <p:nvPr/>
        </p:nvSpPr>
        <p:spPr>
          <a:xfrm>
            <a:off x="4529160" y="5489280"/>
            <a:ext cx="301104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Técnicas de construção de algoritmos: transformação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5"/>
          <p:cNvSpPr/>
          <p:nvPr/>
        </p:nvSpPr>
        <p:spPr>
          <a:xfrm>
            <a:off x="8061840" y="4739760"/>
            <a:ext cx="3413520" cy="1386360"/>
          </a:xfrm>
          <a:prstGeom prst="roundRect">
            <a:avLst>
              <a:gd name="adj" fmla="val 5275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Shape 36"/>
          <p:cNvSpPr/>
          <p:nvPr/>
        </p:nvSpPr>
        <p:spPr>
          <a:xfrm>
            <a:off x="8263080" y="4922640"/>
            <a:ext cx="456840" cy="45684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 37"/>
          <p:cNvSpPr/>
          <p:nvPr/>
        </p:nvSpPr>
        <p:spPr>
          <a:xfrm>
            <a:off x="8263080" y="4922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9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8"/>
          <p:cNvSpPr/>
          <p:nvPr/>
        </p:nvSpPr>
        <p:spPr>
          <a:xfrm>
            <a:off x="8263080" y="5489280"/>
            <a:ext cx="301104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Noções dos limites da Computação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9"/>
          <p:cNvSpPr/>
          <p:nvPr/>
        </p:nvSpPr>
        <p:spPr>
          <a:xfrm>
            <a:off x="548640" y="630936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Cada bloco contém 10 tarefas em Pluto, sempre em formato de pergunta.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1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03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548640" y="457200"/>
            <a:ext cx="621360" cy="6213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 0" descr="/home/claude/work/aulas1_9/icons/bullseye_white.png"/>
          <p:cNvPicPr/>
          <p:nvPr/>
        </p:nvPicPr>
        <p:blipFill>
          <a:blip r:embed="rId1"/>
          <a:stretch/>
        </p:blipFill>
        <p:spPr>
          <a:xfrm>
            <a:off x="635760" y="544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 1"/>
          <p:cNvSpPr/>
          <p:nvPr/>
        </p:nvSpPr>
        <p:spPr>
          <a:xfrm>
            <a:off x="1371600" y="43884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O que esperamos desta aula?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548640" y="1371600"/>
            <a:ext cx="5120280" cy="120672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777240" y="1746360"/>
            <a:ext cx="456840" cy="45684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4"/>
          <p:cNvSpPr/>
          <p:nvPr/>
        </p:nvSpPr>
        <p:spPr>
          <a:xfrm>
            <a:off x="777240" y="1746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1417320" y="1371600"/>
            <a:ext cx="40230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Situar a Computação como ciência do processamento de informação.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5989320" y="1371600"/>
            <a:ext cx="5120280" cy="120672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6217920" y="1746360"/>
            <a:ext cx="456840" cy="45684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 8"/>
          <p:cNvSpPr/>
          <p:nvPr/>
        </p:nvSpPr>
        <p:spPr>
          <a:xfrm>
            <a:off x="6217920" y="1746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6858000" y="1371600"/>
            <a:ext cx="40230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Reconhecer a origem histórica do Pensamento Computacional (PC).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0"/>
          <p:cNvSpPr/>
          <p:nvPr/>
        </p:nvSpPr>
        <p:spPr>
          <a:xfrm>
            <a:off x="548640" y="2743200"/>
            <a:ext cx="5120280" cy="120672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777240" y="3117960"/>
            <a:ext cx="456840" cy="45684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777240" y="3117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1417320" y="2743200"/>
            <a:ext cx="40230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Diferenciar “programar” de “pensar computacionalmente”.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5989320" y="2743200"/>
            <a:ext cx="5120280" cy="120672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Shape 15"/>
          <p:cNvSpPr/>
          <p:nvPr/>
        </p:nvSpPr>
        <p:spPr>
          <a:xfrm>
            <a:off x="6217920" y="3117960"/>
            <a:ext cx="456840" cy="45684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6217920" y="3117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6858000" y="2743200"/>
            <a:ext cx="40230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Identificar os quatro pilares do PC: decomposição, padrões, abstração e algoritmos.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8"/>
          <p:cNvSpPr/>
          <p:nvPr/>
        </p:nvSpPr>
        <p:spPr>
          <a:xfrm>
            <a:off x="548640" y="4114800"/>
            <a:ext cx="5120280" cy="120672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Shape 19"/>
          <p:cNvSpPr/>
          <p:nvPr/>
        </p:nvSpPr>
        <p:spPr>
          <a:xfrm>
            <a:off x="777240" y="4489560"/>
            <a:ext cx="456840" cy="45684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 20"/>
          <p:cNvSpPr/>
          <p:nvPr/>
        </p:nvSpPr>
        <p:spPr>
          <a:xfrm>
            <a:off x="777240" y="4489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1"/>
          <p:cNvSpPr/>
          <p:nvPr/>
        </p:nvSpPr>
        <p:spPr>
          <a:xfrm>
            <a:off x="1417320" y="4114800"/>
            <a:ext cx="40230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Relacionar o PC à BNCC e à formação de professores no PROFCOMP.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2"/>
          <p:cNvSpPr/>
          <p:nvPr/>
        </p:nvSpPr>
        <p:spPr>
          <a:xfrm>
            <a:off x="5989320" y="4114800"/>
            <a:ext cx="5120280" cy="120672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Shape 23"/>
          <p:cNvSpPr/>
          <p:nvPr/>
        </p:nvSpPr>
        <p:spPr>
          <a:xfrm>
            <a:off x="6217920" y="4489560"/>
            <a:ext cx="456840" cy="45684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 24"/>
          <p:cNvSpPr/>
          <p:nvPr/>
        </p:nvSpPr>
        <p:spPr>
          <a:xfrm>
            <a:off x="6217920" y="4489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06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5"/>
          <p:cNvSpPr/>
          <p:nvPr/>
        </p:nvSpPr>
        <p:spPr>
          <a:xfrm>
            <a:off x="6858000" y="4114800"/>
            <a:ext cx="40230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Preparar-se para as 10 tarefas práticas em Julia/Pluto do Bloco 1.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6"/>
          <p:cNvSpPr/>
          <p:nvPr/>
        </p:nvSpPr>
        <p:spPr>
          <a:xfrm>
            <a:off x="548640" y="5459040"/>
            <a:ext cx="10560960" cy="456840"/>
          </a:xfrm>
          <a:prstGeom prst="roundRect">
            <a:avLst>
              <a:gd name="adj" fmla="val 18000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 27"/>
          <p:cNvSpPr/>
          <p:nvPr/>
        </p:nvSpPr>
        <p:spPr>
          <a:xfrm>
            <a:off x="822960" y="54590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Aula 1 de 15  ·  2 horas  ·  Introdução à Computação e ao Pensamento Computacional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8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9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04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548640" y="457200"/>
            <a:ext cx="621360" cy="6213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4" name="Image 0" descr="/home/claude/work/aulas1_9/icons/history_white.png"/>
          <p:cNvPicPr/>
          <p:nvPr/>
        </p:nvPicPr>
        <p:blipFill>
          <a:blip r:embed="rId1"/>
          <a:stretch/>
        </p:blipFill>
        <p:spPr>
          <a:xfrm>
            <a:off x="635760" y="544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1"/>
          <p:cNvSpPr/>
          <p:nvPr/>
        </p:nvSpPr>
        <p:spPr>
          <a:xfrm>
            <a:off x="1371600" y="384120"/>
            <a:ext cx="10240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De Papert a Wing: uma ideia com mais de 40 anos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548640" y="1508760"/>
            <a:ext cx="5120280" cy="4205880"/>
          </a:xfrm>
          <a:prstGeom prst="roundRect">
            <a:avLst>
              <a:gd name="adj" fmla="val 1957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868680" y="1783080"/>
            <a:ext cx="4480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c7a8c"/>
                </a:solidFill>
                <a:effectLst/>
                <a:uFillTx/>
                <a:latin typeface="Cambria"/>
                <a:ea typeface="Cambria"/>
              </a:rPr>
              <a:t>1980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868680" y="2377440"/>
            <a:ext cx="448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Seymour Papert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868680" y="2971800"/>
            <a:ext cx="448020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Em “Mindstorms”, Papert propõe que programar pode ser um modo de “pensar sobre o pensar”.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criança não aprende só a programar: aprende a testar e depurar as próprias ideias no computador.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6"/>
          <p:cNvSpPr/>
          <p:nvPr/>
        </p:nvSpPr>
        <p:spPr>
          <a:xfrm>
            <a:off x="5989320" y="1508760"/>
            <a:ext cx="5120280" cy="4205880"/>
          </a:xfrm>
          <a:prstGeom prst="roundRect">
            <a:avLst>
              <a:gd name="adj" fmla="val 1957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 7"/>
          <p:cNvSpPr/>
          <p:nvPr/>
        </p:nvSpPr>
        <p:spPr>
          <a:xfrm>
            <a:off x="6309360" y="1783080"/>
            <a:ext cx="4480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e8963c"/>
                </a:solidFill>
                <a:effectLst/>
                <a:uFillTx/>
                <a:latin typeface="Cambria"/>
                <a:ea typeface="Cambria"/>
              </a:rPr>
              <a:t>2006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6309360" y="2377440"/>
            <a:ext cx="448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Jeannette Wing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6309360" y="2971800"/>
            <a:ext cx="448020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5000"/>
              </a:lnSpc>
              <a:spcAft>
                <a:spcPts val="1199"/>
              </a:spcAft>
              <a:buClr>
                <a:srgbClr val="d6dee8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d6dee8"/>
                </a:solidFill>
                <a:effectLst/>
                <a:uFillTx/>
                <a:latin typeface="Calibri"/>
                <a:ea typeface="Calibri"/>
              </a:rPr>
              <a:t>Wing recoloca o termo no centro do debate educacional no artigo “Computational Thinking” (CACM).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5000"/>
              </a:lnSpc>
              <a:spcAft>
                <a:spcPts val="1199"/>
              </a:spcAft>
              <a:buClr>
                <a:srgbClr val="d6dee8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d6dee8"/>
                </a:solidFill>
                <a:effectLst/>
                <a:uFillTx/>
                <a:latin typeface="Calibri"/>
                <a:ea typeface="Calibri"/>
              </a:rPr>
              <a:t>Defende que formular e resolver problemas com conceitos da Ciência da Computação é uma habilidade para todos.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548640" y="598932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Papert, S. (1980). Mindstorms.  ·  Wing, J. M. (2006). Computational thinking. Communications of the ACM, 49(3).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05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548640" y="457200"/>
            <a:ext cx="621360" cy="6213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8" name="Image 0" descr="/home/claude/work/aulas1_9/icons/quote_white.png"/>
          <p:cNvPicPr/>
          <p:nvPr/>
        </p:nvPicPr>
        <p:blipFill>
          <a:blip r:embed="rId1"/>
          <a:stretch/>
        </p:blipFill>
        <p:spPr>
          <a:xfrm>
            <a:off x="635760" y="544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1"/>
          <p:cNvSpPr/>
          <p:nvPr/>
        </p:nvSpPr>
        <p:spPr>
          <a:xfrm>
            <a:off x="1371600" y="43884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Uma definição de referência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"/>
          <p:cNvSpPr/>
          <p:nvPr/>
        </p:nvSpPr>
        <p:spPr>
          <a:xfrm>
            <a:off x="548640" y="1508760"/>
            <a:ext cx="10560960" cy="1965600"/>
          </a:xfrm>
          <a:prstGeom prst="roundRect">
            <a:avLst>
              <a:gd name="adj" fmla="val 4186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 3"/>
          <p:cNvSpPr/>
          <p:nvPr/>
        </p:nvSpPr>
        <p:spPr>
          <a:xfrm>
            <a:off x="914400" y="1691640"/>
            <a:ext cx="9829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9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“Pensamento computacional é o processo de pensamento envolvido em formular um problema e expressar sua solução de forma que ela possa ser executada por um agente que processa informação.”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4"/>
          <p:cNvSpPr/>
          <p:nvPr/>
        </p:nvSpPr>
        <p:spPr>
          <a:xfrm>
            <a:off x="914400" y="3063240"/>
            <a:ext cx="9829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— Jeannette Wing (2006), tradução livre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5"/>
          <p:cNvSpPr/>
          <p:nvPr/>
        </p:nvSpPr>
        <p:spPr>
          <a:xfrm>
            <a:off x="548640" y="3794760"/>
            <a:ext cx="3382920" cy="173700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804600" y="4023360"/>
            <a:ext cx="438480" cy="43848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5" name="Image 1" descr="/home/claude/work/aulas1_9/icons/puzzle_white.png"/>
          <p:cNvPicPr/>
          <p:nvPr/>
        </p:nvPicPr>
        <p:blipFill>
          <a:blip r:embed="rId2"/>
          <a:stretch/>
        </p:blipFill>
        <p:spPr>
          <a:xfrm>
            <a:off x="866160" y="4084920"/>
            <a:ext cx="315720" cy="31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7"/>
          <p:cNvSpPr/>
          <p:nvPr/>
        </p:nvSpPr>
        <p:spPr>
          <a:xfrm>
            <a:off x="804600" y="4617720"/>
            <a:ext cx="287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“agente” pode ser uma pessoa, um computador, ou os dois.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8"/>
          <p:cNvSpPr/>
          <p:nvPr/>
        </p:nvSpPr>
        <p:spPr>
          <a:xfrm>
            <a:off x="4206240" y="3794760"/>
            <a:ext cx="3382920" cy="173700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Shape 9"/>
          <p:cNvSpPr/>
          <p:nvPr/>
        </p:nvSpPr>
        <p:spPr>
          <a:xfrm>
            <a:off x="4462200" y="4023360"/>
            <a:ext cx="438480" cy="43848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9" name="Image 2" descr="/home/claude/work/aulas1_9/icons/puzzle_white.png"/>
          <p:cNvPicPr/>
          <p:nvPr/>
        </p:nvPicPr>
        <p:blipFill>
          <a:blip r:embed="rId3"/>
          <a:stretch/>
        </p:blipFill>
        <p:spPr>
          <a:xfrm>
            <a:off x="4523760" y="4084920"/>
            <a:ext cx="315720" cy="31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10"/>
          <p:cNvSpPr/>
          <p:nvPr/>
        </p:nvSpPr>
        <p:spPr>
          <a:xfrm>
            <a:off x="4462200" y="4617720"/>
            <a:ext cx="287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ênfase está em formular o problema — não apenas em codificar a solução.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1"/>
          <p:cNvSpPr/>
          <p:nvPr/>
        </p:nvSpPr>
        <p:spPr>
          <a:xfrm>
            <a:off x="7863840" y="3794760"/>
            <a:ext cx="3382920" cy="173700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Shape 12"/>
          <p:cNvSpPr/>
          <p:nvPr/>
        </p:nvSpPr>
        <p:spPr>
          <a:xfrm>
            <a:off x="8119800" y="4023360"/>
            <a:ext cx="438480" cy="43848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Image 3" descr="/home/claude/work/aulas1_9/icons/puzzle_white.png"/>
          <p:cNvPicPr/>
          <p:nvPr/>
        </p:nvPicPr>
        <p:blipFill>
          <a:blip r:embed="rId4"/>
          <a:stretch/>
        </p:blipFill>
        <p:spPr>
          <a:xfrm>
            <a:off x="8181360" y="4084920"/>
            <a:ext cx="315720" cy="31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13"/>
          <p:cNvSpPr/>
          <p:nvPr/>
        </p:nvSpPr>
        <p:spPr>
          <a:xfrm>
            <a:off x="8119800" y="4617720"/>
            <a:ext cx="287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solução precisa ser expressa de forma efetiva, passível de execução e de verificação.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548640" y="603504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Wing, J. M. (2006). Computational thinking. Communications of the ACM, 49(3), 33–35.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06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548640" y="457200"/>
            <a:ext cx="621360" cy="6213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Image 0" descr="/home/claude/work/aulas1_9/icons/layers_white.png"/>
          <p:cNvPicPr/>
          <p:nvPr/>
        </p:nvPicPr>
        <p:blipFill>
          <a:blip r:embed="rId1"/>
          <a:stretch/>
        </p:blipFill>
        <p:spPr>
          <a:xfrm>
            <a:off x="635760" y="544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1"/>
          <p:cNvSpPr/>
          <p:nvPr/>
        </p:nvSpPr>
        <p:spPr>
          <a:xfrm>
            <a:off x="1371600" y="384120"/>
            <a:ext cx="10240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Os quatro pilares do Pensamento Computacional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"/>
          <p:cNvSpPr/>
          <p:nvPr/>
        </p:nvSpPr>
        <p:spPr>
          <a:xfrm>
            <a:off x="548640" y="1508760"/>
            <a:ext cx="2514240" cy="4114440"/>
          </a:xfrm>
          <a:prstGeom prst="roundRect">
            <a:avLst>
              <a:gd name="adj" fmla="val 3273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777240" y="1783080"/>
            <a:ext cx="502560" cy="50256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777240" y="178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5"/>
          <p:cNvSpPr/>
          <p:nvPr/>
        </p:nvSpPr>
        <p:spPr>
          <a:xfrm>
            <a:off x="2240280" y="1783080"/>
            <a:ext cx="502560" cy="5025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5" name="Image 1" descr="/home/claude/work/aulas1_9/icons/puzzle_white.png"/>
          <p:cNvPicPr/>
          <p:nvPr/>
        </p:nvPicPr>
        <p:blipFill>
          <a:blip r:embed="rId2"/>
          <a:stretch/>
        </p:blipFill>
        <p:spPr>
          <a:xfrm>
            <a:off x="2310840" y="1853640"/>
            <a:ext cx="361800" cy="36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 6"/>
          <p:cNvSpPr/>
          <p:nvPr/>
        </p:nvSpPr>
        <p:spPr>
          <a:xfrm>
            <a:off x="777240" y="2514600"/>
            <a:ext cx="2057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Decomposição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7"/>
          <p:cNvSpPr/>
          <p:nvPr/>
        </p:nvSpPr>
        <p:spPr>
          <a:xfrm>
            <a:off x="777240" y="3291840"/>
            <a:ext cx="2057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Dividir um problema complexo em partes menores e mais fáceis de resolver.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8"/>
          <p:cNvSpPr/>
          <p:nvPr/>
        </p:nvSpPr>
        <p:spPr>
          <a:xfrm>
            <a:off x="3291840" y="1508760"/>
            <a:ext cx="2514240" cy="4114440"/>
          </a:xfrm>
          <a:prstGeom prst="roundRect">
            <a:avLst>
              <a:gd name="adj" fmla="val 3273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Shape 9"/>
          <p:cNvSpPr/>
          <p:nvPr/>
        </p:nvSpPr>
        <p:spPr>
          <a:xfrm>
            <a:off x="3520440" y="1783080"/>
            <a:ext cx="502560" cy="50256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3520440" y="178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1"/>
          <p:cNvSpPr/>
          <p:nvPr/>
        </p:nvSpPr>
        <p:spPr>
          <a:xfrm>
            <a:off x="4983480" y="1783080"/>
            <a:ext cx="502560" cy="5025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2" name="Image 2" descr="/home/claude/work/aulas1_9/icons/list_white.png"/>
          <p:cNvPicPr/>
          <p:nvPr/>
        </p:nvPicPr>
        <p:blipFill>
          <a:blip r:embed="rId3"/>
          <a:stretch/>
        </p:blipFill>
        <p:spPr>
          <a:xfrm>
            <a:off x="5054040" y="1853640"/>
            <a:ext cx="361800" cy="36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12"/>
          <p:cNvSpPr/>
          <p:nvPr/>
        </p:nvSpPr>
        <p:spPr>
          <a:xfrm>
            <a:off x="3520440" y="2514600"/>
            <a:ext cx="2057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Reconhecimento de padrões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3520440" y="3291840"/>
            <a:ext cx="2057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Identificar semelhanças e regularidades entre problemas ou dentro de um mesmo problema.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4"/>
          <p:cNvSpPr/>
          <p:nvPr/>
        </p:nvSpPr>
        <p:spPr>
          <a:xfrm>
            <a:off x="6035040" y="1508760"/>
            <a:ext cx="2514240" cy="4114440"/>
          </a:xfrm>
          <a:prstGeom prst="roundRect">
            <a:avLst>
              <a:gd name="adj" fmla="val 3273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Shape 15"/>
          <p:cNvSpPr/>
          <p:nvPr/>
        </p:nvSpPr>
        <p:spPr>
          <a:xfrm>
            <a:off x="6263640" y="1783080"/>
            <a:ext cx="502560" cy="50256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6263640" y="178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>
            <a:off x="7726680" y="1783080"/>
            <a:ext cx="502560" cy="5025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9" name="Image 3" descr="/home/claude/work/aulas1_9/icons/compass_white.png"/>
          <p:cNvPicPr/>
          <p:nvPr/>
        </p:nvPicPr>
        <p:blipFill>
          <a:blip r:embed="rId4"/>
          <a:stretch/>
        </p:blipFill>
        <p:spPr>
          <a:xfrm>
            <a:off x="7797240" y="1853640"/>
            <a:ext cx="361800" cy="36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Text 18"/>
          <p:cNvSpPr/>
          <p:nvPr/>
        </p:nvSpPr>
        <p:spPr>
          <a:xfrm>
            <a:off x="6263640" y="2514600"/>
            <a:ext cx="2057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Abstração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9"/>
          <p:cNvSpPr/>
          <p:nvPr/>
        </p:nvSpPr>
        <p:spPr>
          <a:xfrm>
            <a:off x="6263640" y="3291840"/>
            <a:ext cx="2057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Filtrar o que é essencial, ignorando detalhes irrelevantes para a solução.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0"/>
          <p:cNvSpPr/>
          <p:nvPr/>
        </p:nvSpPr>
        <p:spPr>
          <a:xfrm>
            <a:off x="8778240" y="1508760"/>
            <a:ext cx="2514240" cy="4114440"/>
          </a:xfrm>
          <a:prstGeom prst="roundRect">
            <a:avLst>
              <a:gd name="adj" fmla="val 3273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Shape 21"/>
          <p:cNvSpPr/>
          <p:nvPr/>
        </p:nvSpPr>
        <p:spPr>
          <a:xfrm>
            <a:off x="9006840" y="1783080"/>
            <a:ext cx="502560" cy="50256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 22"/>
          <p:cNvSpPr/>
          <p:nvPr/>
        </p:nvSpPr>
        <p:spPr>
          <a:xfrm>
            <a:off x="9006840" y="178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4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3"/>
          <p:cNvSpPr/>
          <p:nvPr/>
        </p:nvSpPr>
        <p:spPr>
          <a:xfrm>
            <a:off x="10469880" y="1783080"/>
            <a:ext cx="502560" cy="5025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76" name="Image 4" descr="/home/claude/work/aulas1_9/icons/code_white.png"/>
          <p:cNvPicPr/>
          <p:nvPr/>
        </p:nvPicPr>
        <p:blipFill>
          <a:blip r:embed="rId5"/>
          <a:stretch/>
        </p:blipFill>
        <p:spPr>
          <a:xfrm>
            <a:off x="10540440" y="1853640"/>
            <a:ext cx="361800" cy="36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24"/>
          <p:cNvSpPr/>
          <p:nvPr/>
        </p:nvSpPr>
        <p:spPr>
          <a:xfrm>
            <a:off x="9006840" y="2514600"/>
            <a:ext cx="2057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Algoritmos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5"/>
          <p:cNvSpPr/>
          <p:nvPr/>
        </p:nvSpPr>
        <p:spPr>
          <a:xfrm>
            <a:off x="9006840" y="3291840"/>
            <a:ext cx="2057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Projetar uma sequência de passos lógicos e replicáveis até a solução.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6"/>
          <p:cNvSpPr/>
          <p:nvPr/>
        </p:nvSpPr>
        <p:spPr>
          <a:xfrm>
            <a:off x="548640" y="594360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Fonte: BNCC Computação — eixo Pensamento Computacional; Wing (2006).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7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8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07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548640" y="457200"/>
            <a:ext cx="621360" cy="6213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3" name="Image 0" descr="/home/claude/work/aulas1_9/icons/balance_white.png"/>
          <p:cNvPicPr/>
          <p:nvPr/>
        </p:nvPicPr>
        <p:blipFill>
          <a:blip r:embed="rId1"/>
          <a:stretch/>
        </p:blipFill>
        <p:spPr>
          <a:xfrm>
            <a:off x="635760" y="544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 1"/>
          <p:cNvSpPr/>
          <p:nvPr/>
        </p:nvSpPr>
        <p:spPr>
          <a:xfrm>
            <a:off x="1371600" y="384120"/>
            <a:ext cx="10240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Pensamento Computacional não é apenas programar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548640" y="1508760"/>
            <a:ext cx="5120280" cy="3565800"/>
          </a:xfrm>
          <a:prstGeom prst="roundRect">
            <a:avLst>
              <a:gd name="adj" fmla="val 2308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868680" y="1828800"/>
            <a:ext cx="548280" cy="54828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7" name="Image 1" descr="/home/claude/work/aulas1_9/icons/code_white.png"/>
          <p:cNvPicPr/>
          <p:nvPr/>
        </p:nvPicPr>
        <p:blipFill>
          <a:blip r:embed="rId2"/>
          <a:stretch/>
        </p:blipFill>
        <p:spPr>
          <a:xfrm>
            <a:off x="945360" y="19054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 4"/>
          <p:cNvSpPr/>
          <p:nvPr/>
        </p:nvSpPr>
        <p:spPr>
          <a:xfrm>
            <a:off x="1554480" y="182880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Programar (codificar)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868680" y="2651760"/>
            <a:ext cx="44802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Traduzir uma solução já pensada para uma linguagem de programação.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Foco na sintaxe e na execução correta do código.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6"/>
          <p:cNvSpPr/>
          <p:nvPr/>
        </p:nvSpPr>
        <p:spPr>
          <a:xfrm>
            <a:off x="5989320" y="1508760"/>
            <a:ext cx="5120280" cy="3565800"/>
          </a:xfrm>
          <a:prstGeom prst="roundRect">
            <a:avLst>
              <a:gd name="adj" fmla="val 2308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6309360" y="1828800"/>
            <a:ext cx="548280" cy="54828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92" name="Image 2" descr="/home/claude/work/aulas1_9/icons/brain_white.png"/>
          <p:cNvPicPr/>
          <p:nvPr/>
        </p:nvPicPr>
        <p:blipFill>
          <a:blip r:embed="rId3"/>
          <a:stretch/>
        </p:blipFill>
        <p:spPr>
          <a:xfrm>
            <a:off x="6386040" y="19054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8"/>
          <p:cNvSpPr/>
          <p:nvPr/>
        </p:nvSpPr>
        <p:spPr>
          <a:xfrm>
            <a:off x="6995160" y="182880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Pensar computacionalmente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9"/>
          <p:cNvSpPr/>
          <p:nvPr/>
        </p:nvSpPr>
        <p:spPr>
          <a:xfrm>
            <a:off x="6309360" y="2651760"/>
            <a:ext cx="44802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30000"/>
              </a:lnSpc>
              <a:spcAft>
                <a:spcPts val="1400"/>
              </a:spcAft>
              <a:buClr>
                <a:srgbClr val="d6dee8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d6dee8"/>
                </a:solidFill>
                <a:effectLst/>
                <a:uFillTx/>
                <a:latin typeface="Calibri"/>
                <a:ea typeface="Calibri"/>
              </a:rPr>
              <a:t>Formular o problema, modelar dados e processos, avaliar soluções.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30000"/>
              </a:lnSpc>
              <a:spcAft>
                <a:spcPts val="1400"/>
              </a:spcAft>
              <a:buClr>
                <a:srgbClr val="d6dee8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d6dee8"/>
                </a:solidFill>
                <a:effectLst/>
                <a:uFillTx/>
                <a:latin typeface="Calibri"/>
                <a:ea typeface="Calibri"/>
              </a:rPr>
              <a:t>O código é o meio de tornar o raciocínio testável — “a ferramenta não é o centro, a tarefa é o centro”.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0"/>
          <p:cNvSpPr/>
          <p:nvPr/>
        </p:nvSpPr>
        <p:spPr>
          <a:xfrm>
            <a:off x="548640" y="5257800"/>
            <a:ext cx="10560960" cy="776880"/>
          </a:xfrm>
          <a:prstGeom prst="roundRect">
            <a:avLst>
              <a:gd name="adj" fmla="val 10588"/>
            </a:avLst>
          </a:prstGeom>
          <a:solidFill>
            <a:srgbClr val="fbf1e6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 11"/>
          <p:cNvSpPr/>
          <p:nvPr/>
        </p:nvSpPr>
        <p:spPr>
          <a:xfrm>
            <a:off x="822960" y="5257800"/>
            <a:ext cx="10058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b8701f"/>
                </a:solidFill>
                <a:effectLst/>
                <a:uFillTx/>
                <a:latin typeface="Calibri"/>
                <a:ea typeface="Calibri"/>
              </a:rPr>
              <a:t>Controvérsia recorrente na literatura: PC é “mais do que programar” (ver Aula 1 · Síntese, item 1.2).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2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3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08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548640" y="457200"/>
            <a:ext cx="621360" cy="6213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00" name="Image 0" descr="/home/claude/work/aulas1_9/icons/gradcap_white.png"/>
          <p:cNvPicPr/>
          <p:nvPr/>
        </p:nvPicPr>
        <p:blipFill>
          <a:blip r:embed="rId1"/>
          <a:stretch/>
        </p:blipFill>
        <p:spPr>
          <a:xfrm>
            <a:off x="635760" y="544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1"/>
          <p:cNvSpPr/>
          <p:nvPr/>
        </p:nvSpPr>
        <p:spPr>
          <a:xfrm>
            <a:off x="1371600" y="384120"/>
            <a:ext cx="10240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Por que isso importa para quem forma professores?</a:t>
            </a:r>
            <a:endParaRPr b="0" lang="pt-B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"/>
          <p:cNvSpPr/>
          <p:nvPr/>
        </p:nvSpPr>
        <p:spPr>
          <a:xfrm>
            <a:off x="548640" y="1508760"/>
            <a:ext cx="5120280" cy="3931560"/>
          </a:xfrm>
          <a:prstGeom prst="roundRect">
            <a:avLst>
              <a:gd name="adj" fmla="val 2093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868680" y="1783080"/>
            <a:ext cx="448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BNCC Computação — três eixos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868680" y="2468880"/>
            <a:ext cx="456840" cy="45684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868680" y="24688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1508760" y="246888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Pensamento Computacional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7"/>
          <p:cNvSpPr/>
          <p:nvPr/>
        </p:nvSpPr>
        <p:spPr>
          <a:xfrm>
            <a:off x="868680" y="3337560"/>
            <a:ext cx="456840" cy="45684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868680" y="3337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9"/>
          <p:cNvSpPr/>
          <p:nvPr/>
        </p:nvSpPr>
        <p:spPr>
          <a:xfrm>
            <a:off x="1508760" y="333756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Mundo Digital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0"/>
          <p:cNvSpPr/>
          <p:nvPr/>
        </p:nvSpPr>
        <p:spPr>
          <a:xfrm>
            <a:off x="868680" y="4206240"/>
            <a:ext cx="456840" cy="45684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 11"/>
          <p:cNvSpPr/>
          <p:nvPr/>
        </p:nvSpPr>
        <p:spPr>
          <a:xfrm>
            <a:off x="868680" y="4206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2"/>
          <p:cNvSpPr/>
          <p:nvPr/>
        </p:nvSpPr>
        <p:spPr>
          <a:xfrm>
            <a:off x="1508760" y="420624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Cultura Digital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3"/>
          <p:cNvSpPr/>
          <p:nvPr/>
        </p:nvSpPr>
        <p:spPr>
          <a:xfrm>
            <a:off x="5989320" y="1508760"/>
            <a:ext cx="5120280" cy="3931560"/>
          </a:xfrm>
          <a:prstGeom prst="roundRect">
            <a:avLst>
              <a:gd name="adj" fmla="val 2093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 14"/>
          <p:cNvSpPr/>
          <p:nvPr/>
        </p:nvSpPr>
        <p:spPr>
          <a:xfrm>
            <a:off x="6309360" y="1783080"/>
            <a:ext cx="448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No PROFCOMP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5"/>
          <p:cNvSpPr/>
          <p:nvPr/>
        </p:nvSpPr>
        <p:spPr>
          <a:xfrm>
            <a:off x="6309360" y="2468880"/>
            <a:ext cx="44802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30000"/>
              </a:lnSpc>
              <a:spcAft>
                <a:spcPts val="1599"/>
              </a:spcAft>
              <a:buClr>
                <a:srgbClr val="d6dee8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d6dee8"/>
                </a:solidFill>
                <a:effectLst/>
                <a:uFillTx/>
                <a:latin typeface="Calibri"/>
                <a:ea typeface="Calibri"/>
              </a:rPr>
              <a:t>Mestrado profissional que forma professores para ensinar Computação na Educação Básica.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30000"/>
              </a:lnSpc>
              <a:spcAft>
                <a:spcPts val="1599"/>
              </a:spcAft>
              <a:buClr>
                <a:srgbClr val="d6dee8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d6dee8"/>
                </a:solidFill>
                <a:effectLst/>
                <a:uFillTx/>
                <a:latin typeface="Calibri"/>
                <a:ea typeface="Calibri"/>
              </a:rPr>
              <a:t>Entender os fundamentos do PC é pré-requisito para desenhar boas tarefas — como as que faremos com Julia e Pluto.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6"/>
          <p:cNvSpPr/>
          <p:nvPr/>
        </p:nvSpPr>
        <p:spPr>
          <a:xfrm>
            <a:off x="548640" y="571500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BNCC Computação (2022)  ·  PROFCOMP — Mestrado Profissional em Computação em Rede Nacional.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7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8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09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10362960" y="-914400"/>
            <a:ext cx="2925720" cy="2925720"/>
          </a:xfrm>
          <a:prstGeom prst="ellipse">
            <a:avLst/>
          </a:prstGeom>
          <a:solidFill>
            <a:srgbClr val="213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Shape 1"/>
          <p:cNvSpPr/>
          <p:nvPr/>
        </p:nvSpPr>
        <p:spPr>
          <a:xfrm>
            <a:off x="-1097280" y="4846320"/>
            <a:ext cx="2377080" cy="2377080"/>
          </a:xfrm>
          <a:prstGeom prst="ellipse">
            <a:avLst/>
          </a:prstGeom>
          <a:solidFill>
            <a:srgbClr val="1730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822960" y="5486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BLOCO 1 · INTRODUÇÃO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"/>
          <p:cNvSpPr/>
          <p:nvPr/>
        </p:nvSpPr>
        <p:spPr>
          <a:xfrm>
            <a:off x="822960" y="1051560"/>
            <a:ext cx="868320" cy="86832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 4"/>
          <p:cNvSpPr/>
          <p:nvPr/>
        </p:nvSpPr>
        <p:spPr>
          <a:xfrm>
            <a:off x="822960" y="105156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pt-BR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5"/>
          <p:cNvSpPr/>
          <p:nvPr/>
        </p:nvSpPr>
        <p:spPr>
          <a:xfrm>
            <a:off x="1965960" y="1051560"/>
            <a:ext cx="9326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Introdução à Computação e ao Pensamento Computacional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6"/>
          <p:cNvSpPr/>
          <p:nvPr/>
        </p:nvSpPr>
        <p:spPr>
          <a:xfrm>
            <a:off x="822960" y="214884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9d3df"/>
                </a:solidFill>
                <a:effectLst/>
                <a:uFillTx/>
                <a:latin typeface="Calibri"/>
                <a:ea typeface="Calibri"/>
              </a:rPr>
              <a:t>10 tarefas em formato de pergunta, com exemplos em Julia/Pluto.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7"/>
          <p:cNvSpPr/>
          <p:nvPr/>
        </p:nvSpPr>
        <p:spPr>
          <a:xfrm>
            <a:off x="822960" y="2880360"/>
            <a:ext cx="10515240" cy="1691280"/>
          </a:xfrm>
          <a:prstGeom prst="roundRect">
            <a:avLst>
              <a:gd name="adj" fmla="val 4865"/>
            </a:avLst>
          </a:prstGeom>
          <a:solidFill>
            <a:srgbClr val="1830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 8"/>
          <p:cNvSpPr/>
          <p:nvPr/>
        </p:nvSpPr>
        <p:spPr>
          <a:xfrm>
            <a:off x="1143000" y="310896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50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PERGUNTA-GUIA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9"/>
          <p:cNvSpPr/>
          <p:nvPr/>
        </p:nvSpPr>
        <p:spPr>
          <a:xfrm>
            <a:off x="1143000" y="3401640"/>
            <a:ext cx="9875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i="1" lang="en-US" sz="2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Como transformar “computar” em uma prática de representar, testar e explicar problemas?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0"/>
          <p:cNvSpPr/>
          <p:nvPr/>
        </p:nvSpPr>
        <p:spPr>
          <a:xfrm>
            <a:off x="822960" y="484632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9d3df"/>
                </a:solidFill>
                <a:effectLst/>
                <a:uFillTx/>
                <a:latin typeface="Calibri"/>
                <a:ea typeface="Calibri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1"/>
          <p:cNvSpPr/>
          <p:nvPr/>
        </p:nvSpPr>
        <p:spPr>
          <a:xfrm>
            <a:off x="822960" y="56235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A pergunta abre a aula; o código serve para tornar a relação conceitual discutível.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2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e93ae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3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e93ae"/>
                </a:solidFill>
                <a:effectLst/>
                <a:uFillTx/>
                <a:latin typeface="Calibri"/>
                <a:ea typeface="Calibri"/>
              </a:rPr>
              <a:t>10 / 21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502920" y="438840"/>
            <a:ext cx="712800" cy="71280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 1"/>
          <p:cNvSpPr/>
          <p:nvPr/>
        </p:nvSpPr>
        <p:spPr>
          <a:xfrm>
            <a:off x="502920" y="4388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1.1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"/>
          <p:cNvSpPr/>
          <p:nvPr/>
        </p:nvSpPr>
        <p:spPr>
          <a:xfrm>
            <a:off x="1508760" y="384120"/>
            <a:ext cx="1017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O que é computar quando usamos Julia no Pluto?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"/>
          <p:cNvSpPr/>
          <p:nvPr/>
        </p:nvSpPr>
        <p:spPr>
          <a:xfrm>
            <a:off x="502920" y="1572840"/>
            <a:ext cx="5348880" cy="2148480"/>
          </a:xfrm>
          <a:prstGeom prst="roundRect">
            <a:avLst>
              <a:gd name="adj" fmla="val 3830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777240" y="1755720"/>
            <a:ext cx="4800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TAREFA BREVE NO PLUTO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777240" y="2139840"/>
            <a:ext cx="4800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Execute uma expressão simples.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Observe entrada, processamento e saída.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Explique o que o computador fez e o que ele não entendeu.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6217920" y="1572840"/>
            <a:ext cx="542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EXEMPLO EM JULIA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7"/>
          <p:cNvSpPr/>
          <p:nvPr/>
        </p:nvSpPr>
        <p:spPr>
          <a:xfrm>
            <a:off x="6172200" y="1892880"/>
            <a:ext cx="5513400" cy="1828440"/>
          </a:xfrm>
          <a:prstGeom prst="roundRect">
            <a:avLst>
              <a:gd name="adj" fmla="val 3000"/>
            </a:avLst>
          </a:prstGeom>
          <a:solidFill>
            <a:srgbClr val="12233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 8"/>
          <p:cNvSpPr/>
          <p:nvPr/>
        </p:nvSpPr>
        <p:spPr>
          <a:xfrm>
            <a:off x="6464880" y="2075760"/>
            <a:ext cx="4928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+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*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4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^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5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9"/>
          <p:cNvSpPr/>
          <p:nvPr/>
        </p:nvSpPr>
        <p:spPr>
          <a:xfrm>
            <a:off x="502920" y="3904560"/>
            <a:ext cx="5348880" cy="2514240"/>
          </a:xfrm>
          <a:prstGeom prst="roundRect">
            <a:avLst>
              <a:gd name="adj" fmla="val 3273"/>
            </a:avLst>
          </a:prstGeom>
          <a:solidFill>
            <a:srgbClr val="edf4f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 10"/>
          <p:cNvSpPr/>
          <p:nvPr/>
        </p:nvSpPr>
        <p:spPr>
          <a:xfrm>
            <a:off x="758880" y="4050720"/>
            <a:ext cx="483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ASPECTO QUALITATIVO NA ANÁLISE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1"/>
          <p:cNvSpPr/>
          <p:nvPr/>
        </p:nvSpPr>
        <p:spPr>
          <a:xfrm>
            <a:off x="758880" y="4380120"/>
            <a:ext cx="483696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Representação como mediação entre cálculo e significado.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Deslocar foco da ferramenta para a tarefa.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Organizar dados é componente crítico da representação.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resultado final não esgota a aprendizagem do conceito.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2"/>
          <p:cNvSpPr/>
          <p:nvPr/>
        </p:nvSpPr>
        <p:spPr>
          <a:xfrm>
            <a:off x="6172200" y="3904560"/>
            <a:ext cx="5513400" cy="2514240"/>
          </a:xfrm>
          <a:prstGeom prst="roundRect">
            <a:avLst>
              <a:gd name="adj" fmla="val 3273"/>
            </a:avLst>
          </a:prstGeom>
          <a:solidFill>
            <a:srgbClr val="fbf1e6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 13"/>
          <p:cNvSpPr/>
          <p:nvPr/>
        </p:nvSpPr>
        <p:spPr>
          <a:xfrm>
            <a:off x="6428160" y="4050720"/>
            <a:ext cx="500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b8701f"/>
                </a:solidFill>
                <a:effectLst/>
                <a:uFillTx/>
                <a:latin typeface="Calibri"/>
                <a:ea typeface="Calibri"/>
              </a:rPr>
              <a:t>IMPORTÂNCIA NA APRENDIZAGEM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4"/>
          <p:cNvSpPr/>
          <p:nvPr/>
        </p:nvSpPr>
        <p:spPr>
          <a:xfrm>
            <a:off x="6428160" y="4380120"/>
            <a:ext cx="500148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primeira tarefa separa cálculo de compreensão: o computador executa operações, mas a turma interpreta o sentido da 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5"/>
          <p:cNvSpPr/>
          <p:nvPr/>
        </p:nvSpPr>
        <p:spPr>
          <a:xfrm>
            <a:off x="6428160" y="5523120"/>
            <a:ext cx="500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Critérios recorrentes: representação, manipulação, feedback, investigação, transnumeração, reflexão metaconceitual e limites do modelo.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6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7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11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502920" y="438840"/>
            <a:ext cx="712800" cy="71280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502920" y="4388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1.2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"/>
          <p:cNvSpPr/>
          <p:nvPr/>
        </p:nvSpPr>
        <p:spPr>
          <a:xfrm>
            <a:off x="1508760" y="384120"/>
            <a:ext cx="1017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Como uma variável transforma um número em conceito?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"/>
          <p:cNvSpPr/>
          <p:nvPr/>
        </p:nvSpPr>
        <p:spPr>
          <a:xfrm>
            <a:off x="502920" y="1572840"/>
            <a:ext cx="5348880" cy="2148480"/>
          </a:xfrm>
          <a:prstGeom prst="roundRect">
            <a:avLst>
              <a:gd name="adj" fmla="val 3830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 4"/>
          <p:cNvSpPr/>
          <p:nvPr/>
        </p:nvSpPr>
        <p:spPr>
          <a:xfrm>
            <a:off x="777240" y="1755720"/>
            <a:ext cx="4800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TAREFA BREVE NO PLUTO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5"/>
          <p:cNvSpPr/>
          <p:nvPr/>
        </p:nvSpPr>
        <p:spPr>
          <a:xfrm>
            <a:off x="777240" y="2139840"/>
            <a:ext cx="4800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Nomeie valores com significado.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Altere o nome ou o valor.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Discuta como o nome orienta a leitura do modelo.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6"/>
          <p:cNvSpPr/>
          <p:nvPr/>
        </p:nvSpPr>
        <p:spPr>
          <a:xfrm>
            <a:off x="6217920" y="1572840"/>
            <a:ext cx="542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EXEMPLO EM JULIA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7"/>
          <p:cNvSpPr/>
          <p:nvPr/>
        </p:nvSpPr>
        <p:spPr>
          <a:xfrm>
            <a:off x="6172200" y="1892880"/>
            <a:ext cx="5513400" cy="1828440"/>
          </a:xfrm>
          <a:prstGeom prst="roundRect">
            <a:avLst>
              <a:gd name="adj" fmla="val 3000"/>
            </a:avLst>
          </a:prstGeom>
          <a:solidFill>
            <a:srgbClr val="12233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 8"/>
          <p:cNvSpPr/>
          <p:nvPr/>
        </p:nvSpPr>
        <p:spPr>
          <a:xfrm>
            <a:off x="6464880" y="2075760"/>
            <a:ext cx="4928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idade =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35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anos =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5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idade_futura = idade + anos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9"/>
          <p:cNvSpPr/>
          <p:nvPr/>
        </p:nvSpPr>
        <p:spPr>
          <a:xfrm>
            <a:off x="502920" y="3904560"/>
            <a:ext cx="5348880" cy="2514240"/>
          </a:xfrm>
          <a:prstGeom prst="roundRect">
            <a:avLst>
              <a:gd name="adj" fmla="val 3273"/>
            </a:avLst>
          </a:prstGeom>
          <a:solidFill>
            <a:srgbClr val="edf4f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 10"/>
          <p:cNvSpPr/>
          <p:nvPr/>
        </p:nvSpPr>
        <p:spPr>
          <a:xfrm>
            <a:off x="758880" y="4050720"/>
            <a:ext cx="483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ASPECTO QUALITATIVO NA ANÁLISE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1"/>
          <p:cNvSpPr/>
          <p:nvPr/>
        </p:nvSpPr>
        <p:spPr>
          <a:xfrm>
            <a:off x="758880" y="4380120"/>
            <a:ext cx="483696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Variável como representação de grandeza.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Explicitar variáveis, relações e restrições.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Representações ampliam a percepção de propriedades e relações.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contexto e o tipo de dado influenciam a representação escolhida.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2"/>
          <p:cNvSpPr/>
          <p:nvPr/>
        </p:nvSpPr>
        <p:spPr>
          <a:xfrm>
            <a:off x="6172200" y="3904560"/>
            <a:ext cx="5513400" cy="2514240"/>
          </a:xfrm>
          <a:prstGeom prst="roundRect">
            <a:avLst>
              <a:gd name="adj" fmla="val 3273"/>
            </a:avLst>
          </a:prstGeom>
          <a:solidFill>
            <a:srgbClr val="fbf1e6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 13"/>
          <p:cNvSpPr/>
          <p:nvPr/>
        </p:nvSpPr>
        <p:spPr>
          <a:xfrm>
            <a:off x="6428160" y="4050720"/>
            <a:ext cx="500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b8701f"/>
                </a:solidFill>
                <a:effectLst/>
                <a:uFillTx/>
                <a:latin typeface="Calibri"/>
                <a:ea typeface="Calibri"/>
              </a:rPr>
              <a:t>IMPORTÂNCIA NA APRENDIZAGEM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4"/>
          <p:cNvSpPr/>
          <p:nvPr/>
        </p:nvSpPr>
        <p:spPr>
          <a:xfrm>
            <a:off x="6428160" y="4380120"/>
            <a:ext cx="500148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variável deixa de ser apenas armazenamento e passa a indicar uma relação conceitual entre valor, papel e contexto.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5"/>
          <p:cNvSpPr/>
          <p:nvPr/>
        </p:nvSpPr>
        <p:spPr>
          <a:xfrm>
            <a:off x="6428160" y="5523120"/>
            <a:ext cx="500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Critérios recorrentes: representação, manipulação, feedback, investigação, transnumeração, reflexão metaconceitual e limites do modelo.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6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7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12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0"/>
          <p:cNvSpPr/>
          <p:nvPr/>
        </p:nvSpPr>
        <p:spPr>
          <a:xfrm>
            <a:off x="502920" y="438840"/>
            <a:ext cx="712800" cy="71280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 1"/>
          <p:cNvSpPr/>
          <p:nvPr/>
        </p:nvSpPr>
        <p:spPr>
          <a:xfrm>
            <a:off x="502920" y="4388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1.3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"/>
          <p:cNvSpPr/>
          <p:nvPr/>
        </p:nvSpPr>
        <p:spPr>
          <a:xfrm>
            <a:off x="1508760" y="384120"/>
            <a:ext cx="1017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Como uma lista torna visível uma coleção de casos?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3"/>
          <p:cNvSpPr/>
          <p:nvPr/>
        </p:nvSpPr>
        <p:spPr>
          <a:xfrm>
            <a:off x="502920" y="1572840"/>
            <a:ext cx="5348880" cy="2148480"/>
          </a:xfrm>
          <a:prstGeom prst="roundRect">
            <a:avLst>
              <a:gd name="adj" fmla="val 3830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 4"/>
          <p:cNvSpPr/>
          <p:nvPr/>
        </p:nvSpPr>
        <p:spPr>
          <a:xfrm>
            <a:off x="777240" y="1755720"/>
            <a:ext cx="4800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TAREFA BREVE NO PLUTO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5"/>
          <p:cNvSpPr/>
          <p:nvPr/>
        </p:nvSpPr>
        <p:spPr>
          <a:xfrm>
            <a:off x="777240" y="2139840"/>
            <a:ext cx="4800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Crie uma lista de valores.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Observe quantidade e ordem.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Pergunte o que muda se a ordem mudar.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6"/>
          <p:cNvSpPr/>
          <p:nvPr/>
        </p:nvSpPr>
        <p:spPr>
          <a:xfrm>
            <a:off x="6217920" y="1572840"/>
            <a:ext cx="542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EXEMPLO EM JULIA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7"/>
          <p:cNvSpPr/>
          <p:nvPr/>
        </p:nvSpPr>
        <p:spPr>
          <a:xfrm>
            <a:off x="6172200" y="1892880"/>
            <a:ext cx="5513400" cy="1828440"/>
          </a:xfrm>
          <a:prstGeom prst="roundRect">
            <a:avLst>
              <a:gd name="adj" fmla="val 3000"/>
            </a:avLst>
          </a:prstGeom>
          <a:solidFill>
            <a:srgbClr val="12233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 8"/>
          <p:cNvSpPr/>
          <p:nvPr/>
        </p:nvSpPr>
        <p:spPr>
          <a:xfrm>
            <a:off x="6464880" y="2075760"/>
            <a:ext cx="4928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dados = [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4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length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(dados)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dados[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9"/>
          <p:cNvSpPr/>
          <p:nvPr/>
        </p:nvSpPr>
        <p:spPr>
          <a:xfrm>
            <a:off x="502920" y="3904560"/>
            <a:ext cx="5348880" cy="2514240"/>
          </a:xfrm>
          <a:prstGeom prst="roundRect">
            <a:avLst>
              <a:gd name="adj" fmla="val 3273"/>
            </a:avLst>
          </a:prstGeom>
          <a:solidFill>
            <a:srgbClr val="edf4f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 10"/>
          <p:cNvSpPr/>
          <p:nvPr/>
        </p:nvSpPr>
        <p:spPr>
          <a:xfrm>
            <a:off x="758880" y="4050720"/>
            <a:ext cx="483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ASPECTO QUALITATIVO NA ANÁLISE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1"/>
          <p:cNvSpPr/>
          <p:nvPr/>
        </p:nvSpPr>
        <p:spPr>
          <a:xfrm>
            <a:off x="758880" y="4380120"/>
            <a:ext cx="483696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Coleção, ordem e índice como representação.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Organizar dados é componente crítico da representação.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Múltiplas expressões exibem aspectos distintos do mesmo conceito.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Articular código, texto, tabela, gráfico e interpretação.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2"/>
          <p:cNvSpPr/>
          <p:nvPr/>
        </p:nvSpPr>
        <p:spPr>
          <a:xfrm>
            <a:off x="6172200" y="3904560"/>
            <a:ext cx="5513400" cy="2514240"/>
          </a:xfrm>
          <a:prstGeom prst="roundRect">
            <a:avLst>
              <a:gd name="adj" fmla="val 3273"/>
            </a:avLst>
          </a:prstGeom>
          <a:solidFill>
            <a:srgbClr val="fbf1e6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 13"/>
          <p:cNvSpPr/>
          <p:nvPr/>
        </p:nvSpPr>
        <p:spPr>
          <a:xfrm>
            <a:off x="6428160" y="4050720"/>
            <a:ext cx="500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b8701f"/>
                </a:solidFill>
                <a:effectLst/>
                <a:uFillTx/>
                <a:latin typeface="Calibri"/>
                <a:ea typeface="Calibri"/>
              </a:rPr>
              <a:t>IMPORTÂNCIA NA APRENDIZAGEM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4"/>
          <p:cNvSpPr/>
          <p:nvPr/>
        </p:nvSpPr>
        <p:spPr>
          <a:xfrm>
            <a:off x="6428160" y="4380120"/>
            <a:ext cx="500148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lista aproxima teoria de conjuntos e estrutura computacional: valores aparecem como coleção e como sequência indexada.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5"/>
          <p:cNvSpPr/>
          <p:nvPr/>
        </p:nvSpPr>
        <p:spPr>
          <a:xfrm>
            <a:off x="6428160" y="5523120"/>
            <a:ext cx="500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Critérios recorrentes: representação, manipulação, feedback, investigação, transnumeração, reflexão metaconceitual e limites do modelo.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6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7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13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/>
          <p:cNvSpPr/>
          <p:nvPr/>
        </p:nvSpPr>
        <p:spPr>
          <a:xfrm>
            <a:off x="502920" y="438840"/>
            <a:ext cx="712800" cy="71280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 1"/>
          <p:cNvSpPr/>
          <p:nvPr/>
        </p:nvSpPr>
        <p:spPr>
          <a:xfrm>
            <a:off x="502920" y="4388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1.4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"/>
          <p:cNvSpPr/>
          <p:nvPr/>
        </p:nvSpPr>
        <p:spPr>
          <a:xfrm>
            <a:off x="1508760" y="384120"/>
            <a:ext cx="1017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Como o Pluto ajuda a ver dependências?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3"/>
          <p:cNvSpPr/>
          <p:nvPr/>
        </p:nvSpPr>
        <p:spPr>
          <a:xfrm>
            <a:off x="502920" y="1572840"/>
            <a:ext cx="5348880" cy="2148480"/>
          </a:xfrm>
          <a:prstGeom prst="roundRect">
            <a:avLst>
              <a:gd name="adj" fmla="val 3830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 4"/>
          <p:cNvSpPr/>
          <p:nvPr/>
        </p:nvSpPr>
        <p:spPr>
          <a:xfrm>
            <a:off x="777240" y="1755720"/>
            <a:ext cx="4800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TAREFA BREVE NO PLUTO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5"/>
          <p:cNvSpPr/>
          <p:nvPr/>
        </p:nvSpPr>
        <p:spPr>
          <a:xfrm>
            <a:off x="777240" y="2139840"/>
            <a:ext cx="4800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Separe as células em dados, regra e saída.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Mude um valor inicial.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Observe a atualização das células dependentes.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6"/>
          <p:cNvSpPr/>
          <p:nvPr/>
        </p:nvSpPr>
        <p:spPr>
          <a:xfrm>
            <a:off x="6217920" y="1572840"/>
            <a:ext cx="542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EXEMPLO EM JULIA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7"/>
          <p:cNvSpPr/>
          <p:nvPr/>
        </p:nvSpPr>
        <p:spPr>
          <a:xfrm>
            <a:off x="6172200" y="1892880"/>
            <a:ext cx="5513400" cy="1828440"/>
          </a:xfrm>
          <a:prstGeom prst="roundRect">
            <a:avLst>
              <a:gd name="adj" fmla="val 3000"/>
            </a:avLst>
          </a:prstGeom>
          <a:solidFill>
            <a:srgbClr val="12233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 8"/>
          <p:cNvSpPr/>
          <p:nvPr/>
        </p:nvSpPr>
        <p:spPr>
          <a:xfrm>
            <a:off x="6464880" y="2075760"/>
            <a:ext cx="4928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valor =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100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taxa =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0.1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final = valor * (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+ taxa)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9"/>
          <p:cNvSpPr/>
          <p:nvPr/>
        </p:nvSpPr>
        <p:spPr>
          <a:xfrm>
            <a:off x="502920" y="3904560"/>
            <a:ext cx="5348880" cy="2514240"/>
          </a:xfrm>
          <a:prstGeom prst="roundRect">
            <a:avLst>
              <a:gd name="adj" fmla="val 3273"/>
            </a:avLst>
          </a:prstGeom>
          <a:solidFill>
            <a:srgbClr val="edf4f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 10"/>
          <p:cNvSpPr/>
          <p:nvPr/>
        </p:nvSpPr>
        <p:spPr>
          <a:xfrm>
            <a:off x="758880" y="4050720"/>
            <a:ext cx="483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ASPECTO QUALITATIVO NA ANÁLISE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1"/>
          <p:cNvSpPr/>
          <p:nvPr/>
        </p:nvSpPr>
        <p:spPr>
          <a:xfrm>
            <a:off x="758880" y="4380120"/>
            <a:ext cx="483696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Manipulação de parâmetros e feedback imediato.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Permitir manipulação de parâmetros e comparação de estados.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interação consciente com a forma favorece reflexão conceitual.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Múltiplas representações indicam modelagem mais bem-sucedida.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2"/>
          <p:cNvSpPr/>
          <p:nvPr/>
        </p:nvSpPr>
        <p:spPr>
          <a:xfrm>
            <a:off x="6172200" y="3904560"/>
            <a:ext cx="5513400" cy="2514240"/>
          </a:xfrm>
          <a:prstGeom prst="roundRect">
            <a:avLst>
              <a:gd name="adj" fmla="val 3273"/>
            </a:avLst>
          </a:prstGeom>
          <a:solidFill>
            <a:srgbClr val="fbf1e6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 13"/>
          <p:cNvSpPr/>
          <p:nvPr/>
        </p:nvSpPr>
        <p:spPr>
          <a:xfrm>
            <a:off x="6428160" y="4050720"/>
            <a:ext cx="500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b8701f"/>
                </a:solidFill>
                <a:effectLst/>
                <a:uFillTx/>
                <a:latin typeface="Calibri"/>
                <a:ea typeface="Calibri"/>
              </a:rPr>
              <a:t>IMPORTÂNCIA NA APRENDIZAGEM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4"/>
          <p:cNvSpPr/>
          <p:nvPr/>
        </p:nvSpPr>
        <p:spPr>
          <a:xfrm>
            <a:off x="6428160" y="4380120"/>
            <a:ext cx="500148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reatividade torna explícita a dependência entre variáveis, permitindo comparar estados do mesmo modelo.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5"/>
          <p:cNvSpPr/>
          <p:nvPr/>
        </p:nvSpPr>
        <p:spPr>
          <a:xfrm>
            <a:off x="6428160" y="5523120"/>
            <a:ext cx="500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Critérios recorrentes: representação, manipulação, feedback, investigação, transnumeração, reflexão metaconceitual e limites do modelo.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6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7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14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0"/>
          <p:cNvSpPr/>
          <p:nvPr/>
        </p:nvSpPr>
        <p:spPr>
          <a:xfrm>
            <a:off x="502920" y="438840"/>
            <a:ext cx="712800" cy="71280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 1"/>
          <p:cNvSpPr/>
          <p:nvPr/>
        </p:nvSpPr>
        <p:spPr>
          <a:xfrm>
            <a:off x="502920" y="4388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1.5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"/>
          <p:cNvSpPr/>
          <p:nvPr/>
        </p:nvSpPr>
        <p:spPr>
          <a:xfrm>
            <a:off x="1508760" y="384120"/>
            <a:ext cx="1017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Como texto e código podem coexistir na mesma explicação?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"/>
          <p:cNvSpPr/>
          <p:nvPr/>
        </p:nvSpPr>
        <p:spPr>
          <a:xfrm>
            <a:off x="502920" y="1572840"/>
            <a:ext cx="5348880" cy="2148480"/>
          </a:xfrm>
          <a:prstGeom prst="roundRect">
            <a:avLst>
              <a:gd name="adj" fmla="val 3830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 4"/>
          <p:cNvSpPr/>
          <p:nvPr/>
        </p:nvSpPr>
        <p:spPr>
          <a:xfrm>
            <a:off x="777240" y="1755720"/>
            <a:ext cx="4800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TAREFA BREVE NO PLUTO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5"/>
          <p:cNvSpPr/>
          <p:nvPr/>
        </p:nvSpPr>
        <p:spPr>
          <a:xfrm>
            <a:off x="777240" y="2139840"/>
            <a:ext cx="4800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Use uma célula Markdown.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Mostre valores calculados no texto.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Peça que a turma explique a saída.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6"/>
          <p:cNvSpPr/>
          <p:nvPr/>
        </p:nvSpPr>
        <p:spPr>
          <a:xfrm>
            <a:off x="6217920" y="1572840"/>
            <a:ext cx="542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EXEMPLO EM JULIA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7"/>
          <p:cNvSpPr/>
          <p:nvPr/>
        </p:nvSpPr>
        <p:spPr>
          <a:xfrm>
            <a:off x="6172200" y="1892880"/>
            <a:ext cx="5513400" cy="1828440"/>
          </a:xfrm>
          <a:prstGeom prst="roundRect">
            <a:avLst>
              <a:gd name="adj" fmla="val 3000"/>
            </a:avLst>
          </a:prstGeom>
          <a:solidFill>
            <a:srgbClr val="12233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 8"/>
          <p:cNvSpPr/>
          <p:nvPr/>
        </p:nvSpPr>
        <p:spPr>
          <a:xfrm>
            <a:off x="6464880" y="2075760"/>
            <a:ext cx="4928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media =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7.5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md</a:t>
            </a:r>
            <a:r>
              <a:rPr b="0" lang="en-US" sz="1500" strike="noStrike" u="none">
                <a:solidFill>
                  <a:srgbClr val="7fd1c0"/>
                </a:solidFill>
                <a:effectLst/>
                <a:uFillTx/>
                <a:latin typeface="Courier New"/>
                <a:ea typeface="Courier New"/>
              </a:rPr>
              <a:t>"""A média foi **$media**."""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9"/>
          <p:cNvSpPr/>
          <p:nvPr/>
        </p:nvSpPr>
        <p:spPr>
          <a:xfrm>
            <a:off x="502920" y="3904560"/>
            <a:ext cx="5348880" cy="2514240"/>
          </a:xfrm>
          <a:prstGeom prst="roundRect">
            <a:avLst>
              <a:gd name="adj" fmla="val 3273"/>
            </a:avLst>
          </a:prstGeom>
          <a:solidFill>
            <a:srgbClr val="edf4f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 10"/>
          <p:cNvSpPr/>
          <p:nvPr/>
        </p:nvSpPr>
        <p:spPr>
          <a:xfrm>
            <a:off x="758880" y="4050720"/>
            <a:ext cx="483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ASPECTO QUALITATIVO NA ANÁLISE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1"/>
          <p:cNvSpPr/>
          <p:nvPr/>
        </p:nvSpPr>
        <p:spPr>
          <a:xfrm>
            <a:off x="758880" y="4380120"/>
            <a:ext cx="483696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Múltiplas representações: linguagem natural e cálculo.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Múltiplas representações indicam modelagem mais bem-sucedida.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Múltiplas expressões exibem aspectos distintos do mesmo conceito.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Articular código, texto, tabela, gráfico e interpretação.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2"/>
          <p:cNvSpPr/>
          <p:nvPr/>
        </p:nvSpPr>
        <p:spPr>
          <a:xfrm>
            <a:off x="6172200" y="3904560"/>
            <a:ext cx="5513400" cy="2514240"/>
          </a:xfrm>
          <a:prstGeom prst="roundRect">
            <a:avLst>
              <a:gd name="adj" fmla="val 3273"/>
            </a:avLst>
          </a:prstGeom>
          <a:solidFill>
            <a:srgbClr val="fbf1e6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 13"/>
          <p:cNvSpPr/>
          <p:nvPr/>
        </p:nvSpPr>
        <p:spPr>
          <a:xfrm>
            <a:off x="6428160" y="4050720"/>
            <a:ext cx="500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b8701f"/>
                </a:solidFill>
                <a:effectLst/>
                <a:uFillTx/>
                <a:latin typeface="Calibri"/>
                <a:ea typeface="Calibri"/>
              </a:rPr>
              <a:t>IMPORTÂNCIA NA APRENDIZAGEM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4"/>
          <p:cNvSpPr/>
          <p:nvPr/>
        </p:nvSpPr>
        <p:spPr>
          <a:xfrm>
            <a:off x="6428160" y="4380120"/>
            <a:ext cx="500148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texto integrado ao código aproxima cálculo, comunicação e justificativa conceitual.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5"/>
          <p:cNvSpPr/>
          <p:nvPr/>
        </p:nvSpPr>
        <p:spPr>
          <a:xfrm>
            <a:off x="6428160" y="5523120"/>
            <a:ext cx="500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Critérios recorrentes: representação, manipulação, feedback, investigação, transnumeração, reflexão metaconceitual e limites do modelo.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6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7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15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502920" y="438840"/>
            <a:ext cx="712800" cy="71280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 1"/>
          <p:cNvSpPr/>
          <p:nvPr/>
        </p:nvSpPr>
        <p:spPr>
          <a:xfrm>
            <a:off x="502920" y="4388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1.6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"/>
          <p:cNvSpPr/>
          <p:nvPr/>
        </p:nvSpPr>
        <p:spPr>
          <a:xfrm>
            <a:off x="1508760" y="384120"/>
            <a:ext cx="1017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O que muda quando a saída vira tabela?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3"/>
          <p:cNvSpPr/>
          <p:nvPr/>
        </p:nvSpPr>
        <p:spPr>
          <a:xfrm>
            <a:off x="502920" y="1572840"/>
            <a:ext cx="5348880" cy="2148480"/>
          </a:xfrm>
          <a:prstGeom prst="roundRect">
            <a:avLst>
              <a:gd name="adj" fmla="val 3830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 4"/>
          <p:cNvSpPr/>
          <p:nvPr/>
        </p:nvSpPr>
        <p:spPr>
          <a:xfrm>
            <a:off x="777240" y="1755720"/>
            <a:ext cx="4800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TAREFA BREVE NO PLUTO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5"/>
          <p:cNvSpPr/>
          <p:nvPr/>
        </p:nvSpPr>
        <p:spPr>
          <a:xfrm>
            <a:off x="777240" y="2139840"/>
            <a:ext cx="4800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Calcule quadrados.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Agrupe entrada e saída.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Interprete a correspondência em pares.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6"/>
          <p:cNvSpPr/>
          <p:nvPr/>
        </p:nvSpPr>
        <p:spPr>
          <a:xfrm>
            <a:off x="6217920" y="1572840"/>
            <a:ext cx="542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EXEMPLO EM JULIA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7"/>
          <p:cNvSpPr/>
          <p:nvPr/>
        </p:nvSpPr>
        <p:spPr>
          <a:xfrm>
            <a:off x="6172200" y="1892880"/>
            <a:ext cx="5513400" cy="1828440"/>
          </a:xfrm>
          <a:prstGeom prst="roundRect">
            <a:avLst>
              <a:gd name="adj" fmla="val 3000"/>
            </a:avLst>
          </a:prstGeom>
          <a:solidFill>
            <a:srgbClr val="12233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 8"/>
          <p:cNvSpPr/>
          <p:nvPr/>
        </p:nvSpPr>
        <p:spPr>
          <a:xfrm>
            <a:off x="6464880" y="2075760"/>
            <a:ext cx="4928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dados = [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4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quadrados = dados .^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collect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zip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(dados, quadrados))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9"/>
          <p:cNvSpPr/>
          <p:nvPr/>
        </p:nvSpPr>
        <p:spPr>
          <a:xfrm>
            <a:off x="502920" y="3904560"/>
            <a:ext cx="5348880" cy="2514240"/>
          </a:xfrm>
          <a:prstGeom prst="roundRect">
            <a:avLst>
              <a:gd name="adj" fmla="val 3273"/>
            </a:avLst>
          </a:prstGeom>
          <a:solidFill>
            <a:srgbClr val="edf4f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 10"/>
          <p:cNvSpPr/>
          <p:nvPr/>
        </p:nvSpPr>
        <p:spPr>
          <a:xfrm>
            <a:off x="758880" y="4050720"/>
            <a:ext cx="483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ASPECTO QUALITATIVO NA ANÁLISE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1"/>
          <p:cNvSpPr/>
          <p:nvPr/>
        </p:nvSpPr>
        <p:spPr>
          <a:xfrm>
            <a:off x="758880" y="4380120"/>
            <a:ext cx="483696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Transnumeração: lista para pares interpretáveis.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Transnumeração torna dados interpretáveis em nova forma.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Representações ampliam a percepção de propriedades e relações.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Solicitar explicação do raciocínio desenvolvido.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2"/>
          <p:cNvSpPr/>
          <p:nvPr/>
        </p:nvSpPr>
        <p:spPr>
          <a:xfrm>
            <a:off x="6172200" y="3904560"/>
            <a:ext cx="5513400" cy="2514240"/>
          </a:xfrm>
          <a:prstGeom prst="roundRect">
            <a:avLst>
              <a:gd name="adj" fmla="val 3273"/>
            </a:avLst>
          </a:prstGeom>
          <a:solidFill>
            <a:srgbClr val="fbf1e6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 13"/>
          <p:cNvSpPr/>
          <p:nvPr/>
        </p:nvSpPr>
        <p:spPr>
          <a:xfrm>
            <a:off x="6428160" y="4050720"/>
            <a:ext cx="500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b8701f"/>
                </a:solidFill>
                <a:effectLst/>
                <a:uFillTx/>
                <a:latin typeface="Calibri"/>
                <a:ea typeface="Calibri"/>
              </a:rPr>
              <a:t>IMPORTÂNCIA NA APRENDIZAGEM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4"/>
          <p:cNvSpPr/>
          <p:nvPr/>
        </p:nvSpPr>
        <p:spPr>
          <a:xfrm>
            <a:off x="6428160" y="4380120"/>
            <a:ext cx="500148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tabela de pares faz aparecer a relação funcional que ficaria escondida em uma lista de resultados.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5"/>
          <p:cNvSpPr/>
          <p:nvPr/>
        </p:nvSpPr>
        <p:spPr>
          <a:xfrm>
            <a:off x="6428160" y="5523120"/>
            <a:ext cx="500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Critérios recorrentes: representação, manipulação, feedback, investigação, transnumeração, reflexão metaconceitual e limites do modelo.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6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7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16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502920" y="438840"/>
            <a:ext cx="712800" cy="71280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502920" y="4388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1.7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1508760" y="384120"/>
            <a:ext cx="1017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Como uma função sintetiza uma ideia computacional?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"/>
          <p:cNvSpPr/>
          <p:nvPr/>
        </p:nvSpPr>
        <p:spPr>
          <a:xfrm>
            <a:off x="502920" y="1572840"/>
            <a:ext cx="5348880" cy="2148480"/>
          </a:xfrm>
          <a:prstGeom prst="roundRect">
            <a:avLst>
              <a:gd name="adj" fmla="val 3830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 4"/>
          <p:cNvSpPr/>
          <p:nvPr/>
        </p:nvSpPr>
        <p:spPr>
          <a:xfrm>
            <a:off x="777240" y="1755720"/>
            <a:ext cx="4800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TAREFA BREVE NO PLUTO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777240" y="2139840"/>
            <a:ext cx="4800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Transforme uma conta repetida em função.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Teste diferentes entradas.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Compare os resultados.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6217920" y="1572840"/>
            <a:ext cx="542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EXEMPLO EM JULIA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7"/>
          <p:cNvSpPr/>
          <p:nvPr/>
        </p:nvSpPr>
        <p:spPr>
          <a:xfrm>
            <a:off x="6172200" y="1892880"/>
            <a:ext cx="5513400" cy="1828440"/>
          </a:xfrm>
          <a:prstGeom prst="roundRect">
            <a:avLst>
              <a:gd name="adj" fmla="val 3000"/>
            </a:avLst>
          </a:prstGeom>
          <a:solidFill>
            <a:srgbClr val="12233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 8"/>
          <p:cNvSpPr/>
          <p:nvPr/>
        </p:nvSpPr>
        <p:spPr>
          <a:xfrm>
            <a:off x="6464880" y="2075760"/>
            <a:ext cx="4928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dobro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(x) =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x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dobro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4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dobro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9"/>
          <p:cNvSpPr/>
          <p:nvPr/>
        </p:nvSpPr>
        <p:spPr>
          <a:xfrm>
            <a:off x="502920" y="3904560"/>
            <a:ext cx="5348880" cy="2514240"/>
          </a:xfrm>
          <a:prstGeom prst="roundRect">
            <a:avLst>
              <a:gd name="adj" fmla="val 3273"/>
            </a:avLst>
          </a:prstGeom>
          <a:solidFill>
            <a:srgbClr val="edf4f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 10"/>
          <p:cNvSpPr/>
          <p:nvPr/>
        </p:nvSpPr>
        <p:spPr>
          <a:xfrm>
            <a:off x="758880" y="4050720"/>
            <a:ext cx="483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ASPECTO QUALITATIVO NA ANÁLISE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1"/>
          <p:cNvSpPr/>
          <p:nvPr/>
        </p:nvSpPr>
        <p:spPr>
          <a:xfrm>
            <a:off x="758880" y="4380120"/>
            <a:ext cx="483696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Generalização inicial e relação entrada–saída.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Níveis SOLO ajudam a observar respostas de menor a maior integração.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análise qualitativa observa invariantes e relações mobilizadas na ação.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Avaliar o percurso de pensamento, não apenas o código final.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2"/>
          <p:cNvSpPr/>
          <p:nvPr/>
        </p:nvSpPr>
        <p:spPr>
          <a:xfrm>
            <a:off x="6172200" y="3904560"/>
            <a:ext cx="5513400" cy="2514240"/>
          </a:xfrm>
          <a:prstGeom prst="roundRect">
            <a:avLst>
              <a:gd name="adj" fmla="val 3273"/>
            </a:avLst>
          </a:prstGeom>
          <a:solidFill>
            <a:srgbClr val="fbf1e6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 13"/>
          <p:cNvSpPr/>
          <p:nvPr/>
        </p:nvSpPr>
        <p:spPr>
          <a:xfrm>
            <a:off x="6428160" y="4050720"/>
            <a:ext cx="500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b8701f"/>
                </a:solidFill>
                <a:effectLst/>
                <a:uFillTx/>
                <a:latin typeface="Calibri"/>
                <a:ea typeface="Calibri"/>
              </a:rPr>
              <a:t>IMPORTÂNCIA NA APRENDIZAGEM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4"/>
          <p:cNvSpPr/>
          <p:nvPr/>
        </p:nvSpPr>
        <p:spPr>
          <a:xfrm>
            <a:off x="6428160" y="4380120"/>
            <a:ext cx="500148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função introduz a ideia de regra reutilizável e permite discutir domínio, imagem e transformação.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5"/>
          <p:cNvSpPr/>
          <p:nvPr/>
        </p:nvSpPr>
        <p:spPr>
          <a:xfrm>
            <a:off x="6428160" y="5523120"/>
            <a:ext cx="500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Critérios recorrentes: representação, manipulação, feedback, investigação, transnumeração, reflexão metaconceitual e limites do modelo.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6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7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17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0"/>
          <p:cNvSpPr/>
          <p:nvPr/>
        </p:nvSpPr>
        <p:spPr>
          <a:xfrm>
            <a:off x="502920" y="438840"/>
            <a:ext cx="712800" cy="71280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 1"/>
          <p:cNvSpPr/>
          <p:nvPr/>
        </p:nvSpPr>
        <p:spPr>
          <a:xfrm>
            <a:off x="502920" y="4388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1.8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"/>
          <p:cNvSpPr/>
          <p:nvPr/>
        </p:nvSpPr>
        <p:spPr>
          <a:xfrm>
            <a:off x="1508760" y="384120"/>
            <a:ext cx="1017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Como o computador representa decisões?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3"/>
          <p:cNvSpPr/>
          <p:nvPr/>
        </p:nvSpPr>
        <p:spPr>
          <a:xfrm>
            <a:off x="502920" y="1572840"/>
            <a:ext cx="5348880" cy="2148480"/>
          </a:xfrm>
          <a:prstGeom prst="roundRect">
            <a:avLst>
              <a:gd name="adj" fmla="val 3830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 4"/>
          <p:cNvSpPr/>
          <p:nvPr/>
        </p:nvSpPr>
        <p:spPr>
          <a:xfrm>
            <a:off x="777240" y="1755720"/>
            <a:ext cx="4800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TAREFA BREVE NO PLUTO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5"/>
          <p:cNvSpPr/>
          <p:nvPr/>
        </p:nvSpPr>
        <p:spPr>
          <a:xfrm>
            <a:off x="777240" y="2139840"/>
            <a:ext cx="4800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Use uma condição simples.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Teste dois casos.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Discuta a regra antes de executar.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6"/>
          <p:cNvSpPr/>
          <p:nvPr/>
        </p:nvSpPr>
        <p:spPr>
          <a:xfrm>
            <a:off x="6217920" y="1572840"/>
            <a:ext cx="542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EXEMPLO EM JULIA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7"/>
          <p:cNvSpPr/>
          <p:nvPr/>
        </p:nvSpPr>
        <p:spPr>
          <a:xfrm>
            <a:off x="6172200" y="1892880"/>
            <a:ext cx="5513400" cy="1828440"/>
          </a:xfrm>
          <a:prstGeom prst="roundRect">
            <a:avLst>
              <a:gd name="adj" fmla="val 3000"/>
            </a:avLst>
          </a:prstGeom>
          <a:solidFill>
            <a:srgbClr val="12233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 8"/>
          <p:cNvSpPr/>
          <p:nvPr/>
        </p:nvSpPr>
        <p:spPr>
          <a:xfrm>
            <a:off x="6464880" y="2075760"/>
            <a:ext cx="4928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nota =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6.5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situacao = nota &gt;=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7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? </a:t>
            </a:r>
            <a:r>
              <a:rPr b="0" lang="en-US" sz="1500" strike="noStrike" u="none">
                <a:solidFill>
                  <a:srgbClr val="7fd1c0"/>
                </a:solidFill>
                <a:effectLst/>
                <a:uFillTx/>
                <a:latin typeface="Courier New"/>
                <a:ea typeface="Courier New"/>
              </a:rPr>
              <a:t>"aprovado"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: </a:t>
            </a:r>
            <a:r>
              <a:rPr b="0" lang="en-US" sz="1500" strike="noStrike" u="none">
                <a:solidFill>
                  <a:srgbClr val="7fd1c0"/>
                </a:solidFill>
                <a:effectLst/>
                <a:uFillTx/>
                <a:latin typeface="Courier New"/>
                <a:ea typeface="Courier New"/>
              </a:rPr>
              <a:t>"rever"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9"/>
          <p:cNvSpPr/>
          <p:nvPr/>
        </p:nvSpPr>
        <p:spPr>
          <a:xfrm>
            <a:off x="502920" y="3904560"/>
            <a:ext cx="5348880" cy="2514240"/>
          </a:xfrm>
          <a:prstGeom prst="roundRect">
            <a:avLst>
              <a:gd name="adj" fmla="val 3273"/>
            </a:avLst>
          </a:prstGeom>
          <a:solidFill>
            <a:srgbClr val="edf4f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9" name="Text 10"/>
          <p:cNvSpPr/>
          <p:nvPr/>
        </p:nvSpPr>
        <p:spPr>
          <a:xfrm>
            <a:off x="758880" y="4050720"/>
            <a:ext cx="483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ASPECTO QUALITATIVO NA ANÁLISE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1"/>
          <p:cNvSpPr/>
          <p:nvPr/>
        </p:nvSpPr>
        <p:spPr>
          <a:xfrm>
            <a:off x="758880" y="4380120"/>
            <a:ext cx="483696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Representação de regra e classificação.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Solicitar explicação do raciocínio desenvolvido.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Feedback visual/textual deve orientar interpretação, não apenas corrigir.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Atividades planejadas desenvolvem representação e pensamento de ordem superior.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2"/>
          <p:cNvSpPr/>
          <p:nvPr/>
        </p:nvSpPr>
        <p:spPr>
          <a:xfrm>
            <a:off x="6172200" y="3904560"/>
            <a:ext cx="5513400" cy="2514240"/>
          </a:xfrm>
          <a:prstGeom prst="roundRect">
            <a:avLst>
              <a:gd name="adj" fmla="val 3273"/>
            </a:avLst>
          </a:prstGeom>
          <a:solidFill>
            <a:srgbClr val="fbf1e6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 13"/>
          <p:cNvSpPr/>
          <p:nvPr/>
        </p:nvSpPr>
        <p:spPr>
          <a:xfrm>
            <a:off x="6428160" y="4050720"/>
            <a:ext cx="500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b8701f"/>
                </a:solidFill>
                <a:effectLst/>
                <a:uFillTx/>
                <a:latin typeface="Calibri"/>
                <a:ea typeface="Calibri"/>
              </a:rPr>
              <a:t>IMPORTÂNCIA NA APRENDIZAGEM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4"/>
          <p:cNvSpPr/>
          <p:nvPr/>
        </p:nvSpPr>
        <p:spPr>
          <a:xfrm>
            <a:off x="6428160" y="4380120"/>
            <a:ext cx="500148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decisão computacional mostra que regras precisam ser formuladas, testadas e interpretadas.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5"/>
          <p:cNvSpPr/>
          <p:nvPr/>
        </p:nvSpPr>
        <p:spPr>
          <a:xfrm>
            <a:off x="6428160" y="5523120"/>
            <a:ext cx="500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Critérios recorrentes: representação, manipulação, feedback, investigação, transnumeração, reflexão metaconceitual e limites do modelo.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6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7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18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0"/>
          <p:cNvSpPr/>
          <p:nvPr/>
        </p:nvSpPr>
        <p:spPr>
          <a:xfrm>
            <a:off x="502920" y="438840"/>
            <a:ext cx="712800" cy="71280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 1"/>
          <p:cNvSpPr/>
          <p:nvPr/>
        </p:nvSpPr>
        <p:spPr>
          <a:xfrm>
            <a:off x="502920" y="4388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1.9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2"/>
          <p:cNvSpPr/>
          <p:nvPr/>
        </p:nvSpPr>
        <p:spPr>
          <a:xfrm>
            <a:off x="1508760" y="384120"/>
            <a:ext cx="1017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Como um erro pode virar dado de aprendizagem?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3"/>
          <p:cNvSpPr/>
          <p:nvPr/>
        </p:nvSpPr>
        <p:spPr>
          <a:xfrm>
            <a:off x="502920" y="1572840"/>
            <a:ext cx="5348880" cy="2148480"/>
          </a:xfrm>
          <a:prstGeom prst="roundRect">
            <a:avLst>
              <a:gd name="adj" fmla="val 3830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 4"/>
          <p:cNvSpPr/>
          <p:nvPr/>
        </p:nvSpPr>
        <p:spPr>
          <a:xfrm>
            <a:off x="777240" y="1755720"/>
            <a:ext cx="4800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TAREFA BREVE NO PLUTO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5"/>
          <p:cNvSpPr/>
          <p:nvPr/>
        </p:nvSpPr>
        <p:spPr>
          <a:xfrm>
            <a:off x="777240" y="2139840"/>
            <a:ext cx="4800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Altere uma variável inexistente.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Observe a mensagem de erro.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Explique que relação estava faltando.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6"/>
          <p:cNvSpPr/>
          <p:nvPr/>
        </p:nvSpPr>
        <p:spPr>
          <a:xfrm>
            <a:off x="6217920" y="1572840"/>
            <a:ext cx="542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EXEMPLO EM JULIA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7"/>
          <p:cNvSpPr/>
          <p:nvPr/>
        </p:nvSpPr>
        <p:spPr>
          <a:xfrm>
            <a:off x="6172200" y="1892880"/>
            <a:ext cx="5513400" cy="1828440"/>
          </a:xfrm>
          <a:prstGeom prst="roundRect">
            <a:avLst>
              <a:gd name="adj" fmla="val 3000"/>
            </a:avLst>
          </a:prstGeom>
          <a:solidFill>
            <a:srgbClr val="12233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 8"/>
          <p:cNvSpPr/>
          <p:nvPr/>
        </p:nvSpPr>
        <p:spPr>
          <a:xfrm>
            <a:off x="6464880" y="2075760"/>
            <a:ext cx="4928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x = </a:t>
            </a: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10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y = x + z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9"/>
          <p:cNvSpPr/>
          <p:nvPr/>
        </p:nvSpPr>
        <p:spPr>
          <a:xfrm>
            <a:off x="502920" y="3904560"/>
            <a:ext cx="5348880" cy="2514240"/>
          </a:xfrm>
          <a:prstGeom prst="roundRect">
            <a:avLst>
              <a:gd name="adj" fmla="val 3273"/>
            </a:avLst>
          </a:prstGeom>
          <a:solidFill>
            <a:srgbClr val="edf4f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 10"/>
          <p:cNvSpPr/>
          <p:nvPr/>
        </p:nvSpPr>
        <p:spPr>
          <a:xfrm>
            <a:off x="758880" y="4050720"/>
            <a:ext cx="483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ASPECTO QUALITATIVO NA ANÁLISE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1"/>
          <p:cNvSpPr/>
          <p:nvPr/>
        </p:nvSpPr>
        <p:spPr>
          <a:xfrm>
            <a:off x="758880" y="4380120"/>
            <a:ext cx="483696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Feedback como informação para reconstrução.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Feedback visual/textual deve orientar interpretação, não apenas corrigir.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Incluir revisão, depuração e reconstrução.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Respostas idiossincráticas também revelam modos de pensar.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2"/>
          <p:cNvSpPr/>
          <p:nvPr/>
        </p:nvSpPr>
        <p:spPr>
          <a:xfrm>
            <a:off x="6172200" y="3904560"/>
            <a:ext cx="5513400" cy="2514240"/>
          </a:xfrm>
          <a:prstGeom prst="roundRect">
            <a:avLst>
              <a:gd name="adj" fmla="val 3273"/>
            </a:avLst>
          </a:prstGeom>
          <a:solidFill>
            <a:srgbClr val="fbf1e6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 13"/>
          <p:cNvSpPr/>
          <p:nvPr/>
        </p:nvSpPr>
        <p:spPr>
          <a:xfrm>
            <a:off x="6428160" y="4050720"/>
            <a:ext cx="500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b8701f"/>
                </a:solidFill>
                <a:effectLst/>
                <a:uFillTx/>
                <a:latin typeface="Calibri"/>
                <a:ea typeface="Calibri"/>
              </a:rPr>
              <a:t>IMPORTÂNCIA NA APRENDIZAGEM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4"/>
          <p:cNvSpPr/>
          <p:nvPr/>
        </p:nvSpPr>
        <p:spPr>
          <a:xfrm>
            <a:off x="6428160" y="4380120"/>
            <a:ext cx="500148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erro revela dependências ausentes e ajuda a discutir a estrutura necessária para o modelo funcionar.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5"/>
          <p:cNvSpPr/>
          <p:nvPr/>
        </p:nvSpPr>
        <p:spPr>
          <a:xfrm>
            <a:off x="6428160" y="5523120"/>
            <a:ext cx="500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Critérios recorrentes: representação, manipulação, feedback, investigação, transnumeração, reflexão metaconceitual e limites do modelo.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6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7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19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0"/>
          <p:cNvSpPr/>
          <p:nvPr/>
        </p:nvSpPr>
        <p:spPr>
          <a:xfrm>
            <a:off x="502920" y="438840"/>
            <a:ext cx="712800" cy="71280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6" name="Text 1"/>
          <p:cNvSpPr/>
          <p:nvPr/>
        </p:nvSpPr>
        <p:spPr>
          <a:xfrm>
            <a:off x="502920" y="4388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2233b"/>
                </a:solidFill>
                <a:effectLst/>
                <a:uFillTx/>
                <a:latin typeface="Cambria"/>
                <a:ea typeface="Cambria"/>
              </a:rPr>
              <a:t>1.10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"/>
          <p:cNvSpPr/>
          <p:nvPr/>
        </p:nvSpPr>
        <p:spPr>
          <a:xfrm>
            <a:off x="1508760" y="384120"/>
            <a:ext cx="1017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Como avaliar a primeira experiência com Pluto?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3"/>
          <p:cNvSpPr/>
          <p:nvPr/>
        </p:nvSpPr>
        <p:spPr>
          <a:xfrm>
            <a:off x="502920" y="1572840"/>
            <a:ext cx="5348880" cy="2148480"/>
          </a:xfrm>
          <a:prstGeom prst="roundRect">
            <a:avLst>
              <a:gd name="adj" fmla="val 3830"/>
            </a:avLst>
          </a:prstGeom>
          <a:solidFill>
            <a:srgbClr val="f5f7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9" name="Text 4"/>
          <p:cNvSpPr/>
          <p:nvPr/>
        </p:nvSpPr>
        <p:spPr>
          <a:xfrm>
            <a:off x="777240" y="1755720"/>
            <a:ext cx="4800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TAREFA BREVE NO PLUTO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5"/>
          <p:cNvSpPr/>
          <p:nvPr/>
        </p:nvSpPr>
        <p:spPr>
          <a:xfrm>
            <a:off x="777240" y="2139840"/>
            <a:ext cx="4800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Peça um registro curto.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Liste o que ficou visível.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1001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Classifique uma dificuldade como dado, regra ou saída.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6"/>
          <p:cNvSpPr/>
          <p:nvPr/>
        </p:nvSpPr>
        <p:spPr>
          <a:xfrm>
            <a:off x="6217920" y="1572840"/>
            <a:ext cx="542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EXEMPLO EM JULIA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7"/>
          <p:cNvSpPr/>
          <p:nvPr/>
        </p:nvSpPr>
        <p:spPr>
          <a:xfrm>
            <a:off x="6172200" y="1892880"/>
            <a:ext cx="5513400" cy="1828440"/>
          </a:xfrm>
          <a:prstGeom prst="roundRect">
            <a:avLst>
              <a:gd name="adj" fmla="val 3000"/>
            </a:avLst>
          </a:prstGeom>
          <a:solidFill>
            <a:srgbClr val="12233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3" name="Text 8"/>
          <p:cNvSpPr/>
          <p:nvPr/>
        </p:nvSpPr>
        <p:spPr>
          <a:xfrm>
            <a:off x="6464880" y="2075760"/>
            <a:ext cx="4928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reflexao = </a:t>
            </a:r>
            <a:r>
              <a:rPr b="0" lang="en-US" sz="1500" strike="noStrike" u="none">
                <a:solidFill>
                  <a:srgbClr val="7fd1c0"/>
                </a:solidFill>
                <a:effectLst/>
                <a:uFillTx/>
                <a:latin typeface="Courier New"/>
                <a:ea typeface="Courier New"/>
              </a:rPr>
              <a:t>"Expliquei a relação entre dados e saída"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0ad5f"/>
                </a:solidFill>
                <a:effectLst/>
                <a:uFillTx/>
                <a:latin typeface="Courier New"/>
                <a:ea typeface="Courier New"/>
              </a:rPr>
              <a:t>length</a:t>
            </a:r>
            <a:r>
              <a:rPr b="0" lang="en-US" sz="15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(reflexao)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9"/>
          <p:cNvSpPr/>
          <p:nvPr/>
        </p:nvSpPr>
        <p:spPr>
          <a:xfrm>
            <a:off x="502920" y="3904560"/>
            <a:ext cx="5348880" cy="2514240"/>
          </a:xfrm>
          <a:prstGeom prst="roundRect">
            <a:avLst>
              <a:gd name="adj" fmla="val 3273"/>
            </a:avLst>
          </a:prstGeom>
          <a:solidFill>
            <a:srgbClr val="edf4f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5" name="Text 10"/>
          <p:cNvSpPr/>
          <p:nvPr/>
        </p:nvSpPr>
        <p:spPr>
          <a:xfrm>
            <a:off x="758880" y="4050720"/>
            <a:ext cx="483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ASPECTO QUALITATIVO NA ANÁLISE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1"/>
          <p:cNvSpPr/>
          <p:nvPr/>
        </p:nvSpPr>
        <p:spPr>
          <a:xfrm>
            <a:off x="758880" y="4380120"/>
            <a:ext cx="483696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Reflexão metaconceitual sobre o percurso.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Avaliar o percurso de pensamento, não apenas o código final.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percurso da tarefa revela mudanças no discurso e na ação.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5000"/>
              </a:lnSpc>
              <a:spcAft>
                <a:spcPts val="4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Atividades planejadas desenvolvem representação e pensamento de ordem superior.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2"/>
          <p:cNvSpPr/>
          <p:nvPr/>
        </p:nvSpPr>
        <p:spPr>
          <a:xfrm>
            <a:off x="6172200" y="3904560"/>
            <a:ext cx="5513400" cy="2514240"/>
          </a:xfrm>
          <a:prstGeom prst="roundRect">
            <a:avLst>
              <a:gd name="adj" fmla="val 3273"/>
            </a:avLst>
          </a:prstGeom>
          <a:solidFill>
            <a:srgbClr val="fbf1e6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44546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8" name="Text 13"/>
          <p:cNvSpPr/>
          <p:nvPr/>
        </p:nvSpPr>
        <p:spPr>
          <a:xfrm>
            <a:off x="6428160" y="4050720"/>
            <a:ext cx="500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9" strike="noStrike" u="none">
                <a:solidFill>
                  <a:srgbClr val="b8701f"/>
                </a:solidFill>
                <a:effectLst/>
                <a:uFillTx/>
                <a:latin typeface="Calibri"/>
                <a:ea typeface="Calibri"/>
              </a:rPr>
              <a:t>IMPORTÂNCIA NA APRENDIZAGEM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4"/>
          <p:cNvSpPr/>
          <p:nvPr/>
        </p:nvSpPr>
        <p:spPr>
          <a:xfrm>
            <a:off x="6428160" y="4380120"/>
            <a:ext cx="500148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avaliação inicial observa como o estudante descreve e reorganiza a tarefa, não apenas se o código executou.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5"/>
          <p:cNvSpPr/>
          <p:nvPr/>
        </p:nvSpPr>
        <p:spPr>
          <a:xfrm>
            <a:off x="6428160" y="5523120"/>
            <a:ext cx="500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Critérios recorrentes: representação, manipulação, feedback, investigação, transnumeração, reflexão metaconceitual e limites do modelo.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6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7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496af"/>
                </a:solidFill>
                <a:effectLst/>
                <a:uFillTx/>
                <a:latin typeface="Calibri"/>
                <a:ea typeface="Calibri"/>
              </a:rPr>
              <a:t>20 / 21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0"/>
          <p:cNvSpPr/>
          <p:nvPr/>
        </p:nvSpPr>
        <p:spPr>
          <a:xfrm>
            <a:off x="10362960" y="-914400"/>
            <a:ext cx="2925720" cy="2925720"/>
          </a:xfrm>
          <a:prstGeom prst="ellipse">
            <a:avLst/>
          </a:prstGeom>
          <a:solidFill>
            <a:srgbClr val="213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4" name="Shape 1"/>
          <p:cNvSpPr/>
          <p:nvPr/>
        </p:nvSpPr>
        <p:spPr>
          <a:xfrm>
            <a:off x="-1097280" y="4846320"/>
            <a:ext cx="2377080" cy="2377080"/>
          </a:xfrm>
          <a:prstGeom prst="ellipse">
            <a:avLst/>
          </a:prstGeom>
          <a:solidFill>
            <a:srgbClr val="1730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5" name="Shape 2"/>
          <p:cNvSpPr/>
          <p:nvPr/>
        </p:nvSpPr>
        <p:spPr>
          <a:xfrm>
            <a:off x="822960" y="685800"/>
            <a:ext cx="822600" cy="82260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16" name="Image 0" descr="/home/claude/work/aulas1_9/icons/flag_white.png"/>
          <p:cNvPicPr/>
          <p:nvPr/>
        </p:nvPicPr>
        <p:blipFill>
          <a:blip r:embed="rId1"/>
          <a:stretch/>
        </p:blipFill>
        <p:spPr>
          <a:xfrm>
            <a:off x="938160" y="801000"/>
            <a:ext cx="592200" cy="59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Text 3"/>
          <p:cNvSpPr/>
          <p:nvPr/>
        </p:nvSpPr>
        <p:spPr>
          <a:xfrm>
            <a:off x="1920240" y="86868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SÍNTESE DA AULA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4"/>
          <p:cNvSpPr/>
          <p:nvPr/>
        </p:nvSpPr>
        <p:spPr>
          <a:xfrm>
            <a:off x="822960" y="16916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Do computar ao pensar computacionalmente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5"/>
          <p:cNvSpPr/>
          <p:nvPr/>
        </p:nvSpPr>
        <p:spPr>
          <a:xfrm>
            <a:off x="822960" y="2468880"/>
            <a:ext cx="9692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c9d3df"/>
                </a:solidFill>
                <a:effectLst/>
                <a:uFillTx/>
                <a:latin typeface="Calibri"/>
                <a:ea typeface="Calibri"/>
              </a:rPr>
              <a:t>O Pensamento Computacional é formular e resolver problemas com os quatro pilares — decomposição, padrões, abstração e algoritmos — usando o código como meio de tornar o raciocínio testável, não como fim em si mesmo.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6"/>
          <p:cNvSpPr/>
          <p:nvPr/>
        </p:nvSpPr>
        <p:spPr>
          <a:xfrm>
            <a:off x="822960" y="3657600"/>
            <a:ext cx="10515240" cy="1234080"/>
          </a:xfrm>
          <a:prstGeom prst="roundRect">
            <a:avLst>
              <a:gd name="adj" fmla="val 6667"/>
            </a:avLst>
          </a:prstGeom>
          <a:solidFill>
            <a:srgbClr val="1830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 7"/>
          <p:cNvSpPr/>
          <p:nvPr/>
        </p:nvSpPr>
        <p:spPr>
          <a:xfrm>
            <a:off x="1143000" y="3840480"/>
            <a:ext cx="9875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5000"/>
              </a:lnSpc>
              <a:spcAft>
                <a:spcPts val="1001"/>
              </a:spcAft>
              <a:buClr>
                <a:srgbClr val="dce4e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dce4ee"/>
                </a:solidFill>
                <a:effectLst/>
                <a:uFillTx/>
                <a:latin typeface="Calibri"/>
                <a:ea typeface="Calibri"/>
              </a:rPr>
              <a:t>As 10 tarefas do Bloco 1 usaram Julia e Pluto para tornar visíveis cálculo, variáveis, coleções, funções, decisões e erros.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5000"/>
              </a:lnSpc>
              <a:spcAft>
                <a:spcPts val="1001"/>
              </a:spcAft>
              <a:buClr>
                <a:srgbClr val="dce4e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dce4ee"/>
                </a:solidFill>
                <a:effectLst/>
                <a:uFillTx/>
                <a:latin typeface="Calibri"/>
                <a:ea typeface="Calibri"/>
              </a:rPr>
              <a:t>Em cada tarefa, a pergunta orienta a leitura; o código é o meio de discutir a relação conceitual, não o objetivo final.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8"/>
          <p:cNvSpPr/>
          <p:nvPr/>
        </p:nvSpPr>
        <p:spPr>
          <a:xfrm>
            <a:off x="822960" y="5166360"/>
            <a:ext cx="10515240" cy="1051200"/>
          </a:xfrm>
          <a:prstGeom prst="roundRect">
            <a:avLst>
              <a:gd name="adj" fmla="val 7826"/>
            </a:avLst>
          </a:prstGeom>
          <a:solidFill>
            <a:srgbClr val="1b2e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 9"/>
          <p:cNvSpPr/>
          <p:nvPr/>
        </p:nvSpPr>
        <p:spPr>
          <a:xfrm>
            <a:off x="1143000" y="5166360"/>
            <a:ext cx="23770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8fa3be"/>
                </a:solidFill>
                <a:effectLst/>
                <a:uFillTx/>
                <a:latin typeface="Calibri"/>
                <a:ea typeface="Calibri"/>
              </a:rPr>
              <a:t>A SEGUIR — AULA 2</a:t>
            </a:r>
            <a:endParaRPr b="0" lang="pt-BR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0"/>
          <p:cNvSpPr/>
          <p:nvPr/>
        </p:nvSpPr>
        <p:spPr>
          <a:xfrm>
            <a:off x="2743200" y="5166360"/>
            <a:ext cx="66747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Pensamento Indutivo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1"/>
          <p:cNvSpPr/>
          <p:nvPr/>
        </p:nvSpPr>
        <p:spPr>
          <a:xfrm>
            <a:off x="10378440" y="5394960"/>
            <a:ext cx="548280" cy="54828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26" name="Image 1" descr="/home/claude/work/aulas1_9/icons/arrow_white.png"/>
          <p:cNvPicPr/>
          <p:nvPr/>
        </p:nvPicPr>
        <p:blipFill>
          <a:blip r:embed="rId2"/>
          <a:stretch/>
        </p:blipFill>
        <p:spPr>
          <a:xfrm>
            <a:off x="10455120" y="547164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Text 12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e93ae"/>
                </a:solidFill>
                <a:effectLst/>
                <a:uFillTx/>
                <a:latin typeface="Calibri"/>
                <a:ea typeface="Calibri"/>
              </a:rPr>
              <a:t>Aula 1 · Introdução à Computação e ao Pensamento Computacional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3"/>
          <p:cNvSpPr/>
          <p:nvPr/>
        </p:nvSpPr>
        <p:spPr>
          <a:xfrm>
            <a:off x="10820160" y="647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e93ae"/>
                </a:solidFill>
                <a:effectLst/>
                <a:uFillTx/>
                <a:latin typeface="Calibri"/>
                <a:ea typeface="Calibri"/>
              </a:rPr>
              <a:t>21 / 21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2026-08-20T20:02:35Z</dcterms:created>
  <dc:creator>PptxGenJS</dc:creator>
  <dc:description/>
  <dc:language>pt-BR</dc:language>
  <cp:lastModifiedBy/>
  <dcterms:modified xsi:type="dcterms:W3CDTF">2026-08-25T18:25:31Z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