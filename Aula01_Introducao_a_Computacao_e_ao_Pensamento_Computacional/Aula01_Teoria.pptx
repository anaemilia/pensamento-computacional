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-914400"/>
            <a:ext cx="2926080" cy="2926080"/>
          </a:xfrm>
          <a:prstGeom prst="ellipse">
            <a:avLst/>
          </a:prstGeom>
          <a:solidFill>
            <a:srgbClr val="213E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4846320"/>
            <a:ext cx="2377440" cy="2377440"/>
          </a:xfrm>
          <a:prstGeom prst="ellipse">
            <a:avLst/>
          </a:prstGeom>
          <a:solidFill>
            <a:srgbClr val="17304E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1 DE 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561320" y="502920"/>
            <a:ext cx="914400" cy="9144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6" name="Image 0" descr="/home/claude/work/aulas1_9/icons/questi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9336" y="630936"/>
            <a:ext cx="658368" cy="6583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286000"/>
            <a:ext cx="9784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à Computação e ao Pensamento Computacional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37490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aula por perguntas: Julia + Pluto em Pensamento Computacional — PROFCOMP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4846320"/>
            <a:ext cx="8778240" cy="868680"/>
          </a:xfrm>
          <a:prstGeom prst="roundRect">
            <a:avLst>
              <a:gd name="adj" fmla="val 9474"/>
            </a:avLst>
          </a:prstGeom>
          <a:solidFill>
            <a:srgbClr val="18304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097280" y="4846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ferramenta não é o centro. A tarefa é o centro.”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lis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por perguntas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3716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slides organizados pela ementa: 9 blocos × 10 tarefas. Cada tarefa articula código, representação, modelagem e critérios qualitativos.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42316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" y="2560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2296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temáticos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160520" y="242316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34840" y="2560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44348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por bloco, em formato de pergunta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772400" y="242316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046720" y="2560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0467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no total do curso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4160520"/>
            <a:ext cx="10241280" cy="1417320"/>
          </a:xfrm>
          <a:prstGeom prst="roundRect">
            <a:avLst>
              <a:gd name="adj" fmla="val 5806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22960" y="43159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ANÁLISE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4645152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 do GT (grupo de trabalho) sobre a disciplina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de Queiroz — sobre representações e aprendizagem de conceitos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 — sobre organização e representação de dados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0241280" cy="594360"/>
          </a:xfrm>
          <a:prstGeom prst="roundRect">
            <a:avLst>
              <a:gd name="adj" fmla="val 13846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" y="571500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ferramenta não é o centro. A tarefa é o centro.”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Quais assuntos da ementa orientam a sequência?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1B3A5C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95528" y="160020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955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95528" y="216712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Computação e ao Pensamento Computacional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95528" y="2511552"/>
            <a:ext cx="3011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AULA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8160" y="141732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29328" y="160020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5293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29328" y="216712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indutivo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61960" y="141732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8263128" y="160020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2631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63128" y="216712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dedutivo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94360" y="307848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795528" y="326136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95528" y="3261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95528" y="382828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e algoritmos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28160" y="307848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4529328" y="326136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4529328" y="3261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529328" y="382828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da representação de processos e dados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061960" y="307848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8263128" y="326136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263128" y="3261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263128" y="382828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construção de algoritmos: decomposição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94360" y="473964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95528" y="492252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95528" y="4922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795528" y="548944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construção de algoritmos: generalização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328160" y="473964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4529328" y="492252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4529328" y="4922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529328" y="548944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construção de algoritmos: transformação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061960" y="473964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8263128" y="492252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8263128" y="4922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8263128" y="548944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Noções dos limites da Computação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548640" y="63093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bloco contém 10 tarefas em Pluto, sempre em formato de pergunta.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77240" y="17465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7724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13716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Situar a Computação como ciência do processamento de informação.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3716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217920" y="17465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1792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0" y="13716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a origem histórica do Pensamento Computacional (PC).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7432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777240" y="31181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7724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7432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“programar” de “pensar computacionalmente”.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989320" y="27432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6217920" y="31181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21792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0" y="27432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os quatro pilares do PC: decomposição, padrões, abstração e algoritmos.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1148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77240" y="44897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7724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417320" y="41148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PC à BNCC e à formação de professores no PROFCOMP.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989320" y="41148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6217920" y="44897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621792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58000" y="41148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Preparar-se para as 10 tarefas práticas em Julia/Pluto do Bloco 1.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48640" y="5458968"/>
            <a:ext cx="10561320" cy="457200"/>
          </a:xfrm>
          <a:prstGeom prst="roundRect">
            <a:avLst>
              <a:gd name="adj" fmla="val 18000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822960" y="54589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de 15  ·  2 horas  ·  Introdução à Computação e ao Pensamento Computacional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histo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Papert a Wing: uma ideia com mais de 40 anos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120640" cy="4206240"/>
          </a:xfrm>
          <a:prstGeom prst="roundRect">
            <a:avLst>
              <a:gd name="adj" fmla="val 195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8680" y="17830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Seymour Papert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97180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“Mindstorms”, Papert propõe que programar pode ser um modo de “pensar sobre o pensar”.</a:t>
            </a:r>
            <a:endParaRPr lang="en-US" sz="13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não aprende só a programar: aprende a testar e depurar as próprias ideias no computador.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989320" y="1508760"/>
            <a:ext cx="5120640" cy="4206240"/>
          </a:xfrm>
          <a:prstGeom prst="roundRect">
            <a:avLst>
              <a:gd name="adj" fmla="val 1957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309360" y="17830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309360" y="2377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Jeannette Wing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309360" y="297180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 recoloca o termo no centro do debate educacional no artigo “Computational Thinking” (CACM).</a:t>
            </a:r>
            <a:endParaRPr lang="en-US" sz="13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 que formular e resolver problemas com conceitos da Ciência da Computação é uma habilidade para todos.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Papert, S. (1980). Mindstorms.  ·  Wing, J. M. (2006). Computational thinking. Communications of the ACM, 49(3).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quot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definição de referência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0561320" cy="1965960"/>
          </a:xfrm>
          <a:prstGeom prst="roundRect">
            <a:avLst>
              <a:gd name="adj" fmla="val 4186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1691640"/>
            <a:ext cx="9829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“Pensamento computacional é o processo de pensamento envolvido em formular um problema e expressar sua solução de forma que ela possa ser executada por um agente que processa informação.”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3063240"/>
            <a:ext cx="9829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Jeannette Wing (2006), tradução livre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79476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04672" y="4023360"/>
            <a:ext cx="438912" cy="43891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10" name="Image 1" descr="/home/claude/work/aulas1_9/icons/puzz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20" y="4084808"/>
            <a:ext cx="316017" cy="31601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672" y="4617720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“agente” pode ser uma pessoa, um computador, ou os dois.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206240" y="379476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4462272" y="4023360"/>
            <a:ext cx="438912" cy="43891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14" name="Image 2" descr="/home/claude/work/aulas1_9/icons/puzz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20" y="4084808"/>
            <a:ext cx="316017" cy="31601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62272" y="4617720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ênfase está em formular o problema — não apenas em codificar a solução.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863840" y="379476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119872" y="4023360"/>
            <a:ext cx="438912" cy="43891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18" name="Image 3" descr="/home/claude/work/aulas1_9/icons/puzz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320" y="4084808"/>
            <a:ext cx="316017" cy="31601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119872" y="4617720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precisa ser expressa de forma efetiva, passível de execução e de verificação.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60350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Wing, J. M. (2006). Computational thinking. Communications of the ACM, 49(3), 33–35.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laye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pilares do Pensamento Computacional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22402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9" name="Image 1" descr="/home/claude/work/aulas1_9/icons/puzz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689" y="1853489"/>
            <a:ext cx="362102" cy="3621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772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Decomposição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um problema complexo em partes menores e mais fáceis de resolver.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918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5204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35204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9834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16" name="Image 2" descr="/home/claude/work/aulas1_9/icons/lis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3889" y="1853489"/>
            <a:ext cx="362102" cy="3621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204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Reconhecimento de padrões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5204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semelhanças e regularidades entre problemas ou dentro de um mesmo problema.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0350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6263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77266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23" name="Image 3" descr="/home/claude/work/aulas1_9/icons/compas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7089" y="1853489"/>
            <a:ext cx="362102" cy="36210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2636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636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o que é essencial, ignorando detalhes irrelevantes para a solução.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7782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90068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90068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104698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0" name="Image 4" descr="/home/claude/work/aulas1_9/icons/cod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0289" y="1853489"/>
            <a:ext cx="362102" cy="36210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0068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90068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Projetar uma sequência de passos lógicos e replicáveis até a solução.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548640" y="5943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BNCC Computação — eixo Pensamento Computacional; Wing (2006).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balanc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Computacional não é apenas programar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120640" cy="3566160"/>
          </a:xfrm>
          <a:prstGeom prst="roundRect">
            <a:avLst>
              <a:gd name="adj" fmla="val 230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7" name="Image 1" descr="/home/claude/work/aulas1_9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90" y="190561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28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 (codificar)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868680" y="265176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uma solução já pensada para uma linguagem de programação.</a:t>
            </a:r>
            <a:endParaRPr lang="en-US" sz="1400" dirty="0"/>
          </a:p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na sintaxe e na execução correta do código.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989320" y="1508760"/>
            <a:ext cx="5120640" cy="3566160"/>
          </a:xfrm>
          <a:prstGeom prst="roundRect">
            <a:avLst>
              <a:gd name="adj" fmla="val 230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6309360" y="1828800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12" name="Image 2" descr="/home/claude/work/aulas1_9/icons/brai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170" y="190561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1828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Pensar computacionalmente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309360" y="265176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o problema, modelar dados e processos, avaliar soluções.</a:t>
            </a:r>
            <a:endParaRPr lang="en-US" sz="1400" dirty="0"/>
          </a:p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é o meio de tornar o raciocínio testável — “a ferramenta não é o centro, a tarefa é o centro”.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5257800"/>
            <a:ext cx="10561320" cy="777240"/>
          </a:xfrm>
          <a:prstGeom prst="roundRect">
            <a:avLst>
              <a:gd name="adj" fmla="val 10588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1"/>
          <p:cNvSpPr/>
          <p:nvPr/>
        </p:nvSpPr>
        <p:spPr>
          <a:xfrm>
            <a:off x="822960" y="52578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Controvérsia recorrente na literatura: PC é “mais do que programar” (ver Aula 1 · Síntese, item 1.2).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3" name="Image 0" descr="/home/claude/work/aulas1_9/icons/grad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 para quem forma professores?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120640" cy="3931920"/>
          </a:xfrm>
          <a:prstGeom prst="roundRect">
            <a:avLst>
              <a:gd name="adj" fmla="val 209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868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BNCC Computação — três eixos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68680" y="246888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08760" y="2468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" y="333756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686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08760" y="3337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Mundo Digital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68680" y="420624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68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508760" y="4206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Digital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989320" y="1508760"/>
            <a:ext cx="5120640" cy="3931920"/>
          </a:xfrm>
          <a:prstGeom prst="roundRect">
            <a:avLst>
              <a:gd name="adj" fmla="val 2093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30936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PROFCOMP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309360" y="2468880"/>
            <a:ext cx="4480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 profissional que forma professores para ensinar Computação na Educação Básica.</a:t>
            </a:r>
            <a:endParaRPr lang="en-US" sz="1400" dirty="0"/>
          </a:p>
          <a:p>
            <a:pPr marL="177800" indent="-1778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os fundamentos do PC é pré-requisito para desenhar boas tarefas — como as que faremos com Julia e Pluto.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5715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BNCC Computação (2022)  ·  PROFCOMP — Mestrado Profissional em Computação em Rede Nacional.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-914400"/>
            <a:ext cx="2926080" cy="2926080"/>
          </a:xfrm>
          <a:prstGeom prst="ellipse">
            <a:avLst/>
          </a:prstGeom>
          <a:solidFill>
            <a:srgbClr val="213E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4846320"/>
            <a:ext cx="2377440" cy="2377440"/>
          </a:xfrm>
          <a:prstGeom prst="ellipse">
            <a:avLst/>
          </a:prstGeom>
          <a:solidFill>
            <a:srgbClr val="17304E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INTRODUÇÃO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051560"/>
            <a:ext cx="868680" cy="86868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051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65960" y="105156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à Computação e ao Pensamento Computacional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880360"/>
            <a:ext cx="10515600" cy="1691640"/>
          </a:xfrm>
          <a:prstGeom prst="roundRect">
            <a:avLst>
              <a:gd name="adj" fmla="val 4865"/>
            </a:avLst>
          </a:prstGeom>
          <a:solidFill>
            <a:srgbClr val="18304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43000" y="3108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3401568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“computar” em uma prática de representar, testar e explicar problemas?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48463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computar quando usamos Julia no Pluto?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uma expressão simples.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entrada, processamento e saída.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o que o computador fez e o que ele não entendeu.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como mediação entre cálculo e significado.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Deslocar foco da ferramenta para a tarefa.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tarefa separa cálculo de compreensão: o computador executa operações, mas a turma interpreta o sentido da ação.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variável transforma um número em conceito?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valores com significado.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o nome ou o valor.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como o nome orienta a leitura do modelo.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idade_futura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como representação de grandeza.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deixa de ser apenas armazenamento e passa a indicar uma relação conceitual entre valor, papel e contexto.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lista torna visível uma coleção de casos?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lista de valores.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quantidade e ordem.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Pergunte o que muda se a ordem mudar.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Coleção, ordem e índice como representação.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aproxima teoria de conjuntos e estrutura computacional: valores aparecem como coleção e como sequência indexada.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Pluto ajuda a ver dependências?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as células em dados, regra e saída.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Mude um valor inicial.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 atualização das células dependentes.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Manipulação de parâmetros e feedback imediato.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interação consciente com a forma favorece reflexão conceitual.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reatividade torna explícita a dependência entre variáveis, permitindo comparar estados do mesmo modelo.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texto e código podem coexistir na mesma explicação?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uma célula Markdown.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valores calculados no texto.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a turma explique a saída.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"""A média foi **$media**."""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representações: linguagem natural e cálculo.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integrado ao código aproxima cálculo, comunicação e justificativa conceitual.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quando a saída vira tabela?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quadrados.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Agrupe entrada e saída.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a correspondência em pares.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Transnumeração: lista para pares interpretáveis.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de pares faz aparecer a relação funcional que ficaria escondida em uma lista de resultados.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função sintetiza uma ideia computacional?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uma conta repetida em função.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diferentes entradas.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os resultados.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Generalização inicial e relação entrada–saída.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introduz a ideia de regra reutilizável e permite discutir domínio, imagem e transformação.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computador representa decisões?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uma condição simples.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dois casos.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a regra antes de executar.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"aprovado"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regra e classificação.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visual/textual deve orientar interpretação, não apenas corrigir.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computacional mostra que regras precisam ser formuladas, testadas e interpretadas.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erro pode virar dado de aprendizagem?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uma variável inexistente.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 mensagem de erro.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que relação estava faltando.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como informação para reconstrução.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visual/textual deve orientar interpretação, não apenas corrigir.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idiossincráticas também revelam modos de pensar.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revela dependências ausentes e ajuda a discutir a estrutura necessária para o modelo funcionar.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a primeira experiência com Pluto?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um registro curto.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o que ficou visível.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uma dificuldade como dado, regra ou saída.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reflexao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"Expliquei a relação entre dados e saída"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reflexao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metaconceitual sobre o percurso.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inicial observa como o estudante descreve e reorganiza a tarefa, não apenas se o código executou.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-914400"/>
            <a:ext cx="2926080" cy="2926080"/>
          </a:xfrm>
          <a:prstGeom prst="ellipse">
            <a:avLst/>
          </a:prstGeom>
          <a:solidFill>
            <a:srgbClr val="213E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4846320"/>
            <a:ext cx="2377440" cy="2377440"/>
          </a:xfrm>
          <a:prstGeom prst="ellipse">
            <a:avLst/>
          </a:prstGeom>
          <a:solidFill>
            <a:srgbClr val="17304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/home/claude/work/aulas1_9/icons/fl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801014"/>
            <a:ext cx="592531" cy="59253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computar ao pensar computacionalmente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Pensamento Computacional é formular e resolver problemas com os quatro pilares — decomposição, padrões, abstração e algoritmos — usando o código como meio de tornar o raciocínio testável, não como fim em si mesmo.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365760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8304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143000" y="38404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10 tarefas do Bloco 1 usaram Julia e Pluto para tornar visíveis cálculo, variáveis, coleções, funções, decisões e erros.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tarefa, a pergunta orienta a leitura; o código é o meio de discutir a relação conceitual, não o objetivo final.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" y="516636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1B2E4A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43000" y="516636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2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743200" y="516636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Indutivo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0378440" y="5394960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15" name="Image 1" descr="/home/claude/work/aulas1_9/icons/arrow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250" y="5471770"/>
            <a:ext cx="395021" cy="39502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2026-08-20T20:02:35Z</dcterms:created>
  <dcterms:modified xsi:type="dcterms:W3CDTF">2026-08-20T20:02:35Z</dcterms:modified>
</cp:coreProperties>
</file>