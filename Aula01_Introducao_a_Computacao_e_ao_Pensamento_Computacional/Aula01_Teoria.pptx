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2.png"/><Relationship Id="rId4" Type="http://schemas.openxmlformats.org/officeDocument/2006/relationships/image" Target="../media/image-6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-914400"/>
            <a:ext cx="2926080" cy="2926080"/>
          </a:xfrm>
          <a:prstGeom prst="ellipse">
            <a:avLst/>
          </a:prstGeom>
          <a:solidFill>
            <a:srgbClr val="213E60"/>
          </a:solidFill>
          <a:ln/>
        </p:spPr>
      </p:sp>
      <p:sp>
        <p:nvSpPr>
          <p:cNvPr id="3" name="Shape 1"/>
          <p:cNvSpPr/>
          <p:nvPr/>
        </p:nvSpPr>
        <p:spPr>
          <a:xfrm>
            <a:off x="-1097280" y="4846320"/>
            <a:ext cx="2377440" cy="2377440"/>
          </a:xfrm>
          <a:prstGeom prst="ellipse">
            <a:avLst/>
          </a:prstGeom>
          <a:solidFill>
            <a:srgbClr val="17304E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COMPUTACIONAL · AULA 1 DE 15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561320" y="502920"/>
            <a:ext cx="914400" cy="91440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6" name="Image 0" descr="/home/claude/work/aulas1_9/icons/question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9336" y="630936"/>
            <a:ext cx="658368" cy="6583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286000"/>
            <a:ext cx="9784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Introdução à Computação e ao Pensamento Computacional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822960" y="374904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C9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aula por perguntas: Julia + Pluto em Pensamento Computacional — PROFCOMP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822960" y="4846320"/>
            <a:ext cx="8778240" cy="868680"/>
          </a:xfrm>
          <a:prstGeom prst="roundRect">
            <a:avLst>
              <a:gd name="adj" fmla="val 9474"/>
            </a:avLst>
          </a:prstGeom>
          <a:solidFill>
            <a:srgbClr val="18304F"/>
          </a:solidFill>
          <a:ln/>
        </p:spPr>
      </p:sp>
      <p:sp>
        <p:nvSpPr>
          <p:cNvPr id="10" name="Text 7"/>
          <p:cNvSpPr/>
          <p:nvPr/>
        </p:nvSpPr>
        <p:spPr>
          <a:xfrm>
            <a:off x="1097280" y="4846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89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ferramenta não é o centro. A tarefa é o centro.”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21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21792" cy="621792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3" name="Image 0" descr="/home/claude/work/aulas1_9/icons/lis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691" y="544251"/>
            <a:ext cx="447690" cy="44769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3891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por perguntas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37160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slides organizados pela ementa: 9 blocos × 10 tarefas. Cada tarefa articula código, representação, modelagem e critérios qualitativos.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2423160"/>
            <a:ext cx="3291840" cy="1417320"/>
          </a:xfrm>
          <a:prstGeom prst="roundRect">
            <a:avLst>
              <a:gd name="adj" fmla="val 5806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5603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9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82296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Blocos temáticos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160520" y="2423160"/>
            <a:ext cx="3291840" cy="1417320"/>
          </a:xfrm>
          <a:prstGeom prst="roundRect">
            <a:avLst>
              <a:gd name="adj" fmla="val 5806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434840" y="25603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9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443484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Tarefas por bloco, em formato de pergunta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772400" y="2423160"/>
            <a:ext cx="3291840" cy="1417320"/>
          </a:xfrm>
          <a:prstGeom prst="roundRect">
            <a:avLst>
              <a:gd name="adj" fmla="val 5806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046720" y="25603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9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</a:t>
            </a:r>
            <a:endParaRPr lang="en-US" sz="3400" dirty="0"/>
          </a:p>
        </p:txBody>
      </p:sp>
      <p:sp>
        <p:nvSpPr>
          <p:cNvPr id="14" name="Text 11"/>
          <p:cNvSpPr/>
          <p:nvPr/>
        </p:nvSpPr>
        <p:spPr>
          <a:xfrm>
            <a:off x="804672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no total do curso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48640" y="4160520"/>
            <a:ext cx="10241280" cy="1417320"/>
          </a:xfrm>
          <a:prstGeom prst="roundRect">
            <a:avLst>
              <a:gd name="adj" fmla="val 5806"/>
            </a:avLst>
          </a:prstGeom>
          <a:solidFill>
            <a:srgbClr val="EDF4F5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22960" y="431596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DE ANÁLISE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4645152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 do GT (grupo de trabalho) sobre a disciplina</a:t>
            </a:r>
            <a:endParaRPr lang="en-US" sz="1300" dirty="0"/>
          </a:p>
          <a:p>
            <a:pPr marL="177800" indent="-1778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Tese de Queiroz — sobre representações e aprendizagem de conceitos</a:t>
            </a:r>
            <a:endParaRPr lang="en-US" sz="1300" dirty="0"/>
          </a:p>
          <a:p>
            <a:pPr marL="177800" indent="-1778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 — sobre organização e representação de dados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48640" y="5715000"/>
            <a:ext cx="10241280" cy="594360"/>
          </a:xfrm>
          <a:prstGeom prst="roundRect">
            <a:avLst>
              <a:gd name="adj" fmla="val 13846"/>
            </a:avLst>
          </a:prstGeom>
          <a:solidFill>
            <a:srgbClr val="1B3A5C"/>
          </a:solidFill>
          <a:ln/>
        </p:spPr>
      </p:sp>
      <p:sp>
        <p:nvSpPr>
          <p:cNvPr id="19" name="Text 16"/>
          <p:cNvSpPr/>
          <p:nvPr/>
        </p:nvSpPr>
        <p:spPr>
          <a:xfrm>
            <a:off x="822960" y="5715000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ferramenta não é o centro. A tarefa é o centro.”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21792" cy="621792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3" name="Image 0" descr="/home/claude/work/aulas1_9/icons/m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691" y="544251"/>
            <a:ext cx="447690" cy="44769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38404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Quais assuntos da ementa orientam a sequência?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594360" y="1417320"/>
            <a:ext cx="3413760" cy="1386840"/>
          </a:xfrm>
          <a:prstGeom prst="roundRect">
            <a:avLst>
              <a:gd name="adj" fmla="val 5275"/>
            </a:avLst>
          </a:prstGeom>
          <a:solidFill>
            <a:srgbClr val="1B3A5C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95528" y="1600200"/>
            <a:ext cx="457200" cy="45720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7" name="Text 4"/>
          <p:cNvSpPr/>
          <p:nvPr/>
        </p:nvSpPr>
        <p:spPr>
          <a:xfrm>
            <a:off x="795528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95528" y="2167128"/>
            <a:ext cx="301142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 à Computação e ao Pensamento Computacional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95528" y="2511552"/>
            <a:ext cx="3011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AULA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328160" y="1417320"/>
            <a:ext cx="3413760" cy="1386840"/>
          </a:xfrm>
          <a:prstGeom prst="roundRect">
            <a:avLst>
              <a:gd name="adj" fmla="val 5275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9328" y="1600200"/>
            <a:ext cx="457200" cy="457200"/>
          </a:xfrm>
          <a:prstGeom prst="ellipse">
            <a:avLst/>
          </a:prstGeom>
          <a:solidFill>
            <a:srgbClr val="2C7A8C"/>
          </a:solidFill>
          <a:ln/>
        </p:spPr>
      </p:sp>
      <p:sp>
        <p:nvSpPr>
          <p:cNvPr id="12" name="Text 9"/>
          <p:cNvSpPr/>
          <p:nvPr/>
        </p:nvSpPr>
        <p:spPr>
          <a:xfrm>
            <a:off x="4529328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4529328" y="2167128"/>
            <a:ext cx="301142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indutivo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61960" y="1417320"/>
            <a:ext cx="3413760" cy="1386840"/>
          </a:xfrm>
          <a:prstGeom prst="roundRect">
            <a:avLst>
              <a:gd name="adj" fmla="val 5275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263128" y="1600200"/>
            <a:ext cx="457200" cy="457200"/>
          </a:xfrm>
          <a:prstGeom prst="ellipse">
            <a:avLst/>
          </a:prstGeom>
          <a:solidFill>
            <a:srgbClr val="2C7A8C"/>
          </a:solidFill>
          <a:ln/>
        </p:spPr>
      </p:sp>
      <p:sp>
        <p:nvSpPr>
          <p:cNvPr id="16" name="Text 13"/>
          <p:cNvSpPr/>
          <p:nvPr/>
        </p:nvSpPr>
        <p:spPr>
          <a:xfrm>
            <a:off x="8263128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263128" y="2167128"/>
            <a:ext cx="301142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dedutivo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94360" y="3078480"/>
            <a:ext cx="3413760" cy="1386840"/>
          </a:xfrm>
          <a:prstGeom prst="roundRect">
            <a:avLst>
              <a:gd name="adj" fmla="val 5275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795528" y="3261360"/>
            <a:ext cx="457200" cy="457200"/>
          </a:xfrm>
          <a:prstGeom prst="ellipse">
            <a:avLst/>
          </a:prstGeom>
          <a:solidFill>
            <a:srgbClr val="2C7A8C"/>
          </a:solidFill>
          <a:ln/>
        </p:spPr>
      </p:sp>
      <p:sp>
        <p:nvSpPr>
          <p:cNvPr id="20" name="Text 17"/>
          <p:cNvSpPr/>
          <p:nvPr/>
        </p:nvSpPr>
        <p:spPr>
          <a:xfrm>
            <a:off x="795528" y="3261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95528" y="3828288"/>
            <a:ext cx="301142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Problemas e algoritmos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328160" y="3078480"/>
            <a:ext cx="3413760" cy="1386840"/>
          </a:xfrm>
          <a:prstGeom prst="roundRect">
            <a:avLst>
              <a:gd name="adj" fmla="val 5275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529328" y="3261360"/>
            <a:ext cx="457200" cy="457200"/>
          </a:xfrm>
          <a:prstGeom prst="ellipse">
            <a:avLst/>
          </a:prstGeom>
          <a:solidFill>
            <a:srgbClr val="2C7A8C"/>
          </a:solidFill>
          <a:ln/>
        </p:spPr>
      </p:sp>
      <p:sp>
        <p:nvSpPr>
          <p:cNvPr id="24" name="Text 21"/>
          <p:cNvSpPr/>
          <p:nvPr/>
        </p:nvSpPr>
        <p:spPr>
          <a:xfrm>
            <a:off x="4529328" y="3261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529328" y="3828288"/>
            <a:ext cx="301142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da representação de processos e dados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8061960" y="3078480"/>
            <a:ext cx="3413760" cy="1386840"/>
          </a:xfrm>
          <a:prstGeom prst="roundRect">
            <a:avLst>
              <a:gd name="adj" fmla="val 5275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8263128" y="3261360"/>
            <a:ext cx="457200" cy="457200"/>
          </a:xfrm>
          <a:prstGeom prst="ellipse">
            <a:avLst/>
          </a:prstGeom>
          <a:solidFill>
            <a:srgbClr val="2C7A8C"/>
          </a:solidFill>
          <a:ln/>
        </p:spPr>
      </p:sp>
      <p:sp>
        <p:nvSpPr>
          <p:cNvPr id="28" name="Text 25"/>
          <p:cNvSpPr/>
          <p:nvPr/>
        </p:nvSpPr>
        <p:spPr>
          <a:xfrm>
            <a:off x="8263128" y="3261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8263128" y="3828288"/>
            <a:ext cx="301142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Técnicas de construção de algoritmos: decomposição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94360" y="4739640"/>
            <a:ext cx="3413760" cy="1386840"/>
          </a:xfrm>
          <a:prstGeom prst="roundRect">
            <a:avLst>
              <a:gd name="adj" fmla="val 5275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795528" y="4922520"/>
            <a:ext cx="457200" cy="457200"/>
          </a:xfrm>
          <a:prstGeom prst="ellipse">
            <a:avLst/>
          </a:prstGeom>
          <a:solidFill>
            <a:srgbClr val="2C7A8C"/>
          </a:solidFill>
          <a:ln/>
        </p:spPr>
      </p:sp>
      <p:sp>
        <p:nvSpPr>
          <p:cNvPr id="32" name="Text 29"/>
          <p:cNvSpPr/>
          <p:nvPr/>
        </p:nvSpPr>
        <p:spPr>
          <a:xfrm>
            <a:off x="795528" y="4922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 dirty="0"/>
          </a:p>
        </p:txBody>
      </p:sp>
      <p:sp>
        <p:nvSpPr>
          <p:cNvPr id="33" name="Text 30"/>
          <p:cNvSpPr/>
          <p:nvPr/>
        </p:nvSpPr>
        <p:spPr>
          <a:xfrm>
            <a:off x="795528" y="5489448"/>
            <a:ext cx="301142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Técnicas de construção de algoritmos: generalização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328160" y="4739640"/>
            <a:ext cx="3413760" cy="1386840"/>
          </a:xfrm>
          <a:prstGeom prst="roundRect">
            <a:avLst>
              <a:gd name="adj" fmla="val 5275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4529328" y="4922520"/>
            <a:ext cx="457200" cy="457200"/>
          </a:xfrm>
          <a:prstGeom prst="ellipse">
            <a:avLst/>
          </a:prstGeom>
          <a:solidFill>
            <a:srgbClr val="2C7A8C"/>
          </a:solidFill>
          <a:ln/>
        </p:spPr>
      </p:sp>
      <p:sp>
        <p:nvSpPr>
          <p:cNvPr id="36" name="Text 33"/>
          <p:cNvSpPr/>
          <p:nvPr/>
        </p:nvSpPr>
        <p:spPr>
          <a:xfrm>
            <a:off x="4529328" y="4922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4529328" y="5489448"/>
            <a:ext cx="301142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Técnicas de construção de algoritmos: transformação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8061960" y="4739640"/>
            <a:ext cx="3413760" cy="1386840"/>
          </a:xfrm>
          <a:prstGeom prst="roundRect">
            <a:avLst>
              <a:gd name="adj" fmla="val 5275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8263128" y="4922520"/>
            <a:ext cx="457200" cy="457200"/>
          </a:xfrm>
          <a:prstGeom prst="ellipse">
            <a:avLst/>
          </a:prstGeom>
          <a:solidFill>
            <a:srgbClr val="2C7A8C"/>
          </a:solidFill>
          <a:ln/>
        </p:spPr>
      </p:sp>
      <p:sp>
        <p:nvSpPr>
          <p:cNvPr id="40" name="Text 37"/>
          <p:cNvSpPr/>
          <p:nvPr/>
        </p:nvSpPr>
        <p:spPr>
          <a:xfrm>
            <a:off x="8263128" y="4922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500" dirty="0"/>
          </a:p>
        </p:txBody>
      </p:sp>
      <p:sp>
        <p:nvSpPr>
          <p:cNvPr id="41" name="Text 38"/>
          <p:cNvSpPr/>
          <p:nvPr/>
        </p:nvSpPr>
        <p:spPr>
          <a:xfrm>
            <a:off x="8263128" y="5489448"/>
            <a:ext cx="301142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Noções dos limites da Computação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548640" y="630936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bloco contém 10 tarefas em Pluto, sempre em formato de pergunta.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21792" cy="621792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3" name="Image 0" descr="/home/claude/work/aulas1_9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691" y="544251"/>
            <a:ext cx="447690" cy="44769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3891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esperamos desta aula?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5120640" cy="1207008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1746504"/>
            <a:ext cx="457200" cy="45720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1746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417320" y="1371600"/>
            <a:ext cx="40233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Situar a Computação como ciência do processamento de informação.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989320" y="1371600"/>
            <a:ext cx="5120640" cy="1207008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217920" y="1746504"/>
            <a:ext cx="457200" cy="45720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0" y="1746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858000" y="1371600"/>
            <a:ext cx="40233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a origem histórica do Pensamento Computacional (PC).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2743200"/>
            <a:ext cx="5120640" cy="1207008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77240" y="3118104"/>
            <a:ext cx="457200" cy="45720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3118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743200"/>
            <a:ext cx="40233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Diferenciar “programar” de “pensar computacionalmente”.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989320" y="2743200"/>
            <a:ext cx="5120640" cy="1207008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217920" y="3118104"/>
            <a:ext cx="457200" cy="45720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9" name="Text 16"/>
          <p:cNvSpPr/>
          <p:nvPr/>
        </p:nvSpPr>
        <p:spPr>
          <a:xfrm>
            <a:off x="6217920" y="3118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858000" y="2743200"/>
            <a:ext cx="40233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os quatro pilares do PC: decomposição, padrões, abstração e algoritmos.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48640" y="4114800"/>
            <a:ext cx="5120640" cy="1207008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77240" y="4489704"/>
            <a:ext cx="457200" cy="45720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44897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417320" y="4114800"/>
            <a:ext cx="40233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Relacionar o PC à BNCC e à formação de professores no PROFCOMP.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989320" y="4114800"/>
            <a:ext cx="5120640" cy="1207008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217920" y="4489704"/>
            <a:ext cx="457200" cy="45720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27" name="Text 24"/>
          <p:cNvSpPr/>
          <p:nvPr/>
        </p:nvSpPr>
        <p:spPr>
          <a:xfrm>
            <a:off x="6217920" y="44897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858000" y="4114800"/>
            <a:ext cx="40233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Preparar-se para as 10 tarefas práticas em Julia/Pluto do Bloco 1.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48640" y="5458968"/>
            <a:ext cx="10561320" cy="457200"/>
          </a:xfrm>
          <a:prstGeom prst="roundRect">
            <a:avLst>
              <a:gd name="adj" fmla="val 18000"/>
            </a:avLst>
          </a:prstGeom>
          <a:solidFill>
            <a:srgbClr val="1B3A5C"/>
          </a:solidFill>
          <a:ln/>
        </p:spPr>
      </p:sp>
      <p:sp>
        <p:nvSpPr>
          <p:cNvPr id="30" name="Text 27"/>
          <p:cNvSpPr/>
          <p:nvPr/>
        </p:nvSpPr>
        <p:spPr>
          <a:xfrm>
            <a:off x="822960" y="545896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de 15  ·  2 horas  ·  Introdução à Computação e ao Pensamento Computacional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21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21792" cy="621792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3" name="Image 0" descr="/home/claude/work/aulas1_9/icons/histor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691" y="544251"/>
            <a:ext cx="447690" cy="44769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38404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Papert a Wing: uma ideia com mais de 40 anos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120640" cy="4206240"/>
          </a:xfrm>
          <a:prstGeom prst="roundRect">
            <a:avLst>
              <a:gd name="adj" fmla="val 1957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68680" y="178308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1980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868680" y="23774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Seymour Papert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68680" y="2971800"/>
            <a:ext cx="4480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“Mindstorms”, Papert propõe que programar pode ser um modo de “pensar sobre o pensar”.</a:t>
            </a:r>
            <a:endParaRPr lang="en-US" sz="1350" dirty="0"/>
          </a:p>
          <a:p>
            <a:pPr marL="177800" indent="-1778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criança não aprende só a programar: aprende a testar e depurar as próprias ideias no computador.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989320" y="1508760"/>
            <a:ext cx="5120640" cy="4206240"/>
          </a:xfrm>
          <a:prstGeom prst="roundRect">
            <a:avLst>
              <a:gd name="adj" fmla="val 1957"/>
            </a:avLst>
          </a:prstGeom>
          <a:solidFill>
            <a:srgbClr val="1B3A5C"/>
          </a:solidFill>
          <a:ln/>
        </p:spPr>
      </p:sp>
      <p:sp>
        <p:nvSpPr>
          <p:cNvPr id="10" name="Text 7"/>
          <p:cNvSpPr/>
          <p:nvPr/>
        </p:nvSpPr>
        <p:spPr>
          <a:xfrm>
            <a:off x="6309360" y="178308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2006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6309360" y="23774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Jeannette Wing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309360" y="2971800"/>
            <a:ext cx="4480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D6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Wing recoloca o termo no centro do debate educacional no artigo “Computational Thinking” (CACM).</a:t>
            </a:r>
            <a:endParaRPr lang="en-US" sz="1350" dirty="0"/>
          </a:p>
          <a:p>
            <a:pPr marL="177800" indent="-1778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D6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Defende que formular e resolver problemas com conceitos da Ciência da Computação é uma habilidade para todos.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548640" y="59893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Papert, S. (1980). Mindstorms.  ·  Wing, J. M. (2006). Computational thinking. Communications of the ACM, 49(3).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21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21792" cy="621792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3" name="Image 0" descr="/home/claude/work/aulas1_9/icons/quot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691" y="544251"/>
            <a:ext cx="447690" cy="44769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3891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definição de referência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10561320" cy="1965960"/>
          </a:xfrm>
          <a:prstGeom prst="roundRect">
            <a:avLst>
              <a:gd name="adj" fmla="val 4186"/>
            </a:avLst>
          </a:prstGeom>
          <a:solidFill>
            <a:srgbClr val="1B3A5C"/>
          </a:solidFill>
          <a:ln/>
        </p:spPr>
      </p:sp>
      <p:sp>
        <p:nvSpPr>
          <p:cNvPr id="6" name="Text 3"/>
          <p:cNvSpPr/>
          <p:nvPr/>
        </p:nvSpPr>
        <p:spPr>
          <a:xfrm>
            <a:off x="914400" y="1691640"/>
            <a:ext cx="9829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“Pensamento computacional é o processo de pensamento envolvido em formular um problema e expressar sua solução de forma que ela possa ser executada por um agente que processa informação.”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914400" y="3063240"/>
            <a:ext cx="9829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Jeannette Wing (2006), tradução livre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3794760"/>
            <a:ext cx="3383280" cy="1737360"/>
          </a:xfrm>
          <a:prstGeom prst="roundRect">
            <a:avLst>
              <a:gd name="adj" fmla="val 4737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04672" y="4023360"/>
            <a:ext cx="438912" cy="438912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10" name="Image 1" descr="/home/claude/work/aulas1_9/icons/puzzl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120" y="4084808"/>
            <a:ext cx="316017" cy="31601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04672" y="4617720"/>
            <a:ext cx="28712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“agente” pode ser uma pessoa, um computador, ou os dois.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206240" y="3794760"/>
            <a:ext cx="3383280" cy="1737360"/>
          </a:xfrm>
          <a:prstGeom prst="roundRect">
            <a:avLst>
              <a:gd name="adj" fmla="val 4737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462272" y="4023360"/>
            <a:ext cx="438912" cy="438912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14" name="Image 2" descr="/home/claude/work/aulas1_9/icons/puzzle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3720" y="4084808"/>
            <a:ext cx="316017" cy="316017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462272" y="4617720"/>
            <a:ext cx="28712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ênfase está em formular o problema — não apenas em codificar a solução.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7863840" y="3794760"/>
            <a:ext cx="3383280" cy="1737360"/>
          </a:xfrm>
          <a:prstGeom prst="roundRect">
            <a:avLst>
              <a:gd name="adj" fmla="val 4737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119872" y="4023360"/>
            <a:ext cx="438912" cy="438912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18" name="Image 3" descr="/home/claude/work/aulas1_9/icons/puzzle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1320" y="4084808"/>
            <a:ext cx="316017" cy="316017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119872" y="4617720"/>
            <a:ext cx="28712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 precisa ser expressa de forma efetiva, passível de execução e de verificação.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548640" y="603504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Wing, J. M. (2006). Computational thinking. Communications of the ACM, 49(3), 33–35.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21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21792" cy="621792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3" name="Image 0" descr="/home/claude/work/aulas1_9/icons/layer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691" y="544251"/>
            <a:ext cx="447690" cy="44769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38404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quatro pilares do Pensamento Computacional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2514600" cy="4114800"/>
          </a:xfrm>
          <a:prstGeom prst="roundRect">
            <a:avLst>
              <a:gd name="adj" fmla="val 3273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2240280" y="1783080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9" name="Image 1" descr="/home/claude/work/aulas1_9/icons/puzzl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0689" y="1853489"/>
            <a:ext cx="362102" cy="36210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77240" y="2514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Decomposição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3291840"/>
            <a:ext cx="2057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Dividir um problema complexo em partes menores e mais fáceis de resolver.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3291840" y="1508760"/>
            <a:ext cx="2514600" cy="4114800"/>
          </a:xfrm>
          <a:prstGeom prst="roundRect">
            <a:avLst>
              <a:gd name="adj" fmla="val 3273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520440" y="1783080"/>
            <a:ext cx="502920" cy="50292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4" name="Text 10"/>
          <p:cNvSpPr/>
          <p:nvPr/>
        </p:nvSpPr>
        <p:spPr>
          <a:xfrm>
            <a:off x="35204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4983480" y="1783080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16" name="Image 2" descr="/home/claude/work/aulas1_9/icons/list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3889" y="1853489"/>
            <a:ext cx="362102" cy="36210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520440" y="2514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Reconhecimento de padrões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3520440" y="3291840"/>
            <a:ext cx="2057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semelhanças e regularidades entre problemas ou dentro de um mesmo problema.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035040" y="1508760"/>
            <a:ext cx="2514600" cy="4114800"/>
          </a:xfrm>
          <a:prstGeom prst="roundRect">
            <a:avLst>
              <a:gd name="adj" fmla="val 3273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263640" y="1783080"/>
            <a:ext cx="502920" cy="50292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21" name="Text 16"/>
          <p:cNvSpPr/>
          <p:nvPr/>
        </p:nvSpPr>
        <p:spPr>
          <a:xfrm>
            <a:off x="6263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Shape 17"/>
          <p:cNvSpPr/>
          <p:nvPr/>
        </p:nvSpPr>
        <p:spPr>
          <a:xfrm>
            <a:off x="7726680" y="1783080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23" name="Image 3" descr="/home/claude/work/aulas1_9/icons/compass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7089" y="1853489"/>
            <a:ext cx="362102" cy="36210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263640" y="2514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Abstração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6263640" y="3291840"/>
            <a:ext cx="2057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Filtrar o que é essencial, ignorando detalhes irrelevantes para a solução.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8778240" y="1508760"/>
            <a:ext cx="2514600" cy="4114800"/>
          </a:xfrm>
          <a:prstGeom prst="roundRect">
            <a:avLst>
              <a:gd name="adj" fmla="val 3273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9006840" y="1783080"/>
            <a:ext cx="502920" cy="50292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28" name="Text 22"/>
          <p:cNvSpPr/>
          <p:nvPr/>
        </p:nvSpPr>
        <p:spPr>
          <a:xfrm>
            <a:off x="90068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9" name="Shape 23"/>
          <p:cNvSpPr/>
          <p:nvPr/>
        </p:nvSpPr>
        <p:spPr>
          <a:xfrm>
            <a:off x="10469880" y="1783080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30" name="Image 4" descr="/home/claude/work/aulas1_9/icons/code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40289" y="1853489"/>
            <a:ext cx="362102" cy="362102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9006840" y="2514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Algoritmos</a:t>
            </a:r>
            <a:endParaRPr lang="en-US" sz="1600" dirty="0"/>
          </a:p>
        </p:txBody>
      </p:sp>
      <p:sp>
        <p:nvSpPr>
          <p:cNvPr id="32" name="Text 25"/>
          <p:cNvSpPr/>
          <p:nvPr/>
        </p:nvSpPr>
        <p:spPr>
          <a:xfrm>
            <a:off x="9006840" y="3291840"/>
            <a:ext cx="2057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Projetar uma sequência de passos lógicos e replicáveis até a solução.</a:t>
            </a:r>
            <a:endParaRPr lang="en-US" sz="1200" dirty="0"/>
          </a:p>
        </p:txBody>
      </p:sp>
      <p:sp>
        <p:nvSpPr>
          <p:cNvPr id="33" name="Text 26"/>
          <p:cNvSpPr/>
          <p:nvPr/>
        </p:nvSpPr>
        <p:spPr>
          <a:xfrm>
            <a:off x="548640" y="59436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BNCC Computação — eixo Pensamento Computacional; Wing (2006).</a:t>
            </a:r>
            <a:endParaRPr lang="en-US" sz="1050" dirty="0"/>
          </a:p>
        </p:txBody>
      </p:sp>
      <p:sp>
        <p:nvSpPr>
          <p:cNvPr id="34" name="Text 2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35" name="Text 28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21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21792" cy="621792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3" name="Image 0" descr="/home/claude/work/aulas1_9/icons/balanc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691" y="544251"/>
            <a:ext cx="447690" cy="44769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38404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Pensamento Computacional não é apenas programar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120640" cy="3566160"/>
          </a:xfrm>
          <a:prstGeom prst="roundRect">
            <a:avLst>
              <a:gd name="adj" fmla="val 2308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68680" y="1828800"/>
            <a:ext cx="548640" cy="54864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7" name="Image 1" descr="/home/claude/work/aulas1_9/icons/cod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490" y="1905610"/>
            <a:ext cx="395021" cy="39502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54480" y="18288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Programar (codificar)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868680" y="2651760"/>
            <a:ext cx="4480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Traduzir uma solução já pensada para uma linguagem de programação.</a:t>
            </a:r>
            <a:endParaRPr lang="en-US" sz="1400" dirty="0"/>
          </a:p>
          <a:p>
            <a:pPr marL="177800" indent="-1778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na sintaxe e na execução correta do código.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989320" y="1508760"/>
            <a:ext cx="5120640" cy="3566160"/>
          </a:xfrm>
          <a:prstGeom prst="roundRect">
            <a:avLst>
              <a:gd name="adj" fmla="val 2308"/>
            </a:avLst>
          </a:prstGeom>
          <a:solidFill>
            <a:srgbClr val="1B3A5C"/>
          </a:solidFill>
          <a:ln/>
        </p:spPr>
      </p:sp>
      <p:sp>
        <p:nvSpPr>
          <p:cNvPr id="11" name="Shape 7"/>
          <p:cNvSpPr/>
          <p:nvPr/>
        </p:nvSpPr>
        <p:spPr>
          <a:xfrm>
            <a:off x="6309360" y="1828800"/>
            <a:ext cx="548640" cy="548640"/>
          </a:xfrm>
          <a:prstGeom prst="ellipse">
            <a:avLst/>
          </a:prstGeom>
          <a:solidFill>
            <a:srgbClr val="E8963C"/>
          </a:solidFill>
          <a:ln/>
        </p:spPr>
      </p:sp>
      <p:pic>
        <p:nvPicPr>
          <p:cNvPr id="12" name="Image 2" descr="/home/claude/work/aulas1_9/icons/brain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6170" y="1905610"/>
            <a:ext cx="395021" cy="39502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995160" y="18288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Pensar computacionalmente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6309360" y="2651760"/>
            <a:ext cx="4480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D6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 o problema, modelar dados e processos, avaliar soluções.</a:t>
            </a:r>
            <a:endParaRPr lang="en-US" sz="1400" dirty="0"/>
          </a:p>
          <a:p>
            <a:pPr marL="177800" indent="-1778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D6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código é o meio de tornar o raciocínio testável — “a ferramenta não é o centro, a tarefa é o centro”.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548640" y="5257800"/>
            <a:ext cx="10561320" cy="777240"/>
          </a:xfrm>
          <a:prstGeom prst="roundRect">
            <a:avLst>
              <a:gd name="adj" fmla="val 10588"/>
            </a:avLst>
          </a:prstGeom>
          <a:solidFill>
            <a:srgbClr val="FBF1E6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6" name="Text 11"/>
          <p:cNvSpPr/>
          <p:nvPr/>
        </p:nvSpPr>
        <p:spPr>
          <a:xfrm>
            <a:off x="822960" y="525780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Controvérsia recorrente na literatura: PC é “mais do que programar” (ver Aula 1 · Síntese, item 1.2).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18" name="Text 13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21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21792" cy="621792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3" name="Image 0" descr="/home/claude/work/aulas1_9/icons/grad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691" y="544251"/>
            <a:ext cx="447690" cy="44769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38404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isso importa para quem forma professores?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120640" cy="3931920"/>
          </a:xfrm>
          <a:prstGeom prst="roundRect">
            <a:avLst>
              <a:gd name="adj" fmla="val 2093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68680" y="17830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BNCC Computação — três eixos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868680" y="2468880"/>
            <a:ext cx="457200" cy="45720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508760" y="24688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Computacional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68680" y="3337560"/>
            <a:ext cx="457200" cy="45720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1" name="Text 8"/>
          <p:cNvSpPr/>
          <p:nvPr/>
        </p:nvSpPr>
        <p:spPr>
          <a:xfrm>
            <a:off x="8686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508760" y="33375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Mundo Digital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68680" y="4206240"/>
            <a:ext cx="457200" cy="45720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4" name="Text 11"/>
          <p:cNvSpPr/>
          <p:nvPr/>
        </p:nvSpPr>
        <p:spPr>
          <a:xfrm>
            <a:off x="86868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508760" y="42062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 Digital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989320" y="1508760"/>
            <a:ext cx="5120640" cy="3931920"/>
          </a:xfrm>
          <a:prstGeom prst="roundRect">
            <a:avLst>
              <a:gd name="adj" fmla="val 2093"/>
            </a:avLst>
          </a:prstGeom>
          <a:solidFill>
            <a:srgbClr val="1B3A5C"/>
          </a:solidFill>
          <a:ln/>
        </p:spPr>
      </p:sp>
      <p:sp>
        <p:nvSpPr>
          <p:cNvPr id="17" name="Text 14"/>
          <p:cNvSpPr/>
          <p:nvPr/>
        </p:nvSpPr>
        <p:spPr>
          <a:xfrm>
            <a:off x="6309360" y="17830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PROFCOMP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309360" y="2468880"/>
            <a:ext cx="44805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30000"/>
              </a:lnSpc>
              <a:spcAft>
                <a:spcPts val="1600"/>
              </a:spcAft>
              <a:buSzPct val="100000"/>
              <a:buChar char="•"/>
            </a:pPr>
            <a:r>
              <a:rPr lang="en-US" sz="1400" dirty="0">
                <a:solidFill>
                  <a:srgbClr val="D6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Mestrado profissional que forma professores para ensinar Computação na Educação Básica.</a:t>
            </a:r>
            <a:endParaRPr lang="en-US" sz="1400" dirty="0"/>
          </a:p>
          <a:p>
            <a:pPr marL="177800" indent="-177800">
              <a:lnSpc>
                <a:spcPct val="130000"/>
              </a:lnSpc>
              <a:spcAft>
                <a:spcPts val="1600"/>
              </a:spcAft>
              <a:buSzPct val="100000"/>
              <a:buChar char="•"/>
            </a:pPr>
            <a:r>
              <a:rPr lang="en-US" sz="1400" dirty="0">
                <a:solidFill>
                  <a:srgbClr val="D6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os fundamentos do PC é pré-requisito para desenhar boas tarefas — como as que faremos com Julia e Pluto.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48640" y="57150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BNCC Computação (2022)  ·  PROFCOMP — Mestrado Profissional em Computação em Rede Nacional.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21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-914400"/>
            <a:ext cx="2926080" cy="2926080"/>
          </a:xfrm>
          <a:prstGeom prst="ellipse">
            <a:avLst/>
          </a:prstGeom>
          <a:solidFill>
            <a:srgbClr val="213E60"/>
          </a:solidFill>
          <a:ln/>
        </p:spPr>
      </p:sp>
      <p:sp>
        <p:nvSpPr>
          <p:cNvPr id="3" name="Shape 1"/>
          <p:cNvSpPr/>
          <p:nvPr/>
        </p:nvSpPr>
        <p:spPr>
          <a:xfrm>
            <a:off x="-1097280" y="4846320"/>
            <a:ext cx="2377440" cy="2377440"/>
          </a:xfrm>
          <a:prstGeom prst="ellipse">
            <a:avLst/>
          </a:prstGeom>
          <a:solidFill>
            <a:srgbClr val="17304E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INTRODUÇÃO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1051560"/>
            <a:ext cx="868680" cy="86868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0515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965960" y="1051560"/>
            <a:ext cx="9326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Introdução à Computação e ao Pensamento Computacional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822960" y="21488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tarefas em formato de pergunta, com exemplos em Julia/Pluto.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2880360"/>
            <a:ext cx="10515600" cy="1691640"/>
          </a:xfrm>
          <a:prstGeom prst="roundRect">
            <a:avLst>
              <a:gd name="adj" fmla="val 4865"/>
            </a:avLst>
          </a:prstGeom>
          <a:solidFill>
            <a:srgbClr val="18304F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1089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PERGUNTA-GUIA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143000" y="3401568"/>
            <a:ext cx="9875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transformar “computar” em uma prática de representar, testar e explicar problemas?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22960" y="48463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 bloco, as tarefas usam Julia e Pluto para transformar conceitos da ementa em ações observáveis: organizar, representar, manipular, interpretar e revisar.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5623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abre a aula; o código serve para tornar a relação conceitual discutível.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8912"/>
            <a:ext cx="713232" cy="713232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3891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508760" y="384048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computar quando usamos Julia no Pluto?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755648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139696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uma expressão simples.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entrada, processamento e saída.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Explique o que o computador fez e o que ele não entendeu.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217920" y="1572768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72200" y="1892808"/>
            <a:ext cx="5513832" cy="1828800"/>
          </a:xfrm>
          <a:prstGeom prst="roundRect">
            <a:avLst>
              <a:gd name="adj" fmla="val 3000"/>
            </a:avLst>
          </a:prstGeom>
          <a:solidFill>
            <a:srgbClr val="12233B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64808" y="2075688"/>
            <a:ext cx="4928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^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904488"/>
            <a:ext cx="5349240" cy="2514600"/>
          </a:xfrm>
          <a:prstGeom prst="roundRect">
            <a:avLst>
              <a:gd name="adj" fmla="val 3273"/>
            </a:avLst>
          </a:prstGeom>
          <a:solidFill>
            <a:srgbClr val="EDF4F5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58952" y="4050792"/>
            <a:ext cx="4837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58952" y="4379976"/>
            <a:ext cx="483717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Representação como mediação entre cálculo e significado.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deslocar foco da ferramenta para a tarefa.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organizar dados é componente crítico da representação.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o resultado final não esgota a aprendizagem do conceito.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72200" y="3904488"/>
            <a:ext cx="5513832" cy="2514600"/>
          </a:xfrm>
          <a:prstGeom prst="roundRect">
            <a:avLst>
              <a:gd name="adj" fmla="val 3273"/>
            </a:avLst>
          </a:prstGeom>
          <a:solidFill>
            <a:srgbClr val="FBF1E6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28232" y="4050792"/>
            <a:ext cx="5001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8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28232" y="4379976"/>
            <a:ext cx="500176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primeira tarefa separa cálculo de compreensão: o computador executa operações, mas a turma interpreta o sentido da ação.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28232" y="5522976"/>
            <a:ext cx="50017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8912"/>
            <a:ext cx="713232" cy="713232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3891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508760" y="384048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uma variável transforma um número em conceito?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755648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139696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Nomeie valores com significado.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Altere o nome ou o valor.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Discuta como o nome orienta a leitura do modelo.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217920" y="1572768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72200" y="1892808"/>
            <a:ext cx="5513832" cy="1828800"/>
          </a:xfrm>
          <a:prstGeom prst="roundRect">
            <a:avLst>
              <a:gd name="adj" fmla="val 3000"/>
            </a:avLst>
          </a:prstGeom>
          <a:solidFill>
            <a:srgbClr val="12233B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64808" y="2075688"/>
            <a:ext cx="4928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idade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anos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idade_futura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idade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904488"/>
            <a:ext cx="5349240" cy="2514600"/>
          </a:xfrm>
          <a:prstGeom prst="roundRect">
            <a:avLst>
              <a:gd name="adj" fmla="val 3273"/>
            </a:avLst>
          </a:prstGeom>
          <a:solidFill>
            <a:srgbClr val="EDF4F5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58952" y="4050792"/>
            <a:ext cx="4837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58952" y="4379976"/>
            <a:ext cx="483717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Variável como representação de grandeza.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explicitar variáveis, relações e restrições.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representações ampliam a percepção de propriedades e relações.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o contexto e o tipo de dado influenciam a representação escolhida.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72200" y="3904488"/>
            <a:ext cx="5513832" cy="2514600"/>
          </a:xfrm>
          <a:prstGeom prst="roundRect">
            <a:avLst>
              <a:gd name="adj" fmla="val 3273"/>
            </a:avLst>
          </a:prstGeom>
          <a:solidFill>
            <a:srgbClr val="FBF1E6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28232" y="4050792"/>
            <a:ext cx="5001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8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28232" y="4379976"/>
            <a:ext cx="500176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variável deixa de ser apenas armazenamento e passa a indicar uma relação conceitual entre valor, papel e contexto.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28232" y="5522976"/>
            <a:ext cx="50017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8912"/>
            <a:ext cx="713232" cy="713232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3891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508760" y="384048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uma lista torna visível uma coleção de casos?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755648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139696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uma lista de valores.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quantidade e ordem.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Pergunte o que muda se a ordem mudar.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217920" y="1572768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72200" y="1892808"/>
            <a:ext cx="5513832" cy="1828800"/>
          </a:xfrm>
          <a:prstGeom prst="roundRect">
            <a:avLst>
              <a:gd name="adj" fmla="val 3000"/>
            </a:avLst>
          </a:prstGeom>
          <a:solidFill>
            <a:srgbClr val="12233B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64808" y="2075688"/>
            <a:ext cx="4928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904488"/>
            <a:ext cx="5349240" cy="2514600"/>
          </a:xfrm>
          <a:prstGeom prst="roundRect">
            <a:avLst>
              <a:gd name="adj" fmla="val 3273"/>
            </a:avLst>
          </a:prstGeom>
          <a:solidFill>
            <a:srgbClr val="EDF4F5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58952" y="4050792"/>
            <a:ext cx="4837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58952" y="4379976"/>
            <a:ext cx="483717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Coleção, ordem e índice como representação.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organizar dados é componente crítico da representação.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múltiplas expressões exibem aspectos distintos do mesmo conceito.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articular código, texto, tabela, gráfico e interpretação.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72200" y="3904488"/>
            <a:ext cx="5513832" cy="2514600"/>
          </a:xfrm>
          <a:prstGeom prst="roundRect">
            <a:avLst>
              <a:gd name="adj" fmla="val 3273"/>
            </a:avLst>
          </a:prstGeom>
          <a:solidFill>
            <a:srgbClr val="FBF1E6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28232" y="4050792"/>
            <a:ext cx="5001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8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28232" y="4379976"/>
            <a:ext cx="500176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lista aproxima teoria de conjuntos e estrutura computacional: valores aparecem como coleção e como sequência indexada.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28232" y="5522976"/>
            <a:ext cx="50017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21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8912"/>
            <a:ext cx="713232" cy="713232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3891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508760" y="384048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o Pluto ajuda a ver dependências?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755648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139696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Separe as células em dados, regra e saída.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Mude um valor inicial.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a atualização das células dependentes.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217920" y="1572768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72200" y="1892808"/>
            <a:ext cx="5513832" cy="1828800"/>
          </a:xfrm>
          <a:prstGeom prst="roundRect">
            <a:avLst>
              <a:gd name="adj" fmla="val 3000"/>
            </a:avLst>
          </a:prstGeom>
          <a:solidFill>
            <a:srgbClr val="12233B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64808" y="2075688"/>
            <a:ext cx="4928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taxa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taxa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904488"/>
            <a:ext cx="5349240" cy="2514600"/>
          </a:xfrm>
          <a:prstGeom prst="roundRect">
            <a:avLst>
              <a:gd name="adj" fmla="val 3273"/>
            </a:avLst>
          </a:prstGeom>
          <a:solidFill>
            <a:srgbClr val="EDF4F5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58952" y="4050792"/>
            <a:ext cx="4837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58952" y="4379976"/>
            <a:ext cx="483717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Manipulação de parâmetros e feedback imediato.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permitir manipulação de parâmetros e comparação de estados.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a interação consciente com a forma favorece reflexão conceitual.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múltiplas representações indicam modelagem mais bem-sucedida.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72200" y="3904488"/>
            <a:ext cx="5513832" cy="2514600"/>
          </a:xfrm>
          <a:prstGeom prst="roundRect">
            <a:avLst>
              <a:gd name="adj" fmla="val 3273"/>
            </a:avLst>
          </a:prstGeom>
          <a:solidFill>
            <a:srgbClr val="FBF1E6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28232" y="4050792"/>
            <a:ext cx="5001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8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28232" y="4379976"/>
            <a:ext cx="500176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reatividade torna explícita a dependência entre variáveis, permitindo comparar estados do mesmo modelo.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28232" y="5522976"/>
            <a:ext cx="50017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21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8912"/>
            <a:ext cx="713232" cy="713232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3891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508760" y="384048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texto e código podem coexistir na mesma explicação?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755648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139696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uma célula Markdown.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Mostre valores calculados no texto.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que a turma explique a saída.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217920" y="1572768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72200" y="1892808"/>
            <a:ext cx="5513832" cy="1828800"/>
          </a:xfrm>
          <a:prstGeom prst="roundRect">
            <a:avLst>
              <a:gd name="adj" fmla="val 3000"/>
            </a:avLst>
          </a:prstGeom>
          <a:solidFill>
            <a:srgbClr val="12233B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64808" y="2075688"/>
            <a:ext cx="4928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7.5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md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7FD1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"""A média foi **$media**."""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904488"/>
            <a:ext cx="5349240" cy="2514600"/>
          </a:xfrm>
          <a:prstGeom prst="roundRect">
            <a:avLst>
              <a:gd name="adj" fmla="val 3273"/>
            </a:avLst>
          </a:prstGeom>
          <a:solidFill>
            <a:srgbClr val="EDF4F5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58952" y="4050792"/>
            <a:ext cx="4837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58952" y="4379976"/>
            <a:ext cx="483717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Múltiplas representações: linguagem natural e cálculo.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múltiplas representações indicam modelagem mais bem-sucedida.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múltiplas expressões exibem aspectos distintos do mesmo conceito.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articular código, texto, tabela, gráfico e interpretação.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72200" y="3904488"/>
            <a:ext cx="5513832" cy="2514600"/>
          </a:xfrm>
          <a:prstGeom prst="roundRect">
            <a:avLst>
              <a:gd name="adj" fmla="val 3273"/>
            </a:avLst>
          </a:prstGeom>
          <a:solidFill>
            <a:srgbClr val="FBF1E6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28232" y="4050792"/>
            <a:ext cx="5001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8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28232" y="4379976"/>
            <a:ext cx="500176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texto integrado ao código aproxima cálculo, comunicação e justificativa conceitual.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28232" y="5522976"/>
            <a:ext cx="50017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21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8912"/>
            <a:ext cx="713232" cy="713232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3891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508760" y="384048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quando a saída vira tabela?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755648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139696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 quadrados.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Agrupe entrada e saída.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Interprete a correspondência em pares.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217920" y="1572768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72200" y="1892808"/>
            <a:ext cx="5513832" cy="1828800"/>
          </a:xfrm>
          <a:prstGeom prst="roundRect">
            <a:avLst>
              <a:gd name="adj" fmla="val 3000"/>
            </a:avLst>
          </a:prstGeom>
          <a:solidFill>
            <a:srgbClr val="12233B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64808" y="2075688"/>
            <a:ext cx="4928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quadrados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^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zip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quadrados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904488"/>
            <a:ext cx="5349240" cy="2514600"/>
          </a:xfrm>
          <a:prstGeom prst="roundRect">
            <a:avLst>
              <a:gd name="adj" fmla="val 3273"/>
            </a:avLst>
          </a:prstGeom>
          <a:solidFill>
            <a:srgbClr val="EDF4F5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58952" y="4050792"/>
            <a:ext cx="4837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58952" y="4379976"/>
            <a:ext cx="483717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Transnumeração: lista para pares interpretáveis.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transnumeração torna dados interpretáveis em nova forma.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representações ampliam a percepção de propriedades e relações.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solicitar explicação do raciocínio desenvolvido.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72200" y="3904488"/>
            <a:ext cx="5513832" cy="2514600"/>
          </a:xfrm>
          <a:prstGeom prst="roundRect">
            <a:avLst>
              <a:gd name="adj" fmla="val 3273"/>
            </a:avLst>
          </a:prstGeom>
          <a:solidFill>
            <a:srgbClr val="FBF1E6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28232" y="4050792"/>
            <a:ext cx="5001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8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28232" y="4379976"/>
            <a:ext cx="500176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tabela de pares faz aparecer a relação funcional que ficaria escondida em uma lista de resultados.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28232" y="5522976"/>
            <a:ext cx="50017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21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8912"/>
            <a:ext cx="713232" cy="713232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3891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508760" y="384048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uma função sintetiza uma ideia computacional?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755648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139696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 uma conta repetida em função.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diferentes entradas.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os resultados.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217920" y="1572768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72200" y="1892808"/>
            <a:ext cx="5513832" cy="1828800"/>
          </a:xfrm>
          <a:prstGeom prst="roundRect">
            <a:avLst>
              <a:gd name="adj" fmla="val 3000"/>
            </a:avLst>
          </a:prstGeom>
          <a:solidFill>
            <a:srgbClr val="12233B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64808" y="2075688"/>
            <a:ext cx="4928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dobro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dobro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dobro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904488"/>
            <a:ext cx="5349240" cy="2514600"/>
          </a:xfrm>
          <a:prstGeom prst="roundRect">
            <a:avLst>
              <a:gd name="adj" fmla="val 3273"/>
            </a:avLst>
          </a:prstGeom>
          <a:solidFill>
            <a:srgbClr val="EDF4F5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58952" y="4050792"/>
            <a:ext cx="4837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58952" y="4379976"/>
            <a:ext cx="483717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Generalização inicial e relação entrada–saída.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níveis SOLO ajudam a observar respostas de menor a maior integração.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a análise qualitativa observa invariantes e relações mobilizadas na ação.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avaliar o percurso de pensamento, não apenas o código final.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72200" y="3904488"/>
            <a:ext cx="5513832" cy="2514600"/>
          </a:xfrm>
          <a:prstGeom prst="roundRect">
            <a:avLst>
              <a:gd name="adj" fmla="val 3273"/>
            </a:avLst>
          </a:prstGeom>
          <a:solidFill>
            <a:srgbClr val="FBF1E6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28232" y="4050792"/>
            <a:ext cx="5001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8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28232" y="4379976"/>
            <a:ext cx="500176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função introduz a ideia de regra reutilizável e permite discutir domínio, imagem e transformação.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28232" y="5522976"/>
            <a:ext cx="50017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21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8912"/>
            <a:ext cx="713232" cy="713232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3891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1.8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508760" y="384048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o computador representa decisões?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755648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139696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uma condição simples.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dois casos.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Discuta a regra antes de executar.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217920" y="1572768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72200" y="1892808"/>
            <a:ext cx="5513832" cy="1828800"/>
          </a:xfrm>
          <a:prstGeom prst="roundRect">
            <a:avLst>
              <a:gd name="adj" fmla="val 3000"/>
            </a:avLst>
          </a:prstGeom>
          <a:solidFill>
            <a:srgbClr val="12233B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64808" y="2075688"/>
            <a:ext cx="4928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6.5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situacao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7FD1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"aprovado"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7FD1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"rever"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904488"/>
            <a:ext cx="5349240" cy="2514600"/>
          </a:xfrm>
          <a:prstGeom prst="roundRect">
            <a:avLst>
              <a:gd name="adj" fmla="val 3273"/>
            </a:avLst>
          </a:prstGeom>
          <a:solidFill>
            <a:srgbClr val="EDF4F5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58952" y="4050792"/>
            <a:ext cx="4837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58952" y="4379976"/>
            <a:ext cx="483717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Representação de regra e classificação.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solicitar explicação do raciocínio desenvolvido.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feedback visual/textual deve orientar interpretação, não apenas corrigir.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atividades planejadas desenvolvem representação e pensamento de ordem superior.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72200" y="3904488"/>
            <a:ext cx="5513832" cy="2514600"/>
          </a:xfrm>
          <a:prstGeom prst="roundRect">
            <a:avLst>
              <a:gd name="adj" fmla="val 3273"/>
            </a:avLst>
          </a:prstGeom>
          <a:solidFill>
            <a:srgbClr val="FBF1E6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28232" y="4050792"/>
            <a:ext cx="5001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8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28232" y="4379976"/>
            <a:ext cx="500176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decisão computacional mostra que regras precisam ser formuladas, testadas e interpretadas.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28232" y="5522976"/>
            <a:ext cx="50017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21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8912"/>
            <a:ext cx="713232" cy="713232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3891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1.9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508760" y="384048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um erro pode virar dado de aprendizagem?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755648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139696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Altere uma variável inexistente.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a mensagem de erro.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Explique que relação estava faltando.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217920" y="1572768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72200" y="1892808"/>
            <a:ext cx="5513832" cy="1828800"/>
          </a:xfrm>
          <a:prstGeom prst="roundRect">
            <a:avLst>
              <a:gd name="adj" fmla="val 3000"/>
            </a:avLst>
          </a:prstGeom>
          <a:solidFill>
            <a:srgbClr val="12233B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64808" y="2075688"/>
            <a:ext cx="4928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904488"/>
            <a:ext cx="5349240" cy="2514600"/>
          </a:xfrm>
          <a:prstGeom prst="roundRect">
            <a:avLst>
              <a:gd name="adj" fmla="val 3273"/>
            </a:avLst>
          </a:prstGeom>
          <a:solidFill>
            <a:srgbClr val="EDF4F5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58952" y="4050792"/>
            <a:ext cx="4837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58952" y="4379976"/>
            <a:ext cx="483717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como informação para reconstrução.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feedback visual/textual deve orientar interpretação, não apenas corrigir.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incluir revisão, depuração e reconstrução.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respostas idiossincráticas também revelam modos de pensar.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72200" y="3904488"/>
            <a:ext cx="5513832" cy="2514600"/>
          </a:xfrm>
          <a:prstGeom prst="roundRect">
            <a:avLst>
              <a:gd name="adj" fmla="val 3273"/>
            </a:avLst>
          </a:prstGeom>
          <a:solidFill>
            <a:srgbClr val="FBF1E6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28232" y="4050792"/>
            <a:ext cx="5001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8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28232" y="4379976"/>
            <a:ext cx="500176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erro revela dependências ausentes e ajuda a discutir a estrutura necessária para o modelo funcionar.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28232" y="5522976"/>
            <a:ext cx="50017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21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8912"/>
            <a:ext cx="713232" cy="713232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3891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508760" y="384048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avaliar a primeira experiência com Pluto?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755648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139696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um registro curto.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o que ficou visível.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Classifique uma dificuldade como dado, regra ou saída.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217920" y="1572768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72200" y="1892808"/>
            <a:ext cx="5513832" cy="1828800"/>
          </a:xfrm>
          <a:prstGeom prst="roundRect">
            <a:avLst>
              <a:gd name="adj" fmla="val 3000"/>
            </a:avLst>
          </a:prstGeom>
          <a:solidFill>
            <a:srgbClr val="12233B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64808" y="2075688"/>
            <a:ext cx="4928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reflexao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7FD1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"Expliquei a relação entre dados e saída"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0AD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reflexao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904488"/>
            <a:ext cx="5349240" cy="2514600"/>
          </a:xfrm>
          <a:prstGeom prst="roundRect">
            <a:avLst>
              <a:gd name="adj" fmla="val 3273"/>
            </a:avLst>
          </a:prstGeom>
          <a:solidFill>
            <a:srgbClr val="EDF4F5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58952" y="4050792"/>
            <a:ext cx="4837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58952" y="4379976"/>
            <a:ext cx="483717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Reflexão metaconceitual sobre o percurso.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avaliar o percurso de pensamento, não apenas o código final.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o percurso da tarefa revela mudanças no discurso e na ação.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atividades planejadas desenvolvem representação e pensamento de ordem superior.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72200" y="3904488"/>
            <a:ext cx="5513832" cy="2514600"/>
          </a:xfrm>
          <a:prstGeom prst="roundRect">
            <a:avLst>
              <a:gd name="adj" fmla="val 3273"/>
            </a:avLst>
          </a:prstGeom>
          <a:solidFill>
            <a:srgbClr val="FBF1E6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28232" y="4050792"/>
            <a:ext cx="5001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8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28232" y="4379976"/>
            <a:ext cx="500176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avaliação inicial observa como o estudante descreve e reorganiza a tarefa, não apenas se o código executou.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28232" y="5522976"/>
            <a:ext cx="50017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21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-914400"/>
            <a:ext cx="2926080" cy="2926080"/>
          </a:xfrm>
          <a:prstGeom prst="ellipse">
            <a:avLst/>
          </a:prstGeom>
          <a:solidFill>
            <a:srgbClr val="213E60"/>
          </a:solidFill>
          <a:ln/>
        </p:spPr>
      </p:sp>
      <p:sp>
        <p:nvSpPr>
          <p:cNvPr id="3" name="Shape 1"/>
          <p:cNvSpPr/>
          <p:nvPr/>
        </p:nvSpPr>
        <p:spPr>
          <a:xfrm>
            <a:off x="-1097280" y="4846320"/>
            <a:ext cx="2377440" cy="2377440"/>
          </a:xfrm>
          <a:prstGeom prst="ellipse">
            <a:avLst/>
          </a:prstGeom>
          <a:solidFill>
            <a:srgbClr val="17304E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685800"/>
            <a:ext cx="822960" cy="82296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5" name="Image 0" descr="/home/claude/work/aulas1_9/icons/fla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8174" y="801014"/>
            <a:ext cx="592531" cy="59253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920240" y="868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 AULA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" y="16916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computar ao pensar computacionalmente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22960" y="2468880"/>
            <a:ext cx="9692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C9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Pensamento Computacional é formular e resolver problemas com os quatro pilares — decomposição, padrões, abstração e algoritmos — usando o código como meio de tornar o raciocínio testável, não como fim em si mesmo.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22960" y="3657600"/>
            <a:ext cx="10515600" cy="1234440"/>
          </a:xfrm>
          <a:prstGeom prst="roundRect">
            <a:avLst>
              <a:gd name="adj" fmla="val 6667"/>
            </a:avLst>
          </a:prstGeom>
          <a:solidFill>
            <a:srgbClr val="18304F"/>
          </a:solidFill>
          <a:ln/>
        </p:spPr>
      </p:sp>
      <p:sp>
        <p:nvSpPr>
          <p:cNvPr id="10" name="Text 7"/>
          <p:cNvSpPr/>
          <p:nvPr/>
        </p:nvSpPr>
        <p:spPr>
          <a:xfrm>
            <a:off x="1143000" y="38404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C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10 tarefas do Bloco 1 usaram Julia e Pluto para tornar visíveis cálculo, variáveis, coleções, funções, decisões e erros.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C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cada tarefa, a pergunta orienta a leitura; o código é o meio de discutir a relação conceitual, não o objetivo final.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22960" y="5166360"/>
            <a:ext cx="10515600" cy="1051560"/>
          </a:xfrm>
          <a:prstGeom prst="roundRect">
            <a:avLst>
              <a:gd name="adj" fmla="val 7826"/>
            </a:avLst>
          </a:prstGeom>
          <a:solidFill>
            <a:srgbClr val="1B2E4A"/>
          </a:solidFill>
          <a:ln/>
        </p:spPr>
      </p:sp>
      <p:sp>
        <p:nvSpPr>
          <p:cNvPr id="12" name="Text 9"/>
          <p:cNvSpPr/>
          <p:nvPr/>
        </p:nvSpPr>
        <p:spPr>
          <a:xfrm>
            <a:off x="1143000" y="516636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3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SEGUIR — AULA 2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2743200" y="5166360"/>
            <a:ext cx="6675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Pensamento Indutivo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10378440" y="5394960"/>
            <a:ext cx="548640" cy="548640"/>
          </a:xfrm>
          <a:prstGeom prst="ellipse">
            <a:avLst/>
          </a:prstGeom>
          <a:solidFill>
            <a:srgbClr val="E8963C"/>
          </a:solidFill>
          <a:ln/>
        </p:spPr>
      </p:sp>
      <p:pic>
        <p:nvPicPr>
          <p:cNvPr id="15" name="Image 1" descr="/home/claude/work/aulas1_9/icons/arrow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5250" y="5471770"/>
            <a:ext cx="395021" cy="395021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· Introdução à Computação e ao Pensamento Computacional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2026-08-20T20:02:35Z</dcterms:created>
  <dcterms:modified xsi:type="dcterms:W3CDTF">2026-08-20T20:02:35Z</dcterms:modified>
</cp:coreProperties>
</file>