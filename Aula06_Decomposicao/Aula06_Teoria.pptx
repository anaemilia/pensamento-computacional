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188720"/>
            <a:ext cx="3840480" cy="3840480"/>
          </a:xfrm>
          <a:prstGeom prst="ellipse">
            <a:avLst/>
          </a:prstGeom>
          <a:solidFill>
            <a:srgbClr val="2C7A8C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846320"/>
            <a:ext cx="3291840" cy="329184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914400"/>
            <a:ext cx="868680" cy="86868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12014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96596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COMPUTACIONAL · AULA 6 DE 15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2423160"/>
            <a:ext cx="112772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Decomposição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457200" y="402336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E7EC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dividir um problema em partes que preservam significado?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457200" y="617220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de 15  ·  2 horas  ·  Técnicas de Construção de Algoritmos: Decomposição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OBJETIVOS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esperamos desta aula?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3576218" cy="1691640"/>
          </a:xfrm>
          <a:prstGeom prst="roundRect">
            <a:avLst>
              <a:gd name="adj" fmla="val 4324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737360"/>
            <a:ext cx="438912" cy="438912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373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28600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decomposição como técnica de construção de algoritmos.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07738" y="1508760"/>
            <a:ext cx="3576218" cy="1691640"/>
          </a:xfrm>
          <a:prstGeom prst="roundRect">
            <a:avLst>
              <a:gd name="adj" fmla="val 4324"/>
            </a:avLst>
          </a:prstGeom>
          <a:solidFill>
            <a:srgbClr val="F5F7FA"/>
          </a:solidFill>
          <a:ln/>
        </p:spPr>
      </p:sp>
      <p:sp>
        <p:nvSpPr>
          <p:cNvPr id="9" name="Shape 7"/>
          <p:cNvSpPr/>
          <p:nvPr/>
        </p:nvSpPr>
        <p:spPr>
          <a:xfrm>
            <a:off x="4536338" y="1737360"/>
            <a:ext cx="438912" cy="438912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0" name="Text 8"/>
          <p:cNvSpPr/>
          <p:nvPr/>
        </p:nvSpPr>
        <p:spPr>
          <a:xfrm>
            <a:off x="4536338" y="17373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36338" y="228600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Dividir um problema complexo em subproblemas menores e resolúveis.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58277" y="1508760"/>
            <a:ext cx="3576218" cy="1691640"/>
          </a:xfrm>
          <a:prstGeom prst="roundRect">
            <a:avLst>
              <a:gd name="adj" fmla="val 4324"/>
            </a:avLst>
          </a:prstGeom>
          <a:solidFill>
            <a:srgbClr val="F5F7FA"/>
          </a:solidFill>
          <a:ln/>
        </p:spPr>
      </p:sp>
      <p:sp>
        <p:nvSpPr>
          <p:cNvPr id="13" name="Shape 11"/>
          <p:cNvSpPr/>
          <p:nvPr/>
        </p:nvSpPr>
        <p:spPr>
          <a:xfrm>
            <a:off x="8386877" y="1737360"/>
            <a:ext cx="438912" cy="438912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4" name="Text 12"/>
          <p:cNvSpPr/>
          <p:nvPr/>
        </p:nvSpPr>
        <p:spPr>
          <a:xfrm>
            <a:off x="8386877" y="17373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86877" y="228600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decomposição em cálculos, classificações e simulações.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474720"/>
            <a:ext cx="3576218" cy="1691640"/>
          </a:xfrm>
          <a:prstGeom prst="roundRect">
            <a:avLst>
              <a:gd name="adj" fmla="val 4324"/>
            </a:avLst>
          </a:prstGeom>
          <a:solidFill>
            <a:srgbClr val="F5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685800" y="3703320"/>
            <a:ext cx="438912" cy="438912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703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425196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Combinar as soluções dos subproblemas na solução do problema original.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07738" y="3474720"/>
            <a:ext cx="3576218" cy="1691640"/>
          </a:xfrm>
          <a:prstGeom prst="roundRect">
            <a:avLst>
              <a:gd name="adj" fmla="val 4324"/>
            </a:avLst>
          </a:prstGeom>
          <a:solidFill>
            <a:srgbClr val="F5F7FA"/>
          </a:solidFill>
          <a:ln/>
        </p:spPr>
      </p:sp>
      <p:sp>
        <p:nvSpPr>
          <p:cNvPr id="21" name="Shape 19"/>
          <p:cNvSpPr/>
          <p:nvPr/>
        </p:nvSpPr>
        <p:spPr>
          <a:xfrm>
            <a:off x="4536338" y="3703320"/>
            <a:ext cx="438912" cy="438912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22" name="Text 20"/>
          <p:cNvSpPr/>
          <p:nvPr/>
        </p:nvSpPr>
        <p:spPr>
          <a:xfrm>
            <a:off x="4536338" y="3703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36338" y="425196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decomposição para isolar e corrigir erros.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158277" y="3474720"/>
            <a:ext cx="3576218" cy="1691640"/>
          </a:xfrm>
          <a:prstGeom prst="roundRect">
            <a:avLst>
              <a:gd name="adj" fmla="val 4324"/>
            </a:avLst>
          </a:prstGeom>
          <a:solidFill>
            <a:srgbClr val="F5F7FA"/>
          </a:solidFill>
          <a:ln/>
        </p:spPr>
      </p:sp>
      <p:sp>
        <p:nvSpPr>
          <p:cNvPr id="25" name="Shape 23"/>
          <p:cNvSpPr/>
          <p:nvPr/>
        </p:nvSpPr>
        <p:spPr>
          <a:xfrm>
            <a:off x="8386877" y="3703320"/>
            <a:ext cx="438912" cy="438912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26" name="Text 24"/>
          <p:cNvSpPr/>
          <p:nvPr/>
        </p:nvSpPr>
        <p:spPr>
          <a:xfrm>
            <a:off x="8386877" y="3703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386877" y="425196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Praticar as 10 tarefas do Bloco 6 em Julia/Pluto.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57200" y="527608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de 15  ·  2 horas  ·  Técnicas de Construção de Algoritmos: Decomposição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Decomposição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 CENTRAL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7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decomposição?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455768" cy="3246120"/>
          </a:xfrm>
          <a:prstGeom prst="roundRect">
            <a:avLst>
              <a:gd name="adj" fmla="val 2254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ℹ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17320" y="1920240"/>
            <a:ext cx="422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Definição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2606040"/>
            <a:ext cx="48156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Dividir um problema complexo em problemas menores, mais simples de resolver.</a:t>
            </a:r>
            <a:endParaRPr lang="en-US" sz="1550" dirty="0"/>
          </a:p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considerada a técnica mais importante para solucionar problemas em Computação.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278728" y="1600200"/>
            <a:ext cx="5455768" cy="3246120"/>
          </a:xfrm>
          <a:prstGeom prst="roundRect">
            <a:avLst>
              <a:gd name="adj" fmla="val 2254"/>
            </a:avLst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6598768" y="1920240"/>
            <a:ext cx="502920" cy="50292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1" name="Text 9"/>
          <p:cNvSpPr/>
          <p:nvPr/>
        </p:nvSpPr>
        <p:spPr>
          <a:xfrm>
            <a:off x="6598768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38848" y="1920240"/>
            <a:ext cx="422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98768" y="2606040"/>
            <a:ext cx="48156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a média de uma turma: decompor em “somar as notas” + “contar os alunos” + “dividir”.</a:t>
            </a:r>
            <a:endParaRPr lang="en-US" sz="1550" dirty="0"/>
          </a:p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subproblema pode virar uma função independente.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57200" y="5120640"/>
            <a:ext cx="11277295" cy="777240"/>
          </a:xfrm>
          <a:prstGeom prst="roundRect">
            <a:avLst>
              <a:gd name="adj" fmla="val 9412"/>
            </a:avLst>
          </a:prstGeom>
          <a:solidFill>
            <a:srgbClr val="EAF2F0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5120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solução do problema original é a combinação das soluções dos subproblemas.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Decomposição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PRÁTICA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7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Decompor também é uma ferramenta de depuração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455768" cy="3246120"/>
          </a:xfrm>
          <a:prstGeom prst="roundRect">
            <a:avLst>
              <a:gd name="adj" fmla="val 2254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17320" y="1920240"/>
            <a:ext cx="422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Isolar o erro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2606040"/>
            <a:ext cx="48156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decompor, cada parte pode ser testada separadamente.</a:t>
            </a:r>
            <a:endParaRPr lang="en-US" sz="1550" dirty="0"/>
          </a:p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erro fica mais fácil de localizar quando o problema já está dividido.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278728" y="1600200"/>
            <a:ext cx="5455768" cy="3246120"/>
          </a:xfrm>
          <a:prstGeom prst="roundRect">
            <a:avLst>
              <a:gd name="adj" fmla="val 2254"/>
            </a:avLst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6598768" y="1920240"/>
            <a:ext cx="502920" cy="50292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1" name="Text 9"/>
          <p:cNvSpPr/>
          <p:nvPr/>
        </p:nvSpPr>
        <p:spPr>
          <a:xfrm>
            <a:off x="6598768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⬡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38848" y="1920240"/>
            <a:ext cx="422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Colaboração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98768" y="2606040"/>
            <a:ext cx="48156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Decomposição permite dividir tarefas entre pessoas: dados, regra, teste.</a:t>
            </a:r>
            <a:endParaRPr lang="en-US" sz="1550" dirty="0"/>
          </a:p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parte é combinada ao final em uma solução única.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57200" y="5120640"/>
            <a:ext cx="11277295" cy="777240"/>
          </a:xfrm>
          <a:prstGeom prst="roundRect">
            <a:avLst>
              <a:gd name="adj" fmla="val 9412"/>
            </a:avLst>
          </a:prstGeom>
          <a:solidFill>
            <a:srgbClr val="EAF2F0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5120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 qualitativo recorrente: decomposição e reflexão metaconceitual.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Decomposição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CONEXÃO ENTRE AULAS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Bloco 5 ao Bloco 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4892040" cy="2743200"/>
          </a:xfrm>
          <a:prstGeom prst="roundRect">
            <a:avLst>
              <a:gd name="adj" fmla="val 2667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148840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3040" y="21945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JÁ VIMOS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63040" y="245059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5: Representação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3246120"/>
            <a:ext cx="4251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Escolher a estrutura certa para os dados.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49240" y="2880360"/>
            <a:ext cx="1493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6842455" y="1828800"/>
            <a:ext cx="4892040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</p:sp>
      <p:sp>
        <p:nvSpPr>
          <p:cNvPr id="12" name="Shape 10"/>
          <p:cNvSpPr/>
          <p:nvPr/>
        </p:nvSpPr>
        <p:spPr>
          <a:xfrm>
            <a:off x="7162495" y="2148840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3" name="Text 11"/>
          <p:cNvSpPr/>
          <p:nvPr/>
        </p:nvSpPr>
        <p:spPr>
          <a:xfrm>
            <a:off x="7162495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848295" y="21945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ONDE VAMOS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848295" y="245059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7: Generalização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162495" y="3246120"/>
            <a:ext cx="4251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soluções reutilizáveis.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89204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Computacional — Aula 6 de 15.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Decomposição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22960"/>
            <a:ext cx="1188720" cy="118872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82296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87452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• Decomposição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874520" y="128016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Técnicas de Construção de Algoritmos: Decomposição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2514600"/>
            <a:ext cx="11277295" cy="1417320"/>
          </a:xfrm>
          <a:prstGeom prst="roundRect">
            <a:avLst>
              <a:gd name="adj" fmla="val 5161"/>
            </a:avLst>
          </a:prstGeom>
          <a:solidFill>
            <a:srgbClr val="1C3555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97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PERGUNTA-GUIA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dividir um problema em partes que preservam significado?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420624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7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tarefas em formato de pergunta, com exemplos em Julia/Pluto.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61772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 bloco, as tarefas usam Julia e Pluto para transformar conceitos da ementa em ações observáveis: organizar, representar, manipular, interpretar e revisar.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516636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abre a aula; o código serve para tornar a relação conceitual discutível.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Decomposição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6 · TAREFA 1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significa decompor um problema?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um problema simples.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subproblemas.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Associe uma célula do Pluto a cada parte.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partes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"entrada"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"processamento"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"decisao"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"saida"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Interação baseada em tarefas e subproblemas.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explicitar variáveis, relações e restrições.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a tarefa deve articular dimensão material e cognitiva.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organizar dados é componente crítico da representação.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Decompor reduz a opacidade do algoritmo e revela relações intermediárias.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Decomposição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6 · TAREFA 2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decompor cálculo de média em relações?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notas.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 soma.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 tamanho.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 média.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7.5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FC3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tamanho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FC3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tamanho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Arranjo de etapas como representação do conceito.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níveis SOLO ajudam a observar respostas de menor a maior integração.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representações ampliam a percepção de propriedades e relações.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articular código, texto, tabela, gráfico e interpretação.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média aparece como relação entre soma e cardinalidade, não como fórmula isolada.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Decomposição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6 · TAREFA 3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decompor classificação?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Separe o cálculo da decisão.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Nomeie a regra.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fronteiras.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limite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situacao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"aprovado"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"rever"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Nomeação de critérios e feedback interpretativo.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feedback visual/textual deve orientar interpretação, não apenas corrigir.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solicitar explicação do raciocínio desenvolvido.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o contexto e o tipo de dado influenciam a representação escolhida.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decisão fica interpretável quando se separam critério, comparação e categoria.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Decomposição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6 · TAREFA 4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decompor uma simulação?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estado inicial.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taxa.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tempo.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 resultado.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taxa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0.05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taxa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^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Modelização com variáveis explícitas.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explicitar variáveis, relações e restrições.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representações ampliam a percepção de propriedades e relações.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listas, tabelas e gráficos comunicam histórias diferentes dos dados.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variável passa a representar uma escolha do modelo, abrindo espaço para crítica.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Decomposição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6 · TAREFA 5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decompor por funções menores?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função para média.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função para situação.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as duas.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FC3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FC3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situacao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"aprovado"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"rever"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situacao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Generalização por subfunções.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avaliar o percurso de pensamento, não apenas o código final.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o resultado final não esgota a aprendizagem do conceito.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múltiplas representações indicam modelagem mais bem-sucedida.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Funções menores deixam papéis mais claros e favorecem reutilização.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Decomposição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6 · TAREFA 6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decompor um problema de dados?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Separe coletar, organizar e representar.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uma variável para cada etapa.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as saídas.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brutos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"A"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FC3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brutos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freq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FC3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brutos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categorias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Organização de dados como parte crítica.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organizar dados é componente crítico da representação.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a forma de representação influencia erros, antecipações e reorganizações.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articular código, texto, tabela, gráfico e interpretação.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decomposição mostra que representar dados exige seleção, agrupamento e síntese.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Decomposição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6 · TAREFA 7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decompor um erro?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 a linha problemática.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Verifique entradas.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Verifique regra.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Reexecute.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entrada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divisor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media_errada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FC3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entrada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divisor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como indício de relação incorreta.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a forma de representação influencia erros, antecipações e reorganizações.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incluir revisão, depuração e reconstrução.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respostas idiossincráticas também revelam modos de pensar.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deixa de ser falha final e vira pista sobre qual relação foi mal modelada.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Decomposição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6 · TAREFA 8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decompor uma explicação?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que o estudante explique dados, regra e saída.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Registre cada parte.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Analise lacunas.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explicacao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"notas"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"media"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saida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"situacao"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Reflexão metaconceitual por partes.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avaliar o percurso de pensamento, não apenas o código final.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o percurso da tarefa revela mudanças no discurso e na ação.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níveis SOLO ajudam a observar respostas de menor a maior integração.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Explicações decompostas revelam se o estudante entende cada componente do modelo.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Decomposição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6 · TAREFA 9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decompor tarefas para colaboração?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Atribua papéis: dados, regra, teste.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resultados.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Discuta dependências.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"dados"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"Ana"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"regra"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"Joao"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"teste"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"Lia"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 de sala e compartilhamento de ideias.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orientar adaptação para diferentes contextos educacionais.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a interação consciente com a forma favorece reflexão conceitual.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atividades planejadas desenvolvem representação e pensamento de ordem superior.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decomposição também organiza o trabalho colaborativo e explicita responsabilidades.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Decomposição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6 · TAREFA 10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avaliar decomposição?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Verifique se há subproblemas com sentido.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dependências.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recomposição do resultado.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rubrica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"partes"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"dependencias"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"recomposicao"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 de integração entre partes.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níveis SOLO ajudam a observar respostas de menor a maior integração.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a análise qualitativa observa invariantes e relações mobilizadas na ação.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avaliar o percurso de pensamento, não apenas o código final.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boa decomposição não fragmenta aleatoriamente; ela preserva as relações do problema.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Decomposição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DE 15 · SÍNTESE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levamos da Aula 6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11277295" cy="2148840"/>
          </a:xfrm>
          <a:prstGeom prst="roundRect">
            <a:avLst>
              <a:gd name="adj" fmla="val 3404"/>
            </a:avLst>
          </a:prstGeom>
          <a:solidFill>
            <a:srgbClr val="1C3555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65960"/>
            <a:ext cx="1054577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E7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 do problema original é a combinação das soluções dos subproblemas.</a:t>
            </a:r>
            <a:endParaRPr lang="en-US" sz="150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E7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qualitativo recorrente: decomposição e reflexão metaconceitual.</a:t>
            </a:r>
            <a:endParaRPr lang="en-US" sz="150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E7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dividir um problema em partes que preservam significado?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4069080"/>
            <a:ext cx="11277295" cy="1051560"/>
          </a:xfrm>
          <a:prstGeom prst="roundRect">
            <a:avLst>
              <a:gd name="adj" fmla="val 6957"/>
            </a:avLst>
          </a:prstGeom>
          <a:solidFill>
            <a:srgbClr val="1E3A5A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4343400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4462272"/>
            <a:ext cx="265176" cy="26517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0876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SEGUIR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508760" y="4526280"/>
            <a:ext cx="9905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7: Generalização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Decomposição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6 - Decomposição</dc:title>
  <dc:subject>PptxGenJS Presentation</dc:subject>
  <dc:creator>PROFCOMP</dc:creator>
  <cp:lastModifiedBy>PROFCOMP</cp:lastModifiedBy>
  <cp:revision>1</cp:revision>
  <dcterms:created xsi:type="dcterms:W3CDTF">2026-08-21T00:42:43Z</dcterms:created>
  <dcterms:modified xsi:type="dcterms:W3CDTF">2026-08-21T00:42:43Z</dcterms:modified>
</cp:coreProperties>
</file>