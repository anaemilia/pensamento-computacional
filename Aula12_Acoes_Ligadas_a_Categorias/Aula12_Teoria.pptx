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2" r:id="rId13"/>
    <p:sldId id="263" r:id="rId14"/>
    <p:sldId id="264" r:id="rId15"/>
    <p:sldId id="265" r:id="rId16"/>
    <p:sldId id="260" r:id="rId6"/>
    <p:sldId id="261" r:id="rId12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  <Relationship Id="rId12" Type="http://schemas.openxmlformats.org/officeDocument/2006/relationships/slide" Target="slides/slide6.xml"/>
  <Relationship Id="rId13" Type="http://schemas.openxmlformats.org/officeDocument/2006/relationships/slide" Target="slides/slide7.xml"/>
  <Relationship Id="rId14" Type="http://schemas.openxmlformats.org/officeDocument/2006/relationships/slide" Target="slides/slide8.xml"/>
  <Relationship Id="rId15" Type="http://schemas.openxmlformats.org/officeDocument/2006/relationships/slide" Target="slides/slide9.xml"/>
  <Relationship Id="rId16" Type="http://schemas.openxmlformats.org/officeDocument/2006/relationships/slide" Target="slides/slide10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5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5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5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5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188720"/>
            <a:ext cx="3840480" cy="3840480"/>
          </a:xfrm>
          <a:prstGeom prst="ellipse">
            <a:avLst/>
          </a:prstGeom>
          <a:solidFill>
            <a:srgbClr val="2C7A8C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914400" y="5120640"/>
            <a:ext cx="3108960" cy="3108960"/>
          </a:xfrm>
          <a:prstGeom prst="ellipse">
            <a:avLst/>
          </a:prstGeom>
          <a:solidFill>
            <a:srgbClr val="E8963C">
              <a:alpha val="1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965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12 DE 15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2377440"/>
            <a:ext cx="9875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Ações Ligadas a Categorias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37033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7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 de aprender a criar tipos, vamos ver como a categoria de uma informação define quais ações fazem sentido para ela.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05256" y="5477256"/>
            <a:ext cx="658368" cy="658368"/>
          </a:xfrm>
          <a:prstGeom prst="ellipse">
            <a:avLst/>
          </a:prstGeom>
          <a:solidFill>
            <a:srgbClr val="2C7A8C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5641848"/>
            <a:ext cx="329184" cy="329184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819656" y="5477256"/>
            <a:ext cx="658368" cy="658368"/>
          </a:xfrm>
          <a:prstGeom prst="ellipse">
            <a:avLst/>
          </a:prstGeom>
          <a:solidFill>
            <a:srgbClr val="2C7A8C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4248" y="5641848"/>
            <a:ext cx="329184" cy="329184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734056" y="5477256"/>
            <a:ext cx="658368" cy="658368"/>
          </a:xfrm>
          <a:prstGeom prst="ellipse">
            <a:avLst/>
          </a:prstGeom>
          <a:solidFill>
            <a:srgbClr val="E8963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8648" y="5641848"/>
            <a:ext cx="329184" cy="32918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FA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12 · Ações Ligadas a Categorias</a:t>
            </a:r>
            <a:endParaRPr lang="en-US" sz="1000" dirty="0"/>
          </a:p>
        </p:txBody>
      </p:sp>
      <p:sp>
        <p:nvSpPr>
          <p:cNvPr id="14" name="Text 9"/>
          <p:cNvSpPr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48640" cy="548640"/>
          </a:xfrm>
          <a:prstGeom prst="ellipse">
            <a:avLst/>
          </a:prstGeom>
          <a:solidFill>
            <a:srgbClr val="2C7A8C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40080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Ações no dia a dia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548640" y="12344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3A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nosso cotidiano, diferentes categorias de coisas pedem ações específicas. Reconhecer o tipo de informação com que lidamos ajuda a escolher a ação certa para resolver um problema de forma lógica e eficiente.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2240280"/>
            <a:ext cx="5257800" cy="2103120"/>
          </a:xfrm>
          <a:prstGeom prst="roundRect">
            <a:avLst>
              <a:gd name="adj" fmla="val 5217"/>
            </a:avLst>
          </a:prstGeom>
          <a:solidFill>
            <a:srgbClr val="F5F7FA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68680" y="2468880"/>
            <a:ext cx="731520" cy="731520"/>
          </a:xfrm>
          <a:prstGeom prst="ellipse">
            <a:avLst/>
          </a:prstGeom>
          <a:solidFill>
            <a:srgbClr val="2C7A8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" y="2633472"/>
            <a:ext cx="402336" cy="40233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737360" y="251460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Frutas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914400" y="3337560"/>
            <a:ext cx="4526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A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Ações próprias como descascar ou espremer fazem sentido para essa categoria — mas não para roupas, por exemplo.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6355080" y="2240280"/>
            <a:ext cx="5257800" cy="2103120"/>
          </a:xfrm>
          <a:prstGeom prst="roundRect">
            <a:avLst>
              <a:gd name="adj" fmla="val 5217"/>
            </a:avLst>
          </a:prstGeom>
          <a:solidFill>
            <a:srgbClr val="F5F7FA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6675120" y="2468880"/>
            <a:ext cx="731520" cy="731520"/>
          </a:xfrm>
          <a:prstGeom prst="ellipse">
            <a:avLst/>
          </a:prstGeom>
          <a:solidFill>
            <a:srgbClr val="2C7A8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9712" y="2633472"/>
            <a:ext cx="402336" cy="40233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543800" y="251460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Roupas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6720840" y="3337560"/>
            <a:ext cx="4526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A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Ações próprias como lavar ou dobrar fazem sentido para essa categoria — cada tipo de coisa tem seu jeito de ser usado.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548640" y="461772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1B3A5C"/>
          </a:solidFill>
          <a:ln/>
        </p:spPr>
      </p:sp>
      <p:sp>
        <p:nvSpPr>
          <p:cNvPr id="17" name="Shape 12"/>
          <p:cNvSpPr/>
          <p:nvPr/>
        </p:nvSpPr>
        <p:spPr>
          <a:xfrm>
            <a:off x="937260" y="4937760"/>
            <a:ext cx="777240" cy="777240"/>
          </a:xfrm>
          <a:prstGeom prst="ellipse">
            <a:avLst/>
          </a:prstGeom>
          <a:solidFill>
            <a:srgbClr val="E8963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2139" y="5112639"/>
            <a:ext cx="427482" cy="42748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828800" y="4800600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Ações que atravessam categorias</a:t>
            </a:r>
            <a:endParaRPr lang="en-US" sz="1700" dirty="0"/>
          </a:p>
        </p:txBody>
      </p:sp>
      <p:sp>
        <p:nvSpPr>
          <p:cNvPr id="20" name="Text 14"/>
          <p:cNvSpPr/>
          <p:nvPr/>
        </p:nvSpPr>
        <p:spPr>
          <a:xfrm>
            <a:off x="1828800" y="5212080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C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Organizar, separar e classificar são ações genéricas: servem para frutas, roupas e muitas outras categorias ao mesmo tempo.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12 · Ações Ligadas a Categorias</a:t>
            </a:r>
            <a:endParaRPr lang="en-US" sz="1000" dirty="0"/>
          </a:p>
        </p:txBody>
      </p:sp>
      <p:sp>
        <p:nvSpPr>
          <p:cNvPr id="22" name="Text 16"/>
          <p:cNvSpPr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48640" cy="548640"/>
          </a:xfrm>
          <a:prstGeom prst="ellipse">
            <a:avLst/>
          </a:prstGeom>
          <a:solidFill>
            <a:srgbClr val="E8963C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40080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Ações Genéricas e Especializadas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325880"/>
            <a:ext cx="5257800" cy="3794760"/>
          </a:xfrm>
          <a:prstGeom prst="roundRect">
            <a:avLst>
              <a:gd name="adj" fmla="val 2892"/>
            </a:avLst>
          </a:prstGeom>
          <a:solidFill>
            <a:srgbClr val="EAF3F4"/>
          </a:solidFill>
          <a:ln/>
        </p:spPr>
      </p:sp>
      <p:sp>
        <p:nvSpPr>
          <p:cNvPr id="6" name="Shape 3"/>
          <p:cNvSpPr/>
          <p:nvPr/>
        </p:nvSpPr>
        <p:spPr>
          <a:xfrm>
            <a:off x="914400" y="1600200"/>
            <a:ext cx="822960" cy="822960"/>
          </a:xfrm>
          <a:prstGeom prst="ellipse">
            <a:avLst/>
          </a:prstGeom>
          <a:solidFill>
            <a:srgbClr val="2C7A8C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9566" y="1785366"/>
            <a:ext cx="452628" cy="45262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14400" y="256032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7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Ação Genérica</a:t>
            </a:r>
            <a:endParaRPr lang="en-US" sz="2000" dirty="0"/>
          </a:p>
        </p:txBody>
      </p:sp>
      <p:sp>
        <p:nvSpPr>
          <p:cNvPr id="9" name="Text 5"/>
          <p:cNvSpPr/>
          <p:nvPr/>
        </p:nvSpPr>
        <p:spPr>
          <a:xfrm>
            <a:off x="914400" y="3063240"/>
            <a:ext cx="45262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A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que pode ser aplicada a diferentes tipos de informações ou situações.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A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Flexível e reutilizável em vários contextos, sem precisar ser refeita a cada vez.</a:t>
            </a:r>
            <a:endParaRPr lang="en-US" sz="14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3A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problemas variados com uma única lógica de pensamento.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6355080" y="1325880"/>
            <a:ext cx="5257800" cy="3794760"/>
          </a:xfrm>
          <a:prstGeom prst="roundRect">
            <a:avLst>
              <a:gd name="adj" fmla="val 2892"/>
            </a:avLst>
          </a:prstGeom>
          <a:solidFill>
            <a:srgbClr val="FBF0E3"/>
          </a:solidFill>
          <a:ln/>
        </p:spPr>
      </p:sp>
      <p:sp>
        <p:nvSpPr>
          <p:cNvPr id="11" name="Shape 7"/>
          <p:cNvSpPr/>
          <p:nvPr/>
        </p:nvSpPr>
        <p:spPr>
          <a:xfrm>
            <a:off x="6720840" y="1600200"/>
            <a:ext cx="822960" cy="822960"/>
          </a:xfrm>
          <a:prstGeom prst="ellipse">
            <a:avLst/>
          </a:prstGeom>
          <a:solidFill>
            <a:srgbClr val="E8963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6006" y="1785366"/>
            <a:ext cx="452628" cy="45262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720840" y="256032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97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Ação Especializada</a:t>
            </a:r>
            <a:endParaRPr lang="en-US" sz="2000" dirty="0"/>
          </a:p>
        </p:txBody>
      </p:sp>
      <p:sp>
        <p:nvSpPr>
          <p:cNvPr id="14" name="Text 9"/>
          <p:cNvSpPr/>
          <p:nvPr/>
        </p:nvSpPr>
        <p:spPr>
          <a:xfrm>
            <a:off x="6720840" y="3063240"/>
            <a:ext cx="45262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A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pensada para situações específicas, feita sob medida para um tipo de informação.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A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máximo desempenho e precisão diante de necessidades bem definidas.</a:t>
            </a:r>
            <a:endParaRPr lang="en-US" sz="14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3A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Foca em eficiência quando o contexto de uso já é conhecido.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548640" y="534924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1B3A5C"/>
          </a:solidFill>
          <a:ln/>
        </p:spPr>
      </p:sp>
      <p:sp>
        <p:nvSpPr>
          <p:cNvPr id="16" name="Shape 11"/>
          <p:cNvSpPr/>
          <p:nvPr/>
        </p:nvSpPr>
        <p:spPr>
          <a:xfrm>
            <a:off x="937260" y="5509260"/>
            <a:ext cx="685800" cy="685800"/>
          </a:xfrm>
          <a:prstGeom prst="ellipse">
            <a:avLst/>
          </a:prstGeom>
          <a:solidFill>
            <a:srgbClr val="2C7A8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8710" y="5680710"/>
            <a:ext cx="342900" cy="3429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783080" y="5458968"/>
            <a:ext cx="8778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técnica — </a:t>
            </a:r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DC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compilador da linguagem Julia gera código otimizado para cada combinação de tipos usada, sem intervenção manual: um exemplo real de ação especializada aplicada automaticamente a partir de uma ação genérica.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12 · Ações Ligadas a Categorias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48640" cy="548640"/>
          </a:xfrm>
          <a:prstGeom prst="ellipse">
            <a:avLst/>
          </a:prstGeom>
          <a:solidFill>
            <a:srgbClr val="2C7A8C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40080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 Ação Genérica à Escolha Adequada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548640" y="11887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3A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função genérica é uma ação ampla que pode ser realizada de várias maneiras diferentes, dependendo da situação. Cada forma de executá-la é um "modo de fazer" próprio.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2148840"/>
            <a:ext cx="3246120" cy="356616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805940" y="1783080"/>
            <a:ext cx="731520" cy="731520"/>
          </a:xfrm>
          <a:prstGeom prst="ellipse">
            <a:avLst/>
          </a:prstGeom>
          <a:solidFill>
            <a:srgbClr val="E896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805940" y="17830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1828800" y="2766060"/>
            <a:ext cx="685800" cy="685800"/>
          </a:xfrm>
          <a:prstGeom prst="ellipse">
            <a:avLst/>
          </a:prstGeom>
          <a:solidFill>
            <a:srgbClr val="2C7A8C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3105" y="2920365"/>
            <a:ext cx="377190" cy="37719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77240" y="361188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Ação Genérica / Função Genérica</a:t>
            </a:r>
            <a:endParaRPr lang="en-US" sz="1550" dirty="0"/>
          </a:p>
        </p:txBody>
      </p:sp>
      <p:sp>
        <p:nvSpPr>
          <p:cNvPr id="12" name="Text 8"/>
          <p:cNvSpPr/>
          <p:nvPr/>
        </p:nvSpPr>
        <p:spPr>
          <a:xfrm>
            <a:off x="822960" y="4297680"/>
            <a:ext cx="2697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A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geral que determina como algo deve funcionar de forma ampla; define o jeito básico de agir em diferentes contextos, servindo como modelo comum para várias situações.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3849624" y="3794760"/>
            <a:ext cx="301752" cy="274320"/>
          </a:xfrm>
          <a:prstGeom prst="rightArrow">
            <a:avLst/>
          </a:prstGeom>
          <a:solidFill>
            <a:srgbClr val="E8963C"/>
          </a:solidFill>
          <a:ln/>
        </p:spPr>
      </p:sp>
      <p:sp>
        <p:nvSpPr>
          <p:cNvPr id="14" name="Shape 10"/>
          <p:cNvSpPr/>
          <p:nvPr/>
        </p:nvSpPr>
        <p:spPr>
          <a:xfrm>
            <a:off x="4206240" y="2148840"/>
            <a:ext cx="3246120" cy="356616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5463540" y="1783080"/>
            <a:ext cx="731520" cy="731520"/>
          </a:xfrm>
          <a:prstGeom prst="ellipse">
            <a:avLst/>
          </a:prstGeom>
          <a:solidFill>
            <a:srgbClr val="E896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5463540" y="17830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200" dirty="0"/>
          </a:p>
        </p:txBody>
      </p:sp>
      <p:sp>
        <p:nvSpPr>
          <p:cNvPr id="17" name="Shape 13"/>
          <p:cNvSpPr/>
          <p:nvPr/>
        </p:nvSpPr>
        <p:spPr>
          <a:xfrm>
            <a:off x="5486400" y="2766060"/>
            <a:ext cx="685800" cy="685800"/>
          </a:xfrm>
          <a:prstGeom prst="ellipse">
            <a:avLst/>
          </a:prstGeom>
          <a:solidFill>
            <a:srgbClr val="2C7A8C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0705" y="2920365"/>
            <a:ext cx="377190" cy="37719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4434840" y="361188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Métodos Específicos</a:t>
            </a:r>
            <a:endParaRPr lang="en-US" sz="1550" dirty="0"/>
          </a:p>
        </p:txBody>
      </p:sp>
      <p:sp>
        <p:nvSpPr>
          <p:cNvPr id="20" name="Text 15"/>
          <p:cNvSpPr/>
          <p:nvPr/>
        </p:nvSpPr>
        <p:spPr>
          <a:xfrm>
            <a:off x="4480560" y="4297680"/>
            <a:ext cx="2697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A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Formas particulares de realizar uma ação, adaptadas conforme a situação ou tipo de informação; cada método é uma maneira própria de agir, ajustada ao contexto.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7507224" y="3794760"/>
            <a:ext cx="301752" cy="274320"/>
          </a:xfrm>
          <a:prstGeom prst="rightArrow">
            <a:avLst/>
          </a:prstGeom>
          <a:solidFill>
            <a:srgbClr val="E8963C"/>
          </a:solidFill>
          <a:ln/>
        </p:spPr>
      </p:sp>
      <p:sp>
        <p:nvSpPr>
          <p:cNvPr id="22" name="Shape 17"/>
          <p:cNvSpPr/>
          <p:nvPr/>
        </p:nvSpPr>
        <p:spPr>
          <a:xfrm>
            <a:off x="7863840" y="2148840"/>
            <a:ext cx="3246120" cy="356616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9121140" y="1783080"/>
            <a:ext cx="731520" cy="731520"/>
          </a:xfrm>
          <a:prstGeom prst="ellipse">
            <a:avLst/>
          </a:prstGeom>
          <a:solidFill>
            <a:srgbClr val="E896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9121140" y="17830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200" dirty="0"/>
          </a:p>
        </p:txBody>
      </p:sp>
      <p:sp>
        <p:nvSpPr>
          <p:cNvPr id="25" name="Shape 20"/>
          <p:cNvSpPr/>
          <p:nvPr/>
        </p:nvSpPr>
        <p:spPr>
          <a:xfrm>
            <a:off x="9144000" y="2766060"/>
            <a:ext cx="685800" cy="685800"/>
          </a:xfrm>
          <a:prstGeom prst="ellipse">
            <a:avLst/>
          </a:prstGeom>
          <a:solidFill>
            <a:srgbClr val="2C7A8C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8305" y="2920365"/>
            <a:ext cx="377190" cy="37719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8092440" y="361188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Escolha Adequada</a:t>
            </a:r>
            <a:endParaRPr lang="en-US" sz="1550" dirty="0"/>
          </a:p>
        </p:txBody>
      </p:sp>
      <p:sp>
        <p:nvSpPr>
          <p:cNvPr id="28" name="Text 22"/>
          <p:cNvSpPr/>
          <p:nvPr/>
        </p:nvSpPr>
        <p:spPr>
          <a:xfrm>
            <a:off x="8138160" y="4297680"/>
            <a:ext cx="2697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A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 de escolha da melhor forma de agir diante de uma situação; envolve analisar o contexto e decidir qual atitude é mais adequada para o resultado desejado.</a:t>
            </a:r>
            <a:endParaRPr lang="en-US" sz="1250" dirty="0"/>
          </a:p>
        </p:txBody>
      </p:sp>
      <p:sp>
        <p:nvSpPr>
          <p:cNvPr id="29" name="Text 23"/>
          <p:cNvSpPr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12 · Ações Ligadas a Categorias</a:t>
            </a:r>
            <a:endParaRPr lang="en-US" sz="1000" dirty="0"/>
          </a:p>
        </p:txBody>
      </p:sp>
      <p:sp>
        <p:nvSpPr>
          <p:cNvPr id="30" name="Text 24"/>
          <p:cNvSpPr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-1280160"/>
            <a:ext cx="3657600" cy="3657600"/>
          </a:xfrm>
          <a:prstGeom prst="ellipse">
            <a:avLst/>
          </a:prstGeom>
          <a:solidFill>
            <a:srgbClr val="2C7A8C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4754880"/>
            <a:ext cx="3291840" cy="3291840"/>
          </a:xfrm>
          <a:prstGeom prst="ellipse">
            <a:avLst/>
          </a:prstGeom>
          <a:solidFill>
            <a:srgbClr val="E8963C">
              <a:alpha val="1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8686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síntese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280160"/>
            <a:ext cx="10332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Categoria da informação define a ação certa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822960" y="2660904"/>
            <a:ext cx="128016" cy="128016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7" name="Text 5"/>
          <p:cNvSpPr/>
          <p:nvPr/>
        </p:nvSpPr>
        <p:spPr>
          <a:xfrm>
            <a:off x="1143000" y="246888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C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Ações genéricas são flexíveis e reutilizáveis; ações especializadas priorizam desempenho em contextos definidos.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22960" y="3282696"/>
            <a:ext cx="128016" cy="128016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9" name="Text 7"/>
          <p:cNvSpPr/>
          <p:nvPr/>
        </p:nvSpPr>
        <p:spPr>
          <a:xfrm>
            <a:off x="1143000" y="3090672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C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função genérica pode ter vários métodos específicos, escolhidos conforme a situação.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904488"/>
            <a:ext cx="128016" cy="128016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11" name="Text 9"/>
          <p:cNvSpPr/>
          <p:nvPr/>
        </p:nvSpPr>
        <p:spPr>
          <a:xfrm>
            <a:off x="1143000" y="371246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C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Reconhecer o tipo de informação é o primeiro passo para escolher a ação mais eficiente.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22960" y="4892040"/>
            <a:ext cx="10332720" cy="1234440"/>
          </a:xfrm>
          <a:prstGeom prst="roundRect">
            <a:avLst>
              <a:gd name="adj" fmla="val 8889"/>
            </a:avLst>
          </a:prstGeom>
          <a:solidFill>
            <a:srgbClr val="1E3B5C"/>
          </a:solidFill>
          <a:ln/>
        </p:spPr>
      </p:sp>
      <p:sp>
        <p:nvSpPr>
          <p:cNvPr id="13" name="Shape 11"/>
          <p:cNvSpPr/>
          <p:nvPr/>
        </p:nvSpPr>
        <p:spPr>
          <a:xfrm>
            <a:off x="1211580" y="5120640"/>
            <a:ext cx="777240" cy="777240"/>
          </a:xfrm>
          <a:prstGeom prst="ellipse">
            <a:avLst/>
          </a:prstGeom>
          <a:solidFill>
            <a:srgbClr val="E8963C"/>
          </a:solidFill>
          <a:ln/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99032" y="5308092"/>
            <a:ext cx="402336" cy="402336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2148840" y="5074920"/>
            <a:ext cx="8686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seguir — Aula 13: 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C7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Arrays e Estruturas de Dados.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FA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12 · Ações Ligadas a Categorias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Referencias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Kicker"/>
          <p:cNvSpPr/>
          <p:nvPr/>
        </p:nvSpPr>
        <p:spPr>
          <a:xfrm>
            <a:off x="548640" y="548640"/>
            <a:ext cx="1048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2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</a:t>
            </a:r>
            <a:endParaRPr lang="pt-BR" sz="1200" dirty="0"/>
          </a:p>
        </p:txBody>
      </p:sp>
      <p:sp>
        <p:nvSpPr>
          <p:cNvPr id="901" name="Titulo"/>
          <p:cNvSpPr/>
          <p:nvPr/>
        </p:nvSpPr>
        <p:spPr>
          <a:xfrm>
            <a:off x="548640" y="1097280"/>
            <a:ext cx="1048512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Referências</a:t>
            </a:r>
            <a:endParaRPr lang="pt-BR" sz="3000" dirty="0"/>
          </a:p>
        </p:txBody>
      </p:sp>
      <p:sp>
        <p:nvSpPr>
          <p:cNvPr id="902" name="Citacoes"/>
          <p:cNvSpPr/>
          <p:nvPr/>
        </p:nvSpPr>
        <p:spPr>
          <a:xfrm>
            <a:off x="548640" y="2057400"/>
            <a:ext cx="104851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-228600" marL="228600">
              <a:lnSpc>
                <a:spcPct val="125000"/>
              </a:lnSpc>
              <a:spcAft>
                <a:spcPts val="320"/>
              </a:spcAft>
              <a:buFont typeface="Arial"/>
              <a:buChar char="•"/>
            </a:pPr>
            <a:r>
              <a:rPr lang="pt-BR" sz="1400" dirty="0">
                <a:solidFill>
                  <a:srgbClr val="DC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RAABE, André; ZORZO, Avelino F.; BLIKSTEIN, Paulo. Computação na Educação Básica: Fundamentos e Experiências. Porto Alegre: Penso, 2020. Ebook. ISBN 9786581334048.</a:t>
            </a:r>
            <a:endParaRPr lang="pt-BR" sz="1400" dirty="0"/>
          </a:p>
          <a:p>
            <a:pPr indent="-228600" marL="228600">
              <a:lnSpc>
                <a:spcPct val="125000"/>
              </a:lnSpc>
              <a:spcAft>
                <a:spcPts val="320"/>
              </a:spcAft>
              <a:buFont typeface="Arial"/>
              <a:buChar char="•"/>
            </a:pPr>
            <a:r>
              <a:rPr lang="pt-BR" sz="1400" dirty="0">
                <a:solidFill>
                  <a:srgbClr val="DC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RIBEIRO, João Araújo. Introdução à Programação e aos algoritmos. Rio de Janeiro: LTC, 2019. ISBN 978-85-216-3640-3.</a:t>
            </a:r>
            <a:endParaRPr lang="pt-BR" sz="1400" dirty="0"/>
          </a:p>
          <a:p>
            <a:pPr indent="-228600" marL="228600">
              <a:lnSpc>
                <a:spcPct val="125000"/>
              </a:lnSpc>
              <a:spcAft>
                <a:spcPts val="320"/>
              </a:spcAft>
              <a:buFont typeface="Arial"/>
              <a:buChar char="•"/>
            </a:pPr>
            <a:r>
              <a:rPr lang="pt-BR" sz="1400" dirty="0">
                <a:solidFill>
                  <a:srgbClr val="DC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Felleisen, M.; Findler, R. B.; Flatt, M.; Krishnamurthi, S. How to Design Programs. The MIT Press, 2001. Disponível em: www.htdp.org</a:t>
            </a:r>
            <a:endParaRPr lang="pt-BR" sz="1400" dirty="0"/>
          </a:p>
        </p:txBody>
      </p:sp>
      <p:sp>
        <p:nvSpPr>
          <p:cNvPr id="903" name="Rodape"/>
          <p:cNvSpPr/>
          <p:nvPr/>
        </p:nvSpPr>
        <p:spPr>
          <a:xfrm>
            <a:off x="548640" y="6343650"/>
            <a:ext cx="1048512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900" dirty="0">
                <a:solidFill>
                  <a:srgbClr val="8FA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12 · Ações Ligadas a Categorias</a:t>
            </a:r>
            <a:endParaRPr lang="pt-BR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ont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Kicker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2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TEORIA À PRÁTICA</a:t>
            </a:r>
            <a:endParaRPr lang="pt-BR" sz="1200" dirty="0"/>
          </a:p>
        </p:txBody>
      </p:sp>
      <p:sp>
        <p:nvSpPr>
          <p:cNvPr id="901" name="Titulo"/>
          <p:cNvSpPr/>
          <p:nvPr/>
        </p:nvSpPr>
        <p:spPr>
          <a:xfrm>
            <a:off x="548640" y="804672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2600" b="1" kern="0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 literatura diz sobre isso</a:t>
            </a:r>
            <a:endParaRPr lang="pt-BR" sz="2600" dirty="0"/>
          </a:p>
        </p:txBody>
      </p:sp>
      <p:sp>
        <p:nvSpPr>
          <p:cNvPr id="902" name="Itens"/>
          <p:cNvSpPr/>
          <p:nvPr/>
        </p:nvSpPr>
        <p:spPr>
          <a:xfrm>
            <a:off x="548640" y="1783080"/>
            <a:ext cx="107899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-182880" marL="182880">
              <a:lnSpc>
                <a:spcPct val="125000"/>
              </a:lnSpc>
              <a:spcAft>
                <a:spcPts val="180"/>
              </a:spcAft>
              <a:buFont typeface="Arial"/>
              <a:buChar char="•"/>
            </a:pPr>
            <a:r>
              <a:rPr lang="pt-BR" sz="1400" dirty="0">
                <a:solidFill>
                  <a:srgbClr val="3A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três próximas tarefas praticam, em Julia no Pluto, a mesma distinção desta aula: ação genérica, método especializado e escolha automática — usando despacho múltiplo (multiple dispatch), o mecanismo de Julia que decide sozinho qual método rodar.</a:t>
            </a:r>
            <a:endParaRPr lang="pt-BR" sz="1400" dirty="0"/>
          </a:p>
        </p:txBody>
      </p:sp>
      <p:sp>
        <p:nvSpPr>
          <p:cNvPr id="903" name="CaixaNotas"/>
          <p:cNvSpPr/>
          <p:nvPr/>
        </p:nvSpPr>
        <p:spPr>
          <a:xfrm>
            <a:off x="548640" y="3063240"/>
            <a:ext cx="10789920" cy="2574036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2C7A8C"/>
            </a:solidFill>
          </a:ln>
        </p:spPr>
        <p:txBody>
          <a:bodyPr/>
          <a:p/>
        </p:txBody>
      </p:sp>
      <p:sp>
        <p:nvSpPr>
          <p:cNvPr id="904" name="TituloNotas"/>
          <p:cNvSpPr/>
          <p:nvPr/>
        </p:nvSpPr>
        <p:spPr>
          <a:xfrm>
            <a:off x="868680" y="3227832"/>
            <a:ext cx="10149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sz="1150" b="1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isso se conecta ao que já estudamos</a:t>
            </a:r>
            <a:endParaRPr lang="pt-BR" sz="1150" dirty="0"/>
          </a:p>
        </p:txBody>
      </p:sp>
      <p:sp>
        <p:nvSpPr>
          <p:cNvPr id="905" name="Notas"/>
          <p:cNvSpPr/>
          <p:nvPr/>
        </p:nvSpPr>
        <p:spPr>
          <a:xfrm>
            <a:off x="868680" y="3593592"/>
            <a:ext cx="10149840" cy="19339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-160020" marL="160020">
              <a:lnSpc>
                <a:spcPct val="118000"/>
              </a:lnSpc>
              <a:spcAft>
                <a:spcPts val="600"/>
              </a:spcAft>
              <a:buFont typeface="Arial"/>
              <a:buChar char="•"/>
            </a:pPr>
            <a:r>
              <a:rPr lang="pt-BR" sz="1250" dirty="0">
                <a:solidFill>
                  <a:srgbClr val="3A4A5C"/>
                </a:solidFill>
                <a:latin typeface="Calibri" pitchFamily="34" charset="0"/>
                <a:cs typeface="Calibri" pitchFamily="34" charset="-120"/>
              </a:rPr>
              <a:t>RIBEIRO (2019): um algoritmo bem projetado trata cada tipo de dado com a operação que faz sentido para ele — a mesma ideia por trás de “ações ligadas a categorias”.</a:t>
            </a:r>
            <a:endParaRPr lang="pt-BR" sz="1250" dirty="0"/>
          </a:p>
          <a:p>
            <a:pPr indent="-160020" marL="160020">
              <a:lnSpc>
                <a:spcPct val="118000"/>
              </a:lnSpc>
              <a:spcAft>
                <a:spcPts val="600"/>
              </a:spcAft>
              <a:buFont typeface="Arial"/>
              <a:buChar char="•"/>
            </a:pPr>
            <a:r>
              <a:rPr lang="pt-BR" sz="1250" dirty="0">
                <a:solidFill>
                  <a:srgbClr val="3A4A5C"/>
                </a:solidFill>
                <a:latin typeface="Calibri" pitchFamily="34" charset="0"/>
                <a:cs typeface="Calibri" pitchFamily="34" charset="-120"/>
              </a:rPr>
              <a:t>Felleisen et al., How to Design Programs (2001): quando um dado pode assumir formas diferentes, a receita de design ensina a escrever a função por casos, um caminho de código para cada forma. O despacho múltiplo de Julia automatiza esse mesmo raciocínio: em vez de um if por caso, cada método já sabe a que tipo pertence.</a:t>
            </a:r>
            <a:endParaRPr lang="pt-BR" sz="1250" dirty="0"/>
          </a:p>
          <a:p>
            <a:pPr indent="-160020" marL="160020">
              <a:lnSpc>
                <a:spcPct val="118000"/>
              </a:lnSpc>
              <a:spcAft>
                <a:spcPts val="600"/>
              </a:spcAft>
              <a:buFont typeface="Arial"/>
              <a:buChar char="•"/>
            </a:pPr>
            <a:r>
              <a:rPr lang="pt-BR" sz="1250" dirty="0">
                <a:solidFill>
                  <a:srgbClr val="3A4A5C"/>
                </a:solidFill>
                <a:latin typeface="Calibri" pitchFamily="34" charset="0"/>
                <a:cs typeface="Calibri" pitchFamily="34" charset="-120"/>
              </a:rPr>
              <a:t>RAABE, ZORZO e BLIKSTEIN (2020): reconhecer a categoria de um dado antes de agir sobre ele é uma aplicação direta do pilar “reconhecimento de padrões” do Pensamento Computacional.</a:t>
            </a:r>
            <a:endParaRPr lang="pt-BR" sz="1250" dirty="0"/>
          </a:p>
        </p:txBody>
      </p:sp>
      <p:sp>
        <p:nvSpPr>
          <p:cNvPr id="910" name="Rodape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900" kern="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12 · Ações Ligadas a Categorias</a:t>
            </a:r>
            <a:endParaRPr lang="pt-BR" sz="900" dirty="0"/>
          </a:p>
        </p:txBody>
      </p:sp>
      <p:sp>
        <p:nvSpPr>
          <p:cNvPr id="911" name="Pagina"/>
          <p:cNvSpPr/>
          <p:nvPr/>
        </p:nvSpPr>
        <p:spPr>
          <a:xfrm>
            <a:off x="1097280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900" kern="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pt-BR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aref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Kicker"/>
          <p:cNvSpPr/>
          <p:nvPr/>
        </p:nvSpPr>
        <p:spPr>
          <a:xfrm>
            <a:off x="54864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2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12.1</a:t>
            </a:r>
            <a:endParaRPr lang="pt-BR" sz="1200" dirty="0"/>
          </a:p>
        </p:txBody>
      </p:sp>
      <p:sp>
        <p:nvSpPr>
          <p:cNvPr id="901" name="Titulo"/>
          <p:cNvSpPr/>
          <p:nvPr/>
        </p:nvSpPr>
        <p:spPr>
          <a:xfrm>
            <a:off x="548640" y="74980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2500" b="1" kern="0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a mesma função se comporta diferente por tipo?</a:t>
            </a:r>
            <a:endParaRPr lang="pt-BR" sz="2500" dirty="0"/>
          </a:p>
        </p:txBody>
      </p:sp>
      <p:sp>
        <p:nvSpPr>
          <p:cNvPr id="902" name="RotuloPluto"/>
          <p:cNvSpPr/>
          <p:nvPr/>
        </p:nvSpPr>
        <p:spPr>
          <a:xfrm>
            <a:off x="548640" y="178308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100" b="1" spc="100" kern="0" dirty="0">
                <a:solidFill>
                  <a:srgbClr val="3A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PLUTO</a:t>
            </a:r>
            <a:endParaRPr lang="pt-BR" sz="1100" dirty="0"/>
          </a:p>
        </p:txBody>
      </p:sp>
      <p:sp>
        <p:nvSpPr>
          <p:cNvPr id="903" name="Instrucoes"/>
          <p:cNvSpPr/>
          <p:nvPr/>
        </p:nvSpPr>
        <p:spPr>
          <a:xfrm>
            <a:off x="548640" y="2148840"/>
            <a:ext cx="5120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-182880" marL="182880">
              <a:lnSpc>
                <a:spcPct val="125000"/>
              </a:lnSpc>
              <a:spcAft>
                <a:spcPts val="280"/>
              </a:spcAft>
              <a:buFont typeface="Arial"/>
              <a:buChar char="•"/>
            </a:pPr>
            <a:r>
              <a:rPr lang="pt-BR" sz="1350" dirty="0">
                <a:solidFill>
                  <a:srgbClr val="3A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Defina tipos para Quadrado e Círculo.</a:t>
            </a:r>
            <a:endParaRPr lang="pt-BR" sz="1350" dirty="0"/>
          </a:p>
          <a:p>
            <a:pPr indent="-182880" marL="182880">
              <a:lnSpc>
                <a:spcPct val="125000"/>
              </a:lnSpc>
              <a:spcAft>
                <a:spcPts val="280"/>
              </a:spcAft>
              <a:buFont typeface="Arial"/>
              <a:buChar char="•"/>
            </a:pPr>
            <a:r>
              <a:rPr lang="pt-BR" sz="1350" dirty="0">
                <a:solidFill>
                  <a:srgbClr val="3A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Escreva um método de area especializado para cada tipo.</a:t>
            </a:r>
            <a:endParaRPr lang="pt-BR" sz="1350" dirty="0"/>
          </a:p>
          <a:p>
            <a:pPr indent="-182880" marL="182880">
              <a:lnSpc>
                <a:spcPct val="125000"/>
              </a:lnSpc>
              <a:spcAft>
                <a:spcPts val="280"/>
              </a:spcAft>
              <a:buFont typeface="Arial"/>
              <a:buChar char="•"/>
            </a:pPr>
            <a:r>
              <a:rPr lang="pt-BR" sz="1350" dirty="0">
                <a:solidFill>
                  <a:srgbClr val="3A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Chame area(...) para as duas formas.</a:t>
            </a:r>
            <a:endParaRPr lang="pt-BR" sz="1350" dirty="0"/>
          </a:p>
        </p:txBody>
      </p:sp>
      <p:sp>
        <p:nvSpPr>
          <p:cNvPr id="904" name="CartaoCodigo"/>
          <p:cNvSpPr/>
          <p:nvPr/>
        </p:nvSpPr>
        <p:spPr>
          <a:xfrm>
            <a:off x="5943600" y="1783080"/>
            <a:ext cx="5669280" cy="2788920"/>
          </a:xfrm>
          <a:prstGeom prst="roundRect">
            <a:avLst>
              <a:gd name="adj" fmla="val 8000"/>
            </a:avLst>
          </a:prstGeom>
          <a:solidFill>
            <a:srgbClr val="1B3A5C"/>
          </a:solidFill>
          <a:ln>
            <a:noFill/>
          </a:ln>
          <a:effectLst>
            <a:outerShdw sx="100000" sy="100000" kx="0" ky="0" algn="bl" rotWithShape="0" blurRad="101600" dist="38100" dir="5400000">
              <a:srgbClr val="44546A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905" name="Codigo"/>
          <p:cNvSpPr/>
          <p:nvPr/>
        </p:nvSpPr>
        <p:spPr>
          <a:xfrm>
            <a:off x="6263640" y="2057400"/>
            <a:ext cx="502920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pt-BR" sz="13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Quadrado</a:t>
            </a:r>
            <a:endParaRPr lang="pt-BR" sz="1300" dirty="0"/>
          </a:p>
          <a:p>
            <a:pPr indent="0" marL="0">
              <a:lnSpc>
                <a:spcPct val="130000"/>
              </a:lnSpc>
              <a:buNone/>
            </a:pPr>
            <a:r>
              <a:rPr lang="pt-BR" sz="13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lado::Float64</a:t>
            </a:r>
            <a:endParaRPr lang="pt-BR" sz="1300" dirty="0"/>
          </a:p>
          <a:p>
            <a:pPr indent="0" marL="0">
              <a:lnSpc>
                <a:spcPct val="130000"/>
              </a:lnSpc>
              <a:buNone/>
            </a:pPr>
            <a:r>
              <a:rPr lang="pt-BR" sz="13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endParaRPr lang="pt-BR" sz="1300" dirty="0"/>
          </a:p>
          <a:p>
            <a:pPr indent="0" marL="0">
              <a:lnSpc>
                <a:spcPct val="130000"/>
              </a:lnSpc>
              <a:buNone/>
            </a:pPr>
            <a:r>
              <a:rPr lang="pt-BR" sz="13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Circulo</a:t>
            </a:r>
            <a:endParaRPr lang="pt-BR" sz="1300" dirty="0"/>
          </a:p>
          <a:p>
            <a:pPr indent="0" marL="0">
              <a:lnSpc>
                <a:spcPct val="130000"/>
              </a:lnSpc>
              <a:buNone/>
            </a:pPr>
            <a:r>
              <a:rPr lang="pt-BR" sz="13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raio::Float64</a:t>
            </a:r>
            <a:endParaRPr lang="pt-BR" sz="1300" dirty="0"/>
          </a:p>
          <a:p>
            <a:pPr indent="0" marL="0">
              <a:lnSpc>
                <a:spcPct val="130000"/>
              </a:lnSpc>
              <a:buNone/>
            </a:pPr>
            <a:r>
              <a:rPr lang="pt-BR" sz="13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endParaRPr lang="pt-BR" sz="1300" dirty="0"/>
          </a:p>
          <a:p>
            <a:pPr indent="0" marL="0">
              <a:lnSpc>
                <a:spcPct val="130000"/>
              </a:lnSpc>
              <a:buNone/>
            </a:pPr>
            <a:r>
              <a:rPr lang="pt-BR" sz="13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pt-BR" sz="1300" dirty="0"/>
          </a:p>
          <a:p>
            <a:pPr indent="0" marL="0">
              <a:lnSpc>
                <a:spcPct val="130000"/>
              </a:lnSpc>
              <a:buNone/>
            </a:pPr>
            <a:r>
              <a:rPr lang="pt-BR" sz="13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area(f::Quadrado) = f.lado^2</a:t>
            </a:r>
            <a:endParaRPr lang="pt-BR" sz="1300" dirty="0"/>
          </a:p>
          <a:p>
            <a:pPr indent="0" marL="0">
              <a:lnSpc>
                <a:spcPct val="130000"/>
              </a:lnSpc>
              <a:buNone/>
            </a:pPr>
            <a:r>
              <a:rPr lang="pt-BR" sz="13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area(f::Circulo) = pi * f.raio^2</a:t>
            </a:r>
            <a:endParaRPr lang="pt-BR" sz="1300" dirty="0"/>
          </a:p>
        </p:txBody>
      </p:sp>
      <p:sp>
        <p:nvSpPr>
          <p:cNvPr id="906" name="CaixaTraco"/>
          <p:cNvSpPr/>
          <p:nvPr/>
        </p:nvSpPr>
        <p:spPr>
          <a:xfrm>
            <a:off x="5943600" y="4754880"/>
            <a:ext cx="5669280" cy="1088136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noFill/>
          </a:ln>
        </p:spPr>
        <p:txBody>
          <a:bodyPr/>
          <a:p/>
        </p:txBody>
      </p:sp>
      <p:sp>
        <p:nvSpPr>
          <p:cNvPr id="907" name="Traco"/>
          <p:cNvSpPr/>
          <p:nvPr/>
        </p:nvSpPr>
        <p:spPr>
          <a:xfrm>
            <a:off x="6217920" y="4892040"/>
            <a:ext cx="512064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pt-BR" sz="1250" b="1" dirty="0">
                <a:solidFill>
                  <a:srgbClr val="2C7A8C"/>
                </a:solidFill>
                <a:latin typeface="Courier New" pitchFamily="34" charset="0"/>
                <a:cs typeface="Courier New" pitchFamily="34" charset="-120"/>
              </a:rPr>
              <a:t>area(Quadrado(4.0))</a:t>
            </a:r>
            <a:r>
              <a:rPr lang="pt-BR" sz="1250" dirty="0">
                <a:solidFill>
                  <a:srgbClr val="3A4A5C"/>
                </a:solidFill>
                <a:latin typeface="Courier New" pitchFamily="34" charset="0"/>
                <a:cs typeface="Courier New" pitchFamily="34" charset="-120"/>
              </a:rPr>
              <a:t>  →  16.0</a:t>
            </a:r>
            <a:endParaRPr lang="pt-BR" sz="1250" dirty="0"/>
          </a:p>
          <a:p>
            <a:pPr indent="0" marL="0">
              <a:lnSpc>
                <a:spcPct val="120000"/>
              </a:lnSpc>
              <a:buNone/>
            </a:pPr>
            <a:r>
              <a:rPr lang="pt-BR" sz="1250" b="1" dirty="0">
                <a:solidFill>
                  <a:srgbClr val="2C7A8C"/>
                </a:solidFill>
                <a:latin typeface="Courier New" pitchFamily="34" charset="0"/>
                <a:cs typeface="Courier New" pitchFamily="34" charset="-120"/>
              </a:rPr>
              <a:t>area(Circulo(3.0))</a:t>
            </a:r>
            <a:r>
              <a:rPr lang="pt-BR" sz="1250" dirty="0">
                <a:solidFill>
                  <a:srgbClr val="3A4A5C"/>
                </a:solidFill>
                <a:latin typeface="Courier New" pitchFamily="34" charset="0"/>
                <a:cs typeface="Courier New" pitchFamily="34" charset="-120"/>
              </a:rPr>
              <a:t>  →  28.27</a:t>
            </a:r>
            <a:endParaRPr lang="pt-BR" sz="1250" dirty="0"/>
          </a:p>
        </p:txBody>
      </p:sp>
      <p:sp>
        <p:nvSpPr>
          <p:cNvPr id="908" name="CaixaNota"/>
          <p:cNvSpPr/>
          <p:nvPr/>
        </p:nvSpPr>
        <p:spPr>
          <a:xfrm>
            <a:off x="548640" y="4343400"/>
            <a:ext cx="5120640" cy="1234440"/>
          </a:xfrm>
          <a:prstGeom prst="roundRect">
            <a:avLst>
              <a:gd name="adj" fmla="val 8000"/>
            </a:avLst>
          </a:prstGeom>
          <a:solidFill>
            <a:srgbClr val="FCF3E7"/>
          </a:solidFill>
          <a:ln w="12700">
            <a:solidFill>
              <a:srgbClr val="E8963C"/>
            </a:solidFill>
          </a:ln>
        </p:spPr>
        <p:txBody>
          <a:bodyPr/>
          <a:p/>
        </p:txBody>
      </p:sp>
      <p:sp>
        <p:nvSpPr>
          <p:cNvPr id="909" name="Nota"/>
          <p:cNvSpPr/>
          <p:nvPr/>
        </p:nvSpPr>
        <p:spPr>
          <a:xfrm>
            <a:off x="777240" y="4343400"/>
            <a:ext cx="4663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150" i="1" kern="0" dirty="0">
                <a:solidFill>
                  <a:srgbClr val="8A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“area” é uma única função genérica — mas cada tipo usa sua própria fórmula. Julia escolhe o método certo sozinha, pelo tipo do argumento (despacho múltiplo).</a:t>
            </a:r>
            <a:endParaRPr lang="pt-BR" sz="1150" dirty="0"/>
          </a:p>
        </p:txBody>
      </p:sp>
      <p:sp>
        <p:nvSpPr>
          <p:cNvPr id="910" name="Rodape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900" kern="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12 · Ações Ligadas a Categorias</a:t>
            </a:r>
            <a:endParaRPr lang="pt-BR" sz="900" dirty="0"/>
          </a:p>
        </p:txBody>
      </p:sp>
      <p:sp>
        <p:nvSpPr>
          <p:cNvPr id="911" name="Pagina"/>
          <p:cNvSpPr/>
          <p:nvPr/>
        </p:nvSpPr>
        <p:spPr>
          <a:xfrm>
            <a:off x="1097280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900" kern="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pt-BR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aref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Kicker"/>
          <p:cNvSpPr/>
          <p:nvPr/>
        </p:nvSpPr>
        <p:spPr>
          <a:xfrm>
            <a:off x="54864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2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12.2</a:t>
            </a:r>
            <a:endParaRPr lang="pt-BR" sz="1200" dirty="0"/>
          </a:p>
        </p:txBody>
      </p:sp>
      <p:sp>
        <p:nvSpPr>
          <p:cNvPr id="901" name="Titulo"/>
          <p:cNvSpPr/>
          <p:nvPr/>
        </p:nvSpPr>
        <p:spPr>
          <a:xfrm>
            <a:off x="548640" y="74980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2500" b="1" kern="0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Julia escolhe o método certo sozinha?</a:t>
            </a:r>
            <a:endParaRPr lang="pt-BR" sz="2500" dirty="0"/>
          </a:p>
        </p:txBody>
      </p:sp>
      <p:sp>
        <p:nvSpPr>
          <p:cNvPr id="902" name="RotuloPluto"/>
          <p:cNvSpPr/>
          <p:nvPr/>
        </p:nvSpPr>
        <p:spPr>
          <a:xfrm>
            <a:off x="548640" y="178308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100" b="1" spc="100" kern="0" dirty="0">
                <a:solidFill>
                  <a:srgbClr val="3A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PLUTO</a:t>
            </a:r>
            <a:endParaRPr lang="pt-BR" sz="1100" dirty="0"/>
          </a:p>
        </p:txBody>
      </p:sp>
      <p:sp>
        <p:nvSpPr>
          <p:cNvPr id="903" name="Instrucoes"/>
          <p:cNvSpPr/>
          <p:nvPr/>
        </p:nvSpPr>
        <p:spPr>
          <a:xfrm>
            <a:off x="548640" y="2148840"/>
            <a:ext cx="5120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-182880" marL="182880">
              <a:lnSpc>
                <a:spcPct val="125000"/>
              </a:lnSpc>
              <a:spcAft>
                <a:spcPts val="280"/>
              </a:spcAft>
              <a:buFont typeface="Arial"/>
              <a:buChar char="•"/>
            </a:pPr>
            <a:r>
              <a:rPr lang="pt-BR" sz="1350" dirty="0">
                <a:solidFill>
                  <a:srgbClr val="3A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Escreva uma função descrever com um método genérico e um método especializado para números.</a:t>
            </a:r>
            <a:endParaRPr lang="pt-BR" sz="1350" dirty="0"/>
          </a:p>
          <a:p>
            <a:pPr indent="-182880" marL="182880">
              <a:lnSpc>
                <a:spcPct val="125000"/>
              </a:lnSpc>
              <a:spcAft>
                <a:spcPts val="280"/>
              </a:spcAft>
              <a:buFont typeface="Arial"/>
              <a:buChar char="•"/>
            </a:pPr>
            <a:r>
              <a:rPr lang="pt-BR" sz="1350" dirty="0">
                <a:solidFill>
                  <a:srgbClr val="3A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 como Julia escolhe automaticamente o método certo conforme o tipo do argumento.</a:t>
            </a:r>
            <a:endParaRPr lang="pt-BR" sz="1350" dirty="0"/>
          </a:p>
        </p:txBody>
      </p:sp>
      <p:sp>
        <p:nvSpPr>
          <p:cNvPr id="904" name="CartaoCodigo"/>
          <p:cNvSpPr/>
          <p:nvPr/>
        </p:nvSpPr>
        <p:spPr>
          <a:xfrm>
            <a:off x="5943600" y="1783080"/>
            <a:ext cx="5669280" cy="2788920"/>
          </a:xfrm>
          <a:prstGeom prst="roundRect">
            <a:avLst>
              <a:gd name="adj" fmla="val 8000"/>
            </a:avLst>
          </a:prstGeom>
          <a:solidFill>
            <a:srgbClr val="1B3A5C"/>
          </a:solidFill>
          <a:ln>
            <a:noFill/>
          </a:ln>
          <a:effectLst>
            <a:outerShdw sx="100000" sy="100000" kx="0" ky="0" algn="bl" rotWithShape="0" blurRad="101600" dist="38100" dir="5400000">
              <a:srgbClr val="44546A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905" name="Codigo"/>
          <p:cNvSpPr/>
          <p:nvPr/>
        </p:nvSpPr>
        <p:spPr>
          <a:xfrm>
            <a:off x="6263640" y="2057400"/>
            <a:ext cx="502920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pt-BR" sz="13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descrever(x) = "valor genérico: $x"</a:t>
            </a:r>
            <a:endParaRPr lang="pt-BR" sz="1300" dirty="0"/>
          </a:p>
          <a:p>
            <a:pPr indent="0" marL="0">
              <a:lnSpc>
                <a:spcPct val="130000"/>
              </a:lnSpc>
              <a:buNone/>
            </a:pPr>
            <a:r>
              <a:rPr lang="pt-BR" sz="13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descrever(x::Number) =</a:t>
            </a:r>
            <a:endParaRPr lang="pt-BR" sz="1300" dirty="0"/>
          </a:p>
          <a:p>
            <a:pPr indent="0" marL="0">
              <a:lnSpc>
                <a:spcPct val="130000"/>
              </a:lnSpc>
              <a:buNone/>
            </a:pPr>
            <a:r>
              <a:rPr lang="pt-BR" sz="13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"número: $x (o dobro é $(2x))"</a:t>
            </a:r>
            <a:endParaRPr lang="pt-BR" sz="1300" dirty="0"/>
          </a:p>
        </p:txBody>
      </p:sp>
      <p:sp>
        <p:nvSpPr>
          <p:cNvPr id="906" name="CaixaTraco"/>
          <p:cNvSpPr/>
          <p:nvPr/>
        </p:nvSpPr>
        <p:spPr>
          <a:xfrm>
            <a:off x="5943600" y="4754880"/>
            <a:ext cx="5669280" cy="1088136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noFill/>
          </a:ln>
        </p:spPr>
        <p:txBody>
          <a:bodyPr/>
          <a:p/>
        </p:txBody>
      </p:sp>
      <p:sp>
        <p:nvSpPr>
          <p:cNvPr id="907" name="Traco"/>
          <p:cNvSpPr/>
          <p:nvPr/>
        </p:nvSpPr>
        <p:spPr>
          <a:xfrm>
            <a:off x="6217920" y="4892040"/>
            <a:ext cx="512064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pt-BR" sz="1250" b="1" dirty="0">
                <a:solidFill>
                  <a:srgbClr val="2C7A8C"/>
                </a:solidFill>
                <a:latin typeface="Courier New" pitchFamily="34" charset="0"/>
                <a:cs typeface="Courier New" pitchFamily="34" charset="-120"/>
              </a:rPr>
              <a:t>descrever("texto")</a:t>
            </a:r>
            <a:r>
              <a:rPr lang="pt-BR" sz="1250" dirty="0">
                <a:solidFill>
                  <a:srgbClr val="3A4A5C"/>
                </a:solidFill>
                <a:latin typeface="Courier New" pitchFamily="34" charset="0"/>
                <a:cs typeface="Courier New" pitchFamily="34" charset="-120"/>
              </a:rPr>
              <a:t>  →  "valor genérico: texto"</a:t>
            </a:r>
            <a:endParaRPr lang="pt-BR" sz="1250" dirty="0"/>
          </a:p>
          <a:p>
            <a:pPr indent="0" marL="0">
              <a:lnSpc>
                <a:spcPct val="120000"/>
              </a:lnSpc>
              <a:buNone/>
            </a:pPr>
            <a:r>
              <a:rPr lang="pt-BR" sz="1250" b="1" dirty="0">
                <a:solidFill>
                  <a:srgbClr val="2C7A8C"/>
                </a:solidFill>
                <a:latin typeface="Courier New" pitchFamily="34" charset="0"/>
                <a:cs typeface="Courier New" pitchFamily="34" charset="-120"/>
              </a:rPr>
              <a:t>descrever(21)</a:t>
            </a:r>
            <a:r>
              <a:rPr lang="pt-BR" sz="1250" dirty="0">
                <a:solidFill>
                  <a:srgbClr val="3A4A5C"/>
                </a:solidFill>
                <a:latin typeface="Courier New" pitchFamily="34" charset="0"/>
                <a:cs typeface="Courier New" pitchFamily="34" charset="-120"/>
              </a:rPr>
              <a:t>  →  "número: 21 (o dobro é 42)"</a:t>
            </a:r>
            <a:endParaRPr lang="pt-BR" sz="1250" dirty="0"/>
          </a:p>
        </p:txBody>
      </p:sp>
      <p:sp>
        <p:nvSpPr>
          <p:cNvPr id="908" name="CaixaNota"/>
          <p:cNvSpPr/>
          <p:nvPr/>
        </p:nvSpPr>
        <p:spPr>
          <a:xfrm>
            <a:off x="548640" y="4343400"/>
            <a:ext cx="5120640" cy="1234440"/>
          </a:xfrm>
          <a:prstGeom prst="roundRect">
            <a:avLst>
              <a:gd name="adj" fmla="val 8000"/>
            </a:avLst>
          </a:prstGeom>
          <a:solidFill>
            <a:srgbClr val="FCF3E7"/>
          </a:solidFill>
          <a:ln w="12700">
            <a:solidFill>
              <a:srgbClr val="E8963C"/>
            </a:solidFill>
          </a:ln>
        </p:spPr>
        <p:txBody>
          <a:bodyPr/>
          <a:p/>
        </p:txBody>
      </p:sp>
      <p:sp>
        <p:nvSpPr>
          <p:cNvPr id="909" name="Nota"/>
          <p:cNvSpPr/>
          <p:nvPr/>
        </p:nvSpPr>
        <p:spPr>
          <a:xfrm>
            <a:off x="777240" y="4343400"/>
            <a:ext cx="4663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150" i="1" kern="0" dirty="0">
                <a:solidFill>
                  <a:srgbClr val="8A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Mesmo nome, dois comportamentos: despacho múltiplo é Julia decidindo qual método rodar pelo tipo do argumento recebido — não uma condição escrita à mão.</a:t>
            </a:r>
            <a:endParaRPr lang="pt-BR" sz="1150" dirty="0"/>
          </a:p>
        </p:txBody>
      </p:sp>
      <p:sp>
        <p:nvSpPr>
          <p:cNvPr id="910" name="Rodape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900" kern="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12 · Ações Ligadas a Categorias</a:t>
            </a:r>
            <a:endParaRPr lang="pt-BR" sz="900" dirty="0"/>
          </a:p>
        </p:txBody>
      </p:sp>
      <p:sp>
        <p:nvSpPr>
          <p:cNvPr id="911" name="Pagina"/>
          <p:cNvSpPr/>
          <p:nvPr/>
        </p:nvSpPr>
        <p:spPr>
          <a:xfrm>
            <a:off x="1097280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900" kern="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pt-BR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aref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Kicker"/>
          <p:cNvSpPr/>
          <p:nvPr/>
        </p:nvSpPr>
        <p:spPr>
          <a:xfrm>
            <a:off x="54864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2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12.3</a:t>
            </a:r>
            <a:endParaRPr lang="pt-BR" sz="1200" dirty="0"/>
          </a:p>
        </p:txBody>
      </p:sp>
      <p:sp>
        <p:nvSpPr>
          <p:cNvPr id="901" name="Titulo"/>
          <p:cNvSpPr/>
          <p:nvPr/>
        </p:nvSpPr>
        <p:spPr>
          <a:xfrm>
            <a:off x="548640" y="74980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2500" b="1" kern="0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Quando a ação é sempre a mesma, para qualquer tipo?</a:t>
            </a:r>
            <a:endParaRPr lang="pt-BR" sz="2500" dirty="0"/>
          </a:p>
        </p:txBody>
      </p:sp>
      <p:sp>
        <p:nvSpPr>
          <p:cNvPr id="902" name="RotuloPluto"/>
          <p:cNvSpPr/>
          <p:nvPr/>
        </p:nvSpPr>
        <p:spPr>
          <a:xfrm>
            <a:off x="548640" y="178308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100" b="1" spc="100" kern="0" dirty="0">
                <a:solidFill>
                  <a:srgbClr val="3A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PLUTO</a:t>
            </a:r>
            <a:endParaRPr lang="pt-BR" sz="1100" dirty="0"/>
          </a:p>
        </p:txBody>
      </p:sp>
      <p:sp>
        <p:nvSpPr>
          <p:cNvPr id="903" name="Instrucoes"/>
          <p:cNvSpPr/>
          <p:nvPr/>
        </p:nvSpPr>
        <p:spPr>
          <a:xfrm>
            <a:off x="548640" y="2148840"/>
            <a:ext cx="5120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-182880" marL="182880">
              <a:lnSpc>
                <a:spcPct val="125000"/>
              </a:lnSpc>
              <a:spcAft>
                <a:spcPts val="280"/>
              </a:spcAft>
              <a:buFont typeface="Arial"/>
              <a:buChar char="•"/>
            </a:pPr>
            <a:r>
              <a:rPr lang="pt-BR" sz="1350" dirty="0">
                <a:solidFill>
                  <a:srgbClr val="3A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Escreva uma função contar que funcione para qualquer coleção.</a:t>
            </a:r>
            <a:endParaRPr lang="pt-BR" sz="1350" dirty="0"/>
          </a:p>
          <a:p>
            <a:pPr indent="-182880" marL="182880">
              <a:lnSpc>
                <a:spcPct val="125000"/>
              </a:lnSpc>
              <a:spcAft>
                <a:spcPts val="280"/>
              </a:spcAft>
              <a:buFont typeface="Arial"/>
              <a:buChar char="•"/>
            </a:pPr>
            <a:r>
              <a:rPr lang="pt-BR" sz="1350" dirty="0">
                <a:solidFill>
                  <a:srgbClr val="3A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 com dois tipos diferentes de coleção.</a:t>
            </a:r>
            <a:endParaRPr lang="pt-BR" sz="1350" dirty="0"/>
          </a:p>
        </p:txBody>
      </p:sp>
      <p:sp>
        <p:nvSpPr>
          <p:cNvPr id="904" name="CartaoCodigo"/>
          <p:cNvSpPr/>
          <p:nvPr/>
        </p:nvSpPr>
        <p:spPr>
          <a:xfrm>
            <a:off x="5943600" y="1783080"/>
            <a:ext cx="5669280" cy="2788920"/>
          </a:xfrm>
          <a:prstGeom prst="roundRect">
            <a:avLst>
              <a:gd name="adj" fmla="val 8000"/>
            </a:avLst>
          </a:prstGeom>
          <a:solidFill>
            <a:srgbClr val="1B3A5C"/>
          </a:solidFill>
          <a:ln>
            <a:noFill/>
          </a:ln>
          <a:effectLst>
            <a:outerShdw sx="100000" sy="100000" kx="0" ky="0" algn="bl" rotWithShape="0" blurRad="101600" dist="38100" dir="5400000">
              <a:srgbClr val="44546A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905" name="Codigo"/>
          <p:cNvSpPr/>
          <p:nvPr/>
        </p:nvSpPr>
        <p:spPr>
          <a:xfrm>
            <a:off x="6263640" y="2057400"/>
            <a:ext cx="502920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pt-BR" sz="13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contar(colecao) = length(colecao)</a:t>
            </a:r>
            <a:endParaRPr lang="pt-BR" sz="1300" dirty="0"/>
          </a:p>
          <a:p>
            <a:pPr indent="0" marL="0">
              <a:lnSpc>
                <a:spcPct val="130000"/>
              </a:lnSpc>
              <a:buNone/>
            </a:pPr>
            <a:r>
              <a:rPr lang="pt-BR" sz="13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pt-BR" sz="1300" dirty="0"/>
          </a:p>
          <a:p>
            <a:pPr indent="0" marL="0">
              <a:lnSpc>
                <a:spcPct val="130000"/>
              </a:lnSpc>
              <a:buNone/>
            </a:pPr>
            <a:r>
              <a:rPr lang="pt-BR" sz="13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contar([1, 2, 3, 4])</a:t>
            </a:r>
            <a:endParaRPr lang="pt-BR" sz="1300" dirty="0"/>
          </a:p>
          <a:p>
            <a:pPr indent="0" marL="0">
              <a:lnSpc>
                <a:spcPct val="130000"/>
              </a:lnSpc>
              <a:buNone/>
            </a:pPr>
            <a:r>
              <a:rPr lang="pt-BR" sz="13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contar(["maçã", "banana", "pera"])</a:t>
            </a:r>
            <a:endParaRPr lang="pt-BR" sz="1300" dirty="0"/>
          </a:p>
        </p:txBody>
      </p:sp>
      <p:sp>
        <p:nvSpPr>
          <p:cNvPr id="906" name="CaixaTraco"/>
          <p:cNvSpPr/>
          <p:nvPr/>
        </p:nvSpPr>
        <p:spPr>
          <a:xfrm>
            <a:off x="5943600" y="4754880"/>
            <a:ext cx="5669280" cy="1088136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noFill/>
          </a:ln>
        </p:spPr>
        <p:txBody>
          <a:bodyPr/>
          <a:p/>
        </p:txBody>
      </p:sp>
      <p:sp>
        <p:nvSpPr>
          <p:cNvPr id="907" name="Traco"/>
          <p:cNvSpPr/>
          <p:nvPr/>
        </p:nvSpPr>
        <p:spPr>
          <a:xfrm>
            <a:off x="6217920" y="4892040"/>
            <a:ext cx="512064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pt-BR" sz="1250" b="1" dirty="0">
                <a:solidFill>
                  <a:srgbClr val="2C7A8C"/>
                </a:solidFill>
                <a:latin typeface="Courier New" pitchFamily="34" charset="0"/>
                <a:cs typeface="Courier New" pitchFamily="34" charset="-120"/>
              </a:rPr>
              <a:t>contar([1, 2, 3, 4])</a:t>
            </a:r>
            <a:r>
              <a:rPr lang="pt-BR" sz="1250" dirty="0">
                <a:solidFill>
                  <a:srgbClr val="3A4A5C"/>
                </a:solidFill>
                <a:latin typeface="Courier New" pitchFamily="34" charset="0"/>
                <a:cs typeface="Courier New" pitchFamily="34" charset="-120"/>
              </a:rPr>
              <a:t>  →  4</a:t>
            </a:r>
            <a:endParaRPr lang="pt-BR" sz="1250" dirty="0"/>
          </a:p>
          <a:p>
            <a:pPr indent="0" marL="0">
              <a:lnSpc>
                <a:spcPct val="120000"/>
              </a:lnSpc>
              <a:buNone/>
            </a:pPr>
            <a:r>
              <a:rPr lang="pt-BR" sz="1250" b="1" dirty="0">
                <a:solidFill>
                  <a:srgbClr val="2C7A8C"/>
                </a:solidFill>
                <a:latin typeface="Courier New" pitchFamily="34" charset="0"/>
                <a:cs typeface="Courier New" pitchFamily="34" charset="-120"/>
              </a:rPr>
              <a:t>contar(["maçã", ...])</a:t>
            </a:r>
            <a:r>
              <a:rPr lang="pt-BR" sz="1250" dirty="0">
                <a:solidFill>
                  <a:srgbClr val="3A4A5C"/>
                </a:solidFill>
                <a:latin typeface="Courier New" pitchFamily="34" charset="0"/>
                <a:cs typeface="Courier New" pitchFamily="34" charset="-120"/>
              </a:rPr>
              <a:t>  →  3</a:t>
            </a:r>
            <a:endParaRPr lang="pt-BR" sz="1250" dirty="0"/>
          </a:p>
        </p:txBody>
      </p:sp>
      <p:sp>
        <p:nvSpPr>
          <p:cNvPr id="908" name="CaixaNota"/>
          <p:cNvSpPr/>
          <p:nvPr/>
        </p:nvSpPr>
        <p:spPr>
          <a:xfrm>
            <a:off x="548640" y="4343400"/>
            <a:ext cx="5120640" cy="1234440"/>
          </a:xfrm>
          <a:prstGeom prst="roundRect">
            <a:avLst>
              <a:gd name="adj" fmla="val 8000"/>
            </a:avLst>
          </a:prstGeom>
          <a:solidFill>
            <a:srgbClr val="FCF3E7"/>
          </a:solidFill>
          <a:ln w="12700">
            <a:solidFill>
              <a:srgbClr val="E8963C"/>
            </a:solidFill>
          </a:ln>
        </p:spPr>
        <p:txBody>
          <a:bodyPr/>
          <a:p/>
        </p:txBody>
      </p:sp>
      <p:sp>
        <p:nvSpPr>
          <p:cNvPr id="909" name="Nota"/>
          <p:cNvSpPr/>
          <p:nvPr/>
        </p:nvSpPr>
        <p:spPr>
          <a:xfrm>
            <a:off x="777240" y="4343400"/>
            <a:ext cx="4663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150" i="1" kern="0" dirty="0">
                <a:solidFill>
                  <a:srgbClr val="8A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Aqui não existe especialização — um único método genérico já resolve para qualquer coleção. Nem toda ação precisa de vários métodos.</a:t>
            </a:r>
            <a:endParaRPr lang="pt-BR" sz="1150" dirty="0"/>
          </a:p>
        </p:txBody>
      </p:sp>
      <p:sp>
        <p:nvSpPr>
          <p:cNvPr id="910" name="Rodape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900" kern="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12 · Ações Ligadas a Categorias</a:t>
            </a:r>
            <a:endParaRPr lang="pt-BR" sz="900" dirty="0"/>
          </a:p>
        </p:txBody>
      </p:sp>
      <p:sp>
        <p:nvSpPr>
          <p:cNvPr id="911" name="Pagina"/>
          <p:cNvSpPr/>
          <p:nvPr/>
        </p:nvSpPr>
        <p:spPr>
          <a:xfrm>
            <a:off x="1097280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900" kern="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pt-BR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2026-08-20T19:01:34Z</dcterms:created>
  <dcterms:modified xsi:type="dcterms:W3CDTF">2026-08-20T19:01:34Z</dcterms:modified>
</cp:coreProperties>
</file>