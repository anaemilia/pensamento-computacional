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5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6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7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8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2ⁿ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  <c:pt idx="5">
                  <c:v>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Número de ações aproximado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400</c:v>
                </c:pt>
                <c:pt idx="2">
                  <c:v>900</c:v>
                </c:pt>
                <c:pt idx="3">
                  <c:v>1600</c:v>
                </c:pt>
                <c:pt idx="4">
                  <c:v>2500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1000</c:v>
                </c:pt>
                <c:pt idx="1">
                  <c:v>8000</c:v>
                </c:pt>
                <c:pt idx="2">
                  <c:v>27000</c:v>
                </c:pt>
                <c:pt idx="3">
                  <c:v>64000</c:v>
                </c:pt>
                <c:pt idx="4">
                  <c:v>125000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Mesma classe, inclinações diferentes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2n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2000n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T(n)=3n+5 e ΔT(n)=3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17</c:v>
                </c:pt>
                <c:pt idx="4">
                  <c:v>20</c:v>
                </c:pt>
                <c:pt idx="5">
                  <c:v>23</c:v>
                </c:pt>
                <c:pt idx="6">
                  <c:v>26</c:v>
                </c:pt>
                <c:pt idx="7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T(n)=n² e ΔT(n)=2n−1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Crescimento comparado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100</c:v>
                </c:pt>
                <c:pt idx="2">
                  <c:v>225</c:v>
                </c:pt>
                <c:pt idx="3">
                  <c:v>400</c:v>
                </c:pt>
                <c:pt idx="4">
                  <c:v>625</c:v>
                </c:pt>
                <c:pt idx="5">
                  <c:v>900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φⁿ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123</c:v>
                </c:pt>
                <c:pt idx="2">
                  <c:v>1364</c:v>
                </c:pt>
                <c:pt idx="3">
                  <c:v>15127</c:v>
                </c:pt>
                <c:pt idx="4">
                  <c:v>167761</c:v>
                </c:pt>
                <c:pt idx="5">
                  <c:v>1860498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2ⁿ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</c:v>
                </c:pt>
                <c:pt idx="1">
                  <c:v>1024</c:v>
                </c:pt>
                <c:pt idx="2">
                  <c:v>32768</c:v>
                </c:pt>
                <c:pt idx="3">
                  <c:v>1048576</c:v>
                </c:pt>
                <c:pt idx="4">
                  <c:v>33554432</c:v>
                </c:pt>
                <c:pt idx="5">
                  <c:v>1073741824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Chamadas/operações aproximadas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recursivo</c:v>
                  </c:pt>
                  <c:pt idx="1">
                    <c:v>memoizado</c:v>
                  </c:pt>
                  <c:pt idx="2">
                    <c:v>iterativo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2692537</c:v>
                </c:pt>
                <c:pt idx="1">
                  <c:v>31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Crescimento gerado no Pluto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25</c:v>
                </c:pt>
                <c:pt idx="2">
                  <c:v>100</c:v>
                </c:pt>
                <c:pt idx="3">
                  <c:v>225</c:v>
                </c:pt>
                <c:pt idx="4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125</c:v>
                </c:pt>
                <c:pt idx="2">
                  <c:v>1000</c:v>
                </c:pt>
                <c:pt idx="3">
                  <c:v>3375</c:v>
                </c:pt>
                <c:pt idx="4">
                  <c:v>8000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344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Complexidade de Algoritmos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190195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5563"/>
                </a:solidFill>
              </a:rPr>
              <a:t>Da função de custo ao Big O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4B5563"/>
                </a:solidFill>
              </a:rPr>
              <a:t>com experimentos em Julia + Pluto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" y="2971800"/>
            <a:ext cx="36576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Roteiro visual para aula ou minicurso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629400" y="1170432"/>
          <a:ext cx="4754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aprendizagem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mapa da aula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106527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48132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5636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1463040"/>
            <a:ext cx="905256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a função de custo T(n) a partir da contagem de passos.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51560" y="24688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511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2450592"/>
            <a:ext cx="905256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Interpretar sequência, decisão, repetição e recursão como contribuições distintas ao custo.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51560" y="345643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5387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91640" y="3438144"/>
            <a:ext cx="905256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Diferenciar eficiência prática, escalabilidade e classificação assintótica.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51560" y="4443984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52628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91640" y="4425696"/>
            <a:ext cx="905256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Julia + Pluto para testar hipóteses com gráficos e sliders.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pergunta central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escala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557784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algoritmo que funciona para 100 entradas ainda será viável para 100 mil?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537960" y="1097280"/>
            <a:ext cx="49377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508760"/>
            <a:ext cx="416052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de complexidade não pergunta apenas “funciona?”. Ela pergunta “como o trabalho cresce?”.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03720" y="3063240"/>
            <a:ext cx="416052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pergunta antecede o tempo em segundos, porque segundos mudam com a máquina; passos pertencem ao algoritmo.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2999232"/>
            <a:ext cx="4754880" cy="2377440"/>
          </a:xfrm>
          <a:prstGeom prst="arc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9834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n 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passos ↑↑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Passos, não segundos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modelo de custo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4300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14300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417320"/>
            <a:ext cx="1920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tempo medido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783080"/>
            <a:ext cx="434340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 de processador, cache, compilador, linguagem, SO, I/O e concorrência.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29400" y="1417320"/>
            <a:ext cx="1920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passos lógicos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1783080"/>
            <a:ext cx="434340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Pertencem ao algoritmo e permitem comparar soluções antes de executar.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49834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Complexidade começa na contagem de ações fundamentais.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código ao Big 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pipeline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04288"/>
            <a:ext cx="17830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761488"/>
            <a:ext cx="17830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2532888"/>
            <a:ext cx="566928" cy="41148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0574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304288"/>
            <a:ext cx="17830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761488"/>
            <a:ext cx="17830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 de custo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23560" y="2532888"/>
            <a:ext cx="566928" cy="41148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20574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304288"/>
            <a:ext cx="17830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Termo dominante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63640" y="2761488"/>
            <a:ext cx="17830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 do crescimento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0" y="2532888"/>
            <a:ext cx="566928" cy="41148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20574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2304288"/>
            <a:ext cx="17830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61120" y="2761488"/>
            <a:ext cx="17830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572000"/>
            <a:ext cx="10058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ordem assintótica é o último passo. Ela não substitui a função de custo.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Ação fundamental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primeira decisão da análise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6400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contar, defina o que será contado.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68680" y="196596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96596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196596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240280"/>
            <a:ext cx="1828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comparação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761488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v[i] &gt; 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09160" y="2240280"/>
            <a:ext cx="1828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soma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761488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+= v[i]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21040" y="2240280"/>
            <a:ext cx="1828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chamada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2761488"/>
            <a:ext cx="2560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fib(n-1)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0120" y="4892040"/>
            <a:ext cx="10515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escolha precisa ser coerente durante toda a análise.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Sequências calibram o crescimento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constantes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4800600" cy="3291840"/>
          </a:xfrm>
          <a:prstGeom prst="roundRect">
            <a:avLst>
              <a:gd name="adj" fmla="val 1389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463040"/>
            <a:ext cx="4471416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1:n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+=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+=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+=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80760" y="1508760"/>
            <a:ext cx="51206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três ações dentro do laço geram uma constante multiplicativa.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144768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 = 3n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44768" y="3703320"/>
            <a:ext cx="47548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Big O, isso vira O(n), mas a constante representa trabalho real.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Constante aditiva e constante multiplicativa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T(n)=an+b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70432"/>
            <a:ext cx="4754880" cy="4343400"/>
          </a:xfrm>
          <a:prstGeom prst="roundRect">
            <a:avLst>
              <a:gd name="adj" fmla="val 1053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07592"/>
            <a:ext cx="4425696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1:n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soma += v[i]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 +=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soma / cont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1170432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508760"/>
            <a:ext cx="4389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do laço: custo fixo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30936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Dentro do laço: custo por elemento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309360" y="2971800"/>
            <a:ext cx="4389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 do laço: custo fixo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309360" y="4069080"/>
            <a:ext cx="4297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aproximado: T(n)=2n+4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Condicionais ajustam caminhos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seleção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4343400" cy="2560320"/>
          </a:xfrm>
          <a:prstGeom prst="roundRect">
            <a:avLst>
              <a:gd name="adj" fmla="val 1786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63040"/>
            <a:ext cx="4014216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&gt;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soma +=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soma -=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0" y="1371600"/>
            <a:ext cx="53035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Mesmo com dois caminhos, apenas um é executado.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715000" y="2423160"/>
            <a:ext cx="52120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custo costuma permanecer constante: O(1).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15000" y="3429000"/>
            <a:ext cx="50749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 condicionais importam para melhor caso, pior caso e caso médio.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IF dentro do laço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onde o custo se repete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298448"/>
            <a:ext cx="4846320" cy="2971800"/>
          </a:xfrm>
          <a:prstGeom prst="roundRect">
            <a:avLst>
              <a:gd name="adj" fmla="val 1538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35608"/>
            <a:ext cx="451713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1:n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v[i] &gt;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 +=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80760" y="1417320"/>
            <a:ext cx="4754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IF é constante, mas está sendo executado n vezes.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144768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 ≈ c · 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44768" y="3703320"/>
            <a:ext cx="48920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prática é: quantas vezes esta decisão será tomada?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Laços multiplicam trabalho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repetição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11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1143000"/>
          <a:ext cx="6400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43800" y="1325880"/>
            <a:ext cx="384048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laço aninhado introduz uma nova dimensão de crescimento.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635240" y="2788920"/>
            <a:ext cx="33832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laço → O(n)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laços → O(n²)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laços → O(n³)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Laço simples: crescimento linear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exemplo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70432"/>
            <a:ext cx="4800600" cy="3977640"/>
          </a:xfrm>
          <a:prstGeom prst="roundRect">
            <a:avLst>
              <a:gd name="adj" fmla="val 1149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07592"/>
            <a:ext cx="4471416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soma(v)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 in 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 += 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170432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há uma ação principal por elemento: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T(n)=n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 marginal: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 − T(n−1) = 1</a:t>
            </a:r>
            <a:endParaRPr lang="en-US" sz="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Laço duplo: crescimento quadrático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produto de dimensões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4617720" cy="3154680"/>
          </a:xfrm>
          <a:prstGeom prst="roundRect">
            <a:avLst>
              <a:gd name="adj" fmla="val 1449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63040"/>
            <a:ext cx="4288536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1:n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1:n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 +=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897880" y="1417320"/>
            <a:ext cx="49834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laço interno executa n vezes para cada valor de i.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89320" y="2697480"/>
            <a:ext cx="36576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· n = n²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989320" y="3703320"/>
            <a:ext cx="49377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 marginal aproximado cresce com n.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Multiplicação clássica de matrizes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três índices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5486400" cy="4480560"/>
          </a:xfrm>
          <a:prstGeom prst="roundRect">
            <a:avLst>
              <a:gd name="adj" fmla="val 1020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280160"/>
            <a:ext cx="5157216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1:n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1:n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C[i,j]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k in 1:n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C[i,j] += A[i,k] * B[k,j]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1417320"/>
            <a:ext cx="4434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Há n² posições em C.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29400" y="2148840"/>
            <a:ext cx="443484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cada posição, somamos n produtos.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29400" y="3246120"/>
            <a:ext cx="43891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 ≈ n² · n = n³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629400" y="4343400"/>
            <a:ext cx="44348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exemplo mostra como a estrutura do problema impõe crescimento.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Big O e o papel de n₀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abstração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188720"/>
            <a:ext cx="49377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45920"/>
            <a:ext cx="42976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 = O(g(n)) quando existem c &gt; 0 e n₀ tais que: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2788920"/>
            <a:ext cx="42976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 ≤ c · g(n)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todo n ≥ n₀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263640" y="1554480"/>
            <a:ext cx="480060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n₀ admite que o início da curva pode ser irregular.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63640" y="2971800"/>
            <a:ext cx="47548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O não nega as constantes. Ele escolhe olhar para a região assintótica.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Constantes escondidas ainda importam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eficiência x escalabilidade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1078992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5236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Ambas são O(n).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452360" y="2148840"/>
            <a:ext cx="38862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 a constante multiplicativa muda o custo concreto.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452360" y="3703320"/>
            <a:ext cx="388620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O avalia escalabilidade; T(n) preserva eficiência aproximada.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Coeficiente angular e custo marginal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ponte com cálculo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57607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T(n)=an+b, o coeficiente a é a inclinação da reta de custo.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Derivada discreta: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3246120"/>
            <a:ext cx="42976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ΔT(n) = T(n) − T(n−1)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47548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Interpretação: quanto custa adicionar mais um elemento à entrada.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3794760"/>
            <a:ext cx="4572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ideia aproxima análise de algoritmos e cálculo discreto.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 local estável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linear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18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1097280"/>
          <a:ext cx="64008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06640" y="1417320"/>
            <a:ext cx="397764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novo elemento acrescenta praticamente o mesmo bloco de trabalho.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06640" y="3063240"/>
            <a:ext cx="38404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Exemplo: percorrer um vetor uma única vez.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 local crescente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quadrático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19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1097280"/>
          <a:ext cx="64008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06640" y="1417320"/>
            <a:ext cx="397764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trabalho adicional por novo elemento cresce com n.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06640" y="3063240"/>
            <a:ext cx="38404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isso algoritmos quadráticos ficam rapidamente caros.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Fibonacci como função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recorrência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1325880"/>
            <a:ext cx="48463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828800"/>
            <a:ext cx="420624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F(0)=0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F(1)=1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F(n)=F(n−1)+F(n−2)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355080" y="1554480"/>
            <a:ext cx="457200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definição é curta, mas a implementação recursiva ingênua gera uma árvore de chamadas.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355080" y="3337560"/>
            <a:ext cx="45720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problema não é “usar recursão”. O problema é recalcular os mesmos subproblemas.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Fibonacci recursivo ingênuo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código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88720"/>
            <a:ext cx="5486400" cy="3794760"/>
          </a:xfrm>
          <a:prstGeom prst="roundRect">
            <a:avLst>
              <a:gd name="adj" fmla="val 1205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25880"/>
            <a:ext cx="5157216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fib(n)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fib(n-1) + fib(n-2)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1508760"/>
            <a:ext cx="42976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Há poucas linhas de código, mas muitas chamadas repetidas.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720840" y="3063240"/>
            <a:ext cx="420624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Linhas de código não medem complexidade.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720840" y="4069080"/>
            <a:ext cx="4114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estrutura de chamadas é o objeto da análise.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Árvore de chamadas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recomputação visual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-201168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201168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2560320"/>
            <a:ext cx="-91440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2560320"/>
            <a:ext cx="91440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83880" y="2560320"/>
            <a:ext cx="-73152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3880" y="2560320"/>
            <a:ext cx="73152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3566160"/>
            <a:ext cx="-73152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3566160"/>
            <a:ext cx="73152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3566160"/>
            <a:ext cx="-36576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3566160"/>
            <a:ext cx="54864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123444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3898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Fib(5)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224028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3957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Fib(4)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224028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23957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Fib(3)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0" y="324612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34015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Fib(3)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324612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4015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Fib(2)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324612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4015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Fib(2)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412480" y="324612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34015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Fib(1)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011680" y="42519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44074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Fib(2)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74720" y="42519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44074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Fib(1)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06240" y="42519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44074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Fib(1)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20640" y="42519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44074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Fib(0)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7240" y="5440680"/>
            <a:ext cx="107899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Fib(3) e Fib(2) aparecem mais de uma vez. Isso é recomputação.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 do Fibonacci ingênuo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recorrência de custo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920240"/>
            <a:ext cx="45720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T(n)=T(n−1)+T(n−2)+1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43000" y="2971800"/>
            <a:ext cx="43434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soma das duas chamadas gera uma expansão em árvore.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1600200"/>
            <a:ext cx="42519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Crescimento aproximado: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32918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O(φⁿ)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00800" y="3429000"/>
            <a:ext cx="4297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φ = (1+√5)/2 ≈ 1,618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Polinomial versus exponencial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mudança estrutural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24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097280"/>
          <a:ext cx="6537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43800" y="1417320"/>
            <a:ext cx="37490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n², a variável está na base.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43800" y="2651760"/>
            <a:ext cx="37490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φⁿ, a variável está no expoente.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4380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diferença explica a explosão.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Recursão não é sinônimo de explosão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precisão conceitual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23444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123444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00200"/>
            <a:ext cx="1371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linear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265176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T(n)=T(n−1)+1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O(n)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1645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logarítmica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274320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T(n)=T(n/2)+1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O(log n)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21040" y="1600200"/>
            <a:ext cx="2286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com sobreposição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2148840"/>
            <a:ext cx="27432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T(n)=T(n−1)+T(n−2)+1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O(φⁿ)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5257800"/>
            <a:ext cx="101498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estrutura dos subproblemas determina o crescimento.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Programação dinâmica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eliminar recomputação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74920" y="2331720"/>
            <a:ext cx="1097280" cy="50292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234440"/>
            <a:ext cx="3794760" cy="40233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234440"/>
            <a:ext cx="44805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memória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4300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mesmo subproblema é resolvido várias vezes.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1228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memoização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12280" y="2423160"/>
            <a:ext cx="361188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estado F(i) é calculado uma única vez e armazenado.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12280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Custo: O(n)</a:t>
            </a:r>
            <a:endParaRPr lang="en-US" sz="2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Fibonacci iterativo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mesma função, outra estratégia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70432"/>
            <a:ext cx="5486400" cy="4160520"/>
          </a:xfrm>
          <a:prstGeom prst="roundRect">
            <a:avLst>
              <a:gd name="adj" fmla="val 1099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07592"/>
            <a:ext cx="5157216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fib_iter(n)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2:n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== 0 ? 0 : 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1508760"/>
            <a:ext cx="43891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algoritmo percorre os estados de 0 até n.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29400" y="2880360"/>
            <a:ext cx="420624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Tempo: O(n)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Memória: O(1)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629400" y="4389120"/>
            <a:ext cx="40233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há recomputação.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Comparando estratégias para Fibonacci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n = 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28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1097280"/>
          <a:ext cx="6492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43800" y="1508760"/>
            <a:ext cx="370332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programação dinâmica não muda a definição de Fibonacci.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543800" y="2926080"/>
            <a:ext cx="37033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 muda a organização do cálculo.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543800" y="4160520"/>
            <a:ext cx="37033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de exponencial para linear.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Julia + Pluto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por que usar na aula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71323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Pluto permite transformar complexidade em experimento visual.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205740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05740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0" y="205740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Sliders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14300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alteram n em tempo real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Gráficos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84632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mostram crescimento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4964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54964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 a própria evidência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Estrutura do notebook Pluto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roteiro executável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81381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notebook acompanha a apresentação e contém quatro experimentos.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9875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Contagem de operações em laços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9875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Curvas n, n² e n³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383280"/>
            <a:ext cx="9875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Fibonacci: recursivo, memoizado e iterativo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9875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Custo marginal ΔT(n)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05840" y="4800600"/>
            <a:ext cx="9966960" cy="109728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4937760"/>
            <a:ext cx="963777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PlutoUI, Plots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@bind n Slider(1:100, default=20)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plot(ns, [ns, ns.^2, ns.^3])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Experimento 1: laços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contar, não cronometrar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5669280" cy="3108960"/>
          </a:xfrm>
          <a:prstGeom prst="roundRect">
            <a:avLst>
              <a:gd name="adj" fmla="val 1471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71600"/>
            <a:ext cx="5340096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ops_linear(n) = 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ops_quadratico(n) = n^2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ops_cubico(n) = n^3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 ops_linear(n) ops_quadratico(n) ops_cubico(n)]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12280" y="1508760"/>
            <a:ext cx="411480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aluno altera n e observa a diferença entre crescimento linear, quadrático e cúbico.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812280" y="3429000"/>
            <a:ext cx="40233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é uma ponte entre código e função de custo.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Experimento 2: curvas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visualização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32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143000"/>
          <a:ext cx="64922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43800" y="1508760"/>
            <a:ext cx="36576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visualização torna perceptível a diferença entre “funcionar” e “escalar”.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543800" y="3337560"/>
            <a:ext cx="36576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gráfico é gerado a partir das funções de custo.</a:t>
            </a:r>
            <a:endParaRPr lang="en-US" sz="2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Experimento 3: Fibonacci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contagem de chamadas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6035040" cy="2103120"/>
          </a:xfrm>
          <a:prstGeom prst="roundRect">
            <a:avLst>
              <a:gd name="adj" fmla="val 2174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25880"/>
            <a:ext cx="5705856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calls_naive(n) = n &lt;= 1 ? 1 : calls_naive(n-1) + calls_naive(n-2) + 1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fib_iter_ops(n) = max(n, 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0" y="1325880"/>
            <a:ext cx="420624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evitar travar a aula, o notebook modela a quantidade de chamadas pela recorrência de custo.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40880" y="3337560"/>
            <a:ext cx="4023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objetivo não é esperar o algoritmo terminar, mas entender por que ele explode.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Experimento 4: custo marginal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ΔT(n)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6035040" cy="3794760"/>
          </a:xfrm>
          <a:prstGeom prst="roundRect">
            <a:avLst>
              <a:gd name="adj" fmla="val 1205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280160"/>
            <a:ext cx="5705856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delta(T, n) = T(n) - T(n-1)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linear(n) = 3n + 5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quadratica(n) = n^2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plot(ns[2:end], [delta.(Ref(linear), ns[2:end]),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delta.(Ref(quadratica), ns[2:end])])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1325880"/>
            <a:ext cx="420624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derivada discreta mostra o custo de aumentar a entrada em uma unidade.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040880" y="3246120"/>
            <a:ext cx="40233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é a ponte com coeficiente angular, inclinação e custo marginal.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em sala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estimativa durante a escrita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7589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executar, peça que os alunos respondam: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Qual é a ação fundamental?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587752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Quantas vezes ela ocorre?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300984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 sequência gera constante aditiva ou multiplicativa?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0120" y="4014216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 IF muda a ordem ou apenas o caminho?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727448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Se dobrar n, o trabalho dobra, quadruplica ou cresce mais?</a:t>
            </a:r>
            <a:endParaRPr lang="en-US" sz="2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frase central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69848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O não é o ponto de partida.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69848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ponto de partida é a função de custo do algoritmo.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80160" y="4023360"/>
            <a:ext cx="96012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Laços criam crescimento. Sequências calibram crescimento. Programação dinâmica elimina recomputação.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Complexidade de Algoritmos</dc:title>
  <dc:subject>Complexidade de algoritmos, Big O, Fibonacci, Julia e Pluto</dc:subject>
  <dc:creator>OpenAI</dc:creator>
  <cp:lastModifiedBy>OpenAI</cp:lastModifiedBy>
  <cp:revision>1</cp:revision>
  <dcterms:created xsi:type="dcterms:W3CDTF">2026-06-14T03:17:01Z</dcterms:created>
  <dcterms:modified xsi:type="dcterms:W3CDTF">2026-06-14T03:17:01Z</dcterms:modified>
</cp:coreProperties>
</file>