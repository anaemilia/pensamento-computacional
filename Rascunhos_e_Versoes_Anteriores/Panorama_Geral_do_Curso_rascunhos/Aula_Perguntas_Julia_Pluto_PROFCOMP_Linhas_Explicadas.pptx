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21"/>
    <p:sldId id="271" r:id="rId22"/>
    <p:sldId id="272" r:id="rId23"/>
    <p:sldId id="269" r:id="rId20"/>
    <p:sldId id="273" r:id="rId24"/>
    <p:sldId id="259" r:id="rId5"/>
    <p:sldId id="274" r:id="rId25"/>
    <p:sldId id="275" r:id="rId26"/>
    <p:sldId id="276" r:id="rId27"/>
    <p:sldId id="260" r:id="rId6"/>
    <p:sldId id="277" r:id="rId28"/>
    <p:sldId id="278" r:id="rId29"/>
    <p:sldId id="279" r:id="rId30"/>
    <p:sldId id="261" r:id="rId7"/>
    <p:sldId id="280" r:id="rId31"/>
    <p:sldId id="281" r:id="rId32"/>
    <p:sldId id="282" r:id="rId33"/>
    <p:sldId id="262" r:id="rId8"/>
    <p:sldId id="283" r:id="rId34"/>
    <p:sldId id="284" r:id="rId35"/>
    <p:sldId id="285" r:id="rId36"/>
    <p:sldId id="263" r:id="rId9"/>
    <p:sldId id="286" r:id="rId37"/>
    <p:sldId id="287" r:id="rId38"/>
    <p:sldId id="288" r:id="rId39"/>
    <p:sldId id="289" r:id="rId40"/>
    <p:sldId id="264" r:id="rId10"/>
    <p:sldId id="290" r:id="rId41"/>
    <p:sldId id="291" r:id="rId42"/>
    <p:sldId id="292" r:id="rId43"/>
    <p:sldId id="265" r:id="rId11"/>
    <p:sldId id="293" r:id="rId44"/>
    <p:sldId id="294" r:id="rId45"/>
    <p:sldId id="295" r:id="rId46"/>
    <p:sldId id="296" r:id="rId47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01</a:t>
            </a:r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7863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se a aula começasse pelas perguntas?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776"/>
                </a:solidFill>
              </a:rPr>
              <a:t>Julia + Pluto em Pensamento Computacional — PROFCOMP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5146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03040"/>
                </a:solidFill>
              </a:rPr>
              <a:t>Do código final ao percurso: perguntar, manipular, visualizar, interpretar e revisar.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3252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15000" dirty="0"/>
          </a:p>
        </p:txBody>
      </p:sp>
      <p:sp>
        <p:nvSpPr>
          <p:cNvPr id="10" name="Shape 8"/>
          <p:cNvSpPr/>
          <p:nvPr/>
        </p:nvSpPr>
        <p:spPr>
          <a:xfrm>
            <a:off x="914400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9264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perguntar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98548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235708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90572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testar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19856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557016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11880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ver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41164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878324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33188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explicar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3246120"/>
            <a:ext cx="3108960" cy="1508760"/>
          </a:xfrm>
          <a:prstGeom prst="arc">
            <a:avLst/>
          </a:prstGeom>
          <a:noFill/>
          <a:ln w="27940">
            <a:solidFill>
              <a:srgbClr val="1D77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35240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14B"/>
                </a:solidFill>
              </a:rPr>
              <a:t>A ferramenta não é o centro.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2314B"/>
                </a:solidFill>
              </a:rPr>
              <a:t>A tarefa é o centro.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02</a:t>
            </a:r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FECHAMENTO COMO ABERTURA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perguntas guiam o treino?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98448" y="1499616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 que o Pluto tornou visível?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98448" y="2441448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A reatividade ajudou a perceber relações?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3483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98448" y="3383280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usamos pensamento indutivo?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4425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4325112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usamos pensamento dedutivo?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1499616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Quais tarefas exigiram decomposição?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63640" y="2542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84848" y="2441448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apareceu generalização?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263640" y="3483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3383280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houve transformação de dados?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263640" y="4425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84848" y="4325112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Quais foram os limites dos modelos?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4B"/>
                </a:solidFill>
              </a:rPr>
              <a:t>Cada pergunta vira uma pequena tarefa no Pluto e um critério qualitativo de análise do percurso.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03</a:t>
            </a:r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o Pluto torna visível que ficaria menos evidente em um código tradicional?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Abra três células: dados, regra e saída.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o mesmo problema em texto, código e tabela.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indique quais relações ficaram visíveis.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dados = [1, 2, 3, 4]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quadrados = dados .^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[(d, q) for (d,q) in zip(dados, quadrados)]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Representação como mediação conceitual.</a:t>
            </a:r>
          </a:p>
          <a:p>
            <a:r>
              <a:rPr sz="1200"/>
              <a:t>• Visualização de relações, estruturas e propriedades.</a:t>
            </a:r>
          </a:p>
          <a:p>
            <a:r>
              <a:rPr sz="1200"/>
              <a:t>• A tarefa torna a saída interpretável, não apenas executável.</a:t>
            </a:r>
          </a:p>
          <a:p>
            <a:r>
              <a:rPr sz="1200"/>
              <a:t>• Hatano (1997): problemas devem ensinar modelagem da realidade, não apenas aplicar algoritmos prontos.</a:t>
            </a:r>
          </a:p>
          <a:p>
            <a:r>
              <a:rPr sz="1200"/>
              <a:t>• Queiroz et al. (2010): múltiplas representações ampliam a percepção de aspectos diferentes do mesmo conceito.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Vergnaud; Gérard; Goldin &amp; Kaput; Elia, Gagatsis &amp; Demetriou.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00" b="0">
                <a:solidFill>
                  <a:srgbClr val="1F2937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9436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28600"/>
            <a:ext cx="822960" cy="6858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3600" b="1">
                <a:solidFill>
                  <a:srgbClr val="1D7776"/>
                </a:solidFill>
                <a:latin typeface="Aptos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1298448"/>
            <a:ext cx="137160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1D7776"/>
                </a:solidFill>
                <a:latin typeface="Aptos"/>
              </a:rPr>
              <a:t>explicação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184"/>
            <a:ext cx="685800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200" b="1">
                <a:solidFill>
                  <a:srgbClr val="1D7776"/>
                </a:solidFill>
                <a:latin typeface="Aptos"/>
              </a:rPr>
              <a:t>EXPLICAÇÃO MATEMÁTICA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9235440" cy="56692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Como ler `dados = [1, 2, 3, 4]` pela Teoria de Conjuntos?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89888"/>
            <a:ext cx="4251960" cy="658368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72768"/>
            <a:ext cx="3840480" cy="23774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900" b="0">
                <a:solidFill>
                  <a:srgbClr val="E8F5F4"/>
                </a:solidFill>
                <a:latin typeface="Consolas"/>
              </a:rPr>
              <a:t>dados = [1, 2, 3, 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67712"/>
            <a:ext cx="5257800" cy="148132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Em matemática, os valores podem ser associados ao conjunto:
D = {1, 2, 3, 4}.
Mas, em Computação, `dados` não é apenas um conjunto simples: a ordem importa e cada valor ocupa uma posição.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89888"/>
            <a:ext cx="4983480" cy="1828800"/>
          </a:xfrm>
          <a:prstGeom prst="roundRect">
            <a:avLst/>
          </a:prstGeom>
          <a:solidFill>
            <a:srgbClr val="D8ECEA"/>
          </a:solidFill>
          <a:ln w="12700">
            <a:solidFill>
              <a:srgbClr val="C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43891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600" b="1">
                <a:solidFill>
                  <a:srgbClr val="1D7776"/>
                </a:solidFill>
                <a:latin typeface="Aptos"/>
              </a:rPr>
              <a:t>Interpretação como função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938528"/>
            <a:ext cx="4389120" cy="8686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Aptos"/>
              </a:rPr>
              <a:t>Índices: I = {1, 2, 3, 4}
Valores: D = {1, 2, 3, 4}
f: I → D, tal que f(1)=1, f(2)=2, f(3)=3, f(4)=4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429000"/>
            <a:ext cx="49834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602736"/>
            <a:ext cx="448056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600" b="1">
                <a:solidFill>
                  <a:srgbClr val="1D7776"/>
                </a:solidFill>
                <a:latin typeface="Aptos"/>
              </a:rPr>
              <a:t>Relação por pares ordenados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950208"/>
            <a:ext cx="4480560" cy="29260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800" b="0">
                <a:solidFill>
                  <a:srgbClr val="1F2937"/>
                </a:solidFill>
                <a:latin typeface="Consolas"/>
              </a:rPr>
              <a:t>f = {(1,1), (2,2), (3,3), (4,4)}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60520"/>
            <a:ext cx="5349240" cy="1298448"/>
          </a:xfrm>
          <a:prstGeom prst="roundRect">
            <a:avLst/>
          </a:prstGeom>
          <a:solidFill>
            <a:srgbClr val="D8ECEA"/>
          </a:solidFill>
          <a:ln w="12700">
            <a:solidFill>
              <a:srgbClr val="C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52544"/>
            <a:ext cx="480060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500" b="1">
                <a:solidFill>
                  <a:srgbClr val="1D7776"/>
                </a:solidFill>
                <a:latin typeface="Aptos"/>
              </a:rPr>
              <a:t>Síntese para o Pensamento Computacional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90872"/>
            <a:ext cx="4800600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Aptos"/>
              </a:rPr>
              <a:t>O vetor articula coleção, ordem, índice e valor.
A representação computacional amplia a percepção do conceito: não vemos apenas números, mas a relação entre posições e valores.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650992"/>
            <a:ext cx="41148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100" b="1">
                <a:solidFill>
                  <a:srgbClr val="1D7776"/>
                </a:solidFill>
                <a:latin typeface="Aptos"/>
              </a:rPr>
              <a:t>ASPECTO QUALITATIVO MOBILIZADO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916168"/>
            <a:ext cx="978408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Aptos"/>
              </a:rPr>
              <a:t>Múltiplas representações ampliam a percepção de aspectos diferentes do mesmo conceito; aqui, a lista computacional é vista como conjunto, sequência e função índice→valor.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800600"/>
            <a:ext cx="4846320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Aptos"/>
              </a:rPr>
              <a:t>Nota: em Julia, [1, 2, 3, 4] cria um vetor; [1 2 3 4] cria uma matriz linha 1×4.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05</a:t>
            </a:r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reatividade ajudou a perceber relações entre variáveis?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variáveis em células separadas.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um valor e execute a célula.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quais células dependentes são atualizadas.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valor_inicial = 100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valor_final = valor_inicial * (1 + taxa)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Manipulação de parâmetros e feedback imediato.</a:t>
            </a:r>
          </a:p>
          <a:p>
            <a:r>
              <a:rPr sz="1200"/>
              <a:t>• Comparação entre estados de um mesmo modelo.</a:t>
            </a:r>
          </a:p>
          <a:p>
            <a:r>
              <a:rPr sz="1200"/>
              <a:t>• A relação entre ação do estudante e resposta do ambiente fica explícita.</a:t>
            </a:r>
          </a:p>
          <a:p>
            <a:r>
              <a:rPr sz="1200"/>
              <a:t>• Hatano (1997): modelar exige testar interpretações e monitorar sua plausibilidade.</a:t>
            </a:r>
          </a:p>
          <a:p>
            <a:r>
              <a:rPr sz="1200"/>
              <a:t>• Queiroz et al. (2010): diferentes interações ampliam a capacidade mediadora da forma e tornam propriedades mais perceptíveis.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De-Souza &amp; Sedig; Sedig, Klawe &amp; Westrom; Sedighian &amp; Westrom.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06</a:t>
            </a:r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 quais momentos usamos pensamento indutivo?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Apresente três sequências numéricas.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proponha a regra provável.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novos termos e discuta quando a hipótese falha.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seq = [2, 4, 8, 16]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proximo = 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hipotese = "multiplicar por 2"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Investigação exploratória e reconhecimento de padrões.</a:t>
            </a:r>
          </a:p>
          <a:p>
            <a:r>
              <a:rPr sz="1200"/>
              <a:t>• Formulação de hipóteses a partir de casos particulares.</a:t>
            </a:r>
          </a:p>
          <a:p>
            <a:r>
              <a:rPr sz="1200"/>
              <a:t>• O erro vira informação para revisar a regra.</a:t>
            </a:r>
          </a:p>
          <a:p>
            <a:r>
              <a:rPr sz="1200"/>
              <a:t>• Hatano (1997): compreender envolve gerar e testar previsões a partir de interpretações.</a:t>
            </a:r>
          </a:p>
          <a:p>
            <a:r>
              <a:rPr sz="1200"/>
              <a:t>• Queiroz et al. (2010): cada sistema representacional possui regularidades próprias, que ajudam a observar padrões.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Sedig &amp; Sumner; Miller; Vosniadou et al.; Greer.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07</a:t>
            </a:r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 quais momentos usamos pensamento dedutivo?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regra geral.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regra a vários casos.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explique por que o resultado decorre da regra.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 = 14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eh_par = n % 2 ==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resultado = eh_par ? "par" : "ímpar"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Relação entre regra, caso e conclusão.</a:t>
            </a:r>
          </a:p>
          <a:p>
            <a:r>
              <a:rPr sz="1200"/>
              <a:t>• Articulação entre modelo qualitativo e resultado quantitativo.</a:t>
            </a:r>
          </a:p>
          <a:p>
            <a:r>
              <a:rPr sz="1200"/>
              <a:t>• A explicação importa tanto quanto a resposta.</a:t>
            </a:r>
          </a:p>
          <a:p>
            <a:r>
              <a:rPr sz="1200"/>
              <a:t>• Hatano (1997): a regra precisa ser situada; aplicar esquema rapidamente não basta.</a:t>
            </a:r>
          </a:p>
          <a:p>
            <a:r>
              <a:rPr sz="1200"/>
              <a:t>• Queiroz et al. (2010): o diagrama articula aspectos qualitativos e quantitativos da situação-problema.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Vergnaud; Prediger; Selter et al.; Gérard.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08</a:t>
            </a:r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tarefas exigiram decomposição?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 problema com entrada, processo e saída.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cada parte em células do Pluto.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se a divisão facilitou a solução e a explicação.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 = [8.0, 6.0, 7.5]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sum(notas) / length(notas)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situacao = media &gt;= 7 ? "aprovado" : "rever"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Interação baseada em tarefas.</a:t>
            </a:r>
          </a:p>
          <a:p>
            <a:r>
              <a:rPr sz="1200"/>
              <a:t>• Organização do problema em subproblemas.</a:t>
            </a:r>
          </a:p>
          <a:p>
            <a:r>
              <a:rPr sz="1200"/>
              <a:t>• A decomposição explicita decisões de modelagem.</a:t>
            </a:r>
          </a:p>
          <a:p>
            <a:r>
              <a:rPr sz="1200"/>
              <a:t>• Hatano (1997): modelagem tem custo cognitivo — tempo e esforço — que precisa fazer sentido.</a:t>
            </a:r>
          </a:p>
          <a:p>
            <a:r>
              <a:rPr sz="1200"/>
              <a:t>• Queiroz et al. (2010): a representação permite perceber relações entre conceitos, não apenas conceitos isolados.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Sedig &amp; Sumner; Valente; Acioly-Régner, Brito &amp; Spinillo.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09</a:t>
            </a:r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apareceu generalização?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três cálculos repetidos.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o que há de comum entre eles.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a repetição em função reutilizável.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media(notas)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sum(notas) / length(notas)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media([8, 6, 7])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Flexibilidade notacional e reconstrução da solução.</a:t>
            </a:r>
          </a:p>
          <a:p>
            <a:r>
              <a:rPr sz="1200"/>
              <a:t>• Do caso particular à regra reutilizável.</a:t>
            </a:r>
          </a:p>
          <a:p>
            <a:r>
              <a:rPr sz="1200"/>
              <a:t>• A função torna visível uma abstração.</a:t>
            </a:r>
          </a:p>
          <a:p>
            <a:r>
              <a:rPr sz="1200"/>
              <a:t>• Hatano (1997): o benefício aumenta quando a turma valoriza a atividade de compreensão.</a:t>
            </a:r>
          </a:p>
          <a:p>
            <a:r>
              <a:rPr sz="1200"/>
              <a:t>• Queiroz et al. (2010): combinar formas de representação amplia experiências e favorece novos sentidos conceituais.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Kaput, Noss &amp; Hoyles; Sedig, Klawe &amp; Westrom; Goldin.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10</a:t>
            </a:r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apareceu transformação de dados?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uma lista de dados.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uma regra de transformação.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 representação inicial e a representação transformada.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celsius = [25, 28, 30]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fahrenheit = celsius .* 9/5 .+ 32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zip(celsius, fahrenheit) |&gt; collect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Representação de dados e transformação de processos.</a:t>
            </a:r>
          </a:p>
          <a:p>
            <a:r>
              <a:rPr sz="1200"/>
              <a:t>• A regra produz nova forma de ver o mesmo fenômeno.</a:t>
            </a:r>
          </a:p>
          <a:p>
            <a:r>
              <a:rPr sz="1200"/>
              <a:t>• A interpretação decide o sentido da transformação.</a:t>
            </a:r>
          </a:p>
          <a:p>
            <a:r>
              <a:rPr sz="1200"/>
              <a:t>• Hatano (1997): a transformação ganha sentido quando ligada a objetos, ferramentas, papéis e feedback.</a:t>
            </a:r>
          </a:p>
          <a:p>
            <a:r>
              <a:rPr sz="1200"/>
              <a:t>• Queiroz et al. (2010): transitar entre formas ajuda a perceber o mesmo fenômeno sob outras organizações.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Wessels; Guimarães, Gitirana &amp; Roazzi; Kaput; Goldin &amp; Kaput.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11</a:t>
            </a:r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foram os limites dos modelos criados?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simulação simples.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as variáveis consideradas e ignoradas.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que o computador calcula e o que ainda exige julgamento humano.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pop0 = 1000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anos = 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pop_final = pop0 * (1 + taxa)^anos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Limite da ferramenta e do modelo.</a:t>
            </a:r>
          </a:p>
          <a:p>
            <a:r>
              <a:rPr sz="1200"/>
              <a:t>• Reflexão metaconceitual sobre pressupostos.</a:t>
            </a:r>
          </a:p>
          <a:p>
            <a:r>
              <a:rPr sz="1200"/>
              <a:t>• O resultado não substitui a interpretação crítica.</a:t>
            </a:r>
          </a:p>
          <a:p>
            <a:r>
              <a:rPr sz="1200"/>
              <a:t>• Hatano (1997): reconhecer dados insuficientes e respostas dependentes do contexto faz parte da modelagem.</a:t>
            </a:r>
          </a:p>
          <a:p>
            <a:r>
              <a:rPr sz="1200"/>
              <a:t>• Queiroz et al. (2010): as restrições da forma influenciam ações, erros, antecipações e reorganizações do estudante.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Hatano; Douglas &amp; Randall; Valente; Vosniadou &amp; Verschaffel.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12</a:t>
            </a:r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síntese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DE AVALIAÇÃO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o percurso, não apenas o código?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298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0"/>
                </a:solidFill>
              </a:rPr>
              <a:t>Pequena rubrica qualitativa para observar a tarefa no Pluto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1847088"/>
            <a:ext cx="2103120" cy="502920"/>
          </a:xfrm>
          <a:prstGeom prst="rect">
            <a:avLst/>
          </a:prstGeom>
          <a:solidFill>
            <a:srgbClr val="12314B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80360" y="1847088"/>
            <a:ext cx="7863840" cy="502920"/>
          </a:xfrm>
          <a:prstGeom prst="rect">
            <a:avLst/>
          </a:prstGeom>
          <a:solidFill>
            <a:srgbClr val="12314B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6112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Critério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35808" y="198424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Evidência na fala ou na ação do estudante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2414016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880360" y="2414016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2551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Representa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35808" y="255117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organiza dados, variáveis, texto, tabela ou visualização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2980944"/>
            <a:ext cx="210312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880360" y="2980944"/>
            <a:ext cx="786384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96112" y="3118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Manipula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35808" y="311810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altera parâmetros e compara estados do modelo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3547872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880360" y="3547872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96112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Interpreta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35808" y="368503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explica o que mudou e por que mudou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77240" y="4114800"/>
            <a:ext cx="210312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880360" y="4114800"/>
            <a:ext cx="786384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96112" y="4251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Reformula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035808" y="425196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corrige, testa nova hipótese e registra o percurso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7240" y="4681728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880360" y="4681728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96112" y="4818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Critica limites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035808" y="481888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indica pressupostos, simplificações e riscos da solução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7240" y="5577840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200"/>
              <a:t>Parâmetro do relato: a aprendizagem é observada pelo modo como o estudante interage, explica e reorganiza a tarefa — não apenas pelo resultado final.</a:t>
            </a:r>
          </a:p>
          <a:p>
            <a:r>
              <a:rPr sz="1200"/>
              <a:t>Aspecto Hatano (1997): observar se o estudante constrói sentido para o problema, em vez de apenas responder mecanicamente.</a:t>
            </a:r>
          </a:p>
          <a:p>
            <a:r>
              <a:rPr sz="1200"/>
              <a:t>Aspecto Queiroz et al. (2010): observar como diferentes representações ampliam a percepção das relações conceituais e reorganizam a ação do estudante.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13</a:t>
            </a:r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fechamento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FECHAMENTO PARA DISCUSSÃO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levamos para a próxima tarefa?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557784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pergunta vale ser transformada em notebook?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variável pode ser manipulada pelo estudante?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representação ajuda a explicar o fenômeno?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limite precisa ser assumido no modelo?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720840" y="1417320"/>
            <a:ext cx="0" cy="3246120"/>
          </a:xfrm>
          <a:prstGeom prst="line">
            <a:avLst/>
          </a:prstGeom>
          <a:noFill/>
          <a:ln w="17780">
            <a:solidFill>
              <a:srgbClr val="E7D8B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0" y="1828800"/>
            <a:ext cx="35661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300"/>
              <a:t>Julia aparece como meio para representar, testar, visualizar e discutir problemas.</a:t>
            </a:r>
          </a:p>
          <a:p>
            <a:r>
              <a:rPr sz="1300"/>
              <a:t>Aspecto Hatano (1997): criar uma cultura de sala que valorize a modelagem e o compartilhamento de ideias.</a:t>
            </a:r>
          </a:p>
          <a:p>
            <a:r>
              <a:rPr sz="1300"/>
              <a:t>Aspecto Queiroz et al. (2010): a variedade de representações e interações amplia a percepção de propriedades, nuances e relações do conceito.</a:t>
            </a:r>
          </a:p>
        </p:txBody>
      </p:sp>
      <p:sp>
        <p:nvSpPr>
          <p:cNvPr id="13" name="Text 11"/>
          <p:cNvSpPr/>
          <p:nvPr/>
        </p:nvSpPr>
        <p:spPr>
          <a:xfrm>
            <a:off x="7150608" y="3291840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D7776"/>
                </a:solidFill>
              </a:rPr>
              <a:t>O centro da aula é a tarefa investigativa.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446520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1384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problema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16368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653528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08392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modelo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23376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860536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915400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execução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930384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067544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122408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reflexão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1F2937"/>
                </a:solidFill>
                <a:latin typeface="Aptos"/>
              </a:rPr>
              <a:t>14</a:t>
            </a:r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REFERÊNCIAS SELECIONADAS DO RELATO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autores sustentam os critérios?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/>
              <a:t>1. Queiroz et al. (2010); Queiroz (2012)</a:t>
            </a:r>
          </a:p>
        </p:txBody>
      </p:sp>
      <p:sp>
        <p:nvSpPr>
          <p:cNvPr id="9" name="Text 7"/>
          <p:cNvSpPr/>
          <p:nvPr/>
        </p:nvSpPr>
        <p:spPr>
          <a:xfrm>
            <a:off x="1069848" y="1783080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1000"/>
              <a:t>múltiplas representações, suporte diagramático, interação e ampliação da percepção conceitual.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24414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2. Sedig &amp; Sumner (2006)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69848" y="2715768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interação com representações visuais: organização, investigação, busca e rearranjo.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777240" y="33741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3. Sedig, Klawe &amp; Westrom (2001)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69848" y="3648456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manipulação e scaffolding no aprendizado mediado por interfaces.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777240" y="43068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4. De-Souza &amp; Sedig (2001)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69848" y="4581144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manipulação direta de conceitos e estilo de interação em learnware.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080760" y="1508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1. Goldin &amp; Kaput (1996)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73368" y="1783080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representações no aprender e fazer matemática.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080760" y="24414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2. Vergnaud (1986)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73368" y="2715768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campos conceituais, esquemas e estruturas aditivas.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6080760" y="33741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3. Wood, Bruner &amp; Ross (1976)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73368" y="3648456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tutoria, apoio e resolução de problemas.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080760" y="43068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4. Valente et al. (1999)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73368" y="4581144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computador, aprendizagem e sociedade do conhecimento.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98755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D7776"/>
                </a:solidFill>
              </a:rPr>
              <a:t>Critérios mobilizados no relato: representação, manipulação, feedback, visualização, investigação, flexibilidade notacional, reflexão metaconceitual e limites da ferramenta.</a:t>
            </a:r>
            <a:endParaRPr lang="en-US" sz="1520" dirty="0"/>
          </a:p>
        </p:txBody>
      </p:sp>
      <p:sp>
        <p:nvSpPr>
          <p:cNvPr id="25" name="TextBox 24"/>
          <p:cNvSpPr txBox="1"/>
          <p:nvPr/>
        </p:nvSpPr>
        <p:spPr>
          <a:xfrm>
            <a:off x="59436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D2D"/>
                </a:solidFill>
                <a:latin typeface="Aptos"/>
              </a:defRPr>
            </a:pPr>
            <a:r>
              <a:t>Hatano (1997): modelagem como atividade de compreensão; envolve custo cognitivo, teste de interpretações e cultura de sala que valoriza o sentido do problema.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1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1 — O que o Pluto torna visível que ficaria menos evidente em um código tradicional?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dados = [1, 2, 3, 4]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Cria uma coleção ordenada de valores.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Define os dados de entrada da tarefa.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Permite tratar vários casos ao mesmo tempo.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Coleção finita, ordem e índice.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Em termos de conjuntos: valores D = {1,2,3,4}.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Em computação: relação entre posição e valor.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distinguir conjunto, lista e vetor.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dados não são “números soltos”.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Prepara a leitura de padrões e relações.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representação computacional amplia a percepção do conceito porque explicita os valores e sua organização.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2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1 — O que o Pluto torna visível que ficaria menos evidente em um código tradicional?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quadrados = dados .^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Aplica a potência 2 a cada elemento de dados.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O ponto em .^ indica operação elemento a elemento.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Gera uma nova coleção transformada.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funcional: q = d².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Associa cada valor de entrada a um valor de saída.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Torna visível a transformação entre duas representações.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uma regra pode agir sobre todo o conjunto de dados.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Favorece a percepção de correspondência.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compreender função como relação.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visualização da transformação favorece a passagem do dado isolado para a relação entre dados.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3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1 — O que o Pluto torna visível que ficaria menos evidente em um código tradicional?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[(d, q) for (d,q) in zip(dados, quadrados)]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Agrupa cada dado com seu quadrado.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zip aproxima duas coleções posição a posição.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 compreensão cria pares ordenados.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como conjunto de pares: (d,q).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Explicita domínio, imagem e correspondência.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a função como mapeamento entre valores.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Transforma saída numérica em relação interpretável.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explicar “de onde veio” cada resultado.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Conecta tabela, código e teoria de conjuntos.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Múltiplas representações — código, lista e pares — ampliam a percepção das relações conceituais.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04.1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1 de 1: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Explicação matemática — Como ler dados pela Teoria de Conjuntos?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dados = [1, 2, 3, 4]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Declara um vetor em Julia.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Armazena valores em uma estrutura com ordem.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Permite acesso por índice.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 = {1,2,3,4} representa valores.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I = {1,2,3,4} representa posições.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O vetor pode ser lido como f: I → 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representar dados é também definir relações.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Diferencia coleção matemática e estrutura computacional.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Prepara o conceito de função índice-valor.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mesma linha ganha novos sentidos quando vista como conjunto, sequência e função.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05.1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1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2 — A reatividade ajudou a perceber relações entre variáveis?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valor_inicial =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Define o estado inicial do modelo.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Cria uma variável que outras células podem usar.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Serve como ponto de partida da simulação.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Variável como representação de uma grandeza.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Estado inicial como componente de um processo.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temporal: antes e depois.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perceber que modelos começam com escolhas.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uma variável tem papel semântico.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Permite discutir pressupostos do problema.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nomeação da variável torna visível a relação entre dado, significado e modelo.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05.2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2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2 — A reatividade ajudou a perceber relações entre variáveis?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taxa = 0.10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Define a taxa de variação do modelo.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Representa 10% em forma decimal.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Controla o crescimento do valor final.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Parâmetro como elemento ajustável.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proporcional entre taxa e resultado.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Percentual como operador de transformação.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Favorece manipulação e comparação de cenários.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pequenas alterações mudam a saída.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Apoia discussão sobre sensibilidade do modelo.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manipulação de parâmetros amplia a percepção das dependências internas do modelo.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05.3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3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2 — A reatividade ajudou a perceber relações entre variáveis?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valor_final = valor_inicial * (1 + taxa)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Calcula o novo valor após aplicar a taxa.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Combina variáveis em uma expressão.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Cria dependência explícita entre células.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funcional: final = inicial × fator.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Dependência entre variáveis.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Modelo de transformação multiplicativa.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como uma regra produz resultado.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Permite observar a reatividade do Pluto.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explicar causa e efeito no modelo.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O feedback imediato torna perceptível a relação entre ação do estudante e resposta do ambiente.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06.1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1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3 — Em quais momentos usamos pensamento indutivo?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seq = [2, 4, 8, 16]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Cria uma sequência de exemplos.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Organiza casos particulares em ordem.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Fornece evidências para inferir padrão.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Sequência como estrutura ordenada.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Padrão como relação entre termos.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Indução a partir de casos observados.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formular hipóteses.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Torna visível a regularidade.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padrões dependem da representação.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organização dos dados em sequência apoia a investigação exploratória.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06.2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2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3 — Em quais momentos usamos pensamento indutivo?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proximo =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Registra uma previsão para o próximo termo.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Transforma hipótese em valor testável.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Permite comparar previsão e regra.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Predição como consequência de uma hipótese.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entre padrão observado e termo futuro.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Validação provisória.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induzir não é garantir certeza.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Abre espaço para erro e revisão.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Estimula justificativa da previsão.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O erro ou acerto da previsão funciona como feedback para revisar a interpretação.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06.3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3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3 — Em quais momentos usamos pensamento indutivo?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hipotese = "multiplicar por 2"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Nomeia a regra inferida.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Transforma observação em explicação textual.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Permite discutir a regra com a turma.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Hipótese como formulação de uma regularidade.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Passagem de padrão visual para linguagem.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entre exemplo e generalização provisória.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tornar o raciocínio explícito.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Favorece comunicação e debate.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código pode incluir explicação.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verbalização da hipótese evidencia o processo reflexivo do estudante.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07.1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1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4 — Em quais momentos usamos pensamento dedutivo?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n =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Define o caso que será analisado.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Escolhe um valor específico para testar a regra.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Cria o objeto da dedução.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Instância particular.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Elemento de um conjunto numérico.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Caso ao qual uma regra geral será aplicada.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separar regra geral e exemplo.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deduzir exige aplicar critérios.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Prepara a justificativa do resultado.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escolha do caso torna visível a passagem entre situação específica e regra geral.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07.2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2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4 — Em quais momentos usamos pensamento dedutivo?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eh_par = n % 2 ==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Calcula o resto da divisão de n por 2.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Compara o resto com zero.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Produz um valor lógico: verdadeiro ou falso.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Critério de paridade.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entre divisibilidade e resto.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Proposição lógica.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a estrutura da decisão.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Conecta matemática e lógica computacional.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Torna explícito o porquê da classificação.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regra explicita o vínculo entre operação, condição e conceito.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07.3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3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4 — Em quais momentos usamos pensamento dedutivo?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resultado = eh_par ? "par" : "ímpar"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Escolhe uma resposta conforme a condição.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Usa operador ternário para decidir.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Transforma valor lógico em classificação textual.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Decisão condicional.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Classificação por critério.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entre proposição e conclusão.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ver como o algoritmo produz uma conclusão.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resposta depende da regra.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Favorece explicação dedutiva.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conclusão é interpretável porque a condição e o critério foram explicitados.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08.1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1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5 — Quais tarefas exigiram decomposição?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notas = [8.0, 6.0, 7.5]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Reúne as notas em uma coleção.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Define a entrada do problema.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Permite tratar as notas como um conjunto de 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Dados de entrada.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Coleção de medidas.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Representação de desempenho.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resolver começa por representar o problema.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distinguir dados e operações.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Favorece organização inicial.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representação dos dados reduz a complexidade inicial e apoia a decomposição.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08.2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2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5 — Quais tarefas exigiram decomposição?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media = sum(notas) / length(notas)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Soma as notas e divide pela quantidade.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Calcula uma medida resumo.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Transforma vários dados em um indicador.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Média aritmética.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Agregação e cardinalidade.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parte-todo.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Explicita o procedimento matemático.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como funções compõem uma regra.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entender o sentido da média.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linha torna visível o processo: somar, contar e relacionar.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08.3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3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5 — Quais tarefas exigiram decomposição?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situacao = media &gt;= 7 ? "aprovado" : "rever"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Compara a média com um critério.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Classifica o resultado.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Produz uma saída pedagógica.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Critério de decisão.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entre medida e classificação.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Regra institucional modelada.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a resposta depende de uma regra assumida.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discutir limites da simplificação.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Separa cálculo e julgamento.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decomposição evidencia que calcular e decidir são etapas conceitualmente diferentes.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09.1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1 de 4: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6 — Onde apareceu generalização?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function media(notas)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Inicia a definição de uma função.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Dá nome a uma regra reutilizável.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Define notas como entrada variável.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Abstração de procedimento.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Parâmetro formal.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Generalização de muitos casos.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como sair do caso único.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nomear uma ideia matemática.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Prepara reutilização e comunicação.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Nomear a função torna a abstração manipulável e discutível.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09.2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2 de 4: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6 — Onde apareceu generalização?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    return sum(notas) / length(notas)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Indica o valor devolvido pela função.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Define a regra de cálculo da média.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Combina soma e quantidade.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Regra geral.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Função como transformação de entrada em saída.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entre coleção e medida resumo.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Explicita a operação central da função.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o algoritmo encapsula uma relação.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Favorece transferência para novos dados.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linha concentra a regra conceitual que será reaplicada em diferentes situações.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09.3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3 de 4: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6 — Onde apareceu generalização?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Finaliza o bloco da função.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Delimita onde a regra começa e termina.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Organiza o código em unidade fechada.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Estrutura de bloco.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Escopo e delimitação.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Organização formal do algoritmo.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ver algoritmo como unidade organizada.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Diferencia definição e execução.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Apoia leitura estruturada do código.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delimitação da função reforça a decomposição e a organização da solução.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09.4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4 de 4: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6 — Onde apareceu generalização?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media([8, 6, 7])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Executa a função com novos dados.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Aplica a regra a um caso concreto.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Produz um resultado sem reescrever o algoritmo.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Aplicação de função.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Instanciação de uma regra geral.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entre generalização e caso.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a economia cognitiva da generalização.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Permite comparar diferentes entradas.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Favorece compreensão de reutilização.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reutilização da função mostra que uma representação pode produzir novas experiências conceituais.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10.1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1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7 — Onde apareceu transformação de dados?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celsius = [25, 28, 30]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Define uma lista de temperaturas em Celsius.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Estabelece a representação inicial dos dados.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Cria o conjunto de entrada.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Escala de medida.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Representação inicial.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Coleção de grandezas.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identificar unidade e contexto.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dados têm significado físico.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Prepara comparação entre escalas.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representação inicial dá sentido à transformação posterior.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10.2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2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7 — Onde apareceu transformação de dados?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fahrenheit = celsius .* 9/5 .+ 32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Converte cada valor de Celsius para Fahrenheit.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Aplica multiplicação e soma elemento a elemento.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Produz uma nova representação dos mesmos 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Transformação afim.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Mudança de escala.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Correspondência entre sistemas de medida.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transformar não é perder o fenômeno.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perceber a regra que liga duas escalas.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Explicita operação vetorial.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passagem entre representações amplia a percepção do mesmo fenômeno sob outra organização.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10.3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3 de 3: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7 — Onde apareceu transformação de dados?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zip(celsius, fahrenheit) |&gt; collect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Agrupa cada valor original com seu convertido.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Transforma o emparelhamento em coleção visível.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Facilita comparação termo a termo.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Pares ordenados.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entre representações.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Tabela como mediação.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comparar antes e depois.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a relação entre duas escalas.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Torna a saída interpretável.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O emparelhamento transforma cálculo em representação relacional.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11.1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1 de 4: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8 — Quais foram os limites dos modelos criados?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pop0 = 1000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Define a população inicial.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Estabelece o ponto de partida do modelo.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Escolhe um valor de referência.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Condição inicial.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Estado de um sistema.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Pressuposto do modelo.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modelos começam por escolhas.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Permite discutir origem e confiabilidade do dado.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Abre análise sobre limites do dado.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explicitação da condição inicial torna visíveis os pressupostos do modelo.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11.2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2 de 4: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8 — Quais foram os limites dos modelos criados?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taxa = 0.05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Define a taxa de crescimento.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Representa 5% em forma decimal.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Controla a variação do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Parâmetro de crescimento.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Percentual como operador.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Hipótese simplificadora.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perguntar de onde vem a taxa.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o modelo depende de parâmetros.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Permite discutir cenários alternativos.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manipulação do parâmetro explicita que o modelo é uma escolha interpretativa.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11.3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3 de 4: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8 — Quais foram os limites dos modelos criados?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anos =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Define o horizonte temporal da simulação.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Indica por quanto tempo a regra será aplicada.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Controla a extensão da projeção.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Tempo como variável independente.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Iteração conceitual ao longo de períodos.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Escala temporal do modelo.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que previsão depende do intervalo escolhido.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discutir curto e longo prazo.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Evidencia limites da extrapolação.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O tempo torna perceptível a relação entre hipótese, projeção e incerteza.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4606C"/>
                </a:solidFill>
                <a:latin typeface="Aptos"/>
              </a:rPr>
              <a:t>PROFCOMP • Pensamento Computacional • Julia + Pluto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128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E7760"/>
                </a:solidFill>
                <a:latin typeface="Aptos"/>
              </a:rPr>
              <a:t>11.4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75488"/>
            <a:ext cx="11018520" cy="18288"/>
          </a:xfrm>
          <a:prstGeom prst="rect">
            <a:avLst/>
          </a:prstGeom>
          <a:solidFill>
            <a:srgbClr val="DCE4E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262E"/>
                </a:solidFill>
                <a:latin typeface="Aptos"/>
              </a:rPr>
              <a:t>Linha 4 de 4: o que esta instrução torna visível?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88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4606C"/>
                </a:solidFill>
                <a:latin typeface="Aptos"/>
              </a:rPr>
              <a:t>Pergunta 8 — Quais foram os limites dos modelos criados?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7048"/>
            <a:ext cx="10927080" cy="621792"/>
          </a:xfrm>
          <a:prstGeom prst="roundRect">
            <a:avLst/>
          </a:prstGeom>
          <a:solidFill>
            <a:srgbClr val="EEF3F7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28016"/>
          <a:lstStyle/>
          <a:p>
            <a:pPr algn="ctr">
              <a:defRPr sz="1900" b="1">
                <a:solidFill>
                  <a:srgbClr val="1F4050"/>
                </a:solidFill>
                <a:latin typeface="Consolas"/>
              </a:defRPr>
            </a:pPr>
            <a:r>
              <a:t>pop_final = pop0 * (1 + taxa)^anos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O QUE A LINHA FAZ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Calcula crescimento composto.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Combina condição inicial, taxa e tempo.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Produz uma previsão final.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CONCEITO E RELAÇÃO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Modelo exponencial discreto.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Relação entre variáveis.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Projeção baseada em pressupostos.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231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IMPORTÂNCIA NA APRENDIZAGEM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Mostra a força e o limite de um modelo simples.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Ajuda a discutir variáveis ignoradas.</a:t>
            </a:r>
          </a:p>
          <a:p>
            <a:pPr>
              <a:spcAft>
                <a:spcPts val="300"/>
              </a:spcAft>
              <a:defRPr sz="1250">
                <a:solidFill>
                  <a:srgbClr val="1C262E"/>
                </a:solidFill>
                <a:latin typeface="Aptos"/>
              </a:defRPr>
            </a:pPr>
            <a:r>
              <a:t>Diferencia cálculo correto e interpretação adequada.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27080" cy="960120"/>
          </a:xfrm>
          <a:prstGeom prst="roundRect">
            <a:avLst/>
          </a:prstGeom>
          <a:solidFill>
            <a:srgbClr val="E8F6F1"/>
          </a:solidFill>
          <a:ln>
            <a:solidFill>
              <a:srgbClr val="B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0312" rIns="210312" tIns="118872"/>
          <a:lstStyle/>
          <a:p>
            <a:pPr algn="ctr">
              <a:defRPr sz="1150" b="1">
                <a:solidFill>
                  <a:srgbClr val="0E7760"/>
                </a:solidFill>
                <a:latin typeface="Aptos"/>
              </a:defRPr>
            </a:pPr>
            <a:r>
              <a:t>Aspecto qualitativo mobilizado</a:t>
            </a:r>
          </a:p>
          <a:p>
            <a:pPr>
              <a:defRPr sz="1350">
                <a:solidFill>
                  <a:srgbClr val="1C262E"/>
                </a:solidFill>
                <a:latin typeface="Aptos"/>
              </a:defRPr>
            </a:pPr>
            <a:r>
              <a:t>A saída só ganha sentido quando o estudante interpreta os pressupostos e limites da modelagem.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Fechamento em perguntas — Julia + Pluto</dc:title>
  <dc:subject>Aula orientada por perguntas: Julia e Pluto no PROFCOMP</dc:subject>
  <dc:creator>OpenAI</dc:creator>
  <cp:lastModifiedBy>OpenAI</cp:lastModifiedBy>
  <cp:revision>1</cp:revision>
  <dcterms:created xsi:type="dcterms:W3CDTF">2026-06-04T17:18:45Z</dcterms:created>
  <dcterms:modified xsi:type="dcterms:W3CDTF">2026-06-04T17:18:45Z</dcterms:modified>
</cp:coreProperties>
</file>