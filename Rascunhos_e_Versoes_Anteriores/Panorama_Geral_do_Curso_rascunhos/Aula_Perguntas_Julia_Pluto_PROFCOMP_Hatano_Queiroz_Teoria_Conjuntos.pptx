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EC7C51-5C9C-4CEE-B8FA-CA2CB8593F6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424EBD-0277-44A2-A63F-885C7DD738C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DD1B31-20A1-422E-A940-04464057C02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5A71B9-23BD-428B-A174-EC27EFC31DC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AAB6BA-8D0D-4672-B6DA-47AACB9CE96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DDAC29-632C-4E91-938D-D803DEBB067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90D43D-E239-47B8-8219-7D461C813B6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A27671-CC8D-41E3-BF07-796251F7E75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85FCE0-D29E-4BC0-A593-A759AA75095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2E6463-DA66-4078-9E9B-42EFE4F58C0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B617D0-5E3B-4472-889A-65953BB3A0A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8ED8B2-CFD5-4FBF-9090-CAB240A5A1C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133594-013F-453E-9767-ABD6DB76B94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EA369F-EFDD-446E-B9B2-AE06C60EBA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01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658440"/>
            <a:ext cx="78634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E se a aula começasse pelas perguntas?</a:t>
            </a:r>
            <a:endParaRPr b="0" lang="pt-BR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21720" y="1965960"/>
            <a:ext cx="7680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Julia + Pluto em Pensamento Computacional — PROFCOMP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21720" y="2514600"/>
            <a:ext cx="6400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Do código final ao percurso: perguntar, manipular, visualizar, interpretar e revisar.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732520" y="457200"/>
            <a:ext cx="20113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1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914400" y="4709160"/>
            <a:ext cx="115632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Text 9"/>
          <p:cNvSpPr/>
          <p:nvPr/>
        </p:nvSpPr>
        <p:spPr>
          <a:xfrm>
            <a:off x="969120" y="4855320"/>
            <a:ext cx="1046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perguntar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2098440" y="4983480"/>
            <a:ext cx="109800" cy="360"/>
          </a:xfrm>
          <a:prstGeom prst="line">
            <a:avLst/>
          </a:prstGeom>
          <a:ln w="17780">
            <a:solidFill>
              <a:srgbClr val="1d777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2235600" y="4709160"/>
            <a:ext cx="1156320" cy="566640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2290680" y="4855320"/>
            <a:ext cx="1046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testar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3419640" y="4983480"/>
            <a:ext cx="109800" cy="360"/>
          </a:xfrm>
          <a:prstGeom prst="line">
            <a:avLst/>
          </a:prstGeom>
          <a:ln w="17780">
            <a:solidFill>
              <a:srgbClr val="1d777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3557160" y="4709160"/>
            <a:ext cx="115632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3611880" y="4855320"/>
            <a:ext cx="1046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ver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4740840" y="4983480"/>
            <a:ext cx="109800" cy="360"/>
          </a:xfrm>
          <a:prstGeom prst="line">
            <a:avLst/>
          </a:prstGeom>
          <a:ln w="17780">
            <a:solidFill>
              <a:srgbClr val="1d777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4878360" y="4709160"/>
            <a:ext cx="1156320" cy="566640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933080" y="4855320"/>
            <a:ext cx="10465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explicar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7452360" y="3246120"/>
            <a:ext cx="3108600" cy="1508400"/>
          </a:xfrm>
          <a:prstGeom prst="arc">
            <a:avLst>
              <a:gd name="adj1" fmla="val 16200000"/>
              <a:gd name="adj2" fmla="val 0"/>
            </a:avLst>
          </a:prstGeom>
          <a:noFill/>
          <a:ln w="27940">
            <a:solidFill>
              <a:srgbClr val="1d777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7635240" y="489204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A ferramenta não é o centro.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A tarefa é o centro.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02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FECHAMENTO COMO ABERTURA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Quais perguntas guiam o treino?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777240" y="16002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01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1298520" y="149976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O que o Pluto tornou visível?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777240" y="2541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02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1298520" y="244152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A reatividade ajudou a perceber relações?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777240" y="348372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03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1298520" y="338328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Onde usamos pensamento indutivo?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777240" y="44258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04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1298520" y="4325040"/>
            <a:ext cx="4297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Onde usamos pensamento dedutivo?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6263640" y="16002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05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6784920" y="1499760"/>
            <a:ext cx="4343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Quais tarefas exigiram decomposição?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6263640" y="25419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06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6784920" y="2441520"/>
            <a:ext cx="4343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Onde apareceu generalização?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6263640" y="348372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07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6784920" y="3383280"/>
            <a:ext cx="4343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Onde houve transformação de dados?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6263640" y="442584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08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6784920" y="4325040"/>
            <a:ext cx="4343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Quais foram os limites dos modelos?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777240" y="562356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Cada pergunta vira uma pequena tarefa no Pluto e um critério qualitativo de análise do percurso.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03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0607040" y="2286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10561320" y="12985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Pergunta 1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PERGUNTA 1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O que o Pluto torna visível que ficaria menos evidente em um código tradicional?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685800" y="15544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TAREFA BREVE NO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685800" y="1874520"/>
            <a:ext cx="512028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Abra três células: dados, regra e saída.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Mostre o mesmo problema em texto, código e tabela.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Peça que a turma indique quais relações ficaram visíveis.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777240" y="4187880"/>
            <a:ext cx="5028840" cy="132552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914400" y="4297680"/>
            <a:ext cx="475452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dados = [1, 2, 3, 4]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quadrados = dados .^ 2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[(d, q) for (d,q) in zip(dados, quadrados)]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6400800" y="15544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PARÂMETRO QUALITATIVO DA ANÁLISE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6263640" y="1828800"/>
            <a:ext cx="5074560" cy="191988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6492240" y="2011680"/>
            <a:ext cx="45716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Representação como mediação conceitual.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Visualização de relações, estruturas e propriedades.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tarefa torna a saída interpretável, não apenas executável.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 (1997): problemas devem ensinar modelagem da realidade, não apenas aplicar algoritmos prontos.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et al. (2010): múltiplas representações ampliam a percepção de aspectos diferentes do mesmo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6355080" y="4343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20" strike="noStrike" u="none">
                <a:solidFill>
                  <a:srgbClr val="5a6570"/>
                </a:solidFill>
                <a:effectLst/>
                <a:uFillTx/>
                <a:latin typeface="Aptos"/>
              </a:rPr>
              <a:t>Referências do relato: Vergnaud; Gérard; Goldin &amp; Kaput; Elia, Gagatsis &amp; Demetriou.</a:t>
            </a:r>
            <a:endParaRPr b="0" lang="pt-BR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11292840" y="6419160"/>
            <a:ext cx="594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04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10607040" y="228600"/>
            <a:ext cx="822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36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10104120" y="12985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explicação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594360" y="3290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EXPLICAÇÃO MATEMÁTICA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594360" y="658440"/>
            <a:ext cx="9235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4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Como ler `dados = [1, 2, 3, 4]` pela Teoria de Conjuntos?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9"/>
          <p:cNvSpPr/>
          <p:nvPr/>
        </p:nvSpPr>
        <p:spPr>
          <a:xfrm>
            <a:off x="731520" y="1389960"/>
            <a:ext cx="4251600" cy="658080"/>
          </a:xfrm>
          <a:prstGeom prst="roundRect">
            <a:avLst>
              <a:gd name="adj" fmla="val 16667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932760" y="157284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900" strike="noStrike" u="none">
                <a:solidFill>
                  <a:srgbClr val="e8f5f4"/>
                </a:solidFill>
                <a:effectLst/>
                <a:uFillTx/>
                <a:latin typeface="Consolas"/>
              </a:rPr>
              <a:t>dados = [1, 2, 3, 4]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658440" y="2267640"/>
            <a:ext cx="525744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r>
              <a:rPr b="0" lang="pt-BR" sz="17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Em matemática, os valores podem ser associados ao conjunto: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7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 = {1, 2, 3, 4}.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7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Mas, em Computação, `dados` não é apenas um conjunto simples: a ordem importa e cada valor ocupa uma posição.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2"/>
          <p:cNvSpPr/>
          <p:nvPr/>
        </p:nvSpPr>
        <p:spPr>
          <a:xfrm>
            <a:off x="6199560" y="1389960"/>
            <a:ext cx="4983120" cy="1828440"/>
          </a:xfrm>
          <a:prstGeom prst="roundRect">
            <a:avLst>
              <a:gd name="adj" fmla="val 16667"/>
            </a:avLst>
          </a:prstGeom>
          <a:solidFill>
            <a:srgbClr val="d8ecea"/>
          </a:solidFill>
          <a:ln w="12700">
            <a:solidFill>
              <a:srgbClr val="c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0" name="TextBox 13"/>
          <p:cNvSpPr/>
          <p:nvPr/>
        </p:nvSpPr>
        <p:spPr>
          <a:xfrm>
            <a:off x="6473880" y="1572840"/>
            <a:ext cx="4388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6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Interpretação como função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6473880" y="1938600"/>
            <a:ext cx="4388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r>
              <a:rPr b="0" lang="pt-BR" sz="15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Índices: I = {1, 2, 3, 4}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5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Valores: D = {1, 2, 3, 4}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5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f: I → D, tal que f(1)=1, f(2)=2, f(3)=3, f(4)=4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5"/>
          <p:cNvSpPr/>
          <p:nvPr/>
        </p:nvSpPr>
        <p:spPr>
          <a:xfrm>
            <a:off x="6199560" y="3429000"/>
            <a:ext cx="498312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6473880" y="3602880"/>
            <a:ext cx="4480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6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Relação por pares ordenados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6473880" y="3950280"/>
            <a:ext cx="4480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800" strike="noStrike" u="none">
                <a:solidFill>
                  <a:srgbClr val="1f2937"/>
                </a:solidFill>
                <a:effectLst/>
                <a:uFillTx/>
                <a:latin typeface="Consolas"/>
              </a:rPr>
              <a:t>f = {(1,1), (2,2), (3,3), (4,4)}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8"/>
          <p:cNvSpPr/>
          <p:nvPr/>
        </p:nvSpPr>
        <p:spPr>
          <a:xfrm>
            <a:off x="658440" y="4160520"/>
            <a:ext cx="5348880" cy="1298160"/>
          </a:xfrm>
          <a:prstGeom prst="roundRect">
            <a:avLst>
              <a:gd name="adj" fmla="val 16667"/>
            </a:avLst>
          </a:prstGeom>
          <a:solidFill>
            <a:srgbClr val="d8ecea"/>
          </a:solidFill>
          <a:ln w="12700">
            <a:solidFill>
              <a:srgbClr val="c6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6" name="TextBox 19"/>
          <p:cNvSpPr/>
          <p:nvPr/>
        </p:nvSpPr>
        <p:spPr>
          <a:xfrm>
            <a:off x="914400" y="4244400"/>
            <a:ext cx="480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5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Síntese para o Pensamento Computacional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0"/>
          <p:cNvSpPr/>
          <p:nvPr/>
        </p:nvSpPr>
        <p:spPr>
          <a:xfrm>
            <a:off x="914400" y="4500000"/>
            <a:ext cx="4800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r>
              <a:rPr b="0" lang="pt-BR" sz="14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O vetor articula coleção, ordem, índice e valor.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 representação computacional amplia a percepção do conceito: não vemos apenas números, mas a relação entre posições e valores.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658440" y="56509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1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ASPECTO QUALITATIVO MOBILIZADO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2"/>
          <p:cNvSpPr/>
          <p:nvPr/>
        </p:nvSpPr>
        <p:spPr>
          <a:xfrm>
            <a:off x="658440" y="5916240"/>
            <a:ext cx="9783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Múltiplas representações ampliam a percepção de aspectos diferentes do mesmo conceito; aqui, a lista computacional é vista como conjunto, sequência e função índice→valor.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3"/>
          <p:cNvSpPr/>
          <p:nvPr/>
        </p:nvSpPr>
        <p:spPr>
          <a:xfrm>
            <a:off x="6263640" y="480060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4b5563"/>
                </a:solidFill>
                <a:effectLst/>
                <a:uFillTx/>
                <a:latin typeface="Aptos"/>
              </a:rPr>
              <a:t>Nota: em Julia, [1, 2, 3, 4] cria um vetor; [1 2 3 4] cria uma matriz linha 1×4.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05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10607040" y="2286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10561320" y="12985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Pergunta 2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PERGUNTA 2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A reatividade ajudou a perceber relações entre variáveis?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685800" y="15544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TAREFA BREVE NO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685800" y="1874520"/>
            <a:ext cx="512028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Defina variáveis em células separadas.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Altere um valor e execute a célula.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Observe quais células dependentes são atualizadas.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777240" y="4187880"/>
            <a:ext cx="5028840" cy="132552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914400" y="4297680"/>
            <a:ext cx="475452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valor_inicial = 100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taxa = 0.10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valor_final = valor_inicial * (1 + taxa)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6400800" y="15544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PARÂMETRO QUALITATIVO DA ANÁLISE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3"/>
          <p:cNvSpPr/>
          <p:nvPr/>
        </p:nvSpPr>
        <p:spPr>
          <a:xfrm>
            <a:off x="6263640" y="1828800"/>
            <a:ext cx="5074560" cy="191988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6492240" y="2011680"/>
            <a:ext cx="45716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Manipulação de parâmetros e feedback imediato.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Comparação entre estados de um mesmo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relação entre ação do estudante e resposta do ambiente fica explícita.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 (1997): modelar exige testar interpretações e monitorar sua plausibilidade.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et al. (2010): diferentes interações ampliam a capacidade mediadora da forma e tornam propriedades mais perceptíveis.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5"/>
          <p:cNvSpPr/>
          <p:nvPr/>
        </p:nvSpPr>
        <p:spPr>
          <a:xfrm>
            <a:off x="6355080" y="4343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20" strike="noStrike" u="none">
                <a:solidFill>
                  <a:srgbClr val="5a6570"/>
                </a:solidFill>
                <a:effectLst/>
                <a:uFillTx/>
                <a:latin typeface="Aptos"/>
              </a:rPr>
              <a:t>Referências do relato: De-Souza &amp; Sedig; Sedig, Klawe &amp; Westrom; Sedighian &amp; Westrom.</a:t>
            </a:r>
            <a:endParaRPr b="0" lang="pt-BR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06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10607040" y="2286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10561320" y="12985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Pergunta 3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PERGUNTA 3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Em quais momentos usamos pensamento indutivo?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685800" y="15544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TAREFA BREVE NO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685800" y="1874520"/>
            <a:ext cx="512028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Apresente três sequências numéricas.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Peça que a turma proponha a regra provável.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Teste novos termos e discuta quando a hipótese falha.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777240" y="4187880"/>
            <a:ext cx="5028840" cy="132552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914400" y="4297680"/>
            <a:ext cx="475452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seq = [2, 4, 8, 16]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proximo = 32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hipotese = "multiplicar por 2"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6400800" y="15544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PARÂMETRO QUALITATIVO DA ANÁLISE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6263640" y="1828800"/>
            <a:ext cx="5074560" cy="191988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6492240" y="2011680"/>
            <a:ext cx="45716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Investigação exploratória e reconhecimento de padrões.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Formulação de hipóteses a partir de casos particulares.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 erro vira informação para revisar a regra.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 (1997): compreender envolve gerar e testar previsões a partir de interpretações.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et al. (2010): cada sistema representacional possui regularidades próprias, que ajudam a observar padrões.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6355080" y="4343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20" strike="noStrike" u="none">
                <a:solidFill>
                  <a:srgbClr val="5a6570"/>
                </a:solidFill>
                <a:effectLst/>
                <a:uFillTx/>
                <a:latin typeface="Aptos"/>
              </a:rPr>
              <a:t>Referências do relato: Sedig &amp; Sumner; Miller; Vosniadou et al.; Greer.</a:t>
            </a:r>
            <a:endParaRPr b="0" lang="pt-BR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07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10607040" y="2286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10561320" y="12985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Pergunta 4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PERGUNTA 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Em quais momentos usamos pensamento dedutivo?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685800" y="15544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TAREFA BREVE NO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685800" y="1874520"/>
            <a:ext cx="512028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Escreva uma regra geral.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Aplique a regra a vários casos.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Peça que a turma explique por que o resultado decorre da regra.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777240" y="4187880"/>
            <a:ext cx="5028840" cy="132552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914400" y="4297680"/>
            <a:ext cx="475452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n = 14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eh_par = n % 2 == 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resultado = eh_par ? "par" : "ímpar"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6400800" y="15544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PARÂMETRO QUALITATIVO DA ANÁLISE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6263640" y="1828800"/>
            <a:ext cx="5074560" cy="191988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6492240" y="2011680"/>
            <a:ext cx="45716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Relação entre regra, caso e conclusão.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Articulação entre modelo qualitativo e resultado quantitativo.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explicação importa tanto quanto a resposta.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 (1997): a regra precisa ser situada; aplicar esquema rapidamente não basta.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et al. (2010): o diagrama articula aspectos qualitativos e quantitativos da situação-problema.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6355080" y="4343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20" strike="noStrike" u="none">
                <a:solidFill>
                  <a:srgbClr val="5a6570"/>
                </a:solidFill>
                <a:effectLst/>
                <a:uFillTx/>
                <a:latin typeface="Aptos"/>
              </a:rPr>
              <a:t>Referências do relato: Vergnaud; Prediger; Selter et al.; Gérard.</a:t>
            </a:r>
            <a:endParaRPr b="0" lang="pt-BR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08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10607040" y="2286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10561320" y="12985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Pergunta 5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PERGUNTA 5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Quais tarefas exigiram decomposição?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685800" y="15544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TAREFA BREVE NO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685800" y="1874520"/>
            <a:ext cx="512028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Escolha um problema com entrada, processo e saída.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Separe cada parte em células do Pluto.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Discuta se a divisão facilitou a solução e a explicação.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0"/>
          <p:cNvSpPr/>
          <p:nvPr/>
        </p:nvSpPr>
        <p:spPr>
          <a:xfrm>
            <a:off x="777240" y="4187880"/>
            <a:ext cx="5028840" cy="132552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914400" y="4297680"/>
            <a:ext cx="475452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notas = [8.0, 6.0, 7.5]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media = sum(notas) / length(notas)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situacao = media &gt;= 7 ? "aprovado" : "rever"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6400800" y="15544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PARÂMETRO QUALITATIVO DA ANÁLISE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3"/>
          <p:cNvSpPr/>
          <p:nvPr/>
        </p:nvSpPr>
        <p:spPr>
          <a:xfrm>
            <a:off x="6263640" y="1828800"/>
            <a:ext cx="5074560" cy="191988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6492240" y="2011680"/>
            <a:ext cx="45716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Interação baseada em tarefas.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Organização do problema em subproblemas.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decomposição explicita decisões de modelagem.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 (1997): modelagem tem custo cognitivo — tempo e esforço — que precisa fazer sentido.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et al. (2010): a representação permite perceber relações entre conceitos, não apenas conceitos isolados.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5"/>
          <p:cNvSpPr/>
          <p:nvPr/>
        </p:nvSpPr>
        <p:spPr>
          <a:xfrm>
            <a:off x="6355080" y="4343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20" strike="noStrike" u="none">
                <a:solidFill>
                  <a:srgbClr val="5a6570"/>
                </a:solidFill>
                <a:effectLst/>
                <a:uFillTx/>
                <a:latin typeface="Aptos"/>
              </a:rPr>
              <a:t>Referências do relato: Sedig &amp; Sumner; Valente; Acioly-Régner, Brito &amp; Spinillo.</a:t>
            </a:r>
            <a:endParaRPr b="0" lang="pt-BR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09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10607040" y="2286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10561320" y="12985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Pergunta 6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PERGUNTA 6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Onde apareceu generalização?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685800" y="15544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TAREFA BREVE NO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685800" y="1874520"/>
            <a:ext cx="512028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Mostre três cálculos repetidos.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Pergunte o que há de comum entre eles.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Transforme a repetição em função reutilizável.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0"/>
          <p:cNvSpPr/>
          <p:nvPr/>
        </p:nvSpPr>
        <p:spPr>
          <a:xfrm>
            <a:off x="777240" y="4187880"/>
            <a:ext cx="5028840" cy="132552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914400" y="4297680"/>
            <a:ext cx="475452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function media(notas)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    return sum(notas) / length(notas)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media([8, 6, 7])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6400800" y="15544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PARÂMETRO QUALITATIVO DA ANÁLISE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3"/>
          <p:cNvSpPr/>
          <p:nvPr/>
        </p:nvSpPr>
        <p:spPr>
          <a:xfrm>
            <a:off x="6263640" y="1828800"/>
            <a:ext cx="5074560" cy="191988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6492240" y="2011680"/>
            <a:ext cx="45716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Flexibilidade notacional e reconstrução da solução.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Do caso particular à regra reutilizável.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função torna visível uma abstração.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 (1997): o benefício aumenta quando a turma valoriza a atividade de compreensão.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et al. (2010): combinar formas de representação amplia experiências e favorece novos sentidos conceituais.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6355080" y="4343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20" strike="noStrike" u="none">
                <a:solidFill>
                  <a:srgbClr val="5a6570"/>
                </a:solidFill>
                <a:effectLst/>
                <a:uFillTx/>
                <a:latin typeface="Aptos"/>
              </a:rPr>
              <a:t>Referências do relato: Kaput, Noss &amp; Hoyles; Sedig, Klawe &amp; Westrom; Goldin.</a:t>
            </a:r>
            <a:endParaRPr b="0" lang="pt-BR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10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0607040" y="2286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10561320" y="12985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Pergunta 7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PERGUNTA 7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Onde apareceu transformação de dados?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685800" y="15544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TAREFA BREVE NO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685800" y="1874520"/>
            <a:ext cx="512028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Escolha uma lista de dados.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Aplique uma regra de transformação.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Compare a representação inicial e a representação transformada.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0"/>
          <p:cNvSpPr/>
          <p:nvPr/>
        </p:nvSpPr>
        <p:spPr>
          <a:xfrm>
            <a:off x="777240" y="4187880"/>
            <a:ext cx="5028840" cy="132552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914400" y="4297680"/>
            <a:ext cx="475452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celsius = [25, 28, 30]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fahrenheit = celsius .* 9/5 .+ 32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zip(celsius, fahrenheit) |&gt; collect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6400800" y="15544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PARÂMETRO QUALITATIVO DA ANÁLISE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6263640" y="1828800"/>
            <a:ext cx="5074560" cy="191988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6492240" y="2011680"/>
            <a:ext cx="45716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Representação de dados e transformação de processos.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regra produz nova forma de ver o mesmo fenômeno.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interpretação decide o sentido da transformação.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 (1997): a transformação ganha sentido quando ligada a objetos, ferramentas, papéis e feedback.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et al. (2010): transitar entre formas ajuda a perceber o mesmo fenômeno sob outras organizações.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6355080" y="4343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20" strike="noStrike" u="none">
                <a:solidFill>
                  <a:srgbClr val="5a6570"/>
                </a:solidFill>
                <a:effectLst/>
                <a:uFillTx/>
                <a:latin typeface="Aptos"/>
              </a:rPr>
              <a:t>Referências do relato: Wessels; Guimarães, Gitirana &amp; Roazzi; Kaput; Goldin &amp; Kaput.</a:t>
            </a:r>
            <a:endParaRPr b="0" lang="pt-BR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11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0607040" y="2286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10561320" y="12985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Pergunta 8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PERGUNTA 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Quais foram os limites dos modelos criados?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685800" y="15544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TAREFA BREVE NO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685800" y="1874520"/>
            <a:ext cx="512028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Use uma simulação simples.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Liste as variáveis consideradas e ignoradas.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Discuta o que o computador calcula e o que ainda exige julgamento humano.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0"/>
          <p:cNvSpPr/>
          <p:nvPr/>
        </p:nvSpPr>
        <p:spPr>
          <a:xfrm>
            <a:off x="777240" y="4187880"/>
            <a:ext cx="5028840" cy="132552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914400" y="4297680"/>
            <a:ext cx="4754520" cy="11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pop0 = 1000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taxa = 0.05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anos = 10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af2f8"/>
                </a:solidFill>
                <a:effectLst/>
                <a:uFillTx/>
                <a:latin typeface="Aptos Mono"/>
                <a:ea typeface="Aptos Mono"/>
              </a:rPr>
              <a:t>pop_final = pop0 * (1 + taxa)^anos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6400800" y="15544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PARÂMETRO QUALITATIVO DA ANÁLISE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3"/>
          <p:cNvSpPr/>
          <p:nvPr/>
        </p:nvSpPr>
        <p:spPr>
          <a:xfrm>
            <a:off x="6263640" y="1828800"/>
            <a:ext cx="5074560" cy="191988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6492240" y="2011680"/>
            <a:ext cx="45716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Limite da ferramenta e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Reflexão metaconceitual sobre pressupostos.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 resultado não substitui a interpretação crítica.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 (1997): reconhecer dados insuficientes e respostas dependentes do contexto faz parte da modelagem.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et al. (2010): as restrições da forma influenciam ações, erros, antecipações e reorganizações do estudante.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6355080" y="4343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20" strike="noStrike" u="none">
                <a:solidFill>
                  <a:srgbClr val="5a6570"/>
                </a:solidFill>
                <a:effectLst/>
                <a:uFillTx/>
                <a:latin typeface="Aptos"/>
              </a:rPr>
              <a:t>Referências do relato: Hatano; Douglas &amp; Randall; Valente; Vosniadou &amp; Verschaffel.</a:t>
            </a:r>
            <a:endParaRPr b="0" lang="pt-BR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4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12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10607040" y="2286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10561320" y="12985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síntese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PERGUNTA DE AVALIAÇÃO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Como avaliar o percurso, não apenas o código?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685800" y="12985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5a6570"/>
                </a:solidFill>
                <a:effectLst/>
                <a:uFillTx/>
                <a:latin typeface="Aptos"/>
              </a:rPr>
              <a:t>Pequena rubrica qualitativa para observar a tarefa no Pluto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9"/>
          <p:cNvSpPr/>
          <p:nvPr/>
        </p:nvSpPr>
        <p:spPr>
          <a:xfrm>
            <a:off x="777240" y="1847160"/>
            <a:ext cx="2102760" cy="502560"/>
          </a:xfrm>
          <a:prstGeom prst="rect">
            <a:avLst/>
          </a:prstGeom>
          <a:solidFill>
            <a:srgbClr val="12314b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2880360" y="1847160"/>
            <a:ext cx="7863480" cy="502560"/>
          </a:xfrm>
          <a:prstGeom prst="rect">
            <a:avLst/>
          </a:prstGeom>
          <a:solidFill>
            <a:srgbClr val="12314b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4" name="Text 11"/>
          <p:cNvSpPr/>
          <p:nvPr/>
        </p:nvSpPr>
        <p:spPr>
          <a:xfrm>
            <a:off x="896040" y="19843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Critério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3035880" y="1984320"/>
            <a:ext cx="7406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Evidência na fala ou na ação do estudante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3"/>
          <p:cNvSpPr/>
          <p:nvPr/>
        </p:nvSpPr>
        <p:spPr>
          <a:xfrm>
            <a:off x="777240" y="2414160"/>
            <a:ext cx="210276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2880360" y="2414160"/>
            <a:ext cx="786348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8" name="Text 15"/>
          <p:cNvSpPr/>
          <p:nvPr/>
        </p:nvSpPr>
        <p:spPr>
          <a:xfrm>
            <a:off x="896040" y="25513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Representa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3035880" y="2551320"/>
            <a:ext cx="7406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organiza dados, variáveis, texto, tabela ou visualização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7"/>
          <p:cNvSpPr/>
          <p:nvPr/>
        </p:nvSpPr>
        <p:spPr>
          <a:xfrm>
            <a:off x="777240" y="2980800"/>
            <a:ext cx="2102760" cy="50256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1" name="Shape 18"/>
          <p:cNvSpPr/>
          <p:nvPr/>
        </p:nvSpPr>
        <p:spPr>
          <a:xfrm>
            <a:off x="2880360" y="2980800"/>
            <a:ext cx="7863480" cy="50256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2" name="Text 19"/>
          <p:cNvSpPr/>
          <p:nvPr/>
        </p:nvSpPr>
        <p:spPr>
          <a:xfrm>
            <a:off x="896040" y="311796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Manipula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0"/>
          <p:cNvSpPr/>
          <p:nvPr/>
        </p:nvSpPr>
        <p:spPr>
          <a:xfrm>
            <a:off x="3035880" y="3117960"/>
            <a:ext cx="7406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altera parâmetros e compara estados do modelo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1"/>
          <p:cNvSpPr/>
          <p:nvPr/>
        </p:nvSpPr>
        <p:spPr>
          <a:xfrm>
            <a:off x="777240" y="3547800"/>
            <a:ext cx="210276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5" name="Shape 22"/>
          <p:cNvSpPr/>
          <p:nvPr/>
        </p:nvSpPr>
        <p:spPr>
          <a:xfrm>
            <a:off x="2880360" y="3547800"/>
            <a:ext cx="786348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6" name="Text 23"/>
          <p:cNvSpPr/>
          <p:nvPr/>
        </p:nvSpPr>
        <p:spPr>
          <a:xfrm>
            <a:off x="896040" y="368496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Interpreta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4"/>
          <p:cNvSpPr/>
          <p:nvPr/>
        </p:nvSpPr>
        <p:spPr>
          <a:xfrm>
            <a:off x="3035880" y="3684960"/>
            <a:ext cx="7406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explica o que mudou e por que mudou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5"/>
          <p:cNvSpPr/>
          <p:nvPr/>
        </p:nvSpPr>
        <p:spPr>
          <a:xfrm>
            <a:off x="777240" y="4114800"/>
            <a:ext cx="2102760" cy="50256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9" name="Shape 26"/>
          <p:cNvSpPr/>
          <p:nvPr/>
        </p:nvSpPr>
        <p:spPr>
          <a:xfrm>
            <a:off x="2880360" y="4114800"/>
            <a:ext cx="7863480" cy="50256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0" name="Text 27"/>
          <p:cNvSpPr/>
          <p:nvPr/>
        </p:nvSpPr>
        <p:spPr>
          <a:xfrm>
            <a:off x="896040" y="425196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Reformula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8"/>
          <p:cNvSpPr/>
          <p:nvPr/>
        </p:nvSpPr>
        <p:spPr>
          <a:xfrm>
            <a:off x="3035880" y="4251960"/>
            <a:ext cx="7406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corrige, testa nova hipótese e registra o percurso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9"/>
          <p:cNvSpPr/>
          <p:nvPr/>
        </p:nvSpPr>
        <p:spPr>
          <a:xfrm>
            <a:off x="777240" y="4681800"/>
            <a:ext cx="210276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3" name="Shape 30"/>
          <p:cNvSpPr/>
          <p:nvPr/>
        </p:nvSpPr>
        <p:spPr>
          <a:xfrm>
            <a:off x="2880360" y="4681800"/>
            <a:ext cx="786348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4" name="Text 31"/>
          <p:cNvSpPr/>
          <p:nvPr/>
        </p:nvSpPr>
        <p:spPr>
          <a:xfrm>
            <a:off x="896040" y="481896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Critica limites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2"/>
          <p:cNvSpPr/>
          <p:nvPr/>
        </p:nvSpPr>
        <p:spPr>
          <a:xfrm>
            <a:off x="3035880" y="4818960"/>
            <a:ext cx="7406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indica pressupostos, simplificações e riscos da solução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3"/>
          <p:cNvSpPr/>
          <p:nvPr/>
        </p:nvSpPr>
        <p:spPr>
          <a:xfrm>
            <a:off x="777240" y="5577840"/>
            <a:ext cx="9783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Parâmetro do relato: a aprendizagem é observada pelo modo como o estudante interage, explica e reorganiza a tarefa — não apenas pelo resultado final.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 Hatano (1997): observar se o estudante constrói sentido para o problema, em vez de apenas responder mecanicamente.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 Queiroz et al. (2010): observar como diferentes representações ampliam a percepção das relações conceituais e reorganizam a ação do estudante.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8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13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4"/>
          <p:cNvSpPr/>
          <p:nvPr/>
        </p:nvSpPr>
        <p:spPr>
          <a:xfrm>
            <a:off x="10607040" y="2286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e7d8bd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10561320" y="12985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77b3a"/>
                </a:solidFill>
                <a:effectLst/>
                <a:uFillTx/>
                <a:latin typeface="Aptos"/>
              </a:rPr>
              <a:t>fechamento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FECHAMENTO PARA DISCUSSÃO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7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O que levamos para a próxima tarefa?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8"/>
          <p:cNvSpPr/>
          <p:nvPr/>
        </p:nvSpPr>
        <p:spPr>
          <a:xfrm>
            <a:off x="822960" y="1645920"/>
            <a:ext cx="55774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r>
              <a:rPr b="0" lang="en-US" sz="21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Que pergunta vale ser transformada em notebook?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1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Que variável pode ser manipulada pelo estudante?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1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Que representação ajuda a explicar o fenômeno?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6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203040"/>
                </a:solidFill>
                <a:effectLst/>
                <a:uFillTx/>
                <a:latin typeface="Aptos"/>
                <a:ea typeface="Aptos"/>
              </a:rPr>
              <a:t>• Que limite precisa ser assumido no modelo?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9"/>
          <p:cNvSpPr/>
          <p:nvPr/>
        </p:nvSpPr>
        <p:spPr>
          <a:xfrm>
            <a:off x="6720840" y="1417320"/>
            <a:ext cx="360" cy="3246120"/>
          </a:xfrm>
          <a:prstGeom prst="line">
            <a:avLst/>
          </a:prstGeom>
          <a:ln w="17780">
            <a:solidFill>
              <a:srgbClr val="e7d8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7" name="Text 10"/>
          <p:cNvSpPr/>
          <p:nvPr/>
        </p:nvSpPr>
        <p:spPr>
          <a:xfrm>
            <a:off x="7132320" y="1828800"/>
            <a:ext cx="35658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5000" lnSpcReduction="19999"/>
          </a:bodyPr>
          <a:p>
            <a:pPr defTabSz="914400">
              <a:lnSpc>
                <a:spcPct val="100000"/>
              </a:lnSpc>
            </a:pPr>
            <a:r>
              <a:rPr b="0" lang="pt-BR" sz="1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Julia aparece como meio para representar, testar, visualizar e discutir problemas.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 Hatano (1997): criar uma cultura de sala que valorize a modelagem e o compartilhamento de ideias.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3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 Queiroz et al. (2010): a variedade de representações e interações amplia a percepção de propriedades, nuances e relações do conceito.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7150680" y="3291840"/>
            <a:ext cx="3428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O centro da aula é a tarefa investigativa.</a:t>
            </a:r>
            <a:endParaRPr b="0" lang="pt-BR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2"/>
          <p:cNvSpPr/>
          <p:nvPr/>
        </p:nvSpPr>
        <p:spPr>
          <a:xfrm>
            <a:off x="6446520" y="4983480"/>
            <a:ext cx="104220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0" name="Text 13"/>
          <p:cNvSpPr/>
          <p:nvPr/>
        </p:nvSpPr>
        <p:spPr>
          <a:xfrm>
            <a:off x="6501240" y="5129640"/>
            <a:ext cx="9324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problema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4"/>
          <p:cNvSpPr/>
          <p:nvPr/>
        </p:nvSpPr>
        <p:spPr>
          <a:xfrm>
            <a:off x="7516080" y="5257800"/>
            <a:ext cx="109800" cy="360"/>
          </a:xfrm>
          <a:prstGeom prst="line">
            <a:avLst/>
          </a:prstGeom>
          <a:ln w="17780">
            <a:solidFill>
              <a:srgbClr val="1d777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2" name="Shape 15"/>
          <p:cNvSpPr/>
          <p:nvPr/>
        </p:nvSpPr>
        <p:spPr>
          <a:xfrm>
            <a:off x="7653600" y="4983480"/>
            <a:ext cx="1042200" cy="566640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3" name="Text 16"/>
          <p:cNvSpPr/>
          <p:nvPr/>
        </p:nvSpPr>
        <p:spPr>
          <a:xfrm>
            <a:off x="7708320" y="5129640"/>
            <a:ext cx="9324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modelo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7"/>
          <p:cNvSpPr/>
          <p:nvPr/>
        </p:nvSpPr>
        <p:spPr>
          <a:xfrm>
            <a:off x="8723160" y="5257800"/>
            <a:ext cx="109800" cy="360"/>
          </a:xfrm>
          <a:prstGeom prst="line">
            <a:avLst/>
          </a:prstGeom>
          <a:ln w="17780">
            <a:solidFill>
              <a:srgbClr val="1d777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5" name="Shape 18"/>
          <p:cNvSpPr/>
          <p:nvPr/>
        </p:nvSpPr>
        <p:spPr>
          <a:xfrm>
            <a:off x="8860680" y="4983480"/>
            <a:ext cx="104220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6" name="Text 19"/>
          <p:cNvSpPr/>
          <p:nvPr/>
        </p:nvSpPr>
        <p:spPr>
          <a:xfrm>
            <a:off x="8915400" y="5129640"/>
            <a:ext cx="9324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execução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0"/>
          <p:cNvSpPr/>
          <p:nvPr/>
        </p:nvSpPr>
        <p:spPr>
          <a:xfrm>
            <a:off x="9930240" y="5257800"/>
            <a:ext cx="109800" cy="360"/>
          </a:xfrm>
          <a:prstGeom prst="line">
            <a:avLst/>
          </a:prstGeom>
          <a:ln w="17780">
            <a:solidFill>
              <a:srgbClr val="1d777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8" name="Shape 21"/>
          <p:cNvSpPr/>
          <p:nvPr/>
        </p:nvSpPr>
        <p:spPr>
          <a:xfrm>
            <a:off x="10067400" y="4983480"/>
            <a:ext cx="1042200" cy="566640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9" name="Text 22"/>
          <p:cNvSpPr/>
          <p:nvPr/>
        </p:nvSpPr>
        <p:spPr>
          <a:xfrm>
            <a:off x="10122480" y="5129640"/>
            <a:ext cx="9324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reflexão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1" name="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502920" y="644652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a6570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11292840" y="641916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14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594360" y="31104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REFERÊNCIAS SELECIONADAS DO RELATO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594360" y="5760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2314b"/>
                </a:solidFill>
                <a:effectLst/>
                <a:uFillTx/>
                <a:latin typeface="Aptos Display"/>
                <a:ea typeface="Aptos Display"/>
              </a:rPr>
              <a:t>Que autores sustentam os critérios?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777240" y="1508760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1. Queiroz et al. (2010); Queiroz (2012)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1069920" y="1783080"/>
            <a:ext cx="4525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pt-BR" sz="1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múltiplas representações, suporte diagramático, interação e ampliação da percepção conceitual.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8"/>
          <p:cNvSpPr/>
          <p:nvPr/>
        </p:nvSpPr>
        <p:spPr>
          <a:xfrm>
            <a:off x="777240" y="2441520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2. Sedig &amp; Sumner (2006)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9"/>
          <p:cNvSpPr/>
          <p:nvPr/>
        </p:nvSpPr>
        <p:spPr>
          <a:xfrm>
            <a:off x="1069920" y="2715840"/>
            <a:ext cx="4525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3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interação com representações visuais: organização, investigação, busca e rearranjo.</a:t>
            </a:r>
            <a:endParaRPr b="0" lang="pt-BR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777240" y="3374280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3. Sedig, Klawe &amp; Westrom (2001)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1"/>
          <p:cNvSpPr/>
          <p:nvPr/>
        </p:nvSpPr>
        <p:spPr>
          <a:xfrm>
            <a:off x="1069920" y="3648600"/>
            <a:ext cx="4525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3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manipulação e scaffolding no aprendizado mediado por interfaces.</a:t>
            </a:r>
            <a:endParaRPr b="0" lang="pt-BR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777240" y="4306680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4. De-Souza &amp; Sedig (2001)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1069920" y="4581000"/>
            <a:ext cx="4525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3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manipulação direta de conceitos e estilo de interação em learnware.</a:t>
            </a:r>
            <a:endParaRPr b="0" lang="pt-BR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6080760" y="1508760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1. Goldin &amp; Kaput (1996)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5"/>
          <p:cNvSpPr/>
          <p:nvPr/>
        </p:nvSpPr>
        <p:spPr>
          <a:xfrm>
            <a:off x="6373440" y="1783080"/>
            <a:ext cx="4525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3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representações no aprender e fazer matemática.</a:t>
            </a:r>
            <a:endParaRPr b="0" lang="pt-BR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6080760" y="2441520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2. Vergnaud (1986)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6373440" y="2715840"/>
            <a:ext cx="4525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3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campos conceituais, esquemas e estruturas aditivas.</a:t>
            </a:r>
            <a:endParaRPr b="0" lang="pt-BR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8"/>
          <p:cNvSpPr/>
          <p:nvPr/>
        </p:nvSpPr>
        <p:spPr>
          <a:xfrm>
            <a:off x="6080760" y="3374280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3. Wood, Bruner &amp; Ross (1976)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9"/>
          <p:cNvSpPr/>
          <p:nvPr/>
        </p:nvSpPr>
        <p:spPr>
          <a:xfrm>
            <a:off x="6373440" y="3648600"/>
            <a:ext cx="4525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3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tutoria, apoio e resolução de problemas.</a:t>
            </a:r>
            <a:endParaRPr b="0" lang="pt-BR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0"/>
          <p:cNvSpPr/>
          <p:nvPr/>
        </p:nvSpPr>
        <p:spPr>
          <a:xfrm>
            <a:off x="6080760" y="4306680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2314b"/>
                </a:solidFill>
                <a:effectLst/>
                <a:uFillTx/>
                <a:latin typeface="Aptos"/>
              </a:rPr>
              <a:t>4. Valente et al. (1999)</a:t>
            </a:r>
            <a:endParaRPr b="0" lang="pt-BR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1"/>
          <p:cNvSpPr/>
          <p:nvPr/>
        </p:nvSpPr>
        <p:spPr>
          <a:xfrm>
            <a:off x="6373440" y="4581000"/>
            <a:ext cx="45259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30" strike="noStrike" u="none">
                <a:solidFill>
                  <a:srgbClr val="203040"/>
                </a:solidFill>
                <a:effectLst/>
                <a:uFillTx/>
                <a:latin typeface="Aptos"/>
              </a:rPr>
              <a:t>computador, aprendizagem e sociedade do conhecimento.</a:t>
            </a:r>
            <a:endParaRPr b="0" lang="pt-BR" sz="1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2"/>
          <p:cNvSpPr/>
          <p:nvPr/>
        </p:nvSpPr>
        <p:spPr>
          <a:xfrm>
            <a:off x="777240" y="5623560"/>
            <a:ext cx="9875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1d7776"/>
                </a:solidFill>
                <a:effectLst/>
                <a:uFillTx/>
                <a:latin typeface="Aptos"/>
              </a:rPr>
              <a:t>Critérios mobilizados no relato: representação, manipulação, feedback, visualização, investigação, flexibilidade notacional, reflexão metaconceitual e limites da ferramenta.</a:t>
            </a:r>
            <a:endParaRPr b="0" lang="pt-BR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4"/>
          <p:cNvSpPr/>
          <p:nvPr/>
        </p:nvSpPr>
        <p:spPr>
          <a:xfrm>
            <a:off x="594360" y="507492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150" strike="noStrike" u="none">
                <a:solidFill>
                  <a:srgbClr val="2d2d2d"/>
                </a:solidFill>
                <a:effectLst/>
                <a:uFillTx/>
                <a:latin typeface="Aptos"/>
              </a:rPr>
              <a:t>Hatano (1997): modelagem como atividade de compreensão; envolve custo cognitivo, teste de interpretações e cultura de sala que valoriza o sentido do problema.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2026-06-04T17:18:45Z</dcterms:created>
  <dc:creator>OpenAI</dc:creator>
  <dc:description/>
  <dc:language>pt-BR</dc:language>
  <cp:lastModifiedBy/>
  <dcterms:modified xsi:type="dcterms:W3CDTF">2026-06-04T15:01:08Z</dcterms:modified>
  <cp:revision>2</cp:revision>
  <dc:subject>Aula orientada por perguntas: Julia e Pluto no PROFCOMP</dc:subject>
  <dc:title>Fechamento em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