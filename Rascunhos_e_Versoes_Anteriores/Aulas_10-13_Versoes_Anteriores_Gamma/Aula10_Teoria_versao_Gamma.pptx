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65" r:id="rId22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Montserrat"/>
      <p:regular r:id="rId16"/>
    </p:embeddedFont>
    <p:embeddedFont>
      <p:font typeface="Montserrat"/>
      <p:regular r:id="rId17"/>
    </p:embeddedFont>
    <p:embeddedFont>
      <p:font typeface="Montserrat"/>
      <p:regular r:id="rId18"/>
    </p:embeddedFont>
    <p:embeddedFont>
      <p:font typeface="Montserrat"/>
      <p:regular r:id="rId19"/>
    </p:embeddedFont>
    <p:embeddedFont>
      <p:font typeface="Source Sans 3"/>
      <p:regular r:id="rId20"/>
    </p:embeddedFont>
    <p:embeddedFont>
      <p:font typeface="Source Sans 3"/>
      <p:regular r:id="rId2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9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10-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1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hyperlink" Target="https://dl.acm.org/doi/abs/10.1145/1402521.1413138" TargetMode="External"/><Relationship Id="rId3" Type="http://schemas.openxmlformats.org/officeDocument/2006/relationships/hyperlink" Target="https://web.engr.oregonstate.edu/~budd/Books/oopintro3e/info/chap02.pdf?utm_source=chatgpt.com" TargetMode="External"/><Relationship Id="rId4" Type="http://schemas.openxmlformats.org/officeDocument/2006/relationships/hyperlink" Target="https://dl.acm.org/doi/abs/10.1145/382192.383004" TargetMode="External"/><Relationship Id="rId5" Type="http://schemas.openxmlformats.org/officeDocument/2006/relationships/hyperlink" Target="https://dl.acm.org/doi/pdf/10.1145/65935.65936?utm_source=chatgpt.com" TargetMode="External"/><Relationship Id="rId6" Type="http://schemas.openxmlformats.org/officeDocument/2006/relationships/hyperlink" Target="https://www.researchgate.net/publication/268422462_Abstraction_in_an_object-oriented_analysis_method?utm_source=chatgpt.com" TargetMode="Externa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hyperlink" Target="https://dl.acm.org/doi/abs/10.1145/1402521.1413138" TargetMode="External"/><Relationship Id="rId3" Type="http://schemas.openxmlformats.org/officeDocument/2006/relationships/hyperlink" Target="https://web.engr.oregonstate.edu/~budd/Books/oopintro3e/info/chap02.pdf?utm_source=chatgpt.com" TargetMode="External"/><Relationship Id="rId4" Type="http://schemas.openxmlformats.org/officeDocument/2006/relationships/hyperlink" Target="https://dl.acm.org/doi/abs/10.1145/382192.383004" TargetMode="External"/><Relationship Id="rId5" Type="http://schemas.openxmlformats.org/officeDocument/2006/relationships/hyperlink" Target="https://dl.acm.org/doi/pdf/10.1145/65935.65936?utm_source=chatgpt.com" TargetMode="External"/><Relationship Id="rId6" Type="http://schemas.openxmlformats.org/officeDocument/2006/relationships/hyperlink" Target="https://www.researchgate.net/publication/268422462_Abstraction_in_an_object-oriented_analysis_method?utm_source=chatgpt.com" TargetMode="External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1292" y="932378"/>
            <a:ext cx="7521416" cy="1251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Abstração e Especialização em Computação</a:t>
            </a:r>
            <a:endParaRPr lang="en-US" sz="3900" dirty="0"/>
          </a:p>
        </p:txBody>
      </p:sp>
      <p:sp>
        <p:nvSpPr>
          <p:cNvPr id="5" name="Text 2"/>
          <p:cNvSpPr/>
          <p:nvPr/>
        </p:nvSpPr>
        <p:spPr>
          <a:xfrm>
            <a:off x="811292" y="2977277"/>
            <a:ext cx="7521416" cy="1329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Abstração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processo de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destacar apenas os aspectos essenciais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ocultar detalhes irrelevantes.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Reduz a complexidade e torna o sistema compreensível.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📚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Booch, 2007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</a:t>
            </a:r>
            <a:pPr algn="l" indent="0" marL="0">
              <a:lnSpc>
                <a:spcPts val="2600"/>
              </a:lnSpc>
              <a:buNone/>
            </a:pPr>
            <a:r>
              <a:rPr lang="en-US" sz="170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Budd, 2003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811292" y="4383524"/>
            <a:ext cx="7521416" cy="1659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Especialização (ou Generalização-Especificação)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criação de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classes mais específicas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partir de uma genérica, herdando e refinando atributos e comportamentos.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Permite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reuso, hierarquia e extensibilidade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📚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Rumbaugh et al., 1991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</a:t>
            </a:r>
            <a:pPr algn="l" indent="0" marL="0">
              <a:lnSpc>
                <a:spcPts val="2600"/>
              </a:lnSpc>
              <a:buNone/>
            </a:pPr>
            <a:r>
              <a:rPr lang="en-US" sz="170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Sciore, 1989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11292" y="6290786"/>
            <a:ext cx="7521416" cy="100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🧠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 conjunto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esses conceitos tornam o sistema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modular, reutilizável e compreensível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sendo pilares da Programação Orientada a Objetos.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📚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Rolland &amp; Brunet, 1997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884396"/>
            <a:ext cx="7416403" cy="1121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Abstração e Especialização em Computação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863798" y="2717840"/>
            <a:ext cx="7416403" cy="1496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Abstração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processo de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destacar o essencial e ocultar detalhes desnecessários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🧠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Exemplo: ao dirigir, você usa o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volante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sem precisar entender o funcionamento interno do motor.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Reduz a complexidade e facilita a compreensão de sistemas.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📚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300"/>
              </a:lnSpc>
              <a:buNone/>
            </a:pPr>
            <a:r>
              <a:rPr lang="en-US" sz="155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Booch, 2007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</a:t>
            </a:r>
            <a:pPr algn="l" indent="0" marL="0">
              <a:lnSpc>
                <a:spcPts val="2300"/>
              </a:lnSpc>
              <a:buNone/>
            </a:pPr>
            <a:r>
              <a:rPr lang="en-US" sz="155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Budd, 2003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3798" y="4283273"/>
            <a:ext cx="7416403" cy="1792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Especialização (ou Generalização-Especificação)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criação de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modelos mais específicos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partir de algo genérico.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🧩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Exemplo: o conceito genérico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"Veículo"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pode se especializar em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"Carro"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"Moto"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"Ônibus"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cada um com características próprias.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Permite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reuso, hierarquia e extensibilidade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📚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300"/>
              </a:lnSpc>
              <a:buNone/>
            </a:pPr>
            <a:r>
              <a:rPr lang="en-US" sz="155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Rumbaugh et al., 1991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; </a:t>
            </a:r>
            <a:pPr algn="l" indent="0" marL="0">
              <a:lnSpc>
                <a:spcPts val="2300"/>
              </a:lnSpc>
              <a:buNone/>
            </a:pPr>
            <a:r>
              <a:rPr lang="en-US" sz="155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Sciore, 1989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3798" y="6144935"/>
            <a:ext cx="7416403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00"/>
              </a:lnSpc>
              <a:buSzPct val="100000"/>
              <a:buChar char="•"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 conjunto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abstração e especialização tornam os sistemas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mais organizados, compreensíveis e modulares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princípios centrais da </a:t>
            </a:r>
            <a:pPr algn="l" indent="0" marL="0">
              <a:lnSpc>
                <a:spcPts val="23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Programação Orientada a Objetos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📚</a:t>
            </a:r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300"/>
              </a:lnSpc>
              <a:buNone/>
            </a:pPr>
            <a:r>
              <a:rPr lang="en-US" sz="1550" u="sng" dirty="0">
                <a:solidFill>
                  <a:srgbClr val="66666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Rolland &amp; Brunet, 1997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13542"/>
            <a:ext cx="7628334" cy="476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Conceitos Opostos e Complementares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63798" y="1714857"/>
            <a:ext cx="6195536" cy="715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Abstração: diferentes formas, mesmo conceito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863798" y="2639735"/>
            <a:ext cx="6195536" cy="1581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🔹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Exemplo: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 →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inteiro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1.0 →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decimal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"one" →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1//1 →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fração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863798" y="4409480"/>
            <a:ext cx="6195536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➡️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Todas representam a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mesma ideia: “um”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mas de formas diferentes.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63798" y="5235178"/>
            <a:ext cx="6195536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🔹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Abstração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significa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pensar no conceito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sem se prender à forma ou ao tipo de dado.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3798" y="6060877"/>
            <a:ext cx="6195536" cy="1266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🪑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Assim como chamamos tudo de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“cadeira”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mesmo sendo de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madeira, ferro ou plástico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 computação usamos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abstração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para tratar coisas diferentes sob o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mesmo significado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78685" y="1714857"/>
            <a:ext cx="5907167" cy="357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Especialização: diferenças nos detalhes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578685" y="2282190"/>
            <a:ext cx="6195536" cy="636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🔹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Enquanto a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abstração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foca no conceito geral,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especialização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mostra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como cada tipo é diferente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na prática.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78685" y="3107888"/>
            <a:ext cx="619553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 técnico: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578685" y="3618905"/>
            <a:ext cx="619553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inteiro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armazenado como número exato.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78685" y="4006929"/>
            <a:ext cx="6195536" cy="629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1.0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decimal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que usa mais memória para representar casas decimais.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78685" y="4709636"/>
            <a:ext cx="619553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"one"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texto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salvo como sequência de caracteres.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78685" y="5097661"/>
            <a:ext cx="6195536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1//1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 </a:t>
            </a:r>
            <a:pPr algn="l" indent="0" marL="0">
              <a:lnSpc>
                <a:spcPts val="24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racional</a:t>
            </a:r>
            <a:pPr algn="l" indent="0" marL="0">
              <a:lnSpc>
                <a:spcPts val="24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guardado como numerador e denominador.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731758"/>
            <a:ext cx="12902803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Exemplos</a:t>
            </a:r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, especialmente para o </a:t>
            </a:r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nível introdutório</a:t>
            </a:r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ou para </a:t>
            </a:r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slides de ensino</a:t>
            </a:r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.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863798" y="2296597"/>
            <a:ext cx="3939064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Exemplos numéricos (1, 1.0, "one", 1/1)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863798" y="3275886"/>
            <a:ext cx="3939064" cy="4021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Adequação conceitual: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representam o mesmo valor (unidade) com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tipos de dados diferentes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inteiro, ponto flutuante, string e racional.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🎯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 que é um bom exemplo: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ilustra claramente o princípio da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abstração de dados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várias implementações representam um mesmo conceito.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Aplicação prática: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em linguagens como </a:t>
            </a:r>
            <a:pPr algn="l"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Python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</a:t>
            </a:r>
            <a:pPr algn="l" indent="0" marL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Julia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esses tipos coexistem e podem ser tratados de forma genérica em funções.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52455" y="2296597"/>
            <a:ext cx="3939064" cy="113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Exemplo cotidiano (cadeira de madeira, ferro ou plástico)</a:t>
            </a:r>
            <a:endParaRPr lang="en-US" sz="2350" dirty="0"/>
          </a:p>
        </p:txBody>
      </p:sp>
      <p:sp>
        <p:nvSpPr>
          <p:cNvPr id="6" name="Text 4"/>
          <p:cNvSpPr/>
          <p:nvPr/>
        </p:nvSpPr>
        <p:spPr>
          <a:xfrm>
            <a:off x="5352455" y="3654504"/>
            <a:ext cx="3939064" cy="3355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Adequação didática: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acessível a todos, ideal para explicar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abstração de objetos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🎯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 que é útil: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mostra que, independentemente do material, todas as instâncias compartilham a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mesma ideia de “cadeira”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um objeto para sentar.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Ligação com POO: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“classe” Cadeira é a abstração; os diferentes materiais são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instâncias especializadas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41111" y="2296597"/>
            <a:ext cx="3939064" cy="113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 Exemplo de mídia (MP3, WAV, OGG → música)</a:t>
            </a:r>
            <a:endParaRPr lang="en-US" sz="2350" dirty="0"/>
          </a:p>
        </p:txBody>
      </p:sp>
      <p:sp>
        <p:nvSpPr>
          <p:cNvPr id="8" name="Text 6"/>
          <p:cNvSpPr/>
          <p:nvPr/>
        </p:nvSpPr>
        <p:spPr>
          <a:xfrm>
            <a:off x="9841111" y="3654504"/>
            <a:ext cx="3939064" cy="3022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✅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Complementa com abstração de formato.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🎯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Por que é interessante: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demonstra que formatos diferentes podem representar o mesmo conteúdo abstrato —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música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Ligação com software: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abstração aplicada a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tipos de arquivo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ou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interfaces de dados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337310"/>
            <a:ext cx="5712023" cy="560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Trabalhando com Arrays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863798" y="2515195"/>
            <a:ext cx="3601641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O que é um Array?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63798" y="3182660"/>
            <a:ext cx="3898940" cy="1480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Conceito: uma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estrutura que armazena vários dados do mesmo tipo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em uma única variável.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749641"/>
            <a:ext cx="3898940" cy="1110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 prático: uma prateleira com várias caixas numeradas, cada uma guardando um item.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576" y="2515195"/>
            <a:ext cx="3898940" cy="84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Por que usar Arrays?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5372576" y="3603308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Para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organizar informações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forma eficiente.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372576" y="4429958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Evita criar muitas variáveis individuais.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72576" y="5256609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Facilita o </a:t>
            </a:r>
            <a:pPr algn="l" indent="0" marL="0">
              <a:lnSpc>
                <a:spcPts val="29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acesso, busca e modificação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dados.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81354" y="2515195"/>
            <a:ext cx="3898940" cy="84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 Como um Array é estruturado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9881354" y="3603308"/>
            <a:ext cx="3898940" cy="740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Índices: posições numeradas que identificam cada elemento.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81354" y="4429958"/>
            <a:ext cx="3898940" cy="370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Elementos: valores armazenados.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881354" y="4886444"/>
            <a:ext cx="3898940" cy="1919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900"/>
              </a:lnSpc>
              <a:buSzPct val="100000"/>
              <a:buChar char="•"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Exemplo: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nomes = ["Ana", "João", "Maria", "Lucas"]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 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nomes[0]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“Ana”; 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nomes[2]</a:t>
            </a:r>
            <a:pPr algn="l" indent="0" marL="0">
              <a:lnSpc>
                <a:spcPts val="29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“Maria”.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58560"/>
            <a:ext cx="5141952" cy="504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Trabalhando com Arrays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863798" y="1918573"/>
            <a:ext cx="3712012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Array Unidimensional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863798" y="2519243"/>
            <a:ext cx="3939064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Definição: armazena uma sequência linear de elementos.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3798" y="3385661"/>
            <a:ext cx="3939064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Exemplo: lista com os nomes dos alunos de uma turma.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3798" y="4252079"/>
            <a:ext cx="3939064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alunos = ["Ana", "João", "Maria", "Lucas"] print(alunos[2]) # Exibe: Maria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3798" y="5118497"/>
            <a:ext cx="3939064" cy="100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Uso cotidiano: lista de contatos no celular ou lista de músicas em um aplicativo.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52455" y="1918573"/>
            <a:ext cx="3737134" cy="378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Array Bidimensional?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352455" y="2519243"/>
            <a:ext cx="3939064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Definição: armazena dados em linhas e colunas, como uma planilha.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52455" y="3385661"/>
            <a:ext cx="3939064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Exemplo: notas dos alunos em diferentes provas.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352455" y="4252079"/>
            <a:ext cx="3939064" cy="99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notas = [ [8.5, 9.0, 7.5], # Ana [7.0, 8.0, 6.5], # João [9.5, 8.5, 10.0] # Maria ] print(notas[1][2]) # Exibe: 6.5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52455" y="5451753"/>
            <a:ext cx="3939064" cy="6741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Uso cotidiano: tabela de horários de ônibus ou boletim escolar.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41111" y="1918573"/>
            <a:ext cx="3939064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 Array Multidimensional</a:t>
            </a:r>
            <a:endParaRPr lang="en-US" sz="2350" dirty="0"/>
          </a:p>
        </p:txBody>
      </p:sp>
      <p:sp>
        <p:nvSpPr>
          <p:cNvPr id="14" name="Text 12"/>
          <p:cNvSpPr/>
          <p:nvPr/>
        </p:nvSpPr>
        <p:spPr>
          <a:xfrm>
            <a:off x="9841111" y="2897862"/>
            <a:ext cx="3939064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Definição: armazena dados em mais de duas dimensões.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41111" y="3764280"/>
            <a:ext cx="3939064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Exemplo: representação de uma imagem (cada pixel tem valores de cor em R, G e B).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841111" y="4630698"/>
            <a:ext cx="3939064" cy="133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imagem = [ [[255, 0, 0], [0, 255, 0]], # Linha 1: vermelho e verde [[0, 0, 255], [255, 255, 0]] # Linha 2: azul e amarelo ] print(imagem[0][1]) # Exibe: [0, 255, 0]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41111" y="6163628"/>
            <a:ext cx="3939064" cy="1007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💡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Uso cotidiano: fotos digitais, mapas, planilhas 3D ou jogos com coordenadas x, y, z.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832485"/>
            <a:ext cx="4038957" cy="504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Tipos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863798" y="1892498"/>
            <a:ext cx="3939064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1. </a:t>
            </a:r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Todo dado tem um tipo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863798" y="2871788"/>
            <a:ext cx="3939064" cy="133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Assim como no mundo real classificamos as coisas (números, palavras, objetos), o computador também precisa saber o tipo de informação que está manipulando.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63798" y="4404717"/>
            <a:ext cx="3939064" cy="1348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🧮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Exemplo: “25” pode ser um número (para somar) ou um texto (“casa 25”). 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➡️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tipo ajuda o computador a decidir como usar essa informação..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352455" y="1892498"/>
            <a:ext cx="3939064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2. Cada tipo tem um comportamento próprio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5352455" y="2871788"/>
            <a:ext cx="3939064" cy="99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Tipos diferentes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ocupam espaços diferentes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na memória e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permitem operações diferentes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352455" y="4071461"/>
            <a:ext cx="3939064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📱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352455" y="4490085"/>
            <a:ext cx="3939064" cy="66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Você pode 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somar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2 + 3 → (números)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352455" y="5234345"/>
            <a:ext cx="3939064" cy="167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Mas não pode somar “dois” + “três” → (textos)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➡️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tipo 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define o que pode e o que não pode ser feito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com um dado..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841111" y="1892498"/>
            <a:ext cx="3939064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3. Tipos ajudam a organizar o pensamento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9841111" y="2871788"/>
            <a:ext cx="3939064" cy="1333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Ao programar (ou planejar um algoritmo), pensar em tipos é como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organizar as gavetas de uma casa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: cada coisa tem seu lugar.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841111" y="4404717"/>
            <a:ext cx="3939064" cy="34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🍎</a:t>
            </a:r>
            <a:pPr algn="l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</a:t>
            </a:r>
            <a:pPr algn="l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Exemplo: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841111" y="4823341"/>
            <a:ext cx="3939064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Gaveta de 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frutas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maçã, banana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841111" y="5234345"/>
            <a:ext cx="3939064" cy="333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Gaveta de 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roupas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→ camisa, calça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841111" y="5645348"/>
            <a:ext cx="3939064" cy="167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lvl="1" marL="685800" indent="-342900">
              <a:lnSpc>
                <a:spcPts val="26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Misturar os tipos causa 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confusão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assim como no computador!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➡️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Pensar em tipos ajuda a 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estruturar o raciocínio lógico</a:t>
            </a:r>
            <a:pPr algn="l" lvl="1"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 evitar erros no código.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15967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3798" y="2947988"/>
            <a:ext cx="3830955" cy="29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Aninhamento: Arrays de Arrays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863798" y="3501509"/>
            <a:ext cx="1290280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 que é?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Um 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array aninhado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é um conjunto dentro de outro conjunto — ou seja, uma lista que contém outras listas.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É uma forma de </a:t>
            </a:r>
            <a:pPr algn="l"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organizar informações em camadas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como se fossem caixas dentro de caixas.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863798" y="4473059"/>
            <a:ext cx="4185761" cy="2968109"/>
          </a:xfrm>
          <a:prstGeom prst="roundRect">
            <a:avLst>
              <a:gd name="adj" fmla="val 873"/>
            </a:avLst>
          </a:prstGeom>
          <a:solidFill>
            <a:srgbClr val="FFFFFF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9418" y="4668679"/>
            <a:ext cx="1963341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Notas dos alunos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59418" y="5017651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Cada aluno tem suas notas de várias provas: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59418" y="5380315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Ana → [8.5, 9.0, 7.5]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059418" y="5742980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João → [7.0, 6.5, 8.0]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59418" y="6105644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Maria → [10.0, 9.5, 9.0]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059418" y="6468308"/>
            <a:ext cx="37945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➡️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conjunto de todas essas listas forma um array bidimensional, ou array de arrays, que representa uma turma inteira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222319" y="4473059"/>
            <a:ext cx="4185761" cy="2968109"/>
          </a:xfrm>
          <a:prstGeom prst="roundRect">
            <a:avLst>
              <a:gd name="adj" fmla="val 873"/>
            </a:avLst>
          </a:prstGeom>
          <a:solidFill>
            <a:srgbClr val="FFFFFF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17939" y="4668679"/>
            <a:ext cx="2879646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Cardápio de um restaurante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417939" y="5017651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Imagine um cardápio com seções: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417939" y="5380315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Pratos principais: [“Lasanha”, “Feijoada”, “Peixe”]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417939" y="5742980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Sobremesas: [“Pudim”, “Sorvete”, “Bolo”]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417939" y="6105644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Bebidas: [“Suco”, “Refrigerante”, “Café”]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17939" y="6468308"/>
            <a:ext cx="3794522" cy="518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➡️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 cardápio completo é um array de arrays, pois guarda várias listas dentro de uma só.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9580840" y="4473059"/>
            <a:ext cx="4185761" cy="2968109"/>
          </a:xfrm>
          <a:prstGeom prst="roundRect">
            <a:avLst>
              <a:gd name="adj" fmla="val 873"/>
            </a:avLst>
          </a:prstGeom>
          <a:solidFill>
            <a:srgbClr val="FFFFFF"/>
          </a:solidFill>
          <a:ln w="22860">
            <a:solidFill>
              <a:srgbClr val="494A4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776460" y="4668679"/>
            <a:ext cx="1963341" cy="2453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Mala de viagem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9776460" y="5017651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Dentro da mala há sacos organizadores: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9776460" y="5380315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Saco 1: [camisas, calças]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9776460" y="5742980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Saco 2: [meias, sapatos]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9776460" y="6105644"/>
            <a:ext cx="3794522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Saco 3: [produtos de higiene]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9776460" y="6468308"/>
            <a:ext cx="379452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➡️</a:t>
            </a:r>
            <a:pPr algn="l"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mala é um array, e cada saco é outro array. Juntos, formam um array aninhado, onde cada grupo guarda itens relacionados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702112"/>
            <a:ext cx="6334482" cy="420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Arrays como Contêineres Universais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6350198" y="1400413"/>
            <a:ext cx="416481" cy="416481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5" name="Text 2"/>
          <p:cNvSpPr/>
          <p:nvPr/>
        </p:nvSpPr>
        <p:spPr>
          <a:xfrm>
            <a:off x="6951702" y="1463993"/>
            <a:ext cx="2103596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Flexibilidade Total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951702" y="1837849"/>
            <a:ext cx="6814899" cy="11106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Em computação, um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array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pode ser visto como um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contêiner universal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porque ele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guarda diferentes elementos organizados em sequência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Mesmo que todos os elementos sejam do mesmo tipo (números, textos, objetos), o array serve como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estrutura-base para armazenar e manipular conjuntos de dados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350198" y="3318629"/>
            <a:ext cx="416481" cy="416481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8" name="Text 5"/>
          <p:cNvSpPr/>
          <p:nvPr/>
        </p:nvSpPr>
        <p:spPr>
          <a:xfrm>
            <a:off x="6951702" y="3388043"/>
            <a:ext cx="6814899" cy="1665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Arrays possuem uma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estrutura consistente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ou seja,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funcionam da mesma forma independentemente do conteúdo armazenado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Seja uma lista de números, textos ou imagens, eles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mantêm o mesmo formato, índice e operações básicas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(acessar, adicionar, remover, percorrer).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Essa consistência torna os arrays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previsíveis e fáceis de usar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permitindo aplicar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 mesmos algoritmos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 diferentes tipos de dados.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350198" y="5424130"/>
            <a:ext cx="416481" cy="416481"/>
          </a:xfrm>
          <a:prstGeom prst="roundRect">
            <a:avLst>
              <a:gd name="adj" fmla="val 6667"/>
            </a:avLst>
          </a:prstGeom>
          <a:solidFill>
            <a:srgbClr val="303132"/>
          </a:solidFill>
          <a:ln/>
        </p:spPr>
      </p:sp>
      <p:sp>
        <p:nvSpPr>
          <p:cNvPr id="10" name="Text 7"/>
          <p:cNvSpPr/>
          <p:nvPr/>
        </p:nvSpPr>
        <p:spPr>
          <a:xfrm>
            <a:off x="6951702" y="5487710"/>
            <a:ext cx="2394823" cy="2628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Poder Computacional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951702" y="5861566"/>
            <a:ext cx="6814899" cy="1665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Os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arrays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concentram grande poder computacional porque permitem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armazenar e processar grandes quantidades de dados de forma organizada e eficiente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Sua estrutura uniforme possibilita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operações rápidas e repetitivas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como busca, ordenação e análise em massa.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Essa universalidade torna os arrays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essenciais para o pensamento computacional</a:t>
            </a:r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pois favorecem a criação de </a:t>
            </a:r>
            <a:pPr algn="l" indent="0" marL="0">
              <a:lnSpc>
                <a:spcPts val="215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algoritmos lógicos, escaláveis e reutilizáveis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2984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000000"/>
                </a:solidFill>
                <a:latin typeface="Arial"/>
              </a:rPr>
              <a:t>O que esperamos desta aula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2984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Entender abstração como o processo de focar no essencial e ignorar detalhes irrelevantes.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Entender especialização como a criação de categorias mais específicas a partir de uma mais geral.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Reconhecer arrays como a estrutura básica para organizar coleções de dados.</a:t>
            </a:r>
          </a:p>
          <a:p>
            <a:pPr>
              <a:spcAft>
                <a:spcPts val="1400"/>
              </a:spcAft>
            </a:pPr>
            <a:r>
              <a:rPr sz="1800">
                <a:solidFill>
                  <a:srgbClr val="111827"/>
                </a:solidFill>
                <a:latin typeface="Arial"/>
              </a:rPr>
              <a:t>•  Relacionar esses conceitos aos pilares do Pensamento Computacional — abstração e decomposição.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589520"/>
            <a:ext cx="12984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64748B"/>
                </a:solidFill>
                <a:latin typeface="Arial"/>
              </a:rPr>
              <a:t>Aula 10 de 15 • 2 horas • Abstração e Especialização em Computação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2025-10-31T20:27:36Z</dcterms:created>
  <dcterms:modified xsi:type="dcterms:W3CDTF">2025-10-31T20:27:36Z</dcterms:modified>
</cp:coreProperties>
</file>