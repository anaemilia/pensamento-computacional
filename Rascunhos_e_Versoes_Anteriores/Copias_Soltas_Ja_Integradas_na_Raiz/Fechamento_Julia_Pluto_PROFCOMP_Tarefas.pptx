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 w="12700">
            <a:solidFill>
              <a:srgbClr val="0E1B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777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Fechamento para discussão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13258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DEAF2"/>
                </a:solidFill>
              </a:rPr>
              <a:t>Julia e Pluto na disciplina de Pensamento Computacional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7D9"/>
                </a:solidFill>
              </a:rPr>
              <a:t>PROFCOMP · Mestrado Profissional em Computação em Rede Nacional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601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22B3A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código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variáveis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funções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3320" y="4361688"/>
            <a:ext cx="77724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43F50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modelo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gráfico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tabela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60920" y="4361688"/>
            <a:ext cx="77724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75320" y="37033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184D5B"/>
          </a:solidFill>
          <a:ln w="19050">
            <a:solidFill>
              <a:srgbClr val="2AA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3867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discussão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58200" y="4343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interpretação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DEAF2"/>
                </a:solidFill>
              </a:rPr>
              <a:t>limites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 linguagem aparece como meio para representar, testar, visualizar e discutir problemas.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E1B2A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Sumário do fechamento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Perguntas de discussão e tarefas curtas para o treino inicial em Pluto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81912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Visibilidade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33472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 que o Pluto tornou visível que ficaria menos evidente em código tradicional?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713232" y="2660904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Reatividade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3347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A reatividade ajudou a perceber relações entre variáveis?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13232" y="3739896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Indução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3347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Em quais momentos usamos pensamento indutivo?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13232" y="4818888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928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Dedução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3347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Em quais momentos usamos pensamento dedutivo?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245352" y="1581912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691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Decomposição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65592" y="1682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Quais tarefas exigiram decomposição?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245352" y="2660904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2770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Generalização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65592" y="27614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Onde apareceu generalização?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45352" y="3739896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849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Transformação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65592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Onde apareceu transformação de dados?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245352" y="4818888"/>
            <a:ext cx="5074920" cy="713232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 w="10160">
            <a:solidFill>
              <a:srgbClr val="E9EE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928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4E7A"/>
                </a:solidFill>
              </a:rPr>
              <a:t>Limites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65592" y="49194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0E1B2A"/>
                </a:solidFill>
              </a:rPr>
              <a:t>Quais foram os limites dos modelos criados?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713232" y="5669280"/>
            <a:ext cx="10607040" cy="475488"/>
          </a:xfrm>
          <a:prstGeom prst="roundRect">
            <a:avLst>
              <a:gd name="adj" fmla="val 15385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797296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0E1B2A"/>
                </a:solidFill>
              </a:rPr>
              <a:t>Parâmetro qualitativo do relato: avaliar a tarefa pelo que ela permite representar, manipular, visualizar, comparar, interpretar, reconstruir e justificar.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1. O que o Pluto tornou visível?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representação como mediação conceitual e visualização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 = [7, 8, 6, 9]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sum(notas) / length(notas)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md"""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Notas: $notas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Média: $media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"""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Executar as células separadas de dados, cálculo e texto.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Apontar o que ficou explícito na relação entre entrada, processamento e saída.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Comparar com um script linear e registrar o que ficaria “escondido”.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Representação + visualização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Uma frase sobre o que se tornou observável no notebook.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2. A reatividade ajudou a perceber relações?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manipulação de parâmetros, feedback imediato e comparação entre estados.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valor = 100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tempo = 10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final = valor * (1 + taxa)^tempo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Alterar taxa e tempo, executando a célula de entrada.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Observar quais resultados mudam sem reescrever o algoritmo.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Explicar a relação causal entre variável alterada e resultado.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Manipulação + feedback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Tabela curta: alteração feita → efeito observado.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3. Onde usamos pensamento indutivo?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investigação exploratória, padrões observados e formulação de hipóteses.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seq = [2, 4, 6, 8, 10]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hipotese = "somar 2"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proximo = last(seq) + 2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Observar três sequências diferentes.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Formular uma hipótese para cada padrão.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Testar a hipótese gerando o próximo termo.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Investigação exploratória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Hipótese + teste + revisão quando a regra falhar.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4. Onde usamos pensamento dedutivo?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aplicação de regras gerais a casos particulares.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numero = 14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eh_par = numero % 2 == 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resultado = eh_par ? "par" : "ímpar"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Escrever a regra antes de executar o código.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a regra a cinco números diferentes.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Verificar se a saída confirma a previsão.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Modelo qualitativo → quantitativo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Regra geral, casos testados e justificativa.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5. Quais tarefas exigiram decomposição?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interação baseada em tarefas e organização do processo.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n1, n2, n3 = 8, 6, 7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 = (n1 + n2 + n3) / 3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situacao = media &gt;= 7 ? "aprovado" : "rever"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Separar o problema em entrada, processamento e saída.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Criar uma célula para cada parte.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Identificar que mudança em uma parte afeta as demais.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Interação por tarefa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Mapa Entrada → Processo → Saída.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6. Onde apareceu generalização?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reconstrução de estratégia e passagem do caso particular para função.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media(notas)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sum(notas) / length(notas)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media([8, 6, 7])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media([10, 9, 8])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Resolver primeiro um caso manualmente.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Transformar o cálculo repetido em função.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a função a casos novos e comparar.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Flexibilidade notacional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Descrição do que a função generalizou.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7. Onde apareceu transformação de dados?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transformar representações sem perder o sentido do dado.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celsius = [25, 28, 30]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fahrenheit = celsius .* 9/5 .+ 32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pares = [celsius fahrenheit]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Explicar o significado dos dados originais.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Aplicar uma regra de transformação.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A23E48"/>
          </a:solidFill>
          <a:ln w="12700">
            <a:solidFill>
              <a:srgbClr val="A23E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Comparar as duas representações e interpretar.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Representação + transformação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Antes/depois com explicação do que mudou.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8. Quais são os limites dos modelos?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Foco: reflexão metaconceitual e crítica ao resultado computacional.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700784"/>
            <a:ext cx="4562856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pop0 = 1000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taxa = 0.05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anos = 20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pop = pop0 * (1 + taxa)^anos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5897880" y="153619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2A"/>
                </a:solidFill>
              </a:rPr>
              <a:t>Pequena tarefa no Pluto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897880" y="1901952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98424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1901952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Executar o modelo e interpretar o resultado.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5897880" y="2505456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587752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10528" y="2523744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Listar três fatores que o modelo ignora.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897880" y="3108960"/>
            <a:ext cx="512064" cy="512064"/>
          </a:xfrm>
          <a:prstGeom prst="ellipse">
            <a:avLst/>
          </a:prstGeom>
          <a:solidFill>
            <a:srgbClr val="52616B"/>
          </a:solidFill>
          <a:ln w="12700">
            <a:solidFill>
              <a:srgbClr val="526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191256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0528" y="3145536"/>
            <a:ext cx="48920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0E1B2A"/>
                </a:solidFill>
              </a:rPr>
              <a:t>Reescrever a pergunta para torná-la mais responsável.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897880" y="47548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E7A"/>
                </a:solidFill>
              </a:rPr>
              <a:t>Aspecto qualitativo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62472" y="51206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Limite da ferramenta + reflexão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66760" y="4754880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4892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400E"/>
                </a:solidFill>
              </a:rPr>
              <a:t>Registro esperado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49640" y="51206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E1B2A"/>
                </a:solidFill>
              </a:rPr>
              <a:t>Lista de pressupostos e limites do modelo.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Síntese para a discussão final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Julia não é o fim; o notebook é um espaço de investigação, representação e reflexão.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3364992"/>
            <a:ext cx="141732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23760" y="3364992"/>
            <a:ext cx="1325880" cy="0"/>
          </a:xfrm>
          <a:prstGeom prst="line">
            <a:avLst/>
          </a:prstGeom>
          <a:noFill/>
          <a:ln w="27940">
            <a:solidFill>
              <a:srgbClr val="2AA7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1B4E7A"/>
          </a:solidFill>
          <a:ln w="12700">
            <a:solidFill>
              <a:srgbClr val="1B4E7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7899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Representar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dados, relações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modelos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3A9D78"/>
          </a:solidFill>
          <a:ln w="12700">
            <a:solidFill>
              <a:srgbClr val="3A9D7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3951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Testar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3951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hipóteses, regras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variações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0" y="2971800"/>
            <a:ext cx="2103120" cy="868680"/>
          </a:xfrm>
          <a:prstGeom prst="roundRect">
            <a:avLst>
              <a:gd name="adj" fmla="val 12632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08592" y="30998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Discutir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308592" y="3429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interpretações, erros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 limites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0" y="5504688"/>
            <a:ext cx="5897880" cy="493776"/>
          </a:xfrm>
          <a:prstGeom prst="roundRect">
            <a:avLst>
              <a:gd name="adj" fmla="val 14815"/>
            </a:avLst>
          </a:prstGeom>
          <a:solidFill>
            <a:srgbClr val="D8F1F6"/>
          </a:solidFill>
          <a:ln w="12700">
            <a:solidFill>
              <a:srgbClr val="D8F1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5650992"/>
            <a:ext cx="5440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1B2A"/>
                </a:solidFill>
              </a:rPr>
              <a:t>Critério central do relato: avaliar o percurso da tarefa, não apenas o código final.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E1B2A"/>
                </a:solidFill>
              </a:rPr>
              <a:t>Referências essenciais do relato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</a:rPr>
              <a:t>Bibliografia do relato usada como parâmetro qualitativo para as tarefas.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316736"/>
            <a:ext cx="10972800" cy="0"/>
          </a:xfrm>
          <a:prstGeom prst="line">
            <a:avLst/>
          </a:prstGeom>
          <a:noFill/>
          <a:ln w="15240">
            <a:solidFill>
              <a:srgbClr val="E9EE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3619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51790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QUEIROZ, A. E. de M. A conceitualização sobre estruturas aditivas e multiplicativas no uso de expressões da representação visual em uma interface educativa. Tese, UFES, 2012.</a:t>
            </a:r>
            <a:endParaRPr lang="en-US" sz="890" dirty="0"/>
          </a:p>
        </p:txBody>
      </p:sp>
      <p:sp>
        <p:nvSpPr>
          <p:cNvPr id="9" name="Shape 7"/>
          <p:cNvSpPr/>
          <p:nvPr/>
        </p:nvSpPr>
        <p:spPr>
          <a:xfrm>
            <a:off x="685800" y="235915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SEDIG, K.; SUMNER, M. Characterizing interaction with visual mathematical representations. International Journal of Computers for Mathematical Learning, 2006.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685800" y="318211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16382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SEDIG, K.; KLAWE, M.; WESTROM, M. Role of interface manipulation style and scaffolding on cognition and concept learning in learnware. ACM TOCHI, 2001.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685800" y="400507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98678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DE-SOUZA, C. S.; SEDIG, K. Semiotic considerations on direct concept manipulation as a distinct interface style for learnware, 2001.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685800" y="482803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80974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WOOD, D.; BRUNER, J. S.; ROSS, G. The role of tutoring in problem solving. Journal of Child Psychology and Psychiatry, 1976.</a:t>
            </a:r>
            <a:endParaRPr lang="en-US" sz="890" dirty="0"/>
          </a:p>
        </p:txBody>
      </p:sp>
      <p:sp>
        <p:nvSpPr>
          <p:cNvPr id="17" name="Shape 15"/>
          <p:cNvSpPr/>
          <p:nvPr/>
        </p:nvSpPr>
        <p:spPr>
          <a:xfrm>
            <a:off x="6217920" y="153619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151790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GÉRARD, V. A comprehensive theory of representation for mathematics education. Journal of Mathematical Behavior, 1998.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6217920" y="235915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34086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VERGNAUD, G. Psicologia do desenvolvimento cognitivo e didáctica das matemáticas: as estruturas aditivas. Análise Psicológica, 1986.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6217920" y="318211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316382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GOLDIN, G.; KAPUT, J. A joint perspective on representation in learning and doing mathematics. In: Theories of Mathematical Learning, 1996.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6217920" y="4005072"/>
            <a:ext cx="54864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98678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KAPUT, J. J. The representational roles of technology in connecting mathematics with authentic experience. 1994.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6217920" y="4828032"/>
            <a:ext cx="54864" cy="502920"/>
          </a:xfrm>
          <a:prstGeom prst="rect">
            <a:avLst/>
          </a:prstGeom>
          <a:solidFill>
            <a:srgbClr val="2AA7C9"/>
          </a:solidFill>
          <a:ln w="12700">
            <a:solidFill>
              <a:srgbClr val="2AA7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809744"/>
            <a:ext cx="507492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0E1B2A"/>
                </a:solidFill>
              </a:rPr>
              <a:t>VALENTE, J. A. et al. O computador na sociedade do conhecimento. Campinas: Unicamp/NIED, 1999.</a:t>
            </a:r>
            <a:endParaRPr lang="en-US" sz="890" dirty="0"/>
          </a:p>
        </p:txBody>
      </p:sp>
      <p:sp>
        <p:nvSpPr>
          <p:cNvPr id="27" name="Shape 25"/>
          <p:cNvSpPr/>
          <p:nvPr/>
        </p:nvSpPr>
        <p:spPr>
          <a:xfrm>
            <a:off x="685800" y="5943600"/>
            <a:ext cx="10881360" cy="347472"/>
          </a:xfrm>
          <a:prstGeom prst="roundRect">
            <a:avLst>
              <a:gd name="adj" fmla="val 15789"/>
            </a:avLst>
          </a:prstGeom>
          <a:solidFill>
            <a:srgbClr val="EEF6F8"/>
          </a:solidFill>
          <a:ln w="12700">
            <a:solidFill>
              <a:srgbClr val="EEF6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6044184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2616B"/>
                </a:solidFill>
              </a:rPr>
              <a:t>As referências foram selecionadas da bibliografia do relato e da tese que o fundamenta, com foco em representação, interação, manipulação, feedback, modelização e reflexão.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</a:rPr>
              <a:t>PROFCOMP · Pensamento Computacional · Julia + Pluto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384280" y="6437376"/>
            <a:ext cx="347472" cy="228600"/>
          </a:xfrm>
          <a:prstGeom prst="rect">
            <a:avLst/>
          </a:prstGeom>
          <a:solidFill>
            <a:srgbClr val="1B4E7A"/>
          </a:solidFill>
          <a:ln>
            <a:solidFill>
              <a:srgbClr val="1B4E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UNIVASF / 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Julia e Pluto no PROFCOMP — Fechamento para discussão</dc:title>
  <dc:subject>Fechamento para discussão: Julia e Pluto no Pensamento Computacional</dc:subject>
  <dc:creator>OpenAI</dc:creator>
  <cp:lastModifiedBy>OpenAI</cp:lastModifiedBy>
  <cp:revision>1</cp:revision>
  <dcterms:created xsi:type="dcterms:W3CDTF">2026-06-04T17:09:19Z</dcterms:created>
  <dcterms:modified xsi:type="dcterms:W3CDTF">2026-06-04T17:09:19Z</dcterms:modified>
</cp:coreProperties>
</file>