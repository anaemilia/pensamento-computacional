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960120"/>
            <a:ext cx="1417320" cy="141732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9290" y="1314450"/>
            <a:ext cx="708660" cy="7086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743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ABSTRAÇÃO, TIPOS E ESTRUTURAS DE DADOS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22960" y="31089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Arrays: Organizando Coleções de Dados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463040" y="425196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definir tipos e as ações que podemos realizar sobre eles, chegou a hora de organizar coleções inteiras desses dados.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de 5 · Pensamento Computacional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253" y="517093"/>
            <a:ext cx="291694" cy="2916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56616"/>
            <a:ext cx="10287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e por que usar um Array?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44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estrutura que armazena vários dados do mesmo tipo em uma única variável.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usar?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 informações de forma eficiente, evitando criar muitas variáveis individuais.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 o acesso, a busca e a modificação de dados.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Índices: posições numeradas que identificam cada elemento.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4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Elementos: os valores armazenados em cada posição.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470916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/>
        </p:spPr>
      </p:sp>
      <p:sp>
        <p:nvSpPr>
          <p:cNvPr id="7" name="Shape 4"/>
          <p:cNvSpPr/>
          <p:nvPr/>
        </p:nvSpPr>
        <p:spPr>
          <a:xfrm>
            <a:off x="777240" y="4937760"/>
            <a:ext cx="457200" cy="457200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110" y="5040630"/>
            <a:ext cx="251460" cy="2514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48646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cotidiano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371600" y="5138928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prateleira com várias caixas numeradas, cada uma guardando um item.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446520" y="1417320"/>
            <a:ext cx="5166360" cy="3794760"/>
          </a:xfrm>
          <a:prstGeom prst="roundRect">
            <a:avLst>
              <a:gd name="adj" fmla="val 1928"/>
            </a:avLst>
          </a:prstGeom>
          <a:solidFill>
            <a:srgbClr val="1E335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766560" y="16276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DE CÓDIGO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766560" y="20574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nomes = ["Ana", "João", "Maria", "Lucas"]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nomes[0]  →  "Ana"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nomes[2]  →  "Maria"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766560" y="3749040"/>
            <a:ext cx="868680" cy="640080"/>
          </a:xfrm>
          <a:prstGeom prst="roundRect">
            <a:avLst>
              <a:gd name="adj" fmla="val 8571"/>
            </a:avLst>
          </a:prstGeom>
          <a:solidFill>
            <a:srgbClr val="E8963C"/>
          </a:solidFill>
          <a:ln w="12700">
            <a:solidFill>
              <a:srgbClr val="3E5F8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766560" y="3803904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766560" y="4151376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4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7772400" y="3749040"/>
            <a:ext cx="868680" cy="640080"/>
          </a:xfrm>
          <a:prstGeom prst="roundRect">
            <a:avLst>
              <a:gd name="adj" fmla="val 8571"/>
            </a:avLst>
          </a:prstGeom>
          <a:solidFill>
            <a:srgbClr val="2E4D73"/>
          </a:solidFill>
          <a:ln w="12700">
            <a:solidFill>
              <a:srgbClr val="3E5F8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772400" y="3803904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772400" y="4151376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4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8778240" y="3749040"/>
            <a:ext cx="868680" cy="640080"/>
          </a:xfrm>
          <a:prstGeom prst="roundRect">
            <a:avLst>
              <a:gd name="adj" fmla="val 8571"/>
            </a:avLst>
          </a:prstGeom>
          <a:solidFill>
            <a:srgbClr val="E8963C"/>
          </a:solidFill>
          <a:ln w="12700">
            <a:solidFill>
              <a:srgbClr val="3E5F8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778240" y="3803904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8778240" y="4151376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4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9784080" y="3749040"/>
            <a:ext cx="868680" cy="640080"/>
          </a:xfrm>
          <a:prstGeom prst="roundRect">
            <a:avLst>
              <a:gd name="adj" fmla="val 8571"/>
            </a:avLst>
          </a:prstGeom>
          <a:solidFill>
            <a:srgbClr val="2E4D73"/>
          </a:solidFill>
          <a:ln w="12700">
            <a:solidFill>
              <a:srgbClr val="3E5F8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9784080" y="3803904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9784080" y="4151376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4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6766560" y="440740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A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· Arrays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253" y="471373"/>
            <a:ext cx="291694" cy="2916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10896"/>
            <a:ext cx="10287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Dimensões de um Array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3611880" cy="48920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1581912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853" y="1687525"/>
            <a:ext cx="291694" cy="29169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1545336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1D — Unidimensional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77240" y="22402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4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 uma sequência linear de elementos.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777240" y="289864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</a:t>
            </a:r>
            <a:pPr indent="0" marL="0">
              <a:buNone/>
            </a:pPr>
            <a:r>
              <a:rPr lang="en-US" sz="1200" dirty="0">
                <a:solidFill>
                  <a:srgbClr val="44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com os nomes dos alunos de uma turma.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77240" y="3538728"/>
            <a:ext cx="3154680" cy="1417320"/>
          </a:xfrm>
          <a:prstGeom prst="roundRect">
            <a:avLst>
              <a:gd name="adj" fmla="val 3871"/>
            </a:avLst>
          </a:prstGeom>
          <a:solidFill>
            <a:srgbClr val="1E3350"/>
          </a:solidFill>
          <a:ln/>
        </p:spPr>
      </p:sp>
      <p:sp>
        <p:nvSpPr>
          <p:cNvPr id="12" name="Text 8"/>
          <p:cNvSpPr/>
          <p:nvPr/>
        </p:nvSpPr>
        <p:spPr>
          <a:xfrm>
            <a:off x="914400" y="3630168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alunos = ["Ana","João",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"Maria","Lucas"]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print(alunos[2])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Exibe: Maria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777240" y="512064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cotidiano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4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contatos do celular ou lista de músicas em um app.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389120" y="1325880"/>
            <a:ext cx="3611880" cy="48920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617720" y="1581912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3333" y="1687525"/>
            <a:ext cx="291694" cy="2916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57800" y="1545336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2D — Bidimensional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4617720" y="22402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4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 dados em linhas e colunas, como uma planilha.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617720" y="289864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</a:t>
            </a:r>
            <a:pPr indent="0" marL="0">
              <a:buNone/>
            </a:pPr>
            <a:r>
              <a:rPr lang="en-US" sz="1200" dirty="0">
                <a:solidFill>
                  <a:srgbClr val="44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dos alunos em diferentes provas.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617720" y="3538728"/>
            <a:ext cx="3154680" cy="1417320"/>
          </a:xfrm>
          <a:prstGeom prst="roundRect">
            <a:avLst>
              <a:gd name="adj" fmla="val 3871"/>
            </a:avLst>
          </a:prstGeom>
          <a:solidFill>
            <a:srgbClr val="1E3350"/>
          </a:solidFill>
          <a:ln/>
        </p:spPr>
      </p:sp>
      <p:sp>
        <p:nvSpPr>
          <p:cNvPr id="21" name="Text 16"/>
          <p:cNvSpPr/>
          <p:nvPr/>
        </p:nvSpPr>
        <p:spPr>
          <a:xfrm>
            <a:off x="4754880" y="3630168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 = [[8.5,9.0,7.5],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[7.0,8.0,6.5],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[9.5,8.5,10.0]]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print(notas[1][2])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Exibe: 6.5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4617720" y="512064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cotidiano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4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de horários de ônibus ou boletim escolar.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8229600" y="1325880"/>
            <a:ext cx="3611880" cy="48920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458200" y="1581912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3813" y="1687525"/>
            <a:ext cx="291694" cy="29169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098280" y="1545336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Multidimensional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8458200" y="22402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4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 dados em mais de duas dimensões.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8458200" y="289864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</a:t>
            </a:r>
            <a:pPr indent="0" marL="0">
              <a:buNone/>
            </a:pPr>
            <a:r>
              <a:rPr lang="en-US" sz="1200" dirty="0">
                <a:solidFill>
                  <a:srgbClr val="44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Representação de uma imagem (cada pixel tem R, G, B).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8458200" y="3538728"/>
            <a:ext cx="3154680" cy="1417320"/>
          </a:xfrm>
          <a:prstGeom prst="roundRect">
            <a:avLst>
              <a:gd name="adj" fmla="val 3871"/>
            </a:avLst>
          </a:prstGeom>
          <a:solidFill>
            <a:srgbClr val="1E3350"/>
          </a:solidFill>
          <a:ln/>
        </p:spPr>
      </p:sp>
      <p:sp>
        <p:nvSpPr>
          <p:cNvPr id="30" name="Text 24"/>
          <p:cNvSpPr/>
          <p:nvPr/>
        </p:nvSpPr>
        <p:spPr>
          <a:xfrm>
            <a:off x="8595360" y="3630168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imagem = [[[255,0,0],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[0,255,0]], [[0,0,255],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[255,255,0]]]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print(imagem[0][1])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Exibe: [0, 255, 0]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8458200" y="512064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cotidiano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4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digitais, mapas, planilhas 3D ou jogos (x, y, z).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· Arrays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253" y="471373"/>
            <a:ext cx="291694" cy="2916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10896"/>
            <a:ext cx="10287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Aninhamento: Arrays de Arrays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4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array aninhado é um conjunto dentro de outro conjunto — uma lista que contém outras listas. É uma forma de organizar informações em camadas, como caixas dentro de caixas.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3611880" cy="4343400"/>
          </a:xfrm>
          <a:prstGeom prst="roundRect">
            <a:avLst>
              <a:gd name="adj" fmla="val 2025"/>
            </a:avLst>
          </a:prstGeom>
          <a:solidFill>
            <a:srgbClr val="F5F7FA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080260" y="2148840"/>
            <a:ext cx="548640" cy="54864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474" y="2264054"/>
            <a:ext cx="318211" cy="31821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28346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Notas dos alunos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777240" y="3337560"/>
            <a:ext cx="3154680" cy="1600200"/>
          </a:xfrm>
          <a:prstGeom prst="roundRect">
            <a:avLst>
              <a:gd name="adj" fmla="val 3429"/>
            </a:avLst>
          </a:prstGeom>
          <a:solidFill>
            <a:srgbClr val="1E3350"/>
          </a:solidFill>
          <a:ln/>
        </p:spPr>
      </p:sp>
      <p:sp>
        <p:nvSpPr>
          <p:cNvPr id="11" name="Text 7"/>
          <p:cNvSpPr/>
          <p:nvPr/>
        </p:nvSpPr>
        <p:spPr>
          <a:xfrm>
            <a:off x="932688" y="3474720"/>
            <a:ext cx="28437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   → [8.5, 9.0, 7.5]</a:t>
            </a:r>
            <a:endParaRPr lang="en-US" sz="10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João  → [7.0, 6.5, 8.0]</a:t>
            </a:r>
            <a:endParaRPr lang="en-US" sz="10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Maria → [10.0, 9.5, 9.0]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777240" y="507492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conjunto de listas forma um array bidimensional (array de arrays) que representa uma turma inteira.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389120" y="1874520"/>
            <a:ext cx="3611880" cy="4343400"/>
          </a:xfrm>
          <a:prstGeom prst="roundRect">
            <a:avLst>
              <a:gd name="adj" fmla="val 2025"/>
            </a:avLst>
          </a:prstGeom>
          <a:solidFill>
            <a:srgbClr val="F5F7FA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920740" y="2148840"/>
            <a:ext cx="548640" cy="54864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954" y="2264054"/>
            <a:ext cx="318211" cy="31821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572000" y="28346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Cardápio do restaurante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4617720" y="3337560"/>
            <a:ext cx="3154680" cy="1600200"/>
          </a:xfrm>
          <a:prstGeom prst="roundRect">
            <a:avLst>
              <a:gd name="adj" fmla="val 3429"/>
            </a:avLst>
          </a:prstGeom>
          <a:solidFill>
            <a:srgbClr val="1E3350"/>
          </a:solidFill>
          <a:ln/>
        </p:spPr>
      </p:sp>
      <p:sp>
        <p:nvSpPr>
          <p:cNvPr id="18" name="Text 13"/>
          <p:cNvSpPr/>
          <p:nvPr/>
        </p:nvSpPr>
        <p:spPr>
          <a:xfrm>
            <a:off x="4773168" y="3474720"/>
            <a:ext cx="28437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Pratos → [Lasanha, Feijoada, Peixe]</a:t>
            </a:r>
            <a:endParaRPr lang="en-US" sz="10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Sobremesas → [Pudim, Sorvete, Bolo]</a:t>
            </a:r>
            <a:endParaRPr lang="en-US" sz="10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Bebidas → [Suco, Refri, Café]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4617720" y="507492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cardápio completo é um array de arrays: guarda várias listas dentro de uma só.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229600" y="1874520"/>
            <a:ext cx="3611880" cy="4343400"/>
          </a:xfrm>
          <a:prstGeom prst="roundRect">
            <a:avLst>
              <a:gd name="adj" fmla="val 2025"/>
            </a:avLst>
          </a:prstGeom>
          <a:solidFill>
            <a:srgbClr val="F5F7FA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761220" y="2148840"/>
            <a:ext cx="548640" cy="54864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6434" y="2264054"/>
            <a:ext cx="318211" cy="31821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412480" y="28346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Mala de viagem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8458200" y="3337560"/>
            <a:ext cx="3154680" cy="1600200"/>
          </a:xfrm>
          <a:prstGeom prst="roundRect">
            <a:avLst>
              <a:gd name="adj" fmla="val 3429"/>
            </a:avLst>
          </a:prstGeom>
          <a:solidFill>
            <a:srgbClr val="1E3350"/>
          </a:solidFill>
          <a:ln/>
        </p:spPr>
      </p:sp>
      <p:sp>
        <p:nvSpPr>
          <p:cNvPr id="25" name="Text 19"/>
          <p:cNvSpPr/>
          <p:nvPr/>
        </p:nvSpPr>
        <p:spPr>
          <a:xfrm>
            <a:off x="8613648" y="3474720"/>
            <a:ext cx="28437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Saco 1 → [camisas, calças]</a:t>
            </a:r>
            <a:endParaRPr lang="en-US" sz="10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Saco 2 → [meias, sapatos]</a:t>
            </a:r>
            <a:endParaRPr lang="en-US" sz="10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Saco 3 → [produtos de higiene]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8458200" y="507492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mala é um array e cada saco é outro array: juntos formam um array aninhado.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· Arrays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253" y="471373"/>
            <a:ext cx="291694" cy="2916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10896"/>
            <a:ext cx="10287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Arrays como Contêineres Universais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417320"/>
            <a:ext cx="53492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60120" y="1737360"/>
            <a:ext cx="685800" cy="68580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" y="1908810"/>
            <a:ext cx="342900" cy="3429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28800" y="180136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Flexibilidade total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1005840" y="2651760"/>
            <a:ext cx="4617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44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array pode ser visto como um contêiner universal porque guarda diferentes elementos organizados em sequência. Possui estrutura consistente — funciona do mesmo jeito independentemente do conteúdo (números, textos, imagens) — mantendo o mesmo formato, índice e operações básicas: acessar, adicionar, remover, percorrer. Essa consistência torna os arrays previsíveis e fáceis de usar, permitindo aplicar os mesmos algoritmos a diferentes tipos de dados.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355080" y="1417320"/>
            <a:ext cx="53492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675120" y="1737360"/>
            <a:ext cx="685800" cy="685800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6570" y="1908810"/>
            <a:ext cx="342900" cy="3429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543800" y="180136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Poder computacional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6720840" y="2651760"/>
            <a:ext cx="4617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44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arrays concentram grande poder computacional porque permitem armazenar e processar grandes quantidades de dados de forma organizada e eficiente. Sua estrutura uniforme possibilita operações rápidas e repetitivas — busca, ordenação, análise em massa — essencial para o pensamento computacional, pois favorece algoritmos lógicos, escaláveis e reutilizáveis.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· Arrays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640080"/>
            <a:ext cx="1188720" cy="118872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2140" y="93726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9659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 do Módulo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737360" y="260604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organizam coleções de dados do mesmo tipo em índices numerados — de listas simples (1D) a estruturas em linhas e colunas (2D) e além (multidimensionais).</a:t>
            </a:r>
            <a:endParaRPr lang="en-US" sz="15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C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podem se aninhar — arrays dentro de arrays — para representar informação em camadas, como turmas, cardápios ou malas organizadas.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sua estrutura consistente, arrays são contêineres universais: previsíveis, reutilizáveis e essenciais para algoritmos escaláveis.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737360" y="4709160"/>
            <a:ext cx="8686800" cy="1234440"/>
          </a:xfrm>
          <a:prstGeom prst="roundRect">
            <a:avLst>
              <a:gd name="adj" fmla="val 7407"/>
            </a:avLst>
          </a:prstGeom>
          <a:solidFill>
            <a:srgbClr val="1B3252"/>
          </a:solidFill>
          <a:ln w="12700">
            <a:solidFill>
              <a:srgbClr val="2C7A8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011680" y="4983480"/>
            <a:ext cx="640080" cy="640080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700" y="514350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880360" y="486460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seguir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2880360" y="516636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mergulho técnico em arrays multidimensionais, com exemplos em Java.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· Arrays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2026-08-20T19:11:19Z</dcterms:created>
  <dcterms:modified xsi:type="dcterms:W3CDTF">2026-08-20T19:11:19Z</dcterms:modified>
</cp:coreProperties>
</file>