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58368"/>
            <a:ext cx="7863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se a aula começasse pelas perguntas?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7776"/>
                </a:solidFill>
              </a:rPr>
              <a:t>Julia + Pluto em Pensamento Computacional — PROFCOMP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251460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3040"/>
                </a:solidFill>
              </a:rPr>
              <a:t>Do código final ao percurso: perguntar, manipular, visualizar, interpretar e revisar.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732520" y="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15000" dirty="0"/>
          </a:p>
        </p:txBody>
      </p:sp>
      <p:sp>
        <p:nvSpPr>
          <p:cNvPr id="10" name="Shape 8"/>
          <p:cNvSpPr/>
          <p:nvPr/>
        </p:nvSpPr>
        <p:spPr>
          <a:xfrm>
            <a:off x="914400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perguntar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98548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35708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90572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testar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19856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57016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ver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41164" y="498348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78324" y="4709160"/>
            <a:ext cx="11567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3188" y="4855464"/>
            <a:ext cx="10469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explicar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3246120"/>
            <a:ext cx="3108960" cy="1508760"/>
          </a:xfrm>
          <a:prstGeom prst="arc">
            <a:avLst/>
          </a:prstGeom>
          <a:noFill/>
          <a:ln w="27940">
            <a:solidFill>
              <a:srgbClr val="1D777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635240" y="4892040"/>
            <a:ext cx="3474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314B"/>
                </a:solidFill>
              </a:rPr>
              <a:t>A ferramenta não é o centro.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2314B"/>
                </a:solidFill>
              </a:rPr>
              <a:t>A tarefa é o centro.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FECHAMENTO COMO ABERTURA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perguntas guiam o treino?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98448" y="1499616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 que o Pluto tornou visível?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542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98448" y="2441448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A reatividade ajudou a perceber relações?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77240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98448" y="3383280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usamos pensamento indutivo?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77240" y="4425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8448" y="4325112"/>
            <a:ext cx="42976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usamos pensamento dedutivo?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63640" y="16002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84848" y="1499616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Quais tarefas exigiram decomposição?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63640" y="25420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84848" y="2441448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apareceu generalização?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263640" y="34838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84848" y="3383280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Onde houve transformação de dados?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263640" y="44256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B3A"/>
                </a:solidFill>
              </a:rPr>
              <a:t>08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84848" y="4325112"/>
            <a:ext cx="4343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03040"/>
                </a:solidFill>
              </a:rPr>
              <a:t>Quais foram os limites dos modelos?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14B"/>
                </a:solidFill>
              </a:rPr>
              <a:t>Cada pergunta vira uma pequena tarefa no Pluto e um critério qualitativo de análise do percurso.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o Pluto torna visível que ficaria menos evidente em um código tradicional?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Abra três células: dados, regra e saída.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o mesmo problema em texto, código e tabela.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indique quais relações ficaram visíveis.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dados = [1, 2, 3, 4]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quadrados = dados .^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[(d, q) for (d,q) in zip(dados, quadrados)]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como mediação conceitual.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Visualização de relações, estruturas e propriedades.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tarefa torna a saída interpretável, não apenas executável.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Vergnaud; Gérard; Goldin &amp; Kaput; Elia, Gagatsis &amp; Demetriou.</a:t>
            </a:r>
            <a:endParaRPr lang="en-US" sz="12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reatividade ajudou a perceber relações entre variáveis?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variáveis em células separadas.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Altere um valor e execute a célula.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quais células dependentes são atualizadas.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valor_inicial = 100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valor_final = valor_inicial * (1 + taxa)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Manipulação de parâmetros e feedback imediato.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Comparação entre estados de um mesmo modelo.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relação entre ação do estudante e resposta do ambiente fica explícita.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De-Souza &amp; Sedig; Sedig, Klawe &amp; Westrom; Sedighian &amp; Westrom.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quais momentos usamos pensamento indutivo?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Apresente três sequências numéricas.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proponha a regra provável.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novos termos e discuta quando a hipótese falha.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seq = [2, 4, 8, 16]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proximo = 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hipotese = "multiplicar por 2"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Investigação exploratória e reconhecimento de padrões.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Formulação de hipóteses a partir de casos particulares.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erro vira informação para revisar a regra.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Sedig &amp; Sumner; Miller; Vosniadou et al.; Greer.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 quais momentos usamos pensamento dedutivo?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uma regra geral.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a regra a vários casos.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a turma explique por que o resultado decorre da regra.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 = 14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eh_par = n % 2 ==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 = eh_par ? "par" : "ímpar"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Relação entre regra, caso e conclusão.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Articulação entre modelo qualitativo e resultado quantitativo.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explicação importa tanto quanto a resposta.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Vergnaud; Prediger; Selter et al.; Gérard.</a:t>
            </a:r>
            <a:endParaRPr lang="en-US" sz="12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tarefas exigiram decomposição?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 problema com entrada, processo e saída.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cada parte em células do Pluto.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se a divisão facilitou a solução e a explicação.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 = [8.0, 6.0, 7.5]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sum(notas) / length(notas)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situacao = media &gt;= 7 ? "aprovado" : "rever"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Interação baseada em tarefas.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do problema em subproblemas.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decomposição explicita decisões de modelagem.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Sedig &amp; Sumner; Valente; Acioly-Régner, Brito &amp; Spinillo.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apareceu generalização?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três cálculos repetidos.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Pergunte o que há de comum entre eles.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a repetição em função reutilizável.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media(notas)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sum(notas) / length(notas)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media([8, 6, 7])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Flexibilidade notacional e reconstrução da solução.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caso particular à regra reutilizável.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função torna visível uma abstração.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Kaput, Noss &amp; Hoyles; Sedig, Klawe &amp; Westrom; Goldin.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Onde apareceu transformação de dados?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Escolha uma lista de dados.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uma regra de transformação.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 representação inicial e a representação transformada.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celsius = [25, 28, 30]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fahrenheit = celsius .* 9/5 .+ 32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zip(celsius, fahrenheit) |&gt; collect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dados e transformação de processos.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regra produz nova forma de ver o mesmo fenômeno.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interpretação decide o sentido da transformação.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Wessels; Guimarães, Gitirana &amp; Roazzi; Kaput; Goldin &amp; Kaput.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Pergunta 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Quais foram os limites dos modelos criados?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554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7776"/>
                </a:solidFill>
              </a:rPr>
              <a:t>TAREFA BREVE NO PLUTO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51206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simulação simples.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Liste as variáveis consideradas e ignoradas.
</a:t>
            </a:r>
            <a:pPr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o que o computador calcula e o que ainda exige julgamento humano.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187952"/>
            <a:ext cx="5029200" cy="1325880"/>
          </a:xfrm>
          <a:prstGeom prst="roundRect">
            <a:avLst>
              <a:gd name="adj" fmla="val 5517"/>
            </a:avLst>
          </a:prstGeom>
          <a:solidFill>
            <a:srgbClr val="263238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47548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pop0 = 1000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anos = 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2F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pop_final = pop0 * (1 + taxa)^anos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77B3A"/>
                </a:solidFill>
              </a:rPr>
              <a:t>PARÂMETRO QUALITATIVO DA ANÁLISE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63640" y="1828800"/>
            <a:ext cx="5074920" cy="1920240"/>
          </a:xfrm>
          <a:prstGeom prst="rect">
            <a:avLst/>
          </a:prstGeom>
          <a:solidFill>
            <a:srgbClr val="D8ECEA">
              <a:alpha val="90000"/>
            </a:srgbClr>
          </a:solidFill>
          <a:ln w="12700">
            <a:solidFill>
              <a:srgbClr val="D8ECE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11680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da ferramenta e do modelo.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sobre pressupostos.
</a:t>
            </a:r>
            <a:pPr indent="0" marL="0">
              <a:lnSpc>
                <a:spcPct val="96000"/>
              </a:lnSpc>
              <a:buNone/>
            </a:pPr>
            <a:r>
              <a:rPr lang="en-US" sz="1620" dirty="0">
                <a:solidFill>
                  <a:srgbClr val="1231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resultado não substitui a interpretação crítica.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355080" y="4343400"/>
            <a:ext cx="4937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i="1" dirty="0">
                <a:solidFill>
                  <a:srgbClr val="5A6570"/>
                </a:solidFill>
              </a:rPr>
              <a:t>Referências do relato: Hatano; Douglas &amp; Randall; Valente; Vosniadou &amp; Verschaffel.</a:t>
            </a:r>
            <a:endParaRPr lang="en-US" sz="12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síntese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PERGUNTA DE AVALIAÇÃO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o percurso, não apenas o código?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85800" y="12984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0"/>
                </a:solidFill>
              </a:rPr>
              <a:t>Pequena rubrica qualitativa para observar a tarefa no Pluto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2103120" cy="50292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847088"/>
            <a:ext cx="7863840" cy="502920"/>
          </a:xfrm>
          <a:prstGeom prst="rect">
            <a:avLst/>
          </a:prstGeom>
          <a:solidFill>
            <a:srgbClr val="12314B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984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Critério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35808" y="198424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Evidência na fala ou na ação do estudante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2414016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2414016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551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Representa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035808" y="255117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organiza dados, variáveis, texto, tabela ou visualização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" y="2980944"/>
            <a:ext cx="21031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80360" y="2980944"/>
            <a:ext cx="786384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118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Manipula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35808" y="311810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altera parâmetros e compara estados do modelo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547872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0360" y="3547872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685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Interpreta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35808" y="368503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explica o que mudou e por que mudou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77240" y="4114800"/>
            <a:ext cx="210312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4114800"/>
            <a:ext cx="7863840" cy="502920"/>
          </a:xfrm>
          <a:prstGeom prst="rect">
            <a:avLst/>
          </a:prstGeom>
          <a:solidFill>
            <a:srgbClr val="F0EDE6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4251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Reformula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035808" y="425196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corrige, testa nova hipótese e registra o percurso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7240" y="4681728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80360" y="4681728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F7F3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818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03040"/>
                </a:solidFill>
              </a:rPr>
              <a:t>Critica limites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035808" y="481888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3040"/>
                </a:solidFill>
              </a:rPr>
              <a:t>indica pressupostos, simplificações e riscos da solução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77240" y="557784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12314B"/>
                </a:solidFill>
              </a:rPr>
              <a:t>Parâmetro do relato: a aprendizagem é observada pelo modo como o estudante interage, explica e reorganiza a tarefa — não apenas pelo resultado final.</a:t>
            </a:r>
            <a:endParaRPr lang="en-US" sz="1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07040" y="2286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7D8B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561320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77B3A"/>
                </a:solidFill>
              </a:rPr>
              <a:t>fechamento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FECHAMENTO PARA DISCUSSÃO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levamos para a próxima tarefa?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557784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pergunta vale ser transformada em notebook?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variável pode ser manipulada pelo estudante?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representação ajuda a explicar o fenômeno?
</a:t>
            </a:r>
            <a:pPr indent="0" marL="0">
              <a:lnSpc>
                <a:spcPct val="96000"/>
              </a:lnSpc>
              <a:buNone/>
            </a:pPr>
            <a:r>
              <a:rPr lang="en-US" sz="21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 limite precisa ser assumido no modelo?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720840" y="1417320"/>
            <a:ext cx="0" cy="3246120"/>
          </a:xfrm>
          <a:prstGeom prst="line">
            <a:avLst/>
          </a:prstGeom>
          <a:noFill/>
          <a:ln w="17780">
            <a:solidFill>
              <a:srgbClr val="E7D8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0" y="1828800"/>
            <a:ext cx="35661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B"/>
                </a:solidFill>
              </a:rPr>
              <a:t>Julia aparece como meio para representar, testar, visualizar e discutir problemas.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150608" y="3291840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D7776"/>
                </a:solidFill>
              </a:rPr>
              <a:t>O centro da aula é a tarefa investigativa.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446520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problema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16368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53528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08392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modelo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23376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60536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execução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930384" y="5257800"/>
            <a:ext cx="109728" cy="0"/>
          </a:xfrm>
          <a:prstGeom prst="line">
            <a:avLst/>
          </a:prstGeom>
          <a:noFill/>
          <a:ln w="17780">
            <a:solidFill>
              <a:srgbClr val="1D777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67544" y="4983480"/>
            <a:ext cx="1042416" cy="566928"/>
          </a:xfrm>
          <a:prstGeom prst="roundRect">
            <a:avLst>
              <a:gd name="adj" fmla="val 12903"/>
            </a:avLst>
          </a:prstGeom>
          <a:solidFill>
            <a:srgbClr val="F0EDE6"/>
          </a:solidFill>
          <a:ln w="8890">
            <a:solidFill>
              <a:srgbClr val="E7D8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22408" y="5129784"/>
            <a:ext cx="932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B"/>
                </a:solidFill>
              </a:rPr>
              <a:t>reflexão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7776"/>
          </a:solidFill>
          <a:ln w="12700">
            <a:solidFill>
              <a:srgbClr val="1D777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92840" y="6419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3108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7776"/>
                </a:solidFill>
              </a:rPr>
              <a:t>REFERÊNCIAS SELECIONADAS DO RELATO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576072"/>
            <a:ext cx="9875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31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autores sustentam os critérios?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1. Queiroz (2012)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69848" y="1783080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conceitualização, interação e representações visuais em interface educativa.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777240" y="24414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2. Sedig &amp; Sumner (2006)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69848" y="2715768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interação com representações visuais: organização, investigação, busca e rearranjo.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777240" y="33741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3. Sedig, Klawe &amp; Westrom (2001)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69848" y="3648456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manipulação e scaffolding no aprendizado mediado por interfaces.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777240" y="4306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4. De-Souza &amp; Sedig (2001)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69848" y="4581144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manipulação direta de conceitos e estilo de interação em learnware.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6080760" y="15087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1. Goldin &amp; Kaput (1996)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73368" y="1783080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representações no aprender e fazer matemática.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6080760" y="24414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2. Vergnaud (1986)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73368" y="2715768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campos conceituais, esquemas e estruturas aditivas.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6080760" y="33741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3. Wood, Bruner &amp; Ross (1976)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73368" y="3648456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tutoria, apoio e resolução de problemas.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080760" y="430682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14B"/>
                </a:solidFill>
              </a:rPr>
              <a:t>4. Valente et al. (1999)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73368" y="4581144"/>
            <a:ext cx="452628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03040"/>
                </a:solidFill>
              </a:rPr>
              <a:t>computador, aprendizagem e sociedade do conhecimento.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777240" y="5596128"/>
            <a:ext cx="9875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D7776"/>
                </a:solidFill>
              </a:rPr>
              <a:t>Critérios mobilizados no relato: representação, manipulação, feedback, visualização, investigação, flexibilidade notacional, reflexão metaconceitual e limites da ferramenta.</a:t>
            </a:r>
            <a:endParaRPr lang="en-US" sz="1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Fechamento em perguntas — Julia + Pluto</dc:title>
  <dc:subject>Aula orientada por perguntas: Julia e Pluto no PROFCOMP</dc:subject>
  <dc:creator>OpenAI</dc:creator>
  <cp:lastModifiedBy>OpenAI</cp:lastModifiedBy>
  <cp:revision>1</cp:revision>
  <dcterms:created xsi:type="dcterms:W3CDTF">2026-06-04T17:18:45Z</dcterms:created>
  <dcterms:modified xsi:type="dcterms:W3CDTF">2026-06-04T17:18:45Z</dcterms:modified>
</cp:coreProperties>
</file>