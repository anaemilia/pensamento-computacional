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ABSTRAÇÃO, TIPOS E ESTRUTURAS DE DADOS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744200" y="502920"/>
            <a:ext cx="914400" cy="91440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4" name="Image 0" descr="/home/claude/work/decks/final/qa_render/build/icons/cub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2" y="62179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4231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Definindo Novos Tipos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3703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entender o que são tipos, o próximo passo é aprender a criar os nossos: estruturas próprias para representar pessoas, objetos e situações do mundo real.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4892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DE 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5349240"/>
            <a:ext cx="118872" cy="118872"/>
          </a:xfrm>
          <a:prstGeom prst="ellipse">
            <a:avLst/>
          </a:prstGeom>
          <a:solidFill>
            <a:srgbClr val="35496B"/>
          </a:solidFill>
          <a:ln/>
        </p:spPr>
      </p:sp>
      <p:sp>
        <p:nvSpPr>
          <p:cNvPr id="9" name="Shape 6"/>
          <p:cNvSpPr/>
          <p:nvPr/>
        </p:nvSpPr>
        <p:spPr>
          <a:xfrm>
            <a:off x="1042416" y="5349240"/>
            <a:ext cx="118872" cy="118872"/>
          </a:xfrm>
          <a:prstGeom prst="ellipse">
            <a:avLst/>
          </a:prstGeom>
          <a:solidFill>
            <a:srgbClr val="35496B"/>
          </a:solidFill>
          <a:ln/>
        </p:spPr>
      </p:sp>
      <p:sp>
        <p:nvSpPr>
          <p:cNvPr id="10" name="Shape 7"/>
          <p:cNvSpPr/>
          <p:nvPr/>
        </p:nvSpPr>
        <p:spPr>
          <a:xfrm>
            <a:off x="1261872" y="5349240"/>
            <a:ext cx="118872" cy="11887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1" name="Shape 8"/>
          <p:cNvSpPr/>
          <p:nvPr/>
        </p:nvSpPr>
        <p:spPr>
          <a:xfrm>
            <a:off x="1481328" y="5349240"/>
            <a:ext cx="118872" cy="118872"/>
          </a:xfrm>
          <a:prstGeom prst="ellipse">
            <a:avLst/>
          </a:prstGeom>
          <a:solidFill>
            <a:srgbClr val="35496B"/>
          </a:solidFill>
          <a:ln/>
        </p:spPr>
      </p:sp>
      <p:sp>
        <p:nvSpPr>
          <p:cNvPr id="12" name="Shape 9"/>
          <p:cNvSpPr/>
          <p:nvPr/>
        </p:nvSpPr>
        <p:spPr>
          <a:xfrm>
            <a:off x="1700784" y="5349240"/>
            <a:ext cx="118872" cy="118872"/>
          </a:xfrm>
          <a:prstGeom prst="ellipse">
            <a:avLst/>
          </a:prstGeom>
          <a:solidFill>
            <a:srgbClr val="35496B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Definindo Novos Tipos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/home/claude/work/decks/final/qa_render/build/icons/layer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7662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48056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Estruturas de Informação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como agrupamos informações relacionadas no dia a dia, podemos organizar dados que pertencem a uma mesma categoria em uma única estrutura.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697480"/>
            <a:ext cx="5577840" cy="192024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880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permite reunir elementos que fazem sentido juntos, como: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e idade</a:t>
            </a:r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uma pessoa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 modelo</a:t>
            </a:r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um carro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48920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uma nova categoria (um novo tipo) é o primeiro passo para representar, com precisão, um conceito do mundo real dentro de um programa.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2240" y="15819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DEFININDO UMA CATEGORIA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92240" y="1920240"/>
            <a:ext cx="5120640" cy="3749040"/>
          </a:xfrm>
          <a:prstGeom prst="roundRect">
            <a:avLst>
              <a:gd name="adj" fmla="val 2195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748272" y="2139696"/>
            <a:ext cx="4608576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Pessoa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nome::Texto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idade::NúmeroInteiro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email::Texto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Definindo Novos Tipos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/home/claude/work/decks/final/qa_render/build/icons/user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02336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Representando Pessoas e Coisas do Dia a Dia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920240" y="1897380"/>
            <a:ext cx="777240" cy="7772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7" name="Image 1" descr="/home/claude/work/decks/final/qa_render/build/icons/grad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281" y="1998421"/>
            <a:ext cx="575158" cy="5751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Aluno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822960" y="3154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estudantes com matrícula, nome e notas.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89120" y="160020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760720" y="1897380"/>
            <a:ext cx="777240" cy="7772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2" name="Image 2" descr="/home/claude/work/decks/final/qa_render/build/icons/bag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761" y="1998421"/>
            <a:ext cx="575158" cy="57515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7720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4663440" y="3154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 código, descrição e preço de um item.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0" y="160020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601200" y="1897380"/>
            <a:ext cx="777240" cy="7772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7" name="Image 3" descr="/home/claude/work/decks/final/qa_render/build/icons/car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2241" y="1998421"/>
            <a:ext cx="575158" cy="57515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58200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Carro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8503920" y="3154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Contém marca, modelo e especificações técnicas.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251960"/>
            <a:ext cx="11064240" cy="1783080"/>
          </a:xfrm>
          <a:prstGeom prst="roundRect">
            <a:avLst>
              <a:gd name="adj" fmla="val 5128"/>
            </a:avLst>
          </a:prstGeom>
          <a:solidFill>
            <a:srgbClr val="1B3A5C"/>
          </a:solidFill>
          <a:ln/>
        </p:spPr>
      </p:sp>
      <p:sp>
        <p:nvSpPr>
          <p:cNvPr id="21" name="Text 15"/>
          <p:cNvSpPr/>
          <p:nvPr/>
        </p:nvSpPr>
        <p:spPr>
          <a:xfrm>
            <a:off x="914400" y="45079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definir uma nova categoria, podemos criar versões específicas para representar situações reais.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14400" y="4965192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exemplo, dentro da categoria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“Pessoa”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podemos ter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cada um com suas características próprias — como idade e endereço.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Definindo Novos Tipos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3" name="Image 0" descr="/home/claude/work/decks/final/qa_render/build/icons/paw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02336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Criando Instâncias na Vida Real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definir uma categoria, podemos imaginar exemplos concretos que pertencem a ela.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Categoria: Animal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234440" y="3017520"/>
            <a:ext cx="731520" cy="7315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9" name="Image 1" descr="/home/claude/work/decks/final/qa_render/build/icons/do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538" y="3112618"/>
            <a:ext cx="541325" cy="5413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3840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Cachorro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2788920" y="3017520"/>
            <a:ext cx="731520" cy="7315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2" name="Image 2" descr="/home/claude/work/decks/final/qa_render/build/icons/ca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4018" y="3112618"/>
            <a:ext cx="541325" cy="5413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377440" y="3840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343400" y="3017520"/>
            <a:ext cx="731520" cy="7315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5" name="Image 3" descr="/home/claude/work/decks/final/qa_render/build/icons/dov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498" y="3112618"/>
            <a:ext cx="541325" cy="5413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31920" y="3840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Pássaro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548640" y="44348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pertence à mesma categoria, mas tem suas próprias características.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48640" y="507492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1B3A5C"/>
          </a:solidFill>
          <a:ln/>
        </p:spPr>
      </p:sp>
      <p:sp>
        <p:nvSpPr>
          <p:cNvPr id="19" name="Text 13"/>
          <p:cNvSpPr/>
          <p:nvPr/>
        </p:nvSpPr>
        <p:spPr>
          <a:xfrm>
            <a:off x="804672" y="5074920"/>
            <a:ext cx="4700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Instância: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objeto criado é único, com seus próprios valores armazenados na memória.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080760" y="1536192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TIPO E INSTÂNCIA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080760" y="1874520"/>
            <a:ext cx="5532120" cy="4160520"/>
          </a:xfrm>
          <a:prstGeom prst="roundRect">
            <a:avLst>
              <a:gd name="adj" fmla="val 1978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6336792" y="2093976"/>
            <a:ext cx="5020056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Carro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marca::String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modelo::String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ano::Int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velocidade::Float64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meu_carro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Carro("Toyota", "Corolla", 2023, 0.0)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Definindo Novos Tipos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/home/claude/work/decks/final/qa_render/build/icons/exchang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02336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Pode ou Não Pode Mudar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Algumas coisas podem ser alteradas depois de criadas — como um trabalho em andamento. Outras permanecem iguais depois de prontas — como uma fotografia impressa.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5349240" cy="3611880"/>
          </a:xfrm>
          <a:prstGeom prst="roundRect">
            <a:avLst>
              <a:gd name="adj" fmla="val 3038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331720"/>
            <a:ext cx="640080" cy="64008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8" name="Image 1" descr="/home/claude/work/decks/final/qa_render/build/icons/lo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70" y="2414930"/>
            <a:ext cx="473659" cy="4736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35915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Coisas que não mudam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868680" y="30632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Permanecem iguais depois de criadas — como uma foto revelada ou uma escultura finalizada.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68680" y="3794760"/>
            <a:ext cx="4709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nada é alterado sem querer</a:t>
            </a: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Previsibilidade</a:t>
            </a:r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sempre do mesmo jeito</a:t>
            </a: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</a:t>
            </a:r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não precisam ser refeitas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2103120"/>
            <a:ext cx="5349240" cy="3611880"/>
          </a:xfrm>
          <a:prstGeom prst="roundRect">
            <a:avLst>
              <a:gd name="adj" fmla="val 3038"/>
            </a:avLst>
          </a:prstGeom>
          <a:solidFill>
            <a:srgbClr val="FBF1E4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37960" y="2331720"/>
            <a:ext cx="640080" cy="64008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4" name="Image 2" descr="/home/claude/work/decks/final/qa_render/build/icons/lockopen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170" y="2414930"/>
            <a:ext cx="473659" cy="47365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0" y="235915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Coisas que podem mudar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6583680" y="30632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ser alteradas sempre que necessário — como um documento em edição ou uma receita ajustada.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583680" y="379476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</a:t>
            </a:r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permitem atualizar e corrigir</a:t>
            </a: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Adaptação</a:t>
            </a:r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acompanham mudanças constantes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48640" y="584301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organizar informações, é importante decidir o que pode mudar e o que deve permanecer fixo.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Definindo Novos Tipos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3" name="Image 0" descr="/home/claude/work/decks/final/qa_render/build/icons/wallet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02336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Criando Coisas Que Podem Mudar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Às vezes precisamos representar algo que se transforma com o tempo. Criar categorias que aceitam mudanças traz mais flexibilidade e ajuda a acompanhar o que evolui na vida real.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89788" y="2875788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7" name="Text 4"/>
          <p:cNvSpPr/>
          <p:nvPr/>
        </p:nvSpPr>
        <p:spPr>
          <a:xfrm>
            <a:off x="589788" y="28757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70" dirty="0"/>
          </a:p>
        </p:txBody>
      </p:sp>
      <p:sp>
        <p:nvSpPr>
          <p:cNvPr id="8" name="Text 5"/>
          <p:cNvSpPr/>
          <p:nvPr/>
        </p:nvSpPr>
        <p:spPr>
          <a:xfrm>
            <a:off x="1234440" y="283464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água de um rio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89788" y="358902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0" name="Text 7"/>
          <p:cNvSpPr/>
          <p:nvPr/>
        </p:nvSpPr>
        <p:spPr>
          <a:xfrm>
            <a:off x="589788" y="3589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70" dirty="0"/>
          </a:p>
        </p:txBody>
      </p:sp>
      <p:sp>
        <p:nvSpPr>
          <p:cNvPr id="11" name="Text 8"/>
          <p:cNvSpPr/>
          <p:nvPr/>
        </p:nvSpPr>
        <p:spPr>
          <a:xfrm>
            <a:off x="1234440" y="354787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de uma loja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9788" y="4302252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3" name="Text 10"/>
          <p:cNvSpPr/>
          <p:nvPr/>
        </p:nvSpPr>
        <p:spPr>
          <a:xfrm>
            <a:off x="589788" y="43022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70" dirty="0"/>
          </a:p>
        </p:txBody>
      </p:sp>
      <p:sp>
        <p:nvSpPr>
          <p:cNvPr id="14" name="Text 11"/>
          <p:cNvSpPr/>
          <p:nvPr/>
        </p:nvSpPr>
        <p:spPr>
          <a:xfrm>
            <a:off x="1234440" y="426110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Placar de um jogo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89788" y="5015484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6" name="Text 13"/>
          <p:cNvSpPr/>
          <p:nvPr/>
        </p:nvSpPr>
        <p:spPr>
          <a:xfrm>
            <a:off x="589788" y="50154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70" dirty="0"/>
          </a:p>
        </p:txBody>
      </p:sp>
      <p:sp>
        <p:nvSpPr>
          <p:cNvPr id="17" name="Text 14"/>
          <p:cNvSpPr/>
          <p:nvPr/>
        </p:nvSpPr>
        <p:spPr>
          <a:xfrm>
            <a:off x="1234440" y="497433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de uma conta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80760" y="1581912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CRIANDO E MODIFICANDO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80760" y="1920240"/>
            <a:ext cx="5532120" cy="4114800"/>
          </a:xfrm>
          <a:prstGeom prst="roundRect">
            <a:avLst>
              <a:gd name="adj" fmla="val 2000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336792" y="2139696"/>
            <a:ext cx="5020056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ContaBancaria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titular::CadeiaDeCaractere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saldo::Número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ativa::VerdadeiroOuFalso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</a:t>
            </a:r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ContaBancaria("Maria Silva", 1000.0, verdadeiro)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Agora podemos modificar!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conta.saldo</a:t>
            </a:r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1500.0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conta.ativa</a:t>
            </a:r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falso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Definindo Novos Tipos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960120"/>
            <a:ext cx="822960" cy="82296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/home/claude/work/decks/final/qa_render/build/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825" y="106710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do Módulo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" y="25146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a criar novos tipos — reunindo dados relacionados em uma única estrutura — nos ajuda a representar melhor pessoas, objetos e situações do mundo real, organizando as ideias e apoiando um raciocínio mais estruturado.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3977640"/>
            <a:ext cx="9875520" cy="1417320"/>
          </a:xfrm>
          <a:prstGeom prst="roundRect">
            <a:avLst>
              <a:gd name="adj" fmla="val 6452"/>
            </a:avLst>
          </a:prstGeom>
          <a:solidFill>
            <a:srgbClr val="18304F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3977640"/>
            <a:ext cx="9235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fixos </a:t>
            </a:r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trazem segurança e previsibilidade  ·  </a:t>
            </a:r>
            <a:pPr algn="l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mutáveis </a:t>
            </a:r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trazem flexibilidade e adaptação.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5623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 — MÓDULO 4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5897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Ações Ligadas a Categorias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332720" y="6035040"/>
            <a:ext cx="118872" cy="118872"/>
          </a:xfrm>
          <a:prstGeom prst="ellipse">
            <a:avLst/>
          </a:prstGeom>
          <a:solidFill>
            <a:srgbClr val="35496B"/>
          </a:solidFill>
          <a:ln/>
        </p:spPr>
      </p:sp>
      <p:sp>
        <p:nvSpPr>
          <p:cNvPr id="11" name="Shape 8"/>
          <p:cNvSpPr/>
          <p:nvPr/>
        </p:nvSpPr>
        <p:spPr>
          <a:xfrm>
            <a:off x="10552176" y="6035040"/>
            <a:ext cx="118872" cy="118872"/>
          </a:xfrm>
          <a:prstGeom prst="ellipse">
            <a:avLst/>
          </a:prstGeom>
          <a:solidFill>
            <a:srgbClr val="35496B"/>
          </a:solidFill>
          <a:ln/>
        </p:spPr>
      </p:sp>
      <p:sp>
        <p:nvSpPr>
          <p:cNvPr id="12" name="Shape 9"/>
          <p:cNvSpPr/>
          <p:nvPr/>
        </p:nvSpPr>
        <p:spPr>
          <a:xfrm>
            <a:off x="10771632" y="6035040"/>
            <a:ext cx="118872" cy="118872"/>
          </a:xfrm>
          <a:prstGeom prst="ellipse">
            <a:avLst/>
          </a:prstGeom>
          <a:solidFill>
            <a:srgbClr val="35496B"/>
          </a:solidFill>
          <a:ln/>
        </p:spPr>
      </p:sp>
      <p:sp>
        <p:nvSpPr>
          <p:cNvPr id="13" name="Shape 10"/>
          <p:cNvSpPr/>
          <p:nvPr/>
        </p:nvSpPr>
        <p:spPr>
          <a:xfrm>
            <a:off x="10991088" y="6035040"/>
            <a:ext cx="118872" cy="118872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4" name="Shape 11"/>
          <p:cNvSpPr/>
          <p:nvPr/>
        </p:nvSpPr>
        <p:spPr>
          <a:xfrm>
            <a:off x="11210544" y="6035040"/>
            <a:ext cx="118872" cy="118872"/>
          </a:xfrm>
          <a:prstGeom prst="ellipse">
            <a:avLst/>
          </a:prstGeom>
          <a:solidFill>
            <a:srgbClr val="35496B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Definindo Novos Tipos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2026-08-20T19:06:51Z</dcterms:created>
  <dcterms:modified xsi:type="dcterms:W3CDTF">2026-08-20T19:06:51Z</dcterms:modified>
</cp:coreProperties>
</file>