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5.xml.rels" ContentType="application/vnd.openxmlformats-package.relationships+xml"/>
  <Override PartName="/ppt/slides/_rels/slide39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47.xml.rels" ContentType="application/vnd.openxmlformats-package.relationships+xml"/>
  <Override PartName="/ppt/media/image1.png" ContentType="image/png"/>
  <Override PartName="/ppt/media/image2.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_rels/notesSlide4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4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4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43.xml.rels" ContentType="application/vnd.openxmlformats-package.relationship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c7a8c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44546a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e8963c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44546a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100</c:v>
                </c:pt>
                <c:pt idx="1">
                  <c:v>400</c:v>
                </c:pt>
                <c:pt idx="2">
                  <c:v>900</c:v>
                </c:pt>
                <c:pt idx="3">
                  <c:v>1600</c:v>
                </c:pt>
                <c:pt idx="4">
                  <c:v>2500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44546a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44546a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5"/>
                <c:pt idx="0">
                  <c:v>1000</c:v>
                </c:pt>
                <c:pt idx="1">
                  <c:v>8000</c:v>
                </c:pt>
                <c:pt idx="2">
                  <c:v>27000</c:v>
                </c:pt>
                <c:pt idx="3">
                  <c:v>64000</c:v>
                </c:pt>
                <c:pt idx="4">
                  <c:v>125000</c:v>
                </c:pt>
              </c:numCache>
            </c:numRef>
          </c:val>
        </c:ser>
        <c:gapWidth val="150"/>
        <c:overlap val="0"/>
        <c:axId val="9923480"/>
        <c:axId val="38279836"/>
      </c:barChart>
      <c:catAx>
        <c:axId val="992348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d6dee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9aa5b1"/>
                </a:solidFill>
                <a:uFillTx/>
                <a:latin typeface="Arial"/>
              </a:defRPr>
            </a:pPr>
          </a:p>
        </c:txPr>
        <c:crossAx val="38279836"/>
        <c:crosses val="autoZero"/>
        <c:auto val="1"/>
        <c:lblAlgn val="ctr"/>
        <c:lblOffset val="100"/>
        <c:noMultiLvlLbl val="0"/>
      </c:catAx>
      <c:valAx>
        <c:axId val="38279836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d6dee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9aa5b1"/>
                </a:solidFill>
                <a:uFillTx/>
                <a:latin typeface="Arial"/>
              </a:defRPr>
            </a:pPr>
          </a:p>
        </c:txPr>
        <c:crossAx val="9923480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00" strike="noStrike" u="none">
              <a:solidFill>
                <a:srgbClr val="44546a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2n</c:v>
                </c:pt>
              </c:strCache>
            </c:strRef>
          </c:tx>
          <c:spPr>
            <a:solidFill>
              <a:srgbClr val="2c7a8c"/>
            </a:solidFill>
            <a:ln w="31680">
              <a:solidFill>
                <a:srgbClr val="2c7a8c"/>
              </a:solidFill>
              <a:round/>
            </a:ln>
          </c:spPr>
          <c:marker>
            <c:symbol val="circle"/>
            <c:size val="6"/>
            <c:spPr>
              <a:solidFill>
                <a:srgbClr val="2c7a8c"/>
              </a:solidFill>
            </c:spPr>
          </c:marker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44546a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100</c:v>
                </c:pt>
                <c:pt idx="1">
                  <c:v>500</c:v>
                </c:pt>
                <c:pt idx="2">
                  <c:v>1000</c:v>
                </c:pt>
                <c:pt idx="3">
                  <c:v>2000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200</c:v>
                </c:pt>
                <c:pt idx="1">
                  <c:v>1000</c:v>
                </c:pt>
                <c:pt idx="2">
                  <c:v>2000</c:v>
                </c:pt>
                <c:pt idx="3">
                  <c:v>4000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2000n</c:v>
                </c:pt>
              </c:strCache>
            </c:strRef>
          </c:tx>
          <c:spPr>
            <a:solidFill>
              <a:srgbClr val="e8963c"/>
            </a:solidFill>
            <a:ln w="31680">
              <a:solidFill>
                <a:srgbClr val="e8963c"/>
              </a:solidFill>
              <a:round/>
            </a:ln>
          </c:spPr>
          <c:marker>
            <c:symbol val="circle"/>
            <c:size val="6"/>
            <c:spPr>
              <a:solidFill>
                <a:srgbClr val="e8963c"/>
              </a:solidFill>
            </c:spPr>
          </c:marker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44546a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100</c:v>
                </c:pt>
                <c:pt idx="1">
                  <c:v>500</c:v>
                </c:pt>
                <c:pt idx="2">
                  <c:v>1000</c:v>
                </c:pt>
                <c:pt idx="3">
                  <c:v>2000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200000</c:v>
                </c:pt>
                <c:pt idx="1">
                  <c:v>1000000</c:v>
                </c:pt>
                <c:pt idx="2">
                  <c:v>2000000</c:v>
                </c:pt>
                <c:pt idx="3">
                  <c:v>4000000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31812026"/>
        <c:axId val="80423943"/>
      </c:lineChart>
      <c:catAx>
        <c:axId val="3181202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d6dee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9aa5b1"/>
                </a:solidFill>
                <a:uFillTx/>
                <a:latin typeface="Arial"/>
              </a:defRPr>
            </a:pPr>
          </a:p>
        </c:txPr>
        <c:crossAx val="80423943"/>
        <c:crosses val="autoZero"/>
        <c:auto val="1"/>
        <c:lblAlgn val="ctr"/>
        <c:lblOffset val="100"/>
        <c:noMultiLvlLbl val="0"/>
      </c:catAx>
      <c:valAx>
        <c:axId val="80423943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d6dee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9aa5b1"/>
                </a:solidFill>
                <a:uFillTx/>
                <a:latin typeface="Arial"/>
              </a:defRPr>
            </a:pPr>
          </a:p>
        </c:txPr>
        <c:crossAx val="31812026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00" strike="noStrike" u="none">
              <a:solidFill>
                <a:srgbClr val="44546a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680">
              <a:solidFill>
                <a:srgbClr val="2c7a8c"/>
              </a:solidFill>
              <a:round/>
            </a:ln>
          </c:spPr>
          <c:marker>
            <c:symbol val="circle"/>
            <c:size val="6"/>
            <c:spPr>
              <a:solidFill>
                <a:srgbClr val="2c7a8c"/>
              </a:solidFill>
            </c:spPr>
          </c:marker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44546a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8</c:v>
                </c:pt>
                <c:pt idx="1">
                  <c:v>11</c:v>
                </c:pt>
                <c:pt idx="2">
                  <c:v>14</c:v>
                </c:pt>
                <c:pt idx="3">
                  <c:v>17</c:v>
                </c:pt>
                <c:pt idx="4">
                  <c:v>20</c:v>
                </c:pt>
                <c:pt idx="5">
                  <c:v>23</c:v>
                </c:pt>
                <c:pt idx="6">
                  <c:v>26</c:v>
                </c:pt>
                <c:pt idx="7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680">
              <a:solidFill>
                <a:srgbClr val="e8963c"/>
              </a:solidFill>
              <a:round/>
            </a:ln>
          </c:spPr>
          <c:marker>
            <c:symbol val="circle"/>
            <c:size val="6"/>
            <c:spPr>
              <a:solidFill>
                <a:srgbClr val="e8963c"/>
              </a:solidFill>
            </c:spPr>
          </c:marker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44546a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74664429"/>
        <c:axId val="60769235"/>
      </c:lineChart>
      <c:catAx>
        <c:axId val="7466442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d6dee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9aa5b1"/>
                </a:solidFill>
                <a:uFillTx/>
                <a:latin typeface="Arial"/>
              </a:defRPr>
            </a:pPr>
          </a:p>
        </c:txPr>
        <c:crossAx val="60769235"/>
        <c:crosses val="autoZero"/>
        <c:auto val="1"/>
        <c:lblAlgn val="ctr"/>
        <c:lblOffset val="100"/>
        <c:noMultiLvlLbl val="0"/>
      </c:catAx>
      <c:valAx>
        <c:axId val="60769235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d6dee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9aa5b1"/>
                </a:solidFill>
                <a:uFillTx/>
                <a:latin typeface="Arial"/>
              </a:defRPr>
            </a:pPr>
          </a:p>
        </c:txPr>
        <c:crossAx val="74664429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00" strike="noStrike" u="none">
              <a:solidFill>
                <a:srgbClr val="44546a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680">
              <a:solidFill>
                <a:srgbClr val="2c7a8c"/>
              </a:solidFill>
              <a:round/>
            </a:ln>
          </c:spPr>
          <c:marker>
            <c:symbol val="circle"/>
            <c:size val="6"/>
            <c:spPr>
              <a:solidFill>
                <a:srgbClr val="2c7a8c"/>
              </a:solidFill>
            </c:spPr>
          </c:marker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44546a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680">
              <a:solidFill>
                <a:srgbClr val="e8963c"/>
              </a:solidFill>
              <a:round/>
            </a:ln>
          </c:spPr>
          <c:marker>
            <c:symbol val="circle"/>
            <c:size val="6"/>
            <c:spPr>
              <a:solidFill>
                <a:srgbClr val="e8963c"/>
              </a:solidFill>
            </c:spPr>
          </c:marker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44546a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47028254"/>
        <c:axId val="49622193"/>
      </c:lineChart>
      <c:catAx>
        <c:axId val="470282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d6dee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9aa5b1"/>
                </a:solidFill>
                <a:uFillTx/>
                <a:latin typeface="Arial"/>
              </a:defRPr>
            </a:pPr>
          </a:p>
        </c:txPr>
        <c:crossAx val="49622193"/>
        <c:crosses val="autoZero"/>
        <c:auto val="1"/>
        <c:lblAlgn val="ctr"/>
        <c:lblOffset val="100"/>
        <c:noMultiLvlLbl val="0"/>
      </c:catAx>
      <c:valAx>
        <c:axId val="49622193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d6dee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9aa5b1"/>
                </a:solidFill>
                <a:uFillTx/>
                <a:latin typeface="Arial"/>
              </a:defRPr>
            </a:pPr>
          </a:p>
        </c:txPr>
        <c:crossAx val="4702825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00" strike="noStrike" u="none">
              <a:solidFill>
                <a:srgbClr val="44546a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2c7a8c"/>
            </a:solidFill>
            <a:ln w="31680">
              <a:solidFill>
                <a:srgbClr val="2c7a8c"/>
              </a:solidFill>
              <a:round/>
            </a:ln>
          </c:spPr>
          <c:marker>
            <c:symbol val="circle"/>
            <c:size val="6"/>
            <c:spPr>
              <a:solidFill>
                <a:srgbClr val="2c7a8c"/>
              </a:solidFill>
            </c:spPr>
          </c:marker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44546a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25</c:v>
                </c:pt>
                <c:pt idx="1">
                  <c:v>100</c:v>
                </c:pt>
                <c:pt idx="2">
                  <c:v>225</c:v>
                </c:pt>
                <c:pt idx="3">
                  <c:v>400</c:v>
                </c:pt>
                <c:pt idx="4">
                  <c:v>625</c:v>
                </c:pt>
                <c:pt idx="5">
                  <c:v>900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φ^n</c:v>
                </c:pt>
              </c:strCache>
            </c:strRef>
          </c:tx>
          <c:spPr>
            <a:solidFill>
              <a:srgbClr val="e8963c"/>
            </a:solidFill>
            <a:ln w="31680">
              <a:solidFill>
                <a:srgbClr val="e8963c"/>
              </a:solidFill>
              <a:round/>
            </a:ln>
          </c:spPr>
          <c:marker>
            <c:symbol val="circle"/>
            <c:size val="6"/>
            <c:spPr>
              <a:solidFill>
                <a:srgbClr val="e8963c"/>
              </a:solidFill>
            </c:spPr>
          </c:marker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44546a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6"/>
                <c:pt idx="0">
                  <c:v>11</c:v>
                </c:pt>
                <c:pt idx="1">
                  <c:v>123</c:v>
                </c:pt>
                <c:pt idx="2">
                  <c:v>1364</c:v>
                </c:pt>
                <c:pt idx="3">
                  <c:v>15127</c:v>
                </c:pt>
                <c:pt idx="4">
                  <c:v>167761</c:v>
                </c:pt>
                <c:pt idx="5">
                  <c:v>1860498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2^n</c:v>
                </c:pt>
              </c:strCache>
            </c:strRef>
          </c:tx>
          <c:spPr>
            <a:solidFill>
              <a:srgbClr val="44546a"/>
            </a:solidFill>
            <a:ln w="31680">
              <a:solidFill>
                <a:srgbClr val="44546a"/>
              </a:solidFill>
              <a:round/>
            </a:ln>
          </c:spPr>
          <c:marker>
            <c:symbol val="circle"/>
            <c:size val="6"/>
            <c:spPr>
              <a:solidFill>
                <a:srgbClr val="44546a"/>
              </a:solidFill>
            </c:spPr>
          </c:marker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44546a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6"/>
                <c:pt idx="0">
                  <c:v>32</c:v>
                </c:pt>
                <c:pt idx="1">
                  <c:v>1024</c:v>
                </c:pt>
                <c:pt idx="2">
                  <c:v>32768</c:v>
                </c:pt>
                <c:pt idx="3">
                  <c:v>1048576</c:v>
                </c:pt>
                <c:pt idx="4">
                  <c:v>33554432</c:v>
                </c:pt>
                <c:pt idx="5">
                  <c:v>1073741824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78719515"/>
        <c:axId val="44266718"/>
      </c:lineChart>
      <c:catAx>
        <c:axId val="7871951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d6dee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9aa5b1"/>
                </a:solidFill>
                <a:uFillTx/>
                <a:latin typeface="Arial"/>
              </a:defRPr>
            </a:pPr>
          </a:p>
        </c:txPr>
        <c:crossAx val="44266718"/>
        <c:crosses val="autoZero"/>
        <c:auto val="1"/>
        <c:lblAlgn val="ctr"/>
        <c:lblOffset val="100"/>
        <c:noMultiLvlLbl val="0"/>
      </c:catAx>
      <c:valAx>
        <c:axId val="44266718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d6dee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9aa5b1"/>
                </a:solidFill>
                <a:uFillTx/>
                <a:latin typeface="Arial"/>
              </a:defRPr>
            </a:pPr>
          </a:p>
        </c:txPr>
        <c:crossAx val="78719515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00" strike="noStrike" u="none">
              <a:solidFill>
                <a:srgbClr val="44546a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custo (chamadas/operações aprox.)</c:v>
                </c:pt>
              </c:strCache>
            </c:strRef>
          </c:tx>
          <c:spPr>
            <a:solidFill>
              <a:srgbClr val="2c7a8c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44546a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recursivo</c:v>
                </c:pt>
                <c:pt idx="1">
                  <c:v>memoizado</c:v>
                </c:pt>
                <c:pt idx="2">
                  <c:v>iterativo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2692537</c:v>
                </c:pt>
                <c:pt idx="1">
                  <c:v>31</c:v>
                </c:pt>
                <c:pt idx="2">
                  <c:v>30</c:v>
                </c:pt>
              </c:numCache>
            </c:numRef>
          </c:val>
        </c:ser>
        <c:gapWidth val="150"/>
        <c:overlap val="0"/>
        <c:axId val="93867278"/>
        <c:axId val="48282933"/>
      </c:barChart>
      <c:catAx>
        <c:axId val="9386727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d6dee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9aa5b1"/>
                </a:solidFill>
                <a:uFillTx/>
                <a:latin typeface="Arial"/>
              </a:defRPr>
            </a:pPr>
          </a:p>
        </c:txPr>
        <c:crossAx val="48282933"/>
        <c:crosses val="autoZero"/>
        <c:auto val="1"/>
        <c:lblAlgn val="ctr"/>
        <c:lblOffset val="100"/>
        <c:noMultiLvlLbl val="0"/>
      </c:catAx>
      <c:valAx>
        <c:axId val="48282933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d6dee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9aa5b1"/>
                </a:solidFill>
                <a:uFillTx/>
                <a:latin typeface="Arial"/>
              </a:defRPr>
            </a:pPr>
          </a:p>
        </c:txPr>
        <c:crossAx val="9386727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c7a8c"/>
            </a:solidFill>
            <a:ln w="31680">
              <a:solidFill>
                <a:srgbClr val="2c7a8c"/>
              </a:solidFill>
              <a:round/>
            </a:ln>
          </c:spPr>
          <c:marker>
            <c:symbol val="circle"/>
            <c:size val="6"/>
            <c:spPr>
              <a:solidFill>
                <a:srgbClr val="2c7a8c"/>
              </a:solidFill>
            </c:spPr>
          </c:marker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44546a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e8963c"/>
            </a:solidFill>
            <a:ln w="31680">
              <a:solidFill>
                <a:srgbClr val="e8963c"/>
              </a:solidFill>
              <a:round/>
            </a:ln>
          </c:spPr>
          <c:marker>
            <c:symbol val="circle"/>
            <c:size val="6"/>
            <c:spPr>
              <a:solidFill>
                <a:srgbClr val="e8963c"/>
              </a:solidFill>
            </c:spPr>
          </c:marker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44546a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1</c:v>
                </c:pt>
                <c:pt idx="1">
                  <c:v>25</c:v>
                </c:pt>
                <c:pt idx="2">
                  <c:v>100</c:v>
                </c:pt>
                <c:pt idx="3">
                  <c:v>225</c:v>
                </c:pt>
                <c:pt idx="4">
                  <c:v>400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44546a"/>
            </a:solidFill>
            <a:ln w="31680">
              <a:solidFill>
                <a:srgbClr val="44546a"/>
              </a:solidFill>
              <a:round/>
            </a:ln>
          </c:spPr>
          <c:marker>
            <c:symbol val="circle"/>
            <c:size val="6"/>
            <c:spPr>
              <a:solidFill>
                <a:srgbClr val="44546a"/>
              </a:solidFill>
            </c:spPr>
          </c:marker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44546a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5"/>
                <c:pt idx="0">
                  <c:v>1</c:v>
                </c:pt>
                <c:pt idx="1">
                  <c:v>125</c:v>
                </c:pt>
                <c:pt idx="2">
                  <c:v>1000</c:v>
                </c:pt>
                <c:pt idx="3">
                  <c:v>3375</c:v>
                </c:pt>
                <c:pt idx="4">
                  <c:v>8000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29235669"/>
        <c:axId val="55442025"/>
      </c:lineChart>
      <c:catAx>
        <c:axId val="2923566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d6dee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9aa5b1"/>
                </a:solidFill>
                <a:uFillTx/>
                <a:latin typeface="Arial"/>
              </a:defRPr>
            </a:pPr>
          </a:p>
        </c:txPr>
        <c:crossAx val="55442025"/>
        <c:crosses val="autoZero"/>
        <c:auto val="1"/>
        <c:lblAlgn val="ctr"/>
        <c:lblOffset val="100"/>
        <c:noMultiLvlLbl val="0"/>
      </c:catAx>
      <c:valAx>
        <c:axId val="55442025"/>
        <c:scaling>
          <c:orientation val="minMax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d6dee7"/>
            </a:solidFill>
            <a:round/>
          </a:ln>
        </c:spPr>
        <c:txPr>
          <a:bodyPr/>
          <a:lstStyle/>
          <a:p>
            <a:pPr>
              <a:defRPr b="0" sz="1000" strike="noStrike" u="none">
                <a:solidFill>
                  <a:srgbClr val="9aa5b1"/>
                </a:solidFill>
                <a:uFillTx/>
                <a:latin typeface="Arial"/>
              </a:defRPr>
            </a:pPr>
          </a:p>
        </c:txPr>
        <c:crossAx val="29235669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00" strike="noStrike" u="none">
              <a:solidFill>
                <a:srgbClr val="44546a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D4313FF-56ED-4BBB-B84E-7AF1F1FEFFB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E81E49-E7B8-465F-AF54-7D2FB0080E0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70DCAA-C846-4066-9D89-10D2B2DFA17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B17D34-371F-4A3E-99A2-7A6D818FDF5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7B604A-F0D7-4C49-AF94-1B4B29C31B7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6791D7-E611-492E-BD2D-CD83B003142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12117D-01EB-4083-9C6A-C8004DC5412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79666B-8FF1-4F5C-9291-DCF6D6BF684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48442E-8122-43A1-ACDE-3CF026D332D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201D9C-5BCF-46F9-B413-A458315CE74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C1A30B-857A-456C-8D28-CDD1B82229D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BB96E5-81D0-4CA2-8C5B-97DEAFB4C94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9E7DCD-E291-4A34-BD9D-7A4DB688FFB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95C485-8A4D-4374-AC18-ABA154150A6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67F7A6-3A11-464F-9617-B4F7DE8797C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6A5939-0E5F-4578-88F9-F8BB207D112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35681C-676B-44A4-9A4D-ACBA143C014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E5C92B-4DE7-469C-8402-D95FFAF31CF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4337AB-48B0-49DF-9E4A-3BDBCF0D7AD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D49613-F445-4115-80C7-DD0C92370C2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665B96-C3AF-4CA4-8C24-2CB498FD7BE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1F213D-8C72-4806-A56F-5873FE8FE2F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CBE39F-5B45-4515-82FA-7E4216AFD65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6512C4-76B2-4E09-BE24-31D2E1E1216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14F52F-8A92-499B-B36B-80BDB165CAE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135A77-BE0A-46A0-967B-87A12D0B0C2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60C700-D235-430A-A5AD-40D8ABCC33D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771D6D-A13F-44C1-B710-7CA0670B036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03FAEE-D953-4B3B-AA6A-52F6EBF9C2F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817182-3075-4FA7-A16F-EEBB3DCC1B8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6554DB-7E72-4168-AEBC-61D740F43B6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BFB1CD-A946-4319-B17D-9A2B95A595F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2291A3-F7BD-4B16-9D8F-1FCEDF966CB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9C3377-B703-47F7-B915-677F2E4C0FA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D84D8F-A619-4577-A213-689CA1B4E52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A2DED2-A126-4CB3-AC03-4E8E783A84D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C4CEB3-769C-47E8-A45F-2439424F058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86AE1C-CC8D-47A0-BDCA-ABFAA879571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8B5B4A-0B7F-42AA-8969-7C675496C4F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0773FE-C755-42EE-AA27-B9ADADC55D0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414714-9DA4-4378-B77F-F8A029A0B14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9C88D7-2602-4964-8DC4-94EAC894A66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30AAE4-53E3-4BE2-9778-CF278861D7A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C44463-BC70-422B-9E47-8AB82C7934B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1"/>
          <p:cNvSpPr/>
          <p:nvPr/>
        </p:nvSpPr>
        <p:spPr>
          <a:xfrm>
            <a:off x="8899920" y="-1645920"/>
            <a:ext cx="4205880" cy="420588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" name="Oval 2"/>
          <p:cNvSpPr/>
          <p:nvPr/>
        </p:nvSpPr>
        <p:spPr>
          <a:xfrm>
            <a:off x="10454400" y="548640"/>
            <a:ext cx="2194200" cy="219420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" name="Oval 3"/>
          <p:cNvSpPr/>
          <p:nvPr/>
        </p:nvSpPr>
        <p:spPr>
          <a:xfrm>
            <a:off x="822960" y="914400"/>
            <a:ext cx="868320" cy="868320"/>
          </a:xfrm>
          <a:prstGeom prst="ellipse">
            <a:avLst/>
          </a:prstGeom>
          <a:solidFill>
            <a:srgbClr val="2c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" name="Picture 4" descr="Aula08.png"/>
          <p:cNvPicPr/>
          <p:nvPr/>
        </p:nvPicPr>
        <p:blipFill>
          <a:blip r:embed="rId1"/>
          <a:stretch/>
        </p:blipFill>
        <p:spPr>
          <a:xfrm>
            <a:off x="1028880" y="11203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Box 5"/>
          <p:cNvSpPr/>
          <p:nvPr/>
        </p:nvSpPr>
        <p:spPr>
          <a:xfrm>
            <a:off x="457200" y="214884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100" strike="noStrike" u="none">
                <a:solidFill>
                  <a:srgbClr val="e8963c"/>
                </a:solidFill>
                <a:effectLst/>
                <a:uFillTx/>
                <a:latin typeface="Calibri"/>
              </a:rPr>
              <a:t>PENSAMENTO COMPUTACIONAL · AULA 14 DE 15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Box 6"/>
          <p:cNvSpPr/>
          <p:nvPr/>
        </p:nvSpPr>
        <p:spPr>
          <a:xfrm>
            <a:off x="457200" y="2514600"/>
            <a:ext cx="107895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Cambria"/>
              </a:rPr>
              <a:t>Complexidade de Algoritmos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Box 7"/>
          <p:cNvSpPr/>
          <p:nvPr/>
        </p:nvSpPr>
        <p:spPr>
          <a:xfrm>
            <a:off x="457200" y="3977640"/>
            <a:ext cx="9509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pt-BR" sz="1700" strike="noStrike" u="none">
                <a:solidFill>
                  <a:srgbClr val="c9d3de"/>
                </a:solidFill>
                <a:effectLst/>
                <a:uFillTx/>
                <a:latin typeface="Calibri"/>
              </a:rPr>
              <a:t>Da função de custo ao Big O, com experimentos em Julia + Pluto — roteiro visual para aula ou minicurso.</a:t>
            </a:r>
            <a:endParaRPr b="0" lang="pt-BR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Box 8"/>
          <p:cNvSpPr/>
          <p:nvPr/>
        </p:nvSpPr>
        <p:spPr>
          <a:xfrm>
            <a:off x="457200" y="6528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900" strike="noStrike" u="none">
                <a:solidFill>
                  <a:srgbClr val="8ca0b3"/>
                </a:solidFill>
                <a:effectLst/>
                <a:uFillTx/>
                <a:latin typeface="Calibri"/>
              </a:rPr>
              <a:t>Aula 14 · Complexidade de Algoritmos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Box 9"/>
          <p:cNvSpPr/>
          <p:nvPr/>
        </p:nvSpPr>
        <p:spPr>
          <a:xfrm>
            <a:off x="10362960" y="652896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pt-BR" sz="900" strike="noStrike" u="none">
                <a:solidFill>
                  <a:srgbClr val="8ca0b3"/>
                </a:solidFill>
                <a:effectLst/>
                <a:uFillTx/>
                <a:latin typeface="Calibri"/>
              </a:rPr>
              <a:t>01 / 47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48640" y="50292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Objetivos de aprendizagem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8686800" y="64008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MAPA DA AULA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548640" y="1371600"/>
            <a:ext cx="11063880" cy="4663080"/>
          </a:xfrm>
          <a:prstGeom prst="roundRect">
            <a:avLst>
              <a:gd name="adj" fmla="val 1569"/>
            </a:avLst>
          </a:prstGeom>
          <a:solidFill>
            <a:srgbClr val="f7f9fc"/>
          </a:solidFill>
          <a:ln w="12700">
            <a:solidFill>
              <a:srgbClr val="e3e9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914400" y="1984320"/>
            <a:ext cx="511560" cy="51156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914400" y="198432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1691640" y="1847160"/>
            <a:ext cx="9600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Construir a função de custo T(n) a partir da contagem de passos.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914400" y="2990160"/>
            <a:ext cx="511560" cy="51156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914400" y="299016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1691640" y="2853000"/>
            <a:ext cx="9600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Interpretar sequência, decisão, repetição e recursão como contribuições distintas ao custo.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914400" y="3996000"/>
            <a:ext cx="511560" cy="51156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914400" y="399600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1691640" y="3858840"/>
            <a:ext cx="9600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Diferenciar eficiência prática, escalabilidade e classificação assintótica.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914400" y="5001840"/>
            <a:ext cx="511560" cy="511560"/>
          </a:xfrm>
          <a:prstGeom prst="ellipse">
            <a:avLst/>
          </a:prstGeom>
          <a:solidFill>
            <a:srgbClr val="2c7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914400" y="500184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1691640" y="4864680"/>
            <a:ext cx="9600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Usar Julia + Pluto para testar hipóteses com gráficos e sliders.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ESCALA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A pergunta central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"/>
          <p:cNvSpPr/>
          <p:nvPr/>
        </p:nvSpPr>
        <p:spPr>
          <a:xfrm>
            <a:off x="548640" y="1783080"/>
            <a:ext cx="107895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Um algoritmo que funciona para 100 entradas ainda será viável para 100 mil?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análise de complexidade não pergunta apenas “funciona?”. Ela pergunta “como o trabalho cresce?”.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Essa pergunta antecede o tempo em segundos, porque segundos mudam com a máquina; passos pertencem ao algoritmo.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3"/>
          <p:cNvSpPr/>
          <p:nvPr/>
        </p:nvSpPr>
        <p:spPr>
          <a:xfrm>
            <a:off x="548640" y="3977640"/>
            <a:ext cx="10789560" cy="173700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4"/>
          <p:cNvSpPr/>
          <p:nvPr/>
        </p:nvSpPr>
        <p:spPr>
          <a:xfrm>
            <a:off x="914400" y="3977640"/>
            <a:ext cx="10149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passos ↑↑   em função de   n ↑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6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MODELO DE CUSTO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Passos, não segundos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"/>
          <p:cNvSpPr/>
          <p:nvPr/>
        </p:nvSpPr>
        <p:spPr>
          <a:xfrm>
            <a:off x="548640" y="1965960"/>
            <a:ext cx="5348880" cy="301716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822960" y="2194560"/>
            <a:ext cx="4800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Tempo medido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822960" y="2834640"/>
            <a:ext cx="48002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0000"/>
              </a:lnSpc>
              <a:spcAft>
                <a:spcPts val="7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Depende de processador, cache, compilador, linguagem, SO, I/O e concorrência.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5"/>
          <p:cNvSpPr/>
          <p:nvPr/>
        </p:nvSpPr>
        <p:spPr>
          <a:xfrm>
            <a:off x="6263640" y="1965960"/>
            <a:ext cx="5348880" cy="301716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6537960" y="2194560"/>
            <a:ext cx="4800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Passos lógicos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7"/>
          <p:cNvSpPr/>
          <p:nvPr/>
        </p:nvSpPr>
        <p:spPr>
          <a:xfrm>
            <a:off x="6537960" y="2834640"/>
            <a:ext cx="48002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0000"/>
              </a:lnSpc>
              <a:spcAft>
                <a:spcPts val="7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Pertencem ao algoritmo e permitem comparar soluções antes de executar.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8"/>
          <p:cNvSpPr/>
          <p:nvPr/>
        </p:nvSpPr>
        <p:spPr>
          <a:xfrm>
            <a:off x="548640" y="52578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Complexidade começa na contagem de ações fundamentais.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9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PIPELINE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Do código ao Big O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548640" y="2194560"/>
            <a:ext cx="2422800" cy="155412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44546a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548640" y="2377440"/>
            <a:ext cx="2422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Código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548640" y="3063240"/>
            <a:ext cx="2422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c9d3de"/>
                </a:solidFill>
                <a:effectLst/>
                <a:uFillTx/>
                <a:latin typeface="Calibri"/>
                <a:ea typeface="Calibri"/>
              </a:rPr>
              <a:t>estrutura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2971800" y="2194560"/>
            <a:ext cx="4568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2c7a8c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6"/>
          <p:cNvSpPr/>
          <p:nvPr/>
        </p:nvSpPr>
        <p:spPr>
          <a:xfrm>
            <a:off x="3429000" y="2194560"/>
            <a:ext cx="2422800" cy="155412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44546a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3429000" y="2377440"/>
            <a:ext cx="2422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T(n)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3429000" y="3063240"/>
            <a:ext cx="2422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c9d3de"/>
                </a:solidFill>
                <a:effectLst/>
                <a:uFillTx/>
                <a:latin typeface="Calibri"/>
                <a:ea typeface="Calibri"/>
              </a:rPr>
              <a:t>função de custo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5852160" y="2194560"/>
            <a:ext cx="4568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2c7a8c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0"/>
          <p:cNvSpPr/>
          <p:nvPr/>
        </p:nvSpPr>
        <p:spPr>
          <a:xfrm>
            <a:off x="6309360" y="2194560"/>
            <a:ext cx="2422800" cy="155412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44546a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6309360" y="2377440"/>
            <a:ext cx="2422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Termo dominante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6309360" y="3063240"/>
            <a:ext cx="2422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c9d3de"/>
                </a:solidFill>
                <a:effectLst/>
                <a:uFillTx/>
                <a:latin typeface="Calibri"/>
                <a:ea typeface="Calibri"/>
              </a:rPr>
              <a:t>forma do crescimento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8732520" y="2194560"/>
            <a:ext cx="4568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2c7a8c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4"/>
          <p:cNvSpPr/>
          <p:nvPr/>
        </p:nvSpPr>
        <p:spPr>
          <a:xfrm>
            <a:off x="9189720" y="2194560"/>
            <a:ext cx="2422800" cy="1554120"/>
          </a:xfrm>
          <a:prstGeom prst="roundRect">
            <a:avLst>
              <a:gd name="adj" fmla="val 5882"/>
            </a:avLst>
          </a:prstGeom>
          <a:solidFill>
            <a:srgbClr val="e8963c"/>
          </a:solidFill>
          <a:ln w="0">
            <a:noFill/>
          </a:ln>
          <a:effectLst>
            <a:outerShdw algn="bl" blurRad="63360" dir="5400000" dist="25560" kx="0" ky="0" rotWithShape="0" sx="100000" sy="100000">
              <a:srgbClr val="44546a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9189720" y="2377440"/>
            <a:ext cx="2422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Big 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6"/>
          <p:cNvSpPr/>
          <p:nvPr/>
        </p:nvSpPr>
        <p:spPr>
          <a:xfrm>
            <a:off x="9189720" y="3063240"/>
            <a:ext cx="2422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5a3e12"/>
                </a:solidFill>
                <a:effectLst/>
                <a:uFillTx/>
                <a:latin typeface="Calibri"/>
                <a:ea typeface="Calibri"/>
              </a:rPr>
              <a:t>classe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7"/>
          <p:cNvSpPr/>
          <p:nvPr/>
        </p:nvSpPr>
        <p:spPr>
          <a:xfrm>
            <a:off x="548640" y="4114800"/>
            <a:ext cx="10789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ordem assintótica é o último passo. Ela não substitui a função de custo.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8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9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PRIMEIRA DECISÃO DA ANÁLISE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Ação fundamental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548640" y="1783080"/>
            <a:ext cx="1078956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Antes de contar, é preciso definir o que será contado.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comparação  →  v[i] &gt; 0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soma  →  s += v[i]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chamada  →  fib(n-1)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escolha precisa ser coerente durante toda a análise.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CONSTANTES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Sequências calibram o crescimento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548640" y="1783080"/>
            <a:ext cx="51202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As três ações dentro do laço geram uma constante multiplicativa.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T(n) = 3n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No Big O, isso vira O(n), mas a constante representa trabalho real.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"/>
          <p:cNvSpPr/>
          <p:nvPr/>
        </p:nvSpPr>
        <p:spPr>
          <a:xfrm>
            <a:off x="5943600" y="1783080"/>
            <a:ext cx="5668920" cy="374868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6236280" y="2039040"/>
            <a:ext cx="5083560" cy="32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for i in 1:n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a += 1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b += 1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c += 1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end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5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6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T(n) = an + b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Constante aditiva e multiplicativa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548640" y="1783080"/>
            <a:ext cx="51202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Antes do laço: custo fixo.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Dentro do laço: custo por elemento.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Depois do laço: custo fixo.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Exemplo aproximado: T(n) = 2n + 4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5943600" y="1783080"/>
            <a:ext cx="5668920" cy="374868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6236280" y="2039040"/>
            <a:ext cx="5083560" cy="32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x = 0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y = 0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z = 0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for i in 1:n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soma += v[i]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cont += 1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end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media = soma / cont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SELEÇÃO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Condicionais ajustam caminhos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548640" y="1783080"/>
            <a:ext cx="51202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Mesmo com dois caminhos, apenas um é executado.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 custo costuma permanecer constante: O(1).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Mas condicionais importam para melhor caso, pior caso e caso médio.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5943600" y="1783080"/>
            <a:ext cx="5668920" cy="374868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"/>
          <p:cNvSpPr/>
          <p:nvPr/>
        </p:nvSpPr>
        <p:spPr>
          <a:xfrm>
            <a:off x="6236280" y="2039040"/>
            <a:ext cx="5083560" cy="32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if x &gt; 0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soma += 1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else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soma -= 1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end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ONDE O CUSTO SE REPETE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O IF dentro do laço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548640" y="1783080"/>
            <a:ext cx="51202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 IF é constante, mas está sendo executado n vezes.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T(n) ≈ c · n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pergunta prática é: quantas vezes esta decisão será tomada?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"/>
          <p:cNvSpPr/>
          <p:nvPr/>
        </p:nvSpPr>
        <p:spPr>
          <a:xfrm>
            <a:off x="5943600" y="1783080"/>
            <a:ext cx="5668920" cy="374868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6236280" y="2039040"/>
            <a:ext cx="5083560" cy="32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for i in 1:n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if v[i] &gt; 0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    cont += 1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end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end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REPETIÇÃO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Laços multiplicam trabalho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7" name="Chart 0"/>
          <p:cNvGraphicFramePr/>
          <p:nvPr/>
        </p:nvGraphicFramePr>
        <p:xfrm>
          <a:off x="4754880" y="1828800"/>
          <a:ext cx="6766200" cy="420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8" name="Text 2"/>
          <p:cNvSpPr/>
          <p:nvPr/>
        </p:nvSpPr>
        <p:spPr>
          <a:xfrm>
            <a:off x="548640" y="2011680"/>
            <a:ext cx="393156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Cada laço aninhado introduz uma nova dimensão de crescimento.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1 laço → O(n)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2 laços → O(n²)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3 laços → O(n³)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EXEMPLO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Laço simples: crescimento linear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548640" y="1783080"/>
            <a:ext cx="51202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Se há uma ação principal por elemento: T(n) = n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Custo marginal: T(n) − T(n−1) = 1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5943600" y="1783080"/>
            <a:ext cx="5668920" cy="374868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6236280" y="2039040"/>
            <a:ext cx="5083560" cy="32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function soma(v)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s = 0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for x in v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    s += x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end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return s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end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548640" y="45720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AULA 14  ·  Laço simples ("crescimento linear")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548640" y="8229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function soma(v) — qual é a resultante para um vetor genérico?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"/>
          <p:cNvSpPr/>
          <p:nvPr/>
        </p:nvSpPr>
        <p:spPr>
          <a:xfrm>
            <a:off x="548640" y="1600200"/>
            <a:ext cx="11063880" cy="2633040"/>
          </a:xfrm>
          <a:prstGeom prst="roundRect">
            <a:avLst>
              <a:gd name="adj" fmla="val 3472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"/>
          <p:cNvSpPr/>
          <p:nvPr/>
        </p:nvSpPr>
        <p:spPr>
          <a:xfrm>
            <a:off x="868680" y="1828800"/>
            <a:ext cx="10423800" cy="21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function soma(v)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s = 0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for x in v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    s += x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end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return s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end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4"/>
          <p:cNvSpPr/>
          <p:nvPr/>
        </p:nvSpPr>
        <p:spPr>
          <a:xfrm>
            <a:off x="548640" y="4434840"/>
            <a:ext cx="11063880" cy="1142640"/>
          </a:xfrm>
          <a:prstGeom prst="roundRect">
            <a:avLst>
              <a:gd name="adj" fmla="val 6400"/>
            </a:avLst>
          </a:prstGeom>
          <a:solidFill>
            <a:srgbClr val="eef3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822960" y="4572000"/>
            <a:ext cx="10515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s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parte de 0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para cada x em v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s acumula s + x (uma soma por elemento — não há valor concreto de v neste slide, então o traço é estrutural)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soma(v)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retorna s = soma de todos os elementos de v, ao final do laço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PRODUTO DE DIMENSÕES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Laço duplo: crescimento quadrático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548640" y="1783080"/>
            <a:ext cx="51202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 laço interno executa n vezes para cada valor de i.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n · n = n²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Custo marginal aproximado cresce com n.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"/>
          <p:cNvSpPr/>
          <p:nvPr/>
        </p:nvSpPr>
        <p:spPr>
          <a:xfrm>
            <a:off x="5943600" y="1783080"/>
            <a:ext cx="5668920" cy="374868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6236280" y="2039040"/>
            <a:ext cx="5083560" cy="32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for i in 1:n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for j in 1:n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    cont += 1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end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end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1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rgbClr val="e8963c"/>
                </a:solidFill>
                <a:effectLst/>
                <a:uFillTx/>
                <a:latin typeface="Calibri"/>
              </a:rPr>
              <a:t>ATIVIDADE DESPLUGADA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500" strike="noStrike" u="none">
                <a:solidFill>
                  <a:srgbClr val="1b3a5c"/>
                </a:solidFill>
                <a:effectLst/>
                <a:uFillTx/>
                <a:latin typeface="Cambria"/>
              </a:rPr>
              <a:t>Aperto de mãos: sentindo o n²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3"/>
          <p:cNvSpPr/>
          <p:nvPr/>
        </p:nvSpPr>
        <p:spPr>
          <a:xfrm>
            <a:off x="548640" y="169164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Atividade desplugada — sem computador, só a turma de pé.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4"/>
          <p:cNvSpPr/>
          <p:nvPr/>
        </p:nvSpPr>
        <p:spPr>
          <a:xfrm>
            <a:off x="548640" y="2286000"/>
            <a:ext cx="11063880" cy="37486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Oval 5"/>
          <p:cNvSpPr/>
          <p:nvPr/>
        </p:nvSpPr>
        <p:spPr>
          <a:xfrm>
            <a:off x="914400" y="2514600"/>
            <a:ext cx="420120" cy="42012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6"/>
          <p:cNvSpPr/>
          <p:nvPr/>
        </p:nvSpPr>
        <p:spPr>
          <a:xfrm>
            <a:off x="914400" y="25146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00" strike="noStrike" u="none">
                <a:solidFill>
                  <a:srgbClr val="1b3a5c"/>
                </a:solidFill>
                <a:effectLst/>
                <a:uFillTx/>
                <a:latin typeface="Calibri"/>
              </a:rPr>
              <a:t>1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7"/>
          <p:cNvSpPr/>
          <p:nvPr/>
        </p:nvSpPr>
        <p:spPr>
          <a:xfrm>
            <a:off x="1600200" y="242316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Material: nenhum. Só a turma, em círculo.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Oval 8"/>
          <p:cNvSpPr/>
          <p:nvPr/>
        </p:nvSpPr>
        <p:spPr>
          <a:xfrm>
            <a:off x="914400" y="3191400"/>
            <a:ext cx="420120" cy="42012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9"/>
          <p:cNvSpPr/>
          <p:nvPr/>
        </p:nvSpPr>
        <p:spPr>
          <a:xfrm>
            <a:off x="914400" y="31914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00" strike="noStrike" u="none">
                <a:solidFill>
                  <a:srgbClr val="1b3a5c"/>
                </a:solidFill>
                <a:effectLst/>
                <a:uFillTx/>
                <a:latin typeface="Calibri"/>
              </a:rPr>
              <a:t>2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1600200" y="309996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Cada aluno aperta a mão de todos os colegas, uma vez cada — contem em voz alta o total ao final.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Oval 11"/>
          <p:cNvSpPr/>
          <p:nvPr/>
        </p:nvSpPr>
        <p:spPr>
          <a:xfrm>
            <a:off x="914400" y="3867840"/>
            <a:ext cx="420120" cy="42012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12"/>
          <p:cNvSpPr/>
          <p:nvPr/>
        </p:nvSpPr>
        <p:spPr>
          <a:xfrm>
            <a:off x="914400" y="38678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00" strike="noStrike" u="none">
                <a:solidFill>
                  <a:srgbClr val="1b3a5c"/>
                </a:solidFill>
                <a:effectLst/>
                <a:uFillTx/>
                <a:latin typeface="Calibri"/>
              </a:rPr>
              <a:t>3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3"/>
          <p:cNvSpPr/>
          <p:nvPr/>
        </p:nvSpPr>
        <p:spPr>
          <a:xfrm>
            <a:off x="1600200" y="377640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Com n alunos, o total é n·(n−1)/2 — a mesma forma de um laço duplo percorrendo todos os pares.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Oval 14"/>
          <p:cNvSpPr/>
          <p:nvPr/>
        </p:nvSpPr>
        <p:spPr>
          <a:xfrm>
            <a:off x="914400" y="4544640"/>
            <a:ext cx="420120" cy="42012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15"/>
          <p:cNvSpPr/>
          <p:nvPr/>
        </p:nvSpPr>
        <p:spPr>
          <a:xfrm>
            <a:off x="914400" y="45446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00" strike="noStrike" u="none">
                <a:solidFill>
                  <a:srgbClr val="1b3a5c"/>
                </a:solidFill>
                <a:effectLst/>
                <a:uFillTx/>
                <a:latin typeface="Calibri"/>
              </a:rPr>
              <a:t>4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6"/>
          <p:cNvSpPr/>
          <p:nvPr/>
        </p:nvSpPr>
        <p:spPr>
          <a:xfrm>
            <a:off x="1600200" y="445320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Dobrem o grupo (chamem outra sala) e recontem: o número de apertos não dobra, quadruplica.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7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900" strike="noStrike" u="none">
                <a:solidFill>
                  <a:srgbClr val="9aa5b1"/>
                </a:solidFill>
                <a:effectLst/>
                <a:uFillTx/>
                <a:latin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18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900" strike="noStrike" u="none">
                <a:solidFill>
                  <a:srgbClr val="9aa5b1"/>
                </a:solidFill>
                <a:effectLst/>
                <a:uFillTx/>
                <a:latin typeface="Calibri"/>
              </a:rPr>
              <a:t>15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TRÊS ÍNDICES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Multiplicação clássica de matrizes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548640" y="1783080"/>
            <a:ext cx="51202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Há n² posições em C.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Para cada posição, somamos n produtos.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T(n) ≈ n² · n = n³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Este exemplo mostra como a estrutura do problema impõe crescimento.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5943600" y="1783080"/>
            <a:ext cx="5668920" cy="374868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6236280" y="2039040"/>
            <a:ext cx="5083560" cy="32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for i in 1:n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for j in 1:n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    C[i,j] = 0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    for k in 1:n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        C[i,j] += A[i,k]*B[k,j]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    end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end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end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ABSTRAÇÃO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Big O e o papel de n₀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"/>
          <p:cNvSpPr/>
          <p:nvPr/>
        </p:nvSpPr>
        <p:spPr>
          <a:xfrm>
            <a:off x="548640" y="1783080"/>
            <a:ext cx="107895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 n₀ admite que o início da curva pode ser irregular.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Big O não nega as constantes. Ele escolhe olhar para a região assintótica.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548640" y="3977640"/>
            <a:ext cx="10789560" cy="173700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914400" y="3977640"/>
            <a:ext cx="10149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f(n) = O(g(n))  quando existem c &gt; 0 e n₀ tais que  f(n) ≤ c·g(n)  para todo n ≥ n₀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EFICIÊNCIA × ESCALABILIDADE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Constantes escondidas ainda importam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7" name="Chart 0"/>
          <p:cNvGraphicFramePr/>
          <p:nvPr/>
        </p:nvGraphicFramePr>
        <p:xfrm>
          <a:off x="4754880" y="1828800"/>
          <a:ext cx="6766200" cy="420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8" name="Text 2"/>
          <p:cNvSpPr/>
          <p:nvPr/>
        </p:nvSpPr>
        <p:spPr>
          <a:xfrm>
            <a:off x="548640" y="2011680"/>
            <a:ext cx="393156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Ambas são O(n).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Mas a constante multiplicativa muda o custo concreto.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Big O avalia escalabilidade; T(n) preserva eficiência aproximada.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PONTE COM CÁLCULO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Coeficiente angular e custo marginal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"/>
          <p:cNvSpPr/>
          <p:nvPr/>
        </p:nvSpPr>
        <p:spPr>
          <a:xfrm>
            <a:off x="548640" y="1783080"/>
            <a:ext cx="107895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Para T(n) = an + b, o coeficiente a é a inclinação da reta de custo.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Interpretação: quanto custa adicionar mais um elemento à entrada.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Essa ideia aproxima análise de algoritmos e cálculo discreto.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3"/>
          <p:cNvSpPr/>
          <p:nvPr/>
        </p:nvSpPr>
        <p:spPr>
          <a:xfrm>
            <a:off x="548640" y="3977640"/>
            <a:ext cx="10789560" cy="173700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914400" y="3977640"/>
            <a:ext cx="10149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Derivada discreta:   ΔT(n) = T(n) − T(n−1)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LINEAR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Custo local estável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0" name="Chart 0"/>
          <p:cNvGraphicFramePr/>
          <p:nvPr/>
        </p:nvGraphicFramePr>
        <p:xfrm>
          <a:off x="4754880" y="1828800"/>
          <a:ext cx="6766200" cy="420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1" name="Text 2"/>
          <p:cNvSpPr/>
          <p:nvPr/>
        </p:nvSpPr>
        <p:spPr>
          <a:xfrm>
            <a:off x="548640" y="2011680"/>
            <a:ext cx="393156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Cada novo elemento acrescenta praticamente o mesmo bloco de trabalho.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Exemplo: percorrer um vetor uma única vez.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T(n) = 3n + 5  e  ΔT(n) = 3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QUADRÁTICO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Custo local crescente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6" name="Chart 0"/>
          <p:cNvGraphicFramePr/>
          <p:nvPr/>
        </p:nvGraphicFramePr>
        <p:xfrm>
          <a:off x="4754880" y="1828800"/>
          <a:ext cx="6766200" cy="420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7" name="Text 2"/>
          <p:cNvSpPr/>
          <p:nvPr/>
        </p:nvSpPr>
        <p:spPr>
          <a:xfrm>
            <a:off x="548640" y="2011680"/>
            <a:ext cx="393156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 trabalho adicional por novo elemento cresce com n.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Por isso algoritmos quadráticos ficam rapidamente caros.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T(n) = n²  e  ΔT(n) = 2n − 1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4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rgbClr val="e8963c"/>
                </a:solidFill>
                <a:effectLst/>
                <a:uFillTx/>
                <a:latin typeface="Calibri"/>
              </a:rPr>
              <a:t>ATIVIDADE DESPLUGADA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500" strike="noStrike" u="none">
                <a:solidFill>
                  <a:srgbClr val="1b3a5c"/>
                </a:solidFill>
                <a:effectLst/>
                <a:uFillTx/>
                <a:latin typeface="Cambria"/>
              </a:rPr>
              <a:t>Corrida das curvas com barbante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548640" y="169164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Atividade desplugada — meça o crescimento com o corpo.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4"/>
          <p:cNvSpPr/>
          <p:nvPr/>
        </p:nvSpPr>
        <p:spPr>
          <a:xfrm>
            <a:off x="548640" y="2286000"/>
            <a:ext cx="11063880" cy="37486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Oval 5"/>
          <p:cNvSpPr/>
          <p:nvPr/>
        </p:nvSpPr>
        <p:spPr>
          <a:xfrm>
            <a:off x="914400" y="2514600"/>
            <a:ext cx="420120" cy="42012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6"/>
          <p:cNvSpPr/>
          <p:nvPr/>
        </p:nvSpPr>
        <p:spPr>
          <a:xfrm>
            <a:off x="914400" y="25146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00" strike="noStrike" u="none">
                <a:solidFill>
                  <a:srgbClr val="1b3a5c"/>
                </a:solidFill>
                <a:effectLst/>
                <a:uFillTx/>
                <a:latin typeface="Calibri"/>
              </a:rPr>
              <a:t>1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7"/>
          <p:cNvSpPr/>
          <p:nvPr/>
        </p:nvSpPr>
        <p:spPr>
          <a:xfrm>
            <a:off x="1600200" y="242316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Material: barbante ou fita métrica, giz ou fita crepe no chão.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Oval 8"/>
          <p:cNvSpPr/>
          <p:nvPr/>
        </p:nvSpPr>
        <p:spPr>
          <a:xfrm>
            <a:off x="914400" y="3191400"/>
            <a:ext cx="420120" cy="42012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9"/>
          <p:cNvSpPr/>
          <p:nvPr/>
        </p:nvSpPr>
        <p:spPr>
          <a:xfrm>
            <a:off x="914400" y="31914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00" strike="noStrike" u="none">
                <a:solidFill>
                  <a:srgbClr val="1b3a5c"/>
                </a:solidFill>
                <a:effectLst/>
                <a:uFillTx/>
                <a:latin typeface="Calibri"/>
              </a:rPr>
              <a:t>2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0"/>
          <p:cNvSpPr/>
          <p:nvPr/>
        </p:nvSpPr>
        <p:spPr>
          <a:xfrm>
            <a:off x="1600200" y="309996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Marquem três retas de mesma origem no chão. Para n = 5, 10 e 15, cortem pedaços de barbante proporcionais a n, a n² e a 2ⁿ (em cm) e estiquem cada um na sua reta.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Oval 11"/>
          <p:cNvSpPr/>
          <p:nvPr/>
        </p:nvSpPr>
        <p:spPr>
          <a:xfrm>
            <a:off x="914400" y="3867840"/>
            <a:ext cx="420120" cy="42012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12"/>
          <p:cNvSpPr/>
          <p:nvPr/>
        </p:nvSpPr>
        <p:spPr>
          <a:xfrm>
            <a:off x="914400" y="38678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00" strike="noStrike" u="none">
                <a:solidFill>
                  <a:srgbClr val="1b3a5c"/>
                </a:solidFill>
                <a:effectLst/>
                <a:uFillTx/>
                <a:latin typeface="Calibri"/>
              </a:rPr>
              <a:t>3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3"/>
          <p:cNvSpPr/>
          <p:nvPr/>
        </p:nvSpPr>
        <p:spPr>
          <a:xfrm>
            <a:off x="1600200" y="377640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Com n = 15: o pedaço linear mede 15 cm, o quadrático 225 cm, e o exponencial passa de 300 metros — normalmente nem cabe na sala.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Oval 14"/>
          <p:cNvSpPr/>
          <p:nvPr/>
        </p:nvSpPr>
        <p:spPr>
          <a:xfrm>
            <a:off x="914400" y="4544640"/>
            <a:ext cx="420120" cy="42012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15"/>
          <p:cNvSpPr/>
          <p:nvPr/>
        </p:nvSpPr>
        <p:spPr>
          <a:xfrm>
            <a:off x="914400" y="45446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00" strike="noStrike" u="none">
                <a:solidFill>
                  <a:srgbClr val="1b3a5c"/>
                </a:solidFill>
                <a:effectLst/>
                <a:uFillTx/>
                <a:latin typeface="Calibri"/>
              </a:rPr>
              <a:t>4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16"/>
          <p:cNvSpPr/>
          <p:nvPr/>
        </p:nvSpPr>
        <p:spPr>
          <a:xfrm>
            <a:off x="1600200" y="445320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A distância entre os barbantes é a mesma distância que separa as curvas do gráfico — só que agora pode ser medida a passos.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7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900" strike="noStrike" u="none">
                <a:solidFill>
                  <a:srgbClr val="9aa5b1"/>
                </a:solidFill>
                <a:effectLst/>
                <a:uFillTx/>
                <a:latin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8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900" strike="noStrike" u="none">
                <a:solidFill>
                  <a:srgbClr val="9aa5b1"/>
                </a:solidFill>
                <a:effectLst/>
                <a:uFillTx/>
                <a:latin typeface="Calibri"/>
              </a:rPr>
              <a:t>22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RECORRÊNCIA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Fibonacci como função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"/>
          <p:cNvSpPr/>
          <p:nvPr/>
        </p:nvSpPr>
        <p:spPr>
          <a:xfrm>
            <a:off x="548640" y="1783080"/>
            <a:ext cx="107895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definição é curta, mas a implementação recursiva ingênua gera uma árvore de chamadas.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 problema não é “usar recursão”. O problema é recalcular os mesmos subproblemas.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"/>
          <p:cNvSpPr/>
          <p:nvPr/>
        </p:nvSpPr>
        <p:spPr>
          <a:xfrm>
            <a:off x="548640" y="3977640"/>
            <a:ext cx="10789560" cy="173700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4"/>
          <p:cNvSpPr/>
          <p:nvPr/>
        </p:nvSpPr>
        <p:spPr>
          <a:xfrm>
            <a:off x="914400" y="3977640"/>
            <a:ext cx="10149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F(0) = 0      F(1) = 1      F(n) = F(n−1) + F(n−2)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5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6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CÓDIGO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Fibonacci recursivo ingênuo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548640" y="1783080"/>
            <a:ext cx="51202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Há poucas linhas de código, mas muitas chamadas repetidas.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Linhas de código não medem complexidade.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estrutura de chamadas é o objeto da análise.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3"/>
          <p:cNvSpPr/>
          <p:nvPr/>
        </p:nvSpPr>
        <p:spPr>
          <a:xfrm>
            <a:off x="5943600" y="1783080"/>
            <a:ext cx="5668920" cy="374868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4"/>
          <p:cNvSpPr/>
          <p:nvPr/>
        </p:nvSpPr>
        <p:spPr>
          <a:xfrm>
            <a:off x="6236280" y="2039040"/>
            <a:ext cx="5083560" cy="32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function fib(n)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if n &lt;= 1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    return n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end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return fib(n-1) + fib(n-2)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end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5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6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0"/>
          <p:cNvSpPr/>
          <p:nvPr/>
        </p:nvSpPr>
        <p:spPr>
          <a:xfrm>
            <a:off x="548640" y="45720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AULA 14  ·  Fibonacci recursivo ingênuo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548640" y="8229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function fib(n) — árvore de chamadas para fib(5)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"/>
          <p:cNvSpPr/>
          <p:nvPr/>
        </p:nvSpPr>
        <p:spPr>
          <a:xfrm>
            <a:off x="548640" y="1600200"/>
            <a:ext cx="11063880" cy="2359800"/>
          </a:xfrm>
          <a:prstGeom prst="roundRect">
            <a:avLst>
              <a:gd name="adj" fmla="val 3106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"/>
          <p:cNvSpPr/>
          <p:nvPr/>
        </p:nvSpPr>
        <p:spPr>
          <a:xfrm>
            <a:off x="868680" y="1828800"/>
            <a:ext cx="10423800" cy="248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function fib(n)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if n &lt;= 1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    return n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end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return fib(n-1) + fib(n-2)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end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# chamada: fib(5)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4"/>
          <p:cNvSpPr/>
          <p:nvPr/>
        </p:nvSpPr>
        <p:spPr>
          <a:xfrm>
            <a:off x="548640" y="4025880"/>
            <a:ext cx="11063880" cy="2094120"/>
          </a:xfrm>
          <a:prstGeom prst="roundRect">
            <a:avLst>
              <a:gd name="adj" fmla="val 5882"/>
            </a:avLst>
          </a:prstGeom>
          <a:solidFill>
            <a:srgbClr val="eef3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5"/>
          <p:cNvSpPr/>
          <p:nvPr/>
        </p:nvSpPr>
        <p:spPr>
          <a:xfrm>
            <a:off x="644760" y="4025880"/>
            <a:ext cx="10515240" cy="19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fib(5)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= fib(4) + fib(3)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fib(4)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= fib(3) + fib(2)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fib(3) (chamada 2×)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= fib(2) + fib(1), em cada uma das duas vezes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fib(2) (chamada 3×)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= fib(1) + fib(0), em cada uma das três vezes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fib(1) (caso-base, chamado 5×)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retorna 1 diretamente, sem nova chamada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fib(0) (caso-base, chamado 3×)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retorna 0 diretamente, sem nova chamada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total de chamadas à função fib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15 (1×fib(5) + 1×fib(4) + 2×fib(3) + 3×fib(2) + 5×fib(1) + 3×fib(0))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fib(5)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5 (resultado final, depois de somar toda a árvore)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6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7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RECOMPUTAÇÃO VISUAL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Árvore de chamadas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"/>
          <p:cNvSpPr/>
          <p:nvPr/>
        </p:nvSpPr>
        <p:spPr>
          <a:xfrm>
            <a:off x="5349240" y="1783080"/>
            <a:ext cx="1051200" cy="50256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"/>
          <p:cNvSpPr/>
          <p:nvPr/>
        </p:nvSpPr>
        <p:spPr>
          <a:xfrm>
            <a:off x="5349240" y="1783080"/>
            <a:ext cx="1051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Fib(5)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4"/>
          <p:cNvSpPr/>
          <p:nvPr/>
        </p:nvSpPr>
        <p:spPr>
          <a:xfrm>
            <a:off x="3291840" y="2606040"/>
            <a:ext cx="1051200" cy="50256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5"/>
          <p:cNvSpPr/>
          <p:nvPr/>
        </p:nvSpPr>
        <p:spPr>
          <a:xfrm>
            <a:off x="3291840" y="2606040"/>
            <a:ext cx="1051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Fib(4)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6"/>
          <p:cNvSpPr/>
          <p:nvPr/>
        </p:nvSpPr>
        <p:spPr>
          <a:xfrm>
            <a:off x="7406640" y="2606040"/>
            <a:ext cx="1051200" cy="50256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7"/>
          <p:cNvSpPr/>
          <p:nvPr/>
        </p:nvSpPr>
        <p:spPr>
          <a:xfrm>
            <a:off x="7406640" y="2606040"/>
            <a:ext cx="1051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b3a5c"/>
                </a:solidFill>
                <a:effectLst/>
                <a:uFillTx/>
                <a:latin typeface="Courier New"/>
                <a:ea typeface="Courier New"/>
              </a:rPr>
              <a:t>Fib(3)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8"/>
          <p:cNvSpPr/>
          <p:nvPr/>
        </p:nvSpPr>
        <p:spPr>
          <a:xfrm flipH="1">
            <a:off x="3817440" y="2286000"/>
            <a:ext cx="2057400" cy="320040"/>
          </a:xfrm>
          <a:prstGeom prst="line">
            <a:avLst/>
          </a:prstGeom>
          <a:ln w="15875">
            <a:solidFill>
              <a:srgbClr val="c4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9"/>
          <p:cNvSpPr/>
          <p:nvPr/>
        </p:nvSpPr>
        <p:spPr>
          <a:xfrm>
            <a:off x="5874840" y="2286000"/>
            <a:ext cx="2057400" cy="320040"/>
          </a:xfrm>
          <a:prstGeom prst="line">
            <a:avLst/>
          </a:prstGeom>
          <a:ln w="15875">
            <a:solidFill>
              <a:srgbClr val="c4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0"/>
          <p:cNvSpPr/>
          <p:nvPr/>
        </p:nvSpPr>
        <p:spPr>
          <a:xfrm>
            <a:off x="1920240" y="3429000"/>
            <a:ext cx="1051200" cy="50256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1"/>
          <p:cNvSpPr/>
          <p:nvPr/>
        </p:nvSpPr>
        <p:spPr>
          <a:xfrm>
            <a:off x="1920240" y="3429000"/>
            <a:ext cx="1051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b3a5c"/>
                </a:solidFill>
                <a:effectLst/>
                <a:uFillTx/>
                <a:latin typeface="Courier New"/>
                <a:ea typeface="Courier New"/>
              </a:rPr>
              <a:t>Fib(3)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2"/>
          <p:cNvSpPr/>
          <p:nvPr/>
        </p:nvSpPr>
        <p:spPr>
          <a:xfrm>
            <a:off x="4663440" y="3429000"/>
            <a:ext cx="1051200" cy="50256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3"/>
          <p:cNvSpPr/>
          <p:nvPr/>
        </p:nvSpPr>
        <p:spPr>
          <a:xfrm>
            <a:off x="4663440" y="3429000"/>
            <a:ext cx="1051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b3a5c"/>
                </a:solidFill>
                <a:effectLst/>
                <a:uFillTx/>
                <a:latin typeface="Courier New"/>
                <a:ea typeface="Courier New"/>
              </a:rPr>
              <a:t>Fib(2)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4"/>
          <p:cNvSpPr/>
          <p:nvPr/>
        </p:nvSpPr>
        <p:spPr>
          <a:xfrm>
            <a:off x="6309360" y="3429000"/>
            <a:ext cx="1051200" cy="50256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5"/>
          <p:cNvSpPr/>
          <p:nvPr/>
        </p:nvSpPr>
        <p:spPr>
          <a:xfrm>
            <a:off x="6309360" y="3429000"/>
            <a:ext cx="1051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b3a5c"/>
                </a:solidFill>
                <a:effectLst/>
                <a:uFillTx/>
                <a:latin typeface="Courier New"/>
                <a:ea typeface="Courier New"/>
              </a:rPr>
              <a:t>Fib(2)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6"/>
          <p:cNvSpPr/>
          <p:nvPr/>
        </p:nvSpPr>
        <p:spPr>
          <a:xfrm>
            <a:off x="8778240" y="3429000"/>
            <a:ext cx="1051200" cy="50256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7"/>
          <p:cNvSpPr/>
          <p:nvPr/>
        </p:nvSpPr>
        <p:spPr>
          <a:xfrm>
            <a:off x="8778240" y="3429000"/>
            <a:ext cx="1051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Fib(1)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8"/>
          <p:cNvSpPr/>
          <p:nvPr/>
        </p:nvSpPr>
        <p:spPr>
          <a:xfrm flipH="1">
            <a:off x="2445840" y="3108960"/>
            <a:ext cx="1371600" cy="320040"/>
          </a:xfrm>
          <a:prstGeom prst="line">
            <a:avLst/>
          </a:prstGeom>
          <a:ln w="15875">
            <a:solidFill>
              <a:srgbClr val="c4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9"/>
          <p:cNvSpPr/>
          <p:nvPr/>
        </p:nvSpPr>
        <p:spPr>
          <a:xfrm>
            <a:off x="3817440" y="3108960"/>
            <a:ext cx="1371600" cy="320040"/>
          </a:xfrm>
          <a:prstGeom prst="line">
            <a:avLst/>
          </a:prstGeom>
          <a:ln w="15875">
            <a:solidFill>
              <a:srgbClr val="c4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0"/>
          <p:cNvSpPr/>
          <p:nvPr/>
        </p:nvSpPr>
        <p:spPr>
          <a:xfrm flipH="1">
            <a:off x="6834960" y="3108960"/>
            <a:ext cx="1097280" cy="320040"/>
          </a:xfrm>
          <a:prstGeom prst="line">
            <a:avLst/>
          </a:prstGeom>
          <a:ln w="15875">
            <a:solidFill>
              <a:srgbClr val="c4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1"/>
          <p:cNvSpPr/>
          <p:nvPr/>
        </p:nvSpPr>
        <p:spPr>
          <a:xfrm>
            <a:off x="7932240" y="3108960"/>
            <a:ext cx="1371600" cy="320040"/>
          </a:xfrm>
          <a:prstGeom prst="line">
            <a:avLst/>
          </a:prstGeom>
          <a:ln w="15875">
            <a:solidFill>
              <a:srgbClr val="c4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2"/>
          <p:cNvSpPr/>
          <p:nvPr/>
        </p:nvSpPr>
        <p:spPr>
          <a:xfrm>
            <a:off x="548640" y="4251960"/>
            <a:ext cx="1051200" cy="50256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3"/>
          <p:cNvSpPr/>
          <p:nvPr/>
        </p:nvSpPr>
        <p:spPr>
          <a:xfrm>
            <a:off x="548640" y="4251960"/>
            <a:ext cx="1051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b3a5c"/>
                </a:solidFill>
                <a:effectLst/>
                <a:uFillTx/>
                <a:latin typeface="Courier New"/>
                <a:ea typeface="Courier New"/>
              </a:rPr>
              <a:t>Fib(2)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4"/>
          <p:cNvSpPr/>
          <p:nvPr/>
        </p:nvSpPr>
        <p:spPr>
          <a:xfrm>
            <a:off x="2148840" y="4251960"/>
            <a:ext cx="1051200" cy="50256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5"/>
          <p:cNvSpPr/>
          <p:nvPr/>
        </p:nvSpPr>
        <p:spPr>
          <a:xfrm>
            <a:off x="2148840" y="4251960"/>
            <a:ext cx="1051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Fib(1)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6"/>
          <p:cNvSpPr/>
          <p:nvPr/>
        </p:nvSpPr>
        <p:spPr>
          <a:xfrm>
            <a:off x="3977640" y="4251960"/>
            <a:ext cx="1051200" cy="50256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7"/>
          <p:cNvSpPr/>
          <p:nvPr/>
        </p:nvSpPr>
        <p:spPr>
          <a:xfrm>
            <a:off x="3977640" y="4251960"/>
            <a:ext cx="1051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Fib(1)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8"/>
          <p:cNvSpPr/>
          <p:nvPr/>
        </p:nvSpPr>
        <p:spPr>
          <a:xfrm>
            <a:off x="5349240" y="4251960"/>
            <a:ext cx="1051200" cy="50256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9"/>
          <p:cNvSpPr/>
          <p:nvPr/>
        </p:nvSpPr>
        <p:spPr>
          <a:xfrm>
            <a:off x="5349240" y="4251960"/>
            <a:ext cx="1051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Fib(0)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30"/>
          <p:cNvSpPr/>
          <p:nvPr/>
        </p:nvSpPr>
        <p:spPr>
          <a:xfrm>
            <a:off x="6720840" y="4251960"/>
            <a:ext cx="1051200" cy="50256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1"/>
          <p:cNvSpPr/>
          <p:nvPr/>
        </p:nvSpPr>
        <p:spPr>
          <a:xfrm>
            <a:off x="6720840" y="4251960"/>
            <a:ext cx="1051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Fib(1)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32"/>
          <p:cNvSpPr/>
          <p:nvPr/>
        </p:nvSpPr>
        <p:spPr>
          <a:xfrm>
            <a:off x="8092440" y="4251960"/>
            <a:ext cx="1051200" cy="50256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3"/>
          <p:cNvSpPr/>
          <p:nvPr/>
        </p:nvSpPr>
        <p:spPr>
          <a:xfrm>
            <a:off x="8092440" y="4251960"/>
            <a:ext cx="1051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Fib(0)</a:t>
            </a:r>
            <a:endParaRPr b="0" lang="pt-B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34"/>
          <p:cNvSpPr/>
          <p:nvPr/>
        </p:nvSpPr>
        <p:spPr>
          <a:xfrm flipH="1">
            <a:off x="1074240" y="3931920"/>
            <a:ext cx="1371600" cy="320040"/>
          </a:xfrm>
          <a:prstGeom prst="line">
            <a:avLst/>
          </a:prstGeom>
          <a:ln w="15875">
            <a:solidFill>
              <a:srgbClr val="c4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35"/>
          <p:cNvSpPr/>
          <p:nvPr/>
        </p:nvSpPr>
        <p:spPr>
          <a:xfrm>
            <a:off x="2445840" y="3931920"/>
            <a:ext cx="228600" cy="320040"/>
          </a:xfrm>
          <a:prstGeom prst="line">
            <a:avLst/>
          </a:prstGeom>
          <a:ln w="15875">
            <a:solidFill>
              <a:srgbClr val="c4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6"/>
          <p:cNvSpPr/>
          <p:nvPr/>
        </p:nvSpPr>
        <p:spPr>
          <a:xfrm flipH="1">
            <a:off x="4503240" y="3931920"/>
            <a:ext cx="685800" cy="320040"/>
          </a:xfrm>
          <a:prstGeom prst="line">
            <a:avLst/>
          </a:prstGeom>
          <a:ln w="15875">
            <a:solidFill>
              <a:srgbClr val="c4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7"/>
          <p:cNvSpPr/>
          <p:nvPr/>
        </p:nvSpPr>
        <p:spPr>
          <a:xfrm>
            <a:off x="5189040" y="3931920"/>
            <a:ext cx="685800" cy="320040"/>
          </a:xfrm>
          <a:prstGeom prst="line">
            <a:avLst/>
          </a:prstGeom>
          <a:ln w="15875">
            <a:solidFill>
              <a:srgbClr val="c4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38"/>
          <p:cNvSpPr/>
          <p:nvPr/>
        </p:nvSpPr>
        <p:spPr>
          <a:xfrm>
            <a:off x="6834960" y="3931920"/>
            <a:ext cx="411480" cy="320040"/>
          </a:xfrm>
          <a:prstGeom prst="line">
            <a:avLst/>
          </a:prstGeom>
          <a:ln w="15875">
            <a:solidFill>
              <a:srgbClr val="c4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39"/>
          <p:cNvSpPr/>
          <p:nvPr/>
        </p:nvSpPr>
        <p:spPr>
          <a:xfrm>
            <a:off x="6834960" y="3931920"/>
            <a:ext cx="1783080" cy="320040"/>
          </a:xfrm>
          <a:prstGeom prst="line">
            <a:avLst/>
          </a:prstGeom>
          <a:ln w="15875">
            <a:solidFill>
              <a:srgbClr val="c4cf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40"/>
          <p:cNvSpPr/>
          <p:nvPr/>
        </p:nvSpPr>
        <p:spPr>
          <a:xfrm>
            <a:off x="548640" y="507492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Fib(3) e Fib(2) aparecem mais de uma vez. Isso é recomputação.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41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42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Box 1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rgbClr val="e8963c"/>
                </a:solidFill>
                <a:effectLst/>
                <a:uFillTx/>
                <a:latin typeface="Calibri"/>
              </a:rPr>
              <a:t>ATIVIDADE DESPLUGADA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2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500" strike="noStrike" u="none">
                <a:solidFill>
                  <a:srgbClr val="1b3a5c"/>
                </a:solidFill>
                <a:effectLst/>
                <a:uFillTx/>
                <a:latin typeface="Cambria"/>
              </a:rPr>
              <a:t>Árvore de chamadas com post-its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3"/>
          <p:cNvSpPr/>
          <p:nvPr/>
        </p:nvSpPr>
        <p:spPr>
          <a:xfrm>
            <a:off x="548640" y="169164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Atividade desplugada — construa a recomputação com as mãos.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ounded Rectangle 4"/>
          <p:cNvSpPr/>
          <p:nvPr/>
        </p:nvSpPr>
        <p:spPr>
          <a:xfrm>
            <a:off x="548640" y="2286000"/>
            <a:ext cx="11063880" cy="37486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Oval 5"/>
          <p:cNvSpPr/>
          <p:nvPr/>
        </p:nvSpPr>
        <p:spPr>
          <a:xfrm>
            <a:off x="914400" y="2514600"/>
            <a:ext cx="420120" cy="42012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6"/>
          <p:cNvSpPr/>
          <p:nvPr/>
        </p:nvSpPr>
        <p:spPr>
          <a:xfrm>
            <a:off x="914400" y="25146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00" strike="noStrike" u="none">
                <a:solidFill>
                  <a:srgbClr val="1b3a5c"/>
                </a:solidFill>
                <a:effectLst/>
                <a:uFillTx/>
                <a:latin typeface="Calibri"/>
              </a:rPr>
              <a:t>1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7"/>
          <p:cNvSpPr/>
          <p:nvPr/>
        </p:nvSpPr>
        <p:spPr>
          <a:xfrm>
            <a:off x="1600200" y="242316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Material: post-its (uma cor por valor de n) e um quadro ou mesa grande.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Oval 8"/>
          <p:cNvSpPr/>
          <p:nvPr/>
        </p:nvSpPr>
        <p:spPr>
          <a:xfrm>
            <a:off x="914400" y="3191400"/>
            <a:ext cx="420120" cy="42012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TextBox 9"/>
          <p:cNvSpPr/>
          <p:nvPr/>
        </p:nvSpPr>
        <p:spPr>
          <a:xfrm>
            <a:off x="914400" y="31914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00" strike="noStrike" u="none">
                <a:solidFill>
                  <a:srgbClr val="1b3a5c"/>
                </a:solidFill>
                <a:effectLst/>
                <a:uFillTx/>
                <a:latin typeface="Calibri"/>
              </a:rPr>
              <a:t>2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10"/>
          <p:cNvSpPr/>
          <p:nvPr/>
        </p:nvSpPr>
        <p:spPr>
          <a:xfrm>
            <a:off x="1600200" y="309996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Em duplas, desenhem a árvore de chamadas de fib(5): um post-it para cada chamada — Fib(5), Fib(4), Fib(3)…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Oval 11"/>
          <p:cNvSpPr/>
          <p:nvPr/>
        </p:nvSpPr>
        <p:spPr>
          <a:xfrm>
            <a:off x="914400" y="3867840"/>
            <a:ext cx="420120" cy="42012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12"/>
          <p:cNvSpPr/>
          <p:nvPr/>
        </p:nvSpPr>
        <p:spPr>
          <a:xfrm>
            <a:off x="914400" y="38678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00" strike="noStrike" u="none">
                <a:solidFill>
                  <a:srgbClr val="1b3a5c"/>
                </a:solidFill>
                <a:effectLst/>
                <a:uFillTx/>
                <a:latin typeface="Calibri"/>
              </a:rPr>
              <a:t>3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13"/>
          <p:cNvSpPr/>
          <p:nvPr/>
        </p:nvSpPr>
        <p:spPr>
          <a:xfrm>
            <a:off x="1600200" y="377640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Toda vez que um valor de n já apareceu antes, colem o novo post-it em cima do anterior, não ao lado.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Oval 14"/>
          <p:cNvSpPr/>
          <p:nvPr/>
        </p:nvSpPr>
        <p:spPr>
          <a:xfrm>
            <a:off x="914400" y="4544640"/>
            <a:ext cx="420120" cy="42012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15"/>
          <p:cNvSpPr/>
          <p:nvPr/>
        </p:nvSpPr>
        <p:spPr>
          <a:xfrm>
            <a:off x="914400" y="45446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00" strike="noStrike" u="none">
                <a:solidFill>
                  <a:srgbClr val="1b3a5c"/>
                </a:solidFill>
                <a:effectLst/>
                <a:uFillTx/>
                <a:latin typeface="Calibri"/>
              </a:rPr>
              <a:t>4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16"/>
          <p:cNvSpPr/>
          <p:nvPr/>
        </p:nvSpPr>
        <p:spPr>
          <a:xfrm>
            <a:off x="1600200" y="445320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A pilha de post-its sobrepostos mostra fisicamente o quanto foi recomputado — e antecipa a ideia de memoização.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17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900" strike="noStrike" u="none">
                <a:solidFill>
                  <a:srgbClr val="9aa5b1"/>
                </a:solidFill>
                <a:effectLst/>
                <a:uFillTx/>
                <a:latin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18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900" strike="noStrike" u="none">
                <a:solidFill>
                  <a:srgbClr val="9aa5b1"/>
                </a:solidFill>
                <a:effectLst/>
                <a:uFillTx/>
                <a:latin typeface="Calibri"/>
              </a:rPr>
              <a:t>27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RECORRÊNCIA DE CUSTO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Custo do Fibonacci ingênuo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"/>
          <p:cNvSpPr/>
          <p:nvPr/>
        </p:nvSpPr>
        <p:spPr>
          <a:xfrm>
            <a:off x="548640" y="1783080"/>
            <a:ext cx="107895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Crescimento aproximado: T(n) = T(n−1) + T(n−2) + 1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soma das duas chamadas gera uma expansão em árvore.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φ = (1+√5)/2 ≈ 1,618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"/>
          <p:cNvSpPr/>
          <p:nvPr/>
        </p:nvSpPr>
        <p:spPr>
          <a:xfrm>
            <a:off x="548640" y="3977640"/>
            <a:ext cx="10789560" cy="173700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4"/>
          <p:cNvSpPr/>
          <p:nvPr/>
        </p:nvSpPr>
        <p:spPr>
          <a:xfrm>
            <a:off x="914400" y="3977640"/>
            <a:ext cx="10149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T(n) = T(n−1) + T(n−2) + 1     →     O(φ^n)</a:t>
            </a:r>
            <a:endParaRPr b="0" lang="pt-BR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5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6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MUDANÇA ESTRUTURAL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Polinomial versus exponencial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0" name="Chart 0"/>
          <p:cNvGraphicFramePr/>
          <p:nvPr/>
        </p:nvGraphicFramePr>
        <p:xfrm>
          <a:off x="4754880" y="1828800"/>
          <a:ext cx="6766200" cy="420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1" name="Text 2"/>
          <p:cNvSpPr/>
          <p:nvPr/>
        </p:nvSpPr>
        <p:spPr>
          <a:xfrm>
            <a:off x="548640" y="2011680"/>
            <a:ext cx="393156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Em n², a variável está na base.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Em φ^n, a variável está no expoente.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Essa diferença explica a explosão.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3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4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PRECISÃO CONCEITUAL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Recursão não é sinônimo de explosão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"/>
          <p:cNvSpPr/>
          <p:nvPr/>
        </p:nvSpPr>
        <p:spPr>
          <a:xfrm>
            <a:off x="548640" y="1965960"/>
            <a:ext cx="3443760" cy="301716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3"/>
          <p:cNvSpPr/>
          <p:nvPr/>
        </p:nvSpPr>
        <p:spPr>
          <a:xfrm>
            <a:off x="822960" y="2194560"/>
            <a:ext cx="2895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Linear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4"/>
          <p:cNvSpPr/>
          <p:nvPr/>
        </p:nvSpPr>
        <p:spPr>
          <a:xfrm>
            <a:off x="822960" y="2834640"/>
            <a:ext cx="28951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0000"/>
              </a:lnSpc>
              <a:spcAft>
                <a:spcPts val="7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T(n) = T(n−1) + 1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7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O(n)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5"/>
          <p:cNvSpPr/>
          <p:nvPr/>
        </p:nvSpPr>
        <p:spPr>
          <a:xfrm>
            <a:off x="4358520" y="1965960"/>
            <a:ext cx="3443760" cy="301716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6"/>
          <p:cNvSpPr/>
          <p:nvPr/>
        </p:nvSpPr>
        <p:spPr>
          <a:xfrm>
            <a:off x="4632840" y="2194560"/>
            <a:ext cx="2895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Logarítmica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7"/>
          <p:cNvSpPr/>
          <p:nvPr/>
        </p:nvSpPr>
        <p:spPr>
          <a:xfrm>
            <a:off x="4632840" y="2834640"/>
            <a:ext cx="28951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0000"/>
              </a:lnSpc>
              <a:spcAft>
                <a:spcPts val="7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T(n) = T(n/2) + 1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7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O(log n)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8"/>
          <p:cNvSpPr/>
          <p:nvPr/>
        </p:nvSpPr>
        <p:spPr>
          <a:xfrm>
            <a:off x="8168760" y="1965960"/>
            <a:ext cx="3443760" cy="301716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9"/>
          <p:cNvSpPr/>
          <p:nvPr/>
        </p:nvSpPr>
        <p:spPr>
          <a:xfrm>
            <a:off x="8443080" y="2194560"/>
            <a:ext cx="2895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Com sobreposição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0"/>
          <p:cNvSpPr/>
          <p:nvPr/>
        </p:nvSpPr>
        <p:spPr>
          <a:xfrm>
            <a:off x="8443080" y="2834640"/>
            <a:ext cx="289512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0000"/>
              </a:lnSpc>
              <a:spcAft>
                <a:spcPts val="7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T(n) = T(n−1) + T(n−2) + 1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7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O(φ^n)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1"/>
          <p:cNvSpPr/>
          <p:nvPr/>
        </p:nvSpPr>
        <p:spPr>
          <a:xfrm>
            <a:off x="548640" y="525780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estrutura dos subproblemas determina o crescimento.</a:t>
            </a:r>
            <a:endParaRPr b="0" lang="pt-B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2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3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ELIMINAR RECOMPUTAÇÃO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Programação dinâmica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2"/>
          <p:cNvSpPr/>
          <p:nvPr/>
        </p:nvSpPr>
        <p:spPr>
          <a:xfrm>
            <a:off x="548640" y="1965960"/>
            <a:ext cx="5348880" cy="301716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3"/>
          <p:cNvSpPr/>
          <p:nvPr/>
        </p:nvSpPr>
        <p:spPr>
          <a:xfrm>
            <a:off x="822960" y="2194560"/>
            <a:ext cx="4800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Sem memória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4"/>
          <p:cNvSpPr/>
          <p:nvPr/>
        </p:nvSpPr>
        <p:spPr>
          <a:xfrm>
            <a:off x="822960" y="2834640"/>
            <a:ext cx="48002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0000"/>
              </a:lnSpc>
              <a:spcAft>
                <a:spcPts val="7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 mesmo subproblema é resolvido várias vezes.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5"/>
          <p:cNvSpPr/>
          <p:nvPr/>
        </p:nvSpPr>
        <p:spPr>
          <a:xfrm>
            <a:off x="6263640" y="1965960"/>
            <a:ext cx="5348880" cy="301716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6"/>
          <p:cNvSpPr/>
          <p:nvPr/>
        </p:nvSpPr>
        <p:spPr>
          <a:xfrm>
            <a:off x="6537960" y="2194560"/>
            <a:ext cx="4800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Com memoização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7"/>
          <p:cNvSpPr/>
          <p:nvPr/>
        </p:nvSpPr>
        <p:spPr>
          <a:xfrm>
            <a:off x="6537960" y="2834640"/>
            <a:ext cx="48002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7840" indent="-177840" defTabSz="914400">
              <a:lnSpc>
                <a:spcPct val="120000"/>
              </a:lnSpc>
              <a:spcAft>
                <a:spcPts val="7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Cada estado F(i) é calculado uma única vez e armazenado.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20000"/>
              </a:lnSpc>
              <a:spcAft>
                <a:spcPts val="7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Custo: O(n)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8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9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Box 1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rgbClr val="e8963c"/>
                </a:solidFill>
                <a:effectLst/>
                <a:uFillTx/>
                <a:latin typeface="Calibri"/>
              </a:rPr>
              <a:t>ATIVIDADE DESPLUGADA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2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500" strike="noStrike" u="none">
                <a:solidFill>
                  <a:srgbClr val="1b3a5c"/>
                </a:solidFill>
                <a:effectLst/>
                <a:uFillTx/>
                <a:latin typeface="Cambria"/>
              </a:rPr>
              <a:t>Memoização na lousa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3"/>
          <p:cNvSpPr/>
          <p:nvPr/>
        </p:nvSpPr>
        <p:spPr>
          <a:xfrm>
            <a:off x="548640" y="169164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Atividade desplugada — sinta a diferença entre recalcular e consultar.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ounded Rectangle 4"/>
          <p:cNvSpPr/>
          <p:nvPr/>
        </p:nvSpPr>
        <p:spPr>
          <a:xfrm>
            <a:off x="548640" y="2286000"/>
            <a:ext cx="11063880" cy="37486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Oval 5"/>
          <p:cNvSpPr/>
          <p:nvPr/>
        </p:nvSpPr>
        <p:spPr>
          <a:xfrm>
            <a:off x="914400" y="2514600"/>
            <a:ext cx="420120" cy="42012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Box 6"/>
          <p:cNvSpPr/>
          <p:nvPr/>
        </p:nvSpPr>
        <p:spPr>
          <a:xfrm>
            <a:off x="914400" y="25146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00" strike="noStrike" u="none">
                <a:solidFill>
                  <a:srgbClr val="1b3a5c"/>
                </a:solidFill>
                <a:effectLst/>
                <a:uFillTx/>
                <a:latin typeface="Calibri"/>
              </a:rPr>
              <a:t>1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7"/>
          <p:cNvSpPr/>
          <p:nvPr/>
        </p:nvSpPr>
        <p:spPr>
          <a:xfrm>
            <a:off x="1600200" y="242316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Material: um quadro com uma tabela vazia de F(0) a F(10).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Oval 8"/>
          <p:cNvSpPr/>
          <p:nvPr/>
        </p:nvSpPr>
        <p:spPr>
          <a:xfrm>
            <a:off x="914400" y="3191400"/>
            <a:ext cx="420120" cy="42012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TextBox 9"/>
          <p:cNvSpPr/>
          <p:nvPr/>
        </p:nvSpPr>
        <p:spPr>
          <a:xfrm>
            <a:off x="914400" y="31914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00" strike="noStrike" u="none">
                <a:solidFill>
                  <a:srgbClr val="1b3a5c"/>
                </a:solidFill>
                <a:effectLst/>
                <a:uFillTx/>
                <a:latin typeface="Calibri"/>
              </a:rPr>
              <a:t>2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10"/>
          <p:cNvSpPr/>
          <p:nvPr/>
        </p:nvSpPr>
        <p:spPr>
          <a:xfrm>
            <a:off x="1600200" y="309996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Um aluno é o “processador”: para calcular F(n), ele deve olhar a tabela antes de fazer qualquer conta.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Oval 11"/>
          <p:cNvSpPr/>
          <p:nvPr/>
        </p:nvSpPr>
        <p:spPr>
          <a:xfrm>
            <a:off x="914400" y="3867840"/>
            <a:ext cx="420120" cy="42012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12"/>
          <p:cNvSpPr/>
          <p:nvPr/>
        </p:nvSpPr>
        <p:spPr>
          <a:xfrm>
            <a:off x="914400" y="38678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00" strike="noStrike" u="none">
                <a:solidFill>
                  <a:srgbClr val="1b3a5c"/>
                </a:solidFill>
                <a:effectLst/>
                <a:uFillTx/>
                <a:latin typeface="Calibri"/>
              </a:rPr>
              <a:t>3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13"/>
          <p:cNvSpPr/>
          <p:nvPr/>
        </p:nvSpPr>
        <p:spPr>
          <a:xfrm>
            <a:off x="1600200" y="377640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Se a casa já está preenchida, ele só aponta para o valor — não recalcula. Se está vazia, calcula, escreve e segue.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Oval 14"/>
          <p:cNvSpPr/>
          <p:nvPr/>
        </p:nvSpPr>
        <p:spPr>
          <a:xfrm>
            <a:off x="914400" y="4544640"/>
            <a:ext cx="420120" cy="42012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Box 15"/>
          <p:cNvSpPr/>
          <p:nvPr/>
        </p:nvSpPr>
        <p:spPr>
          <a:xfrm>
            <a:off x="914400" y="45446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300" strike="noStrike" u="none">
                <a:solidFill>
                  <a:srgbClr val="1b3a5c"/>
                </a:solidFill>
                <a:effectLst/>
                <a:uFillTx/>
                <a:latin typeface="Calibri"/>
              </a:rPr>
              <a:t>4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16"/>
          <p:cNvSpPr/>
          <p:nvPr/>
        </p:nvSpPr>
        <p:spPr>
          <a:xfrm>
            <a:off x="1600200" y="445320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44546a"/>
                </a:solidFill>
                <a:effectLst/>
                <a:uFillTx/>
                <a:latin typeface="Calibri"/>
              </a:rPr>
              <a:t>Cronometre as duas versões — recalculando tudo × consultando a tabela — a diferença de tempo é a diferença entre recursão ingênua e programação dinâmica.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17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900" strike="noStrike" u="none">
                <a:solidFill>
                  <a:srgbClr val="9aa5b1"/>
                </a:solidFill>
                <a:effectLst/>
                <a:uFillTx/>
                <a:latin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18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900" strike="noStrike" u="none">
                <a:solidFill>
                  <a:srgbClr val="9aa5b1"/>
                </a:solidFill>
                <a:effectLst/>
                <a:uFillTx/>
                <a:latin typeface="Calibri"/>
              </a:rPr>
              <a:t>32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MESMA FUNÇÃO, OUTRA ESTRATÉGIA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Fibonacci iterativo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2"/>
          <p:cNvSpPr/>
          <p:nvPr/>
        </p:nvSpPr>
        <p:spPr>
          <a:xfrm>
            <a:off x="548640" y="1783080"/>
            <a:ext cx="51202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 algoritmo percorre os estados de 0 até n.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Tempo: O(n)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Memória: O(1)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Não há recomputação.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3"/>
          <p:cNvSpPr/>
          <p:nvPr/>
        </p:nvSpPr>
        <p:spPr>
          <a:xfrm>
            <a:off x="5943600" y="1783080"/>
            <a:ext cx="5668920" cy="374868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4"/>
          <p:cNvSpPr/>
          <p:nvPr/>
        </p:nvSpPr>
        <p:spPr>
          <a:xfrm>
            <a:off x="6236280" y="2039040"/>
            <a:ext cx="5083560" cy="32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function fib_iter(n)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a, b = 0, 1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for i in 2:n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    a, b = b, a + b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end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return n == 0 ? 0 : b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end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5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6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 0"/>
          <p:cNvSpPr/>
          <p:nvPr/>
        </p:nvSpPr>
        <p:spPr>
          <a:xfrm>
            <a:off x="548640" y="45720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AULA 14  ·  Fibonacci iterativo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"/>
          <p:cNvSpPr/>
          <p:nvPr/>
        </p:nvSpPr>
        <p:spPr>
          <a:xfrm>
            <a:off x="548640" y="8229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function fib_iter(n) — passo a passo para fib_iter(5)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2"/>
          <p:cNvSpPr/>
          <p:nvPr/>
        </p:nvSpPr>
        <p:spPr>
          <a:xfrm>
            <a:off x="548640" y="1600200"/>
            <a:ext cx="11063880" cy="2539800"/>
          </a:xfrm>
          <a:prstGeom prst="roundRect">
            <a:avLst>
              <a:gd name="adj" fmla="val 2809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3"/>
          <p:cNvSpPr/>
          <p:nvPr/>
        </p:nvSpPr>
        <p:spPr>
          <a:xfrm>
            <a:off x="868680" y="1828800"/>
            <a:ext cx="10423800" cy="279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function fib_iter(n)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a, b = 0, 1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for i in 2:n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    a, b = b, a + b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end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return n == 0 ? 0 : b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end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# chamada: fib_iter(5)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4"/>
          <p:cNvSpPr/>
          <p:nvPr/>
        </p:nvSpPr>
        <p:spPr>
          <a:xfrm>
            <a:off x="540000" y="4320000"/>
            <a:ext cx="11063880" cy="1783440"/>
          </a:xfrm>
          <a:prstGeom prst="roundRect">
            <a:avLst>
              <a:gd name="adj" fmla="val 7843"/>
            </a:avLst>
          </a:prstGeom>
          <a:solidFill>
            <a:srgbClr val="eef3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5"/>
          <p:cNvSpPr/>
          <p:nvPr/>
        </p:nvSpPr>
        <p:spPr>
          <a:xfrm>
            <a:off x="720000" y="450000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a, b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começam em 0, 1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i = 2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a, b = 1, 0+1  →  a=1, b=1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i = 3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a, b = 1, 1+1  →  a=1, b=2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i = 4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a, b = 2, 1+2  →  a=2, b=3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i = 5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a, b = 3, 2+3  →  a=3, b=5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fib_iter(5)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5 (n ≠ 0, então retorna b)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6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7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N = 30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Comparando estratégias para Fibonacci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3" name="Chart 0"/>
          <p:cNvGraphicFramePr/>
          <p:nvPr/>
        </p:nvGraphicFramePr>
        <p:xfrm>
          <a:off x="4754880" y="1828800"/>
          <a:ext cx="6766200" cy="420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64" name="Text 2"/>
          <p:cNvSpPr/>
          <p:nvPr/>
        </p:nvSpPr>
        <p:spPr>
          <a:xfrm>
            <a:off x="548640" y="2011680"/>
            <a:ext cx="393156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programação dinâmica não muda a definição de Fibonacci.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Ela muda a organização do cálculo.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Resultado: de exponencial para linear.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3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4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POR QUE USAR NA AULA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Julia + Pluto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2"/>
          <p:cNvSpPr/>
          <p:nvPr/>
        </p:nvSpPr>
        <p:spPr>
          <a:xfrm>
            <a:off x="548640" y="1783080"/>
            <a:ext cx="1078956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Pluto permite transformar complexidade em experimento visual.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Sliders  →  alteram n em tempo real.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Gráficos  →  mostram crescimento.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Código  →  gera a própria evidência.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3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4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ROTEIRO EXECUTÁVEL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Estrutura do notebook Pluto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2"/>
          <p:cNvSpPr/>
          <p:nvPr/>
        </p:nvSpPr>
        <p:spPr>
          <a:xfrm>
            <a:off x="548640" y="1783080"/>
            <a:ext cx="51202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 notebook acompanha a apresentação e contém quatro experimentos.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1. Contagem de operações em laços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2. Curvas n, n² e n³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3. Fibonacci: recursivo, memoizado e iterativo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4. Custo marginal ΔT(n)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3"/>
          <p:cNvSpPr/>
          <p:nvPr/>
        </p:nvSpPr>
        <p:spPr>
          <a:xfrm>
            <a:off x="5943600" y="1783080"/>
            <a:ext cx="5668920" cy="374868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4"/>
          <p:cNvSpPr/>
          <p:nvPr/>
        </p:nvSpPr>
        <p:spPr>
          <a:xfrm>
            <a:off x="6236280" y="2039040"/>
            <a:ext cx="5083560" cy="32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using PlutoUI, Plots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@bind n Slider(1:100, default=20)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plot(ns, [ns, ns.^2, ns.^3])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5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6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EXPERIMENTO 1: LAÇOS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Contar, não cronometrar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2"/>
          <p:cNvSpPr/>
          <p:nvPr/>
        </p:nvSpPr>
        <p:spPr>
          <a:xfrm>
            <a:off x="548640" y="1783080"/>
            <a:ext cx="51202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 aluno altera n e observa a diferença entre crescimento linear, quadrático e cúbico.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tabela é uma ponte entre código e função de custo.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3"/>
          <p:cNvSpPr/>
          <p:nvPr/>
        </p:nvSpPr>
        <p:spPr>
          <a:xfrm>
            <a:off x="5943600" y="1783080"/>
            <a:ext cx="5668920" cy="374868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4"/>
          <p:cNvSpPr/>
          <p:nvPr/>
        </p:nvSpPr>
        <p:spPr>
          <a:xfrm>
            <a:off x="6236280" y="2039040"/>
            <a:ext cx="5083560" cy="32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ops_linear(n) = n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ops_quadratico(n) = n^2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ops_cubico(n) = n^3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[n ops_linear(n) ops_quadratico(n) ops_cubico(n)]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5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6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 0"/>
          <p:cNvSpPr/>
          <p:nvPr/>
        </p:nvSpPr>
        <p:spPr>
          <a:xfrm>
            <a:off x="548640" y="45720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AULA 14  ·  Experimento 1: laços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"/>
          <p:cNvSpPr/>
          <p:nvPr/>
        </p:nvSpPr>
        <p:spPr>
          <a:xfrm>
            <a:off x="548640" y="8229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ops_linear, ops_quadratico, ops_cubico — para n = 20 (valor padrão do slider)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"/>
          <p:cNvSpPr/>
          <p:nvPr/>
        </p:nvSpPr>
        <p:spPr>
          <a:xfrm>
            <a:off x="548640" y="1600200"/>
            <a:ext cx="11063880" cy="2011320"/>
          </a:xfrm>
          <a:prstGeom prst="roundRect">
            <a:avLst>
              <a:gd name="adj" fmla="val 4545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3"/>
          <p:cNvSpPr/>
          <p:nvPr/>
        </p:nvSpPr>
        <p:spPr>
          <a:xfrm>
            <a:off x="868680" y="1828800"/>
            <a:ext cx="104238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ops_linear(n) = n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ops_quadratico(n) = n^2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ops_cubico(n) = n^3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[n ops_linear(n) ops_quadratico(n) ops_cubico(n)]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4"/>
          <p:cNvSpPr/>
          <p:nvPr/>
        </p:nvSpPr>
        <p:spPr>
          <a:xfrm>
            <a:off x="548640" y="3813120"/>
            <a:ext cx="11063880" cy="1691280"/>
          </a:xfrm>
          <a:prstGeom prst="roundRect">
            <a:avLst>
              <a:gd name="adj" fmla="val 4324"/>
            </a:avLst>
          </a:prstGeom>
          <a:solidFill>
            <a:srgbClr val="eef3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5"/>
          <p:cNvSpPr/>
          <p:nvPr/>
        </p:nvSpPr>
        <p:spPr>
          <a:xfrm>
            <a:off x="822960" y="3950280"/>
            <a:ext cx="105152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n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20 (valor padrão do slider)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ops_linear(20)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20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ops_quadratico(20)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20² = 400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ops_cubico(20)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20³ = 8000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resultado (vetor-linha)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[20  20  400  8000]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6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7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EXPERIMENTO 2: CURVAS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Visualização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6" name="Chart 0"/>
          <p:cNvGraphicFramePr/>
          <p:nvPr/>
        </p:nvGraphicFramePr>
        <p:xfrm>
          <a:off x="4754880" y="1828800"/>
          <a:ext cx="6766200" cy="420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97" name="Text 2"/>
          <p:cNvSpPr/>
          <p:nvPr/>
        </p:nvSpPr>
        <p:spPr>
          <a:xfrm>
            <a:off x="548640" y="2011680"/>
            <a:ext cx="393156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visualização torna perceptível a diferença entre “funcionar” e “escalar”.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30000"/>
              </a:lnSpc>
              <a:spcAft>
                <a:spcPts val="1400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 gráfico é gerado a partir das funções de custo.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3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4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40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EXPERIMENTO 3: FIBONACCI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Contagem de chamadas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"/>
          <p:cNvSpPr/>
          <p:nvPr/>
        </p:nvSpPr>
        <p:spPr>
          <a:xfrm>
            <a:off x="548640" y="1783080"/>
            <a:ext cx="51202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Para evitar travar a aula, o notebook modela a quantidade de chamadas pela recorrência de custo.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 objetivo não é esperar o algoritmo terminar, mas entender por que ele explode.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3"/>
          <p:cNvSpPr/>
          <p:nvPr/>
        </p:nvSpPr>
        <p:spPr>
          <a:xfrm>
            <a:off x="5943600" y="1783080"/>
            <a:ext cx="5668920" cy="374868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4"/>
          <p:cNvSpPr/>
          <p:nvPr/>
        </p:nvSpPr>
        <p:spPr>
          <a:xfrm>
            <a:off x="6236280" y="2039040"/>
            <a:ext cx="5083560" cy="32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calls_naive(n) =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n &lt;= 1 ? 1 :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calls_naive(n-1) +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calls_naive(n-2) + 1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fib_iter_ops(n) = max(n, 1)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5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6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41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ext 0"/>
          <p:cNvSpPr/>
          <p:nvPr/>
        </p:nvSpPr>
        <p:spPr>
          <a:xfrm>
            <a:off x="548640" y="45720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AULA 14  ·  Experimento 3: Fibonacci (contagem de chamadas)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"/>
          <p:cNvSpPr/>
          <p:nvPr/>
        </p:nvSpPr>
        <p:spPr>
          <a:xfrm>
            <a:off x="548640" y="8229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calls_naive(n) — quantas chamadas a recorrência prevê, para n = 5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2"/>
          <p:cNvSpPr/>
          <p:nvPr/>
        </p:nvSpPr>
        <p:spPr>
          <a:xfrm>
            <a:off x="548640" y="1600200"/>
            <a:ext cx="11063880" cy="1389600"/>
          </a:xfrm>
          <a:prstGeom prst="roundRect">
            <a:avLst>
              <a:gd name="adj" fmla="val 6579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3"/>
          <p:cNvSpPr/>
          <p:nvPr/>
        </p:nvSpPr>
        <p:spPr>
          <a:xfrm>
            <a:off x="868680" y="1828800"/>
            <a:ext cx="10423800" cy="93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calls_naive(n) = n &lt;= 1 ? 1 : calls_naive(n-1) + calls_naive(n-2) + 1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# chamada: calls_naive(5)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4"/>
          <p:cNvSpPr/>
          <p:nvPr/>
        </p:nvSpPr>
        <p:spPr>
          <a:xfrm>
            <a:off x="548640" y="3191400"/>
            <a:ext cx="11063880" cy="1965600"/>
          </a:xfrm>
          <a:prstGeom prst="roundRect">
            <a:avLst>
              <a:gd name="adj" fmla="val 3721"/>
            </a:avLst>
          </a:prstGeom>
          <a:solidFill>
            <a:srgbClr val="eef3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5"/>
          <p:cNvSpPr/>
          <p:nvPr/>
        </p:nvSpPr>
        <p:spPr>
          <a:xfrm>
            <a:off x="822960" y="3328560"/>
            <a:ext cx="1051524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calls_naive(0)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1 (caso-base)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calls_naive(1)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1 (caso-base)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calls_naive(2)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calls_naive(1) + calls_naive(0) + 1 = 1 + 1 + 1 = 3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calls_naive(3)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calls_naive(2) + calls_naive(1) + 1 = 3 + 1 + 1 = 5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calls_naive(4)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calls_naive(3) + calls_naive(2) + 1 = 5 + 3 + 1 = 9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calls_naive(5)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calls_naive(4) + calls_naive(3) + 1 = 9 + 5 + 1 = 15 (bate com o total de chamadas contado na árvore de fib(5))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6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7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EXPERIMENTO 4: CUSTO MARGINAL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ΔT(n)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2"/>
          <p:cNvSpPr/>
          <p:nvPr/>
        </p:nvSpPr>
        <p:spPr>
          <a:xfrm>
            <a:off x="548640" y="1783080"/>
            <a:ext cx="51202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derivada discreta mostra o custo de aumentar a entrada em uma unidade.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25000"/>
              </a:lnSpc>
              <a:spcAft>
                <a:spcPts val="1199"/>
              </a:spcAft>
              <a:buClr>
                <a:srgbClr val="44546a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Essa é a ponte com coeficiente angular, inclinação e custo marginal.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3"/>
          <p:cNvSpPr/>
          <p:nvPr/>
        </p:nvSpPr>
        <p:spPr>
          <a:xfrm>
            <a:off x="5943600" y="1783080"/>
            <a:ext cx="5668920" cy="3748680"/>
          </a:xfrm>
          <a:prstGeom prst="roundRect">
            <a:avLst>
              <a:gd name="adj" fmla="val 2927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4"/>
          <p:cNvSpPr/>
          <p:nvPr/>
        </p:nvSpPr>
        <p:spPr>
          <a:xfrm>
            <a:off x="6236280" y="2039040"/>
            <a:ext cx="5083560" cy="32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delta(T, n) = T(n) - T(n-1)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linear(n) = 3n + 5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quadratica(n) = n^2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plot(ns[2:end], [delta.(Ref(linear), ns[2:end]),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    delta.(Ref(quadratica), ns[2:end])])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5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6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Text 0"/>
          <p:cNvSpPr/>
          <p:nvPr/>
        </p:nvSpPr>
        <p:spPr>
          <a:xfrm>
            <a:off x="548640" y="45720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AULA 14  ·  Experimento 4: custo marginal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"/>
          <p:cNvSpPr/>
          <p:nvPr/>
        </p:nvSpPr>
        <p:spPr>
          <a:xfrm>
            <a:off x="548640" y="8229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delta(T, n) — para as funções linear e quadratica, em n = 4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2"/>
          <p:cNvSpPr/>
          <p:nvPr/>
        </p:nvSpPr>
        <p:spPr>
          <a:xfrm>
            <a:off x="548640" y="1600200"/>
            <a:ext cx="11063880" cy="2633040"/>
          </a:xfrm>
          <a:prstGeom prst="roundRect">
            <a:avLst>
              <a:gd name="adj" fmla="val 3472"/>
            </a:avLst>
          </a:prstGeom>
          <a:solidFill>
            <a:srgbClr val="1b3a5c"/>
          </a:solidFill>
          <a:ln w="0">
            <a:noFill/>
          </a:ln>
          <a:effectLst>
            <a:outerShdw algn="bl" blurRad="76320" dir="5400000" dist="38160" kx="0" ky="0" rotWithShape="0" sx="100000" sy="100000">
              <a:srgbClr val="44546a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3"/>
          <p:cNvSpPr/>
          <p:nvPr/>
        </p:nvSpPr>
        <p:spPr>
          <a:xfrm>
            <a:off x="868680" y="1828800"/>
            <a:ext cx="10423800" cy="21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delta(T, n) = T(n) - T(n-1)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linear(n) = 3n + 5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quadratica(n) = n^2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delta(linear, 4)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eef3"/>
                </a:solidFill>
                <a:effectLst/>
                <a:uFillTx/>
                <a:latin typeface="Courier New"/>
                <a:ea typeface="Courier New"/>
              </a:rPr>
              <a:t>delta(quadratica, 4)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4"/>
          <p:cNvSpPr/>
          <p:nvPr/>
        </p:nvSpPr>
        <p:spPr>
          <a:xfrm>
            <a:off x="548640" y="4434840"/>
            <a:ext cx="11063880" cy="1554120"/>
          </a:xfrm>
          <a:prstGeom prst="roundRect">
            <a:avLst>
              <a:gd name="adj" fmla="val 4706"/>
            </a:avLst>
          </a:prstGeom>
          <a:solidFill>
            <a:srgbClr val="eef3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5"/>
          <p:cNvSpPr/>
          <p:nvPr/>
        </p:nvSpPr>
        <p:spPr>
          <a:xfrm>
            <a:off x="822960" y="4572000"/>
            <a:ext cx="10515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delta(T, n)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recebe uma função T como argumento e calcula T(n) − T(n−1)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linear(4)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3×4+5 = 17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linear(3)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3×3+5 = 14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delta(linear, 4)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17 − 14 = 3 (confere com ΔT(n)=3 da tabela “T(n)=3n+5”)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quadratica(4)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4² = 16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quadratica(3)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3² = 9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2c7a8c"/>
                </a:solidFill>
                <a:effectLst/>
                <a:uFillTx/>
                <a:latin typeface="Courier New"/>
                <a:ea typeface="Courier New"/>
              </a:rPr>
              <a:t>delta(quadratica, 4)</a:t>
            </a:r>
            <a:r>
              <a:rPr b="0" lang="en-US" sz="1250" strike="noStrike" u="none">
                <a:solidFill>
                  <a:srgbClr val="44546a"/>
                </a:solidFill>
                <a:effectLst/>
                <a:uFillTx/>
                <a:latin typeface="Courier New"/>
                <a:ea typeface="Courier New"/>
              </a:rPr>
              <a:t>  →  16 − 9 = 7 (confere com ΔT(n)=7 da linha n=4 da tabela “T(n)=n²”)</a:t>
            </a:r>
            <a:endParaRPr b="0" lang="pt-B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6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7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44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Text 0"/>
          <p:cNvSpPr/>
          <p:nvPr/>
        </p:nvSpPr>
        <p:spPr>
          <a:xfrm>
            <a:off x="548640" y="4114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963c"/>
                </a:solidFill>
                <a:effectLst/>
                <a:uFillTx/>
                <a:latin typeface="Calibri"/>
                <a:ea typeface="Calibri"/>
              </a:rPr>
              <a:t>ESTIMATIVA DURANTE A ESCRITA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"/>
          <p:cNvSpPr/>
          <p:nvPr/>
        </p:nvSpPr>
        <p:spPr>
          <a:xfrm>
            <a:off x="548640" y="749880"/>
            <a:ext cx="10789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b3a5c"/>
                </a:solidFill>
                <a:effectLst/>
                <a:uFillTx/>
                <a:latin typeface="Cambria"/>
                <a:ea typeface="Cambria"/>
              </a:rPr>
              <a:t>Atividade em sala</a:t>
            </a:r>
            <a:endParaRPr b="0" lang="pt-B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2"/>
          <p:cNvSpPr/>
          <p:nvPr/>
        </p:nvSpPr>
        <p:spPr>
          <a:xfrm>
            <a:off x="548640" y="169164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Antes de executar, peça que os alunos respondam: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3"/>
          <p:cNvSpPr/>
          <p:nvPr/>
        </p:nvSpPr>
        <p:spPr>
          <a:xfrm>
            <a:off x="548640" y="2286000"/>
            <a:ext cx="11063880" cy="3748680"/>
          </a:xfrm>
          <a:prstGeom prst="roundRect">
            <a:avLst>
              <a:gd name="adj" fmla="val 1951"/>
            </a:avLst>
          </a:prstGeom>
          <a:solidFill>
            <a:srgbClr val="f7f9fc"/>
          </a:solidFill>
          <a:ln w="12700">
            <a:solidFill>
              <a:srgbClr val="e3e9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4"/>
          <p:cNvSpPr/>
          <p:nvPr/>
        </p:nvSpPr>
        <p:spPr>
          <a:xfrm>
            <a:off x="914400" y="2514600"/>
            <a:ext cx="420120" cy="42012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5"/>
          <p:cNvSpPr/>
          <p:nvPr/>
        </p:nvSpPr>
        <p:spPr>
          <a:xfrm>
            <a:off x="914400" y="25146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6"/>
          <p:cNvSpPr/>
          <p:nvPr/>
        </p:nvSpPr>
        <p:spPr>
          <a:xfrm>
            <a:off x="1600200" y="242316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Qual é a ação fundamental?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7"/>
          <p:cNvSpPr/>
          <p:nvPr/>
        </p:nvSpPr>
        <p:spPr>
          <a:xfrm>
            <a:off x="914400" y="3191400"/>
            <a:ext cx="420120" cy="42012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8"/>
          <p:cNvSpPr/>
          <p:nvPr/>
        </p:nvSpPr>
        <p:spPr>
          <a:xfrm>
            <a:off x="914400" y="31914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9"/>
          <p:cNvSpPr/>
          <p:nvPr/>
        </p:nvSpPr>
        <p:spPr>
          <a:xfrm>
            <a:off x="1600200" y="309996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Quantas vezes ela ocorre?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10"/>
          <p:cNvSpPr/>
          <p:nvPr/>
        </p:nvSpPr>
        <p:spPr>
          <a:xfrm>
            <a:off x="914400" y="3867840"/>
            <a:ext cx="420120" cy="42012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1"/>
          <p:cNvSpPr/>
          <p:nvPr/>
        </p:nvSpPr>
        <p:spPr>
          <a:xfrm>
            <a:off x="914400" y="38678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2"/>
          <p:cNvSpPr/>
          <p:nvPr/>
        </p:nvSpPr>
        <p:spPr>
          <a:xfrm>
            <a:off x="1600200" y="377640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A sequência gera constante aditiva ou multiplicativa?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3"/>
          <p:cNvSpPr/>
          <p:nvPr/>
        </p:nvSpPr>
        <p:spPr>
          <a:xfrm>
            <a:off x="914400" y="4544640"/>
            <a:ext cx="420120" cy="42012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4"/>
          <p:cNvSpPr/>
          <p:nvPr/>
        </p:nvSpPr>
        <p:spPr>
          <a:xfrm>
            <a:off x="914400" y="45446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5"/>
          <p:cNvSpPr/>
          <p:nvPr/>
        </p:nvSpPr>
        <p:spPr>
          <a:xfrm>
            <a:off x="1600200" y="445320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O IF muda a ordem ou apenas o caminho?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6"/>
          <p:cNvSpPr/>
          <p:nvPr/>
        </p:nvSpPr>
        <p:spPr>
          <a:xfrm>
            <a:off x="914400" y="5221080"/>
            <a:ext cx="420120" cy="420120"/>
          </a:xfrm>
          <a:prstGeom prst="ellipse">
            <a:avLst/>
          </a:prstGeom>
          <a:solidFill>
            <a:srgbClr val="e896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7"/>
          <p:cNvSpPr/>
          <p:nvPr/>
        </p:nvSpPr>
        <p:spPr>
          <a:xfrm>
            <a:off x="914400" y="52210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b3a5c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18"/>
          <p:cNvSpPr/>
          <p:nvPr/>
        </p:nvSpPr>
        <p:spPr>
          <a:xfrm>
            <a:off x="1600200" y="5129640"/>
            <a:ext cx="9692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44546a"/>
                </a:solidFill>
                <a:effectLst/>
                <a:uFillTx/>
                <a:latin typeface="Calibri"/>
                <a:ea typeface="Calibri"/>
              </a:rPr>
              <a:t>Se dobrar n, o trabalho dobra, quadruplica ou cresce mais?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9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Aula 14 · Complexidade de Algoritmos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20"/>
          <p:cNvSpPr/>
          <p:nvPr/>
        </p:nvSpPr>
        <p:spPr>
          <a:xfrm>
            <a:off x="10972800" y="635508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9aa5b1"/>
                </a:solidFill>
                <a:effectLst/>
                <a:uFillTx/>
                <a:latin typeface="Calibri"/>
                <a:ea typeface="Calibri"/>
              </a:rPr>
              <a:t>45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Oval 1"/>
          <p:cNvSpPr/>
          <p:nvPr/>
        </p:nvSpPr>
        <p:spPr>
          <a:xfrm>
            <a:off x="8899920" y="-1645920"/>
            <a:ext cx="4205880" cy="420588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2" name="Oval 2"/>
          <p:cNvSpPr/>
          <p:nvPr/>
        </p:nvSpPr>
        <p:spPr>
          <a:xfrm>
            <a:off x="10454400" y="548640"/>
            <a:ext cx="2194200" cy="219420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3" name="TextBox 3"/>
          <p:cNvSpPr/>
          <p:nvPr/>
        </p:nvSpPr>
        <p:spPr>
          <a:xfrm>
            <a:off x="4572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100" strike="noStrike" u="none">
                <a:solidFill>
                  <a:srgbClr val="e8963c"/>
                </a:solidFill>
                <a:effectLst/>
                <a:uFillTx/>
                <a:latin typeface="Calibri"/>
              </a:rPr>
              <a:t>SÍNTESE DA AULA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Box 4"/>
          <p:cNvSpPr/>
          <p:nvPr/>
        </p:nvSpPr>
        <p:spPr>
          <a:xfrm>
            <a:off x="457200" y="82296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600" strike="noStrike" u="none">
                <a:solidFill>
                  <a:srgbClr val="ffffff"/>
                </a:solidFill>
                <a:effectLst/>
                <a:uFillTx/>
                <a:latin typeface="Cambria"/>
              </a:rPr>
              <a:t>Big O não é o ponto de partida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Oval 5"/>
          <p:cNvSpPr/>
          <p:nvPr/>
        </p:nvSpPr>
        <p:spPr>
          <a:xfrm>
            <a:off x="457200" y="1783080"/>
            <a:ext cx="456840" cy="45684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" name="TextBox 6"/>
          <p:cNvSpPr/>
          <p:nvPr/>
        </p:nvSpPr>
        <p:spPr>
          <a:xfrm>
            <a:off x="457200" y="17830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800" strike="noStrike" u="none">
                <a:solidFill>
                  <a:srgbClr val="ffffff"/>
                </a:solidFill>
                <a:effectLst/>
                <a:uFillTx/>
                <a:latin typeface="Cambria"/>
              </a:rPr>
              <a:t>01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7"/>
          <p:cNvSpPr/>
          <p:nvPr/>
        </p:nvSpPr>
        <p:spPr>
          <a:xfrm>
            <a:off x="1115640" y="1755720"/>
            <a:ext cx="9875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450" strike="noStrike" u="none">
                <a:solidFill>
                  <a:srgbClr val="ffffff"/>
                </a:solidFill>
                <a:effectLst/>
                <a:uFillTx/>
                <a:latin typeface="Cambria"/>
              </a:rPr>
              <a:t>Big O não é o ponto de partida</a:t>
            </a:r>
            <a:endParaRPr b="0" lang="pt-BR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8"/>
          <p:cNvSpPr/>
          <p:nvPr/>
        </p:nvSpPr>
        <p:spPr>
          <a:xfrm>
            <a:off x="1115640" y="2057400"/>
            <a:ext cx="98751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250" strike="noStrike" u="none">
                <a:solidFill>
                  <a:srgbClr val="c9d3de"/>
                </a:solidFill>
                <a:effectLst/>
                <a:uFillTx/>
                <a:latin typeface="Calibri"/>
              </a:rPr>
              <a:t>O ponto de partida é a função de custo T(n) do algoritmo — o Big O resume apenas o seu termo dominante.</a:t>
            </a:r>
            <a:endParaRPr b="0" lang="pt-BR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Oval 9"/>
          <p:cNvSpPr/>
          <p:nvPr/>
        </p:nvSpPr>
        <p:spPr>
          <a:xfrm>
            <a:off x="457200" y="2679120"/>
            <a:ext cx="456840" cy="45684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0" name="TextBox 10"/>
          <p:cNvSpPr/>
          <p:nvPr/>
        </p:nvSpPr>
        <p:spPr>
          <a:xfrm>
            <a:off x="457200" y="267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800" strike="noStrike" u="none">
                <a:solidFill>
                  <a:srgbClr val="ffffff"/>
                </a:solidFill>
                <a:effectLst/>
                <a:uFillTx/>
                <a:latin typeface="Cambria"/>
              </a:rPr>
              <a:t>02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11"/>
          <p:cNvSpPr/>
          <p:nvPr/>
        </p:nvSpPr>
        <p:spPr>
          <a:xfrm>
            <a:off x="1115640" y="2651760"/>
            <a:ext cx="9875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450" strike="noStrike" u="none">
                <a:solidFill>
                  <a:srgbClr val="ffffff"/>
                </a:solidFill>
                <a:effectLst/>
                <a:uFillTx/>
                <a:latin typeface="Cambria"/>
              </a:rPr>
              <a:t>Laços moldam o crescimento</a:t>
            </a:r>
            <a:endParaRPr b="0" lang="pt-BR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Box 12"/>
          <p:cNvSpPr/>
          <p:nvPr/>
        </p:nvSpPr>
        <p:spPr>
          <a:xfrm>
            <a:off x="1115640" y="2953440"/>
            <a:ext cx="98751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250" strike="noStrike" u="none">
                <a:solidFill>
                  <a:srgbClr val="c9d3de"/>
                </a:solidFill>
                <a:effectLst/>
                <a:uFillTx/>
                <a:latin typeface="Calibri"/>
              </a:rPr>
              <a:t>Sequências calibram constantes; laços aninhados multiplicam o crescimento — é aí que nascem O(n²) e O(n log n).</a:t>
            </a:r>
            <a:endParaRPr b="0" lang="pt-BR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Oval 13"/>
          <p:cNvSpPr/>
          <p:nvPr/>
        </p:nvSpPr>
        <p:spPr>
          <a:xfrm>
            <a:off x="457200" y="3575160"/>
            <a:ext cx="456840" cy="45684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4" name="TextBox 14"/>
          <p:cNvSpPr/>
          <p:nvPr/>
        </p:nvSpPr>
        <p:spPr>
          <a:xfrm>
            <a:off x="457200" y="35751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800" strike="noStrike" u="none">
                <a:solidFill>
                  <a:srgbClr val="ffffff"/>
                </a:solidFill>
                <a:effectLst/>
                <a:uFillTx/>
                <a:latin typeface="Cambria"/>
              </a:rPr>
              <a:t>03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Box 15"/>
          <p:cNvSpPr/>
          <p:nvPr/>
        </p:nvSpPr>
        <p:spPr>
          <a:xfrm>
            <a:off x="1115640" y="3547800"/>
            <a:ext cx="9875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450" strike="noStrike" u="none">
                <a:solidFill>
                  <a:srgbClr val="ffffff"/>
                </a:solidFill>
                <a:effectLst/>
                <a:uFillTx/>
                <a:latin typeface="Cambria"/>
              </a:rPr>
              <a:t>Programação dinâmica elimina recomputação</a:t>
            </a:r>
            <a:endParaRPr b="0" lang="pt-BR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16"/>
          <p:cNvSpPr/>
          <p:nvPr/>
        </p:nvSpPr>
        <p:spPr>
          <a:xfrm>
            <a:off x="1115640" y="3849480"/>
            <a:ext cx="98751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250" strike="noStrike" u="none">
                <a:solidFill>
                  <a:srgbClr val="c9d3de"/>
                </a:solidFill>
                <a:effectLst/>
                <a:uFillTx/>
                <a:latin typeface="Calibri"/>
              </a:rPr>
              <a:t>Guardar resultados de subproblemas troca uma explosão exponencial, como no Fibonacci ingênuo, por custo linear.</a:t>
            </a:r>
            <a:endParaRPr b="0" lang="pt-BR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Rounded Rectangle 17"/>
          <p:cNvSpPr/>
          <p:nvPr/>
        </p:nvSpPr>
        <p:spPr>
          <a:xfrm>
            <a:off x="457200" y="5111640"/>
            <a:ext cx="11274120" cy="1051200"/>
          </a:xfrm>
          <a:prstGeom prst="roundRect">
            <a:avLst>
              <a:gd name="adj" fmla="val 7800"/>
            </a:avLst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" name="Oval 18"/>
          <p:cNvSpPr/>
          <p:nvPr/>
        </p:nvSpPr>
        <p:spPr>
          <a:xfrm>
            <a:off x="777240" y="5385960"/>
            <a:ext cx="502560" cy="502560"/>
          </a:xfrm>
          <a:prstGeom prst="ellipse">
            <a:avLst/>
          </a:prstGeom>
          <a:solidFill>
            <a:srgbClr val="e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pt-BR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9" name="Picture 19" descr="arrow_a_seguir.png"/>
          <p:cNvPicPr/>
          <p:nvPr/>
        </p:nvPicPr>
        <p:blipFill>
          <a:blip r:embed="rId1"/>
          <a:stretch/>
        </p:blipFill>
        <p:spPr>
          <a:xfrm>
            <a:off x="896040" y="5504760"/>
            <a:ext cx="264960" cy="26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0" name="TextBox 20"/>
          <p:cNvSpPr/>
          <p:nvPr/>
        </p:nvSpPr>
        <p:spPr>
          <a:xfrm>
            <a:off x="1508760" y="52945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100" strike="noStrike" u="none">
                <a:solidFill>
                  <a:srgbClr val="e8963c"/>
                </a:solidFill>
                <a:effectLst/>
                <a:uFillTx/>
                <a:latin typeface="Calibri"/>
              </a:rPr>
              <a:t>A SEGUIR — AULA 15 de 15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21"/>
          <p:cNvSpPr/>
          <p:nvPr/>
        </p:nvSpPr>
        <p:spPr>
          <a:xfrm>
            <a:off x="1508760" y="556884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900" strike="noStrike" u="none">
                <a:solidFill>
                  <a:srgbClr val="ffffff"/>
                </a:solidFill>
                <a:effectLst/>
                <a:uFillTx/>
                <a:latin typeface="Cambria"/>
              </a:rPr>
              <a:t>Encerramento e Discussão</a:t>
            </a:r>
            <a:endParaRPr b="0" lang="pt-BR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22"/>
          <p:cNvSpPr/>
          <p:nvPr/>
        </p:nvSpPr>
        <p:spPr>
          <a:xfrm>
            <a:off x="457200" y="6528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900" strike="noStrike" u="none">
                <a:solidFill>
                  <a:srgbClr val="8ca0b3"/>
                </a:solidFill>
                <a:effectLst/>
                <a:uFillTx/>
                <a:latin typeface="Calibri"/>
              </a:rPr>
              <a:t>Aula 14 · Complexidade de Algoritmos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23"/>
          <p:cNvSpPr/>
          <p:nvPr/>
        </p:nvSpPr>
        <p:spPr>
          <a:xfrm>
            <a:off x="10362960" y="652896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pt-BR" sz="900" strike="noStrike" u="none">
                <a:solidFill>
                  <a:srgbClr val="8ca0b3"/>
                </a:solidFill>
                <a:effectLst/>
                <a:uFillTx/>
                <a:latin typeface="Calibri"/>
              </a:rPr>
              <a:t>46 / 47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TextBox 1"/>
          <p:cNvSpPr/>
          <p:nvPr/>
        </p:nvSpPr>
        <p:spPr>
          <a:xfrm>
            <a:off x="548640" y="548640"/>
            <a:ext cx="10484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200" strike="noStrike" u="none">
                <a:solidFill>
                  <a:srgbClr val="e8963c"/>
                </a:solidFill>
                <a:effectLst/>
                <a:uFillTx/>
                <a:latin typeface="Calibri"/>
              </a:rPr>
              <a:t>REFERÊNCIAS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2"/>
          <p:cNvSpPr/>
          <p:nvPr/>
        </p:nvSpPr>
        <p:spPr>
          <a:xfrm>
            <a:off x="548640" y="1097280"/>
            <a:ext cx="1048464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3000" strike="noStrike" u="none">
                <a:solidFill>
                  <a:srgbClr val="ffffff"/>
                </a:solidFill>
                <a:effectLst/>
                <a:uFillTx/>
                <a:latin typeface="Cambria"/>
              </a:rPr>
              <a:t>Referências</a:t>
            </a:r>
            <a:endParaRPr b="0" lang="pt-BR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Box 3"/>
          <p:cNvSpPr/>
          <p:nvPr/>
        </p:nvSpPr>
        <p:spPr>
          <a:xfrm>
            <a:off x="548640" y="2057400"/>
            <a:ext cx="104846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e4ecf3"/>
                </a:solidFill>
                <a:effectLst/>
                <a:uFillTx/>
                <a:latin typeface="Calibri"/>
              </a:rPr>
              <a:t>RAABE, André; ZORZO, Avelino F.; BLIKSTEIN, Paulo. Computação na Educação Básica: Fundamentos e Experiências. Porto Alegre: Penso, 2020. Ebook. ISBN 9786581334048.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599"/>
              </a:spcBef>
            </a:pPr>
            <a:r>
              <a:rPr b="0" lang="pt-BR" sz="1400" strike="noStrike" u="none">
                <a:solidFill>
                  <a:srgbClr val="e4ecf3"/>
                </a:solidFill>
                <a:effectLst/>
                <a:uFillTx/>
                <a:latin typeface="Calibri"/>
              </a:rPr>
              <a:t>RIBEIRO, João Araújo. Introdução à Programação e aos algoritmos. Rio de Janeiro: LTC, 2019. ISBN 978-85-216-3640-3.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Box 4"/>
          <p:cNvSpPr/>
          <p:nvPr/>
        </p:nvSpPr>
        <p:spPr>
          <a:xfrm>
            <a:off x="548640" y="6343560"/>
            <a:ext cx="104846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900" strike="noStrike" u="none">
                <a:solidFill>
                  <a:srgbClr val="9aa5b1"/>
                </a:solidFill>
                <a:effectLst/>
                <a:uFillTx/>
                <a:latin typeface="Calibri"/>
              </a:rPr>
              <a:t>Aula 14 · Complexidade de Algoritmos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2026-08-25T00:52:41Z</dcterms:created>
  <dc:creator>PptxGenJS</dc:creator>
  <dc:description/>
  <dc:language>pt-BR</dc:language>
  <cp:lastModifiedBy/>
  <dcterms:modified xsi:type="dcterms:W3CDTF">2026-08-25T09:30:32Z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43</vt:i4>
  </property>
  <property fmtid="{D5CDD505-2E9C-101B-9397-08002B2CF9AE}" pid="3" name="PresentationFormat">
    <vt:lpwstr>On-screen Show (16:9)</vt:lpwstr>
  </property>
  <property fmtid="{D5CDD505-2E9C-101B-9397-08002B2CF9AE}" pid="4" name="Slides">
    <vt:i4>43</vt:i4>
  </property>
</Properties>
</file>