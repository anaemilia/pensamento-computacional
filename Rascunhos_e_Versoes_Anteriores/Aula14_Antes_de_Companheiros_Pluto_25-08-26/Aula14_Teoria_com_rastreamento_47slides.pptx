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02" r:id="rId53"/>
    <p:sldId id="270" r:id="rId16"/>
    <p:sldId id="271" r:id="rId17"/>
    <p:sldId id="272" r:id="rId18"/>
    <p:sldId id="273" r:id="rId19"/>
    <p:sldId id="274" r:id="rId20"/>
    <p:sldId id="275" r:id="rId21"/>
    <p:sldId id="301" r:id="rId52"/>
    <p:sldId id="276" r:id="rId22"/>
    <p:sldId id="277" r:id="rId23"/>
    <p:sldId id="278" r:id="rId24"/>
    <p:sldId id="279" r:id="rId25"/>
    <p:sldId id="300" r:id="rId51"/>
    <p:sldId id="280" r:id="rId26"/>
    <p:sldId id="281" r:id="rId27"/>
    <p:sldId id="282" r:id="rId28"/>
    <p:sldId id="283" r:id="rId29"/>
    <p:sldId id="299" r:id="rId50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φ^n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2^n</c:v>
                </c:pt>
              </c:strCache>
            </c:strRef>
          </c:tx>
          <c:spPr>
            <a:solidFill>
              <a:srgbClr val="44546A"/>
            </a:solidFill>
            <a:ln w="31750" cap="flat">
              <a:solidFill>
                <a:srgbClr val="445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546A"/>
              </a:solidFill>
              <a:ln w="9525" cap="flat">
                <a:solidFill>
                  <a:srgbClr val="445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(chamadas/operações aprox.)</c:v>
                </c:pt>
              </c:strCache>
            </c:strRef>
          </c:tx>
          <c:spPr>
            <a:solidFill>
              <a:srgbClr val="2C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recursivo</c:v>
                  </c:pt>
                  <c:pt idx="1">
                    <c:v>memoizado</c:v>
                  </c:pt>
                  <c:pt idx="2">
                    <c:v>iterativo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2692537</c:v>
                </c:pt>
                <c:pt idx="1">
                  <c:v>31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25</c:v>
                </c:pt>
                <c:pt idx="2">
                  <c:v>100</c:v>
                </c:pt>
                <c:pt idx="3">
                  <c:v>225</c:v>
                </c:pt>
                <c:pt idx="4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ln w="31750" cap="flat">
              <a:solidFill>
                <a:srgbClr val="445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546A"/>
              </a:solidFill>
              <a:ln w="9525" cap="flat">
                <a:solidFill>
                  <a:srgbClr val="445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125</c:v>
                </c:pt>
                <c:pt idx="2">
                  <c:v>1000</c:v>
                </c:pt>
                <c:pt idx="3">
                  <c:v>3375</c:v>
                </c:pt>
                <c:pt idx="4">
                  <c:v>8000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la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PENSAMENTO COMPUTACIONAL · AULA 14 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Complexidade de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9D3DE"/>
                </a:solidFill>
                <a:latin typeface="Calibri"/>
              </a:rPr>
              <a:t>Da função de custo ao Big O, com experimentos em Julia + Pluto — roteiro visual para aula ou minicurso.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01 / 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0" y="640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AULA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663440"/>
          </a:xfrm>
          <a:prstGeom prst="roundRect">
            <a:avLst>
              <a:gd name="adj" fmla="val 1569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8424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8470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função de custo T(n) a partir da contagem de passos.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8529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sequência, decisão, repetição e recursão como contribuições distintas ao custo.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99592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85876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eficiência prática, escalabilidade e classificação assintótica.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00176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8646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Julia + Pluto para testar hipóteses com gráficos e sliders.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central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que funciona para 100 entradas ainda será viável para 100 mil?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complexidade não pergunta apenas “funciona?”. Ela pergunta “como o trabalho cresce?”.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pergunta antecede o tempo em segundos, porque segundos mudam com a máquina; passos pertencem ao algoritmo.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 ↑↑   em função de   n 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Passos, não segundos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medido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processador, cache, compilador, linguagem, SO, I/O e concorrência.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lógicos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Pertencem ao algoritmo e permitem comparar soluções antes de executar.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começa na contagem de ações fundamentais.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código ao Big 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custo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 dominante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do crescimento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8972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E8963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972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assintótica é o último passo. Ela não substitui a função de custo.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DECISÃO DA 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fundamental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contar, é preciso definir o que será contado.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 →  v[i] &gt; 0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 →  s += v[i]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 →  fib(n-1)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precisa ser coerente durante toda a análise.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Sequências calibram o crescimento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ações dentro do laço geram uma constante multiplicativa.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 O, isso vira O(n), mas a constante representa trabalho real.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an +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 aditiva e multiplicativa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laço: custo por elemento.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aproximado: T(n) = 2n + 4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+= v[i]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= soma / cont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Condicionais ajustam caminhos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dois caminhos, apenas um é executado.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costuma permanecer constante: O(1).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condicionais importam para melhor caso, pior caso e caso médio.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-=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CUSTO SE REPETE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IF dentro do laço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é constante, mas está sendo executado n vezes.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≈ c ·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prática é: quantas vezes esta decisão será tomada?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v[i] &gt;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Laços multiplicam trabalho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laço aninhado introduz uma nova dimensão de crescimento.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laço → O(n)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laços → O(n²)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laços → O(n³)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simples: crescimento linear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há uma ação principal por elemento: T(n) =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marginal: T(n) − T(n−1) =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soma(v)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 in v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+= x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Laço simples ("crescimento linear")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soma(v) — qual é a resultante para um vetor genérico?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633472"/>
          </a:xfrm>
          <a:prstGeom prst="roundRect">
            <a:avLst>
              <a:gd name="adj" fmla="val 347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soma(v)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0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 in v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+= 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72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parte de 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x em v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s acumula s + x (uma soma por elemento — não há valor concreto de v neste slide, então o traço é estrutural)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soma(v)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retorna s = soma de todos os elementos de v, ao final do laço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DIMENSÕES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duplo: crescimento quadrático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interno executa n vezes para cada valor de i.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n = n²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 aproximado cresce com 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ÍNDICES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Multiplicação clássica de matrizes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n² posições em C.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posição, somamos n produtos.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≈ n² · n = n³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exemplo mostra como a estrutura do problema impõe crescimento.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C[i,j] =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k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C[i,j] += A[i,k]*B[k,j]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O e o papel de n₀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n₀ admite que o início da curva pode ser irregular.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não nega as constantes. Ele escolhe olhar para a região assintótica.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O(g(n))  quando existem c &gt; 0 e n₀ tais que  f(n) ≤ c·g(n)  para todo n ≥ n₀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× ESCALABILIDADE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Constantes escondidas ainda importam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são O(n).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constante multiplicativa muda o custo concreto.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avalia escalabilidade; T(n) preserva eficiência aproximada.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COM CÁLCULO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Coeficiente angular e custo marginal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T(n) = an + b, o coeficiente a é a inclinação da reta de custo.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Interpretação: quanto custa adicionar mais um elemento à entrada.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ideia aproxima análise de algoritmos e cálculo discreto.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Derivada discreta:   ΔT(n) = T(n) − T(n−1)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estável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novo elemento acrescenta praticamente o mesmo bloco de trabalho.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percorrer um vetor uma única vez.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 + 5  e  ΔT(n) =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crescente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adicional por novo elemento cresce com n.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algoritmos quadráticos ficam rapidamente caros.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n²  e  ΔT(n) = 2n − 1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como função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é curta, mas a implementação recursiva ingênua gera uma árvore de chamadas.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“usar recursão”. O problema é recalcular os mesmos subproblemas.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 = 0      F(1) = 1      F(n) = F(n−1) + F(n−2)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recursivo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poucas linhas de código, mas muitas chamadas repetidas.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 não medem complexidade.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 chamadas é o objeto da análise.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fib(n)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&lt;=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fib(n-1) + fib(n-2)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Fibonacci recursivo ingênuo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fib(n) — árvore de chamadas para fib(5)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944368"/>
          </a:xfrm>
          <a:prstGeom prst="roundRect">
            <a:avLst>
              <a:gd name="adj" fmla="val 3106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fib(n)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&lt;= 1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fib(n-1) + fib(n-2)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chamada: fib(5)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745736"/>
            <a:ext cx="11064240" cy="1243584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882896"/>
            <a:ext cx="10515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= fib(4) + fib(3)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= fib(3) + fib(2)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 (chamada 2×)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= fib(2) + fib(1), em cada uma das duas vezes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 (chamada 3×)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= fib(1) + fib(0), em cada uma das três vezes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 (caso-base, chamado 5×)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retorna 1 diretamente, sem nova chamada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 (caso-base, chamado 3×)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retorna 0 diretamente, sem nova chamada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de chamadas à função fib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15 (1×fib(5) + 1×fib(4) + 2×fib(3) + 3×fib(2) + 5×fib(1) + 3×fib(0))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5 (resultado final, depois de somar toda a árvore)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RECOMPUTAÇÃO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de chamadas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49240" y="17830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38176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50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H="1">
            <a:off x="24460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76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6835140" y="3108960"/>
            <a:ext cx="10972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24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48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77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492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24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flipH="1">
            <a:off x="1074420" y="393192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46020" y="3931920"/>
            <a:ext cx="228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45034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892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5140" y="3931920"/>
            <a:ext cx="4114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5140" y="3931920"/>
            <a:ext cx="17830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74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e Fib(2) aparecem mais de uma vez. Isso é recomputação.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do Fibonacci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aproximado: T(n) = T(n−1) + T(n−2) + 1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das duas chamadas gera uma expansão em árvore.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(1+√5)/2 ≈ 1,618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T(n−1) + T(n−2) + 1     →     O(φ^n)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ESTRUTURAL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Polinomial versus exponencial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n², a variável está na base.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φ^n, a variável está no expoente.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diferença explica a explosão.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CONCEITUAL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Recursão não é sinônimo de explosão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44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T(n−1) + 1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8640" y="1965960"/>
            <a:ext cx="3444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2960" y="219456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Logarítmica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32960" y="28346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T(n/2) + 1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68640" y="1965960"/>
            <a:ext cx="3444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2960" y="219456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sobreposição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42960" y="28346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T(n−1) + T(n−2) + 1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O(φ^n)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dos subproblemas determina o crescimento.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RECOMPUTAÇÃO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dinâmica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memória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subproblema é resolvido várias vezes.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memoização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F(i) é calculado uma única vez e armazenado.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O(n)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FUNÇÃO, OUTRA ESTRATÉGIA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iterativo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percorre os estados de 0 até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O(n)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 O(1)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recomputação.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fib_iter(n)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a, b = 0,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2:n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a, b = b, a + b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== 0 ? 0 : b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Fibonacci iterativo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fib_iter(n) — passo a passo para fib_iter(5)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3255264"/>
          </a:xfrm>
          <a:prstGeom prst="roundRect">
            <a:avLst>
              <a:gd name="adj" fmla="val 2809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fib_iter(n)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a, b = 0, 1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2:n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a, b = b, a + b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== 0 ? 0 : b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chamada: fib_iter(5)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505663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193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começam em 0, 1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2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a, b = 1, 0+1  →  a=1, b=1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3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a, b = 1, 1+1  →  a=1, b=2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4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a, b = 2, 1+2  →  a=2, b=3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5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a, b = 3, 2+3  →  a=3, b=5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fib_iter(5)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5 (n ≠ 0, então retorna b)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estratégias para Fibonacci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programação dinâmica não muda a definição de Fibonacci.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muda a organização do cálculo.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de exponencial para linear.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 NA AULA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Julia + Pluto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Pluto permite transformar complexidade em experimento visual.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 →  alteram n em tempo real.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 →  mostram crescimento.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 →  gera a própria evidência.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EXECUTÁVEL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notebook Pluto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notebook acompanha a apresentação e contém quatro experimentos.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Contagem de operações em laços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Curvas n, n² e n³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Fibonacci: recursivo, memoizado e iterativo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Custo marginal ΔT(n)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PlutoUI, Plots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@bind n Slider(1:100, default=20)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plot(ns, [ns, ns.^2, ns.^3])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1: LAÇOS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Contar, não cronometrar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altera n e observa a diferença entre crescimento linear, quadrático e cúbico.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é uma ponte entre código e função de custo.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ops_linear(n) = 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ops_quadratico(n) = n^2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ops_cubico(n) = n^3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 ops_linear(n) ops_quadratico(n) ops_cubico(n)]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Experimento 1: laços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ops_linear, ops_quadratico, ops_cubico — para n = 20 (valor padrão do slider)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011680"/>
          </a:xfrm>
          <a:prstGeom prst="roundRect">
            <a:avLst>
              <a:gd name="adj" fmla="val 4545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ops_linear(n) = 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ops_quadratico(n) = n^2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ops_cubico(n) = n^3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 ops_linear(n) ops_quadratico(n) ops_cubico(n)]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813048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50208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20 (valor padrão do slider)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ops_linear(20)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20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ops_quadratico(20)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20² = 400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ops_cubico(20)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20³ = 8000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(vetor-linha)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[20  20  400  8000]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2: CURVAS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Visualização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visualização torna perceptível a diferença entre “funcionar” e “escalar”.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gráfico é gerado a partir das funções de custo.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3: FIBONACCI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Contagem de chamadas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evitar travar a aula, o notebook modela a quantidade de chamadas pela recorrência de custo.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não é esperar o algoritmo terminar, mas entender por que ele explode.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calls_naive(n) =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&lt;= 1 ? 1 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calls_naive(n-1) +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calls_naive(n-2) + 1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fib_iter_ops(n) = max(n, 1)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Experimento 3: Fibonacci (contagem de chamadas)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calls_naive(n) — quantas chamadas a recorrência prevê, para n = 5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89888"/>
          </a:xfrm>
          <a:prstGeom prst="roundRect">
            <a:avLst>
              <a:gd name="adj" fmla="val 6579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calls_naive(n) = n &lt;= 1 ? 1 : calls_naive(n-1) + calls_naive(n-2) + 1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chamada: calls_naive(5)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191256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28416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calls_naive(0)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1 (caso-base)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calls_naive(1)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1 (caso-base)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calls_naive(2)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calls_naive(1) + calls_naive(0) + 1 = 1 + 1 + 1 = 3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calls_naive(3)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calls_naive(2) + calls_naive(1) + 1 = 3 + 1 + 1 = 5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calls_naive(4)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calls_naive(3) + calls_naive(2) + 1 = 5 + 3 + 1 = 9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calls_naive(5)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calls_naive(4) + calls_naive(3) + 1 = 9 + 5 + 1 = 15 (bate com o total de chamadas contado na árvore de fib(5))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4: CUSTO MARGINAL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ΔT(n)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derivada discreta mostra o custo de aumentar a entrada em uma unidade.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é a ponte com coeficiente angular, inclinação e custo marginal.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delta(T, n) = T(n) - T(n-1)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linear(n) = 3n + 5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quadratica(n) = n^2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plot(ns[2:end], [delta.(Ref(linear), ns[2:end]),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delta.(Ref(quadratica), ns[2:end])])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Experimento 4: custo marginal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delta(T, n) — para as funções linear e quadratica, em n = 4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633472"/>
          </a:xfrm>
          <a:prstGeom prst="roundRect">
            <a:avLst>
              <a:gd name="adj" fmla="val 347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delta(T, n) = T(n) - T(n-1)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linear(n) = 3n + 5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quadratica(n) = n^2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delta(linear, 4)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delta(quadratica, 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delta(T, n)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recebe uma função T como argumento e calcula T(n) − T(n−1)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linear(4)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3×4+5 = 17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linear(3)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3×3+5 = 14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delta(linear, 4)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17 − 14 = 3 (confere com ΔT(n)=3 da tabela “T(n)=3n+5”)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quadratica(4)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4² = 16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quadratica(3)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3² = 9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delta(quadratica, 4)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16 − 9 = 7 (confere com ΔT(n)=7 da linha n=4 da tabela “T(n)=n²”)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DURANTE A ESCRITA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em sala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executar, peça que os alunos respondam: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ação fundamental?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ela ocorre?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gera constante aditiva ou multiplicativa?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muda a ordem ou apenas o caminho?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221224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512978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dobrar n, o trabalho dobra, quadruplica ou cresce mais?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SÍNTESE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Big O não é o ponto de partida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Big O não é o ponto de partida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57400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O ponto de partida é a função de custo T(n) do algoritmo — o Big O resume apenas o seu termo dominante.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Laços moldam o crescimento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53512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Sequências calibram constantes; laços aninhados multiplicam o crescimento — é aí que nascem O(n²) e O(n log n).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Programação dinâmica elimina recomputação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849624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Guardar resultados de subproblemas troca uma explosão exponencial, como no Fibonacci ingênuo, por custo linear.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11496"/>
            <a:ext cx="11274552" cy="1051560"/>
          </a:xfrm>
          <a:prstGeom prst="roundRect">
            <a:avLst>
              <a:gd name="adj" fmla="val 7800"/>
            </a:avLst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5385816"/>
            <a:ext cx="502920" cy="50292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rrow_a_segu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04688"/>
            <a:ext cx="265176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2943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A SEGUIR — AULA 15 de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686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Encerramento e Discussão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46 / 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CF3"/>
                </a:solidFill>
                <a:latin typeface="Calibri"/>
              </a:rPr>
              <a:t>RAABE, André; ZORZO, Avelino F.; BLIKSTEIN, Paulo. Computação na Educação Básica: Fundamentos e Experiências. Porto Alegre: Penso, 2020. Ebook. ISBN 9786581334048.</a:t>
            </a:r>
          </a:p>
          <a:p>
            <a:pPr algn="l">
              <a:spcBef>
                <a:spcPts val="1600"/>
              </a:spcBef>
            </a:pPr>
            <a:r>
              <a:rPr sz="1400" b="0">
                <a:solidFill>
                  <a:srgbClr val="E4ECF3"/>
                </a:solidFill>
                <a:latin typeface="Calibri"/>
              </a:rPr>
              <a:t>RIBEIRO, João Araújo. Introdução à Programação e aos algoritmos. Rio de Janeiro: LTC, 2019. ISBN 978-85-216-3640-3.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Memoização na lousa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a diferença entre recalcular e consultar.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quadro com uma tabela vazia de F(0) a F(10).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Um aluno é o “processador”: para calcular F(n), ele deve olhar a tabela antes de fazer qualquer conta.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 a casa já está preenchida, ele só aponta para o valor — não recalcula. Se está vazia, calcula, escreve e segue.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as duas versões — recalculando tudo × consultando a tabela — a diferença de tempo é a diferença entre recursão ingênua e programação dinâmica.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Árvore de chamadas com post-its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construa a recomputação com as mãos.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post-its (uma cor por valor de n) e um quadro ou mesa grande.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Em duplas, desenhem a árvore de chamadas de fib(5): um post-it para cada chamada — Fib(5), Fib(4), Fib(3)…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Toda vez que um valor de n já apareceu antes, colem o novo post-it em cima do anterior, não ao lado.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pilha de post-its sobrepostos mostra fisicamente o quanto foi recomputado — e antecipa a ideia de memoização.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Corrida das curvas com barbante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meça o crescimento com o corpo.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barbante ou fita métrica, giz ou fita crepe no chão.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Marquem três retas de mesma origem no chão. Para n = 5, 10 e 15, cortem pedaços de barbante proporcionais a n, a n² e a 2ⁿ (em cm) e estiquem cada um na sua reta.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= 15: o pedaço linear mede 15 cm, o quadrático 225 cm, e o exponencial passa de 300 metros — normalmente nem cabe na sala.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distância entre os barbantes é a mesma distância que separa as curvas do gráfico — só que agora pode ser medida a passos.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Aperto de mãos: sentindo o n²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sem computador, só a turma de pé.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Só a turma, em círculo.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aperta a mão de todos os colegas, uma vez cada — contem em voz alta o total ao final.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alunos, o total é n·(n−1)/2 — a mesma forma de um laço duplo percorrendo todos os pares.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Dobrem o grupo (chamem outra sala) e recontem: o número de apertos não dobra, quadruplica.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2026-08-25T00:52:41Z</dcterms:created>
  <dcterms:modified xsi:type="dcterms:W3CDTF">2026-08-25T00:52:41Z</dcterms:modified>
</cp:coreProperties>
</file>