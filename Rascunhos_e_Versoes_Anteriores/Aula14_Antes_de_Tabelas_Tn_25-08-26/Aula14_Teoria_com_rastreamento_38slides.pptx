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3" r:id="rId41"/>
    <p:sldId id="304" r:id="rId40"/>
    <p:sldId id="262" r:id="rId8"/>
    <p:sldId id="263" r:id="rId9"/>
    <p:sldId id="305" r:id="rId39"/>
    <p:sldId id="264" r:id="rId10"/>
    <p:sldId id="265" r:id="rId11"/>
    <p:sldId id="306" r:id="rId38"/>
    <p:sldId id="266" r:id="rId12"/>
    <p:sldId id="267" r:id="rId13"/>
    <p:sldId id="307" r:id="rId37"/>
    <p:sldId id="309" r:id="rId35"/>
    <p:sldId id="302" r:id="rId53"/>
    <p:sldId id="269" r:id="rId15"/>
    <p:sldId id="301" r:id="rId52"/>
    <p:sldId id="274" r:id="rId20"/>
    <p:sldId id="275" r:id="rId21"/>
    <p:sldId id="272" r:id="rId18"/>
    <p:sldId id="308" r:id="rId36"/>
    <p:sldId id="310" r:id="rId34"/>
    <p:sldId id="276" r:id="rId22"/>
    <p:sldId id="300" r:id="rId51"/>
    <p:sldId id="277" r:id="rId23"/>
    <p:sldId id="279" r:id="rId25"/>
    <p:sldId id="280" r:id="rId26"/>
    <p:sldId id="281" r:id="rId27"/>
    <p:sldId id="299" r:id="rId50"/>
    <p:sldId id="283" r:id="rId29"/>
    <p:sldId id="284" r:id="rId30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5" Type="http://schemas.openxmlformats.org/officeDocument/2006/relationships/slide" Target="slides/slide20.xml"/><Relationship Id="rId18" Type="http://schemas.openxmlformats.org/officeDocument/2006/relationships/slide" Target="slides/slide24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7.xml"/><Relationship Id="rId23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9" Type="http://schemas.openxmlformats.org/officeDocument/2006/relationships/slide" Target="slides/slide34.xml"/><Relationship Id="rId30" Type="http://schemas.openxmlformats.org/officeDocument/2006/relationships/slide" Target="slides/slide35.xml"/><Relationship Id="rId34" Type="http://schemas.openxmlformats.org/officeDocument/2006/relationships/slide" Target="slides/slide26.xml"/><Relationship Id="rId35" Type="http://schemas.openxmlformats.org/officeDocument/2006/relationships/slide" Target="slides/slide18.xml"/><Relationship Id="rId36" Type="http://schemas.openxmlformats.org/officeDocument/2006/relationships/slide" Target="slides/slide25.xml"/><Relationship Id="rId37" Type="http://schemas.openxmlformats.org/officeDocument/2006/relationships/slide" Target="slides/slide17.xml"/><Relationship Id="rId38" Type="http://schemas.openxmlformats.org/officeDocument/2006/relationships/slide" Target="slides/slide14.xml"/><Relationship Id="rId39" Type="http://schemas.openxmlformats.org/officeDocument/2006/relationships/slide" Target="slides/slide11.xml"/><Relationship Id="rId40" Type="http://schemas.openxmlformats.org/officeDocument/2006/relationships/slide" Target="slides/slide8.xml"/><Relationship Id="rId41" Type="http://schemas.openxmlformats.org/officeDocument/2006/relationships/slide" Target="slides/slide7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33.xml"/><Relationship Id="rId51" Type="http://schemas.openxmlformats.org/officeDocument/2006/relationships/slide" Target="slides/slide28.xml"/><Relationship Id="rId52" Type="http://schemas.openxmlformats.org/officeDocument/2006/relationships/slide" Target="slides/slide21.xml"/><Relationship Id="rId53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14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Como o trabalho de um algoritmo cresce, sentido na prática com atividades desplugadas — roteiro visual para aula ou minicurso.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98424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função de custo T(n) a partir da contagem de passos.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sequência, decisão, repetição e recursão como contribuições distintas ao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9592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5876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Perceber a diferença entre um algoritmo rápido na prática e um que escala melhor conforme os dados crescem.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8646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 o crescimento na prática, com atividades desplugadas e exemplos concretos.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que funciona para 100 entradas ainda será viável para 100 mil?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complexidade não pergunta apenas “funciona?”. Ela pergunta “como o trabalho cresce?”.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pergunta antecede o tempo em segundos, porque segundos mudam com a máquina; passos pertencem ao algoritmo.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↑↑   em função de   n 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Passos, não segundos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processador, cache, compilador, linguagem, SO, I/O e concorrência.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lógicos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algoritmo e permitem comparar soluções antes de executar.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começa na contagem de ações fundamentais.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crescimento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crescimento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897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de crescimento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de crescimento é o último passo. Ela não substitui a função de custo.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DECISÃO DA 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fundamental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contar, é preciso definir o que será contado.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 →  v[i] &gt; 0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 →  s += v[i]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 →  fib(n-1)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precisa ser coerente durante toda a análise.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tamanho da pilha não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que é um custo que não cresce.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pilha de livros ou cadernos (pequena ou grande).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Peça a um aluno para pegar o livro do topo e cronometre. Depois peça para pegar um do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Agora dobre o tamanho da pilha e repita: pegar o do topo continua levando o mesmo tempo.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Pegar o do topo é sempre 1 passo, não importa quantos livros existam por baixo — isso é custo fixo.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aluno, os mesmos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veja o total crescer junto com a fila.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Simule uma fila de lanche com a turma.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faz sempre os 3 mesmos passos: pega a bandeja, escolhe o item, paga.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5 alunos na fila, depois 10 — o tempo total dobra junto com o número de alunos.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cresce proporcional ao número de alunos: dobrar a fila dobra o tempo.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calibram o crescimento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ações dentro do laço geram uma constante multiplicativa.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ainda cresce proporcional a n, mas a constante representa trabalho real.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an +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aditiva e multiplicativa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laço: custo por elemento.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aproximado: T(n) = 2n + 4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Decidir não muda quantos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o caminho muda, o número de passos não.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monte de roupas (ou cartões coloridos representando roupas).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Para cada peça, decida em voz alta “lavar” ou “guardar” e coloque na pilha certa.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10 peças: decidir e colocar leva praticamente o mesmo tempo por peça, qualquer que seja a decisão.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ainda cresce proporcional ao número de peças — o “se” não faz o trabalho dobrar.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 ajustam caminhos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dois caminhos, apenas um é executado.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costuma permanecer o mesmo, não importa o tamanho da entrada.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condicionais importam para melhor caso, pior caso e caso médio.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SE REPETE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IF dentro do laço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é constante, mas está sendo executado n vezes.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c ·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prática é: quantas vezes esta decisão será tomada?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Procurando um por 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custo de procurar sem atalho.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lista de nomes da turma, fora de ordem.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Escolha um nome e peça para um aluno encontrá-lo, dizendo cada nome em voz alta até achar.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Repita com um nome no início da lista e outro no fim — o segundo demora muito mais.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Sem uma lista organizada, encontrar um nome pode exigir olhar a lista inteira.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 multiplicam trabalho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laço aninhado introduz uma nova dimensão de crescimento.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laço → cresce proporcional a n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laços → cresce proporcional a n²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laços → cresce proporcional a n³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simples: crescimento linear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uma ação principal por elemento: T(n) =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marginal: T(n) − T(n−1) =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Cortando a busca ao meio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descubra como cortar pela metade economiza passos.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Pense em um número entre 1 e 100 e não conte a ninguém.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Os alunos só podem perguntar “é maior ou menor que X?” — cada resposta corta a lista de possibilidades ao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Conte quantas perguntas foram precisas para acertar (normalmente, 7 ou menos).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Cortar pela metade a cada passo faz a busca crescer muito mais devagar do que ir um por 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BUSCA MAIS ESPERTA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Cortar pela metade economiza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lista de chamada, cada tentativa elimina só 1 nome — o trabalho cresce junto com o tamanho da lista.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No jogo de adivinhar, cada pergunta elimina metade das possibilidades — sobra muito menos para procurar a cada rodada.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Por isso 100 possibilidades caem para 1 em cerca de 7 perguntas, não em 100 tentativas.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mãos: sentindo o n²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sem computador, só a turma de pé.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Só a turma, em círculo.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aperta a mão de todos os colegas, uma vez cada — contem em voz alta o total ao final.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alunos, o total é n·(n−1)/2 — a mesma forma de um laço duplo percorrendo todos os pares.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Dobrem o grupo (chamem outra sala) e recontem: o número de apertos não dobra, quadruplica.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DIMENSÕES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duplo: crescimento quadrático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executa n vezes para cada valor de i.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 = n²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aproximado cresce com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 b="0">
                <a:solidFill>
                  <a:srgbClr val="44546A"/>
                </a:solidFill>
                <a:latin typeface="Calibri"/>
              </a:rPr>
              <a:t>E se fossem três laços aninhados? O crescimento fica ainda mais rápido — proporcional a n³.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Corrida das curvas com barbante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meça o crescimento com o corpo.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barbante ou fita métrica, giz ou fita crepe no chão.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Marquem três retas de mesma origem no chão. Para n = 5, 10 e 15, cortem pedaços de barbante proporcionais a n, a n² e a 2ⁿ (em cm) e estiquem cada um na sua reta.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= 15: o pedaço linear mede 15 cm, o quadrático 225 cm, e o exponencial passa de 300 metros — normalmente nem cabe na sala.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distância entre os barbantes é a mesma distância que separa as curvas do gráfico — só que agora pode ser medida a passos.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estável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elemento acrescenta praticamente o mesmo bloco de trabalho.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percorrer um vetor uma única vez.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 + 5  e  ΔT(n) =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crescente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adicional por novo elemento cresce com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algoritmos quadráticos ficam rapidamente caros.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n²  e  ΔT(n) = 2n − 1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× ESCALABILIDADE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Constantes escondidas ainda importam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crescem proporcional a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constante multiplicativa muda o custo concreto.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para o crescimento avalia escalabilidade; T(n) preserva eficiência aproximada.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dobra dobra o tamanho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como o crescimento explosivo foge do controle rápido.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folha de papel (quanto maior e mais fina, melhor).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 a folha ao meio e conte: 1 dobra. Dobre de novo: 2 dobras. Continue até não conseguir mais.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Na prática, ninguém passa de 7 ou 8 dobras — mas se desse para continuar até 42 dobras, a pilha chegaria à Lua.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dobra dobra a espessura anterior — é assim que um crescimento explosivo foge do controle rápido.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CRESCIMENTO EXPLOSIVO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Quando cada passo dobra o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dobradura, o tamanho da pilha de papel dobra a cada passo — não soma, multiplica.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É o mesmo tipo de crescimento da árvore de chamadas do Fibonacci ingênuo: cada chamada nova gera duas novas.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Poucos passos bastam para o número ficar impossível de continuar na mão — ou no computador.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como função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é curta, mas a implementação recursiva ingênua gera uma árvore de chamadas.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“usar recursão”. O problema é recalcular os mesmos subproblemas.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      F(1) = 1      F(n) = F(n−1) + F(n−2)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Árvore de chamadas com post-its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construa a recomputação com as mãos.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post-its (uma cor por valor de n) e um quadro ou mesa grande.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Em duplas, desenhem a árvore de chamadas de fib(5): um post-it para cada chamada — Fib(5), Fib(4), Fib(3)…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Toda vez que um valor de n já apareceu antes, colem o novo post-it em cima do anterior, não ao lado.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pilha de post-its sobrepostos mostra fisicamente o quanto foi recomputado — e antecipa a ideia de memoização.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recursivo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poucas linhas de código, mas muitas chamadas repetidas.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não medem complexidade.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chamadas é o objeto da análise.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RECOMPUTAÇÃO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chamadas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49240" y="1783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8176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24460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76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835140" y="3108960"/>
            <a:ext cx="10972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24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92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H="1">
            <a:off x="1074420" y="393192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6020" y="3931920"/>
            <a:ext cx="228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034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92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5140" y="3931920"/>
            <a:ext cx="4114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5140" y="3931920"/>
            <a:ext cx="17830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e Fib(2) aparecem mais de uma vez. Isso é recomputação.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Fibonacci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aproximado: T(n) = T(n−1) + T(n−2) + 1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duas chamadas gera uma expansão em árvore.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(1+√5)/2 ≈ 1,618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T(n−1) + T(n−2) + 1     →     quase dobra a cada chamada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ESTRUTURAL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Polinomial versus exponencial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n², a variável está na base.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φ^n, a variável está no expoente.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explica a explosão.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Memoização na lousa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a diferença entre recalcular e consultar.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quadro com uma tabela vazia de F(0) a F(10).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Um aluno é o “processador”: para calcular F(n), ele deve olhar a tabela antes de fazer qualquer conta.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 a casa já está preenchida, ele só aponta para o valor — não recalcula. Se está vazia, calcula, escreve e segue.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as duas versões — recalculando tudo × consultando a tabela — a diferença de tempo é a diferença entre recursão ingênua e programação dinâmica.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subproblema é resolvido várias vezes.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memoização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F(i) é calculado uma única vez e armazenado.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proporcional a 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FUNÇÃO, OUTRA ESTRATÉGIA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iterativo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percorre os estados de 0 até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proporcional a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praticamente fixa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recomputação.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DURANTE A ESCRITA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conferir a resposta, peça que os alunos respondam: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ação fundamental?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ela ocorre?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gera constante aditiva ou multiplicativa?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muda a ordem ou apenas o caminho?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221224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dobrar n, o trabalho dobra, quadruplica ou cresce mais?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SÍNTESE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O que importa não é quantas linhas o código tem, mas quantas vezes cada passo se repete conforme os dados crescem.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Laços moldam o 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Sequências calibram constantes; laços aninhados multiplicam o crescimento — é aí que nascem os crescimentos quadrático e outros ainda mais rápidos.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Programação dinâmica elimina recomputação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Guardar resultados de subproblemas troca uma explosão exponencial, como no Fibonacci ingênuo, por custo linear.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a_segu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A SEGUIR — AULA 15 de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Encerramento e Discussão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37 /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2026-08-25T00:52:41Z</dcterms:created>
  <dcterms:modified xsi:type="dcterms:W3CDTF">2026-08-25T00:52:41Z</dcterms:modified>
</cp:coreProperties>
</file>