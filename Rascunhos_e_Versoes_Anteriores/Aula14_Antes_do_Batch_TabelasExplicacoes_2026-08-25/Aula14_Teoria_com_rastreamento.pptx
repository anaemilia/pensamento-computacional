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303" r:id="rId41"/>
    <p:sldId id="304" r:id="rId40"/>
    <p:sldId id="262" r:id="rId8"/>
    <p:sldId id="263" r:id="rId9"/>
    <p:sldId id="305" r:id="rId39"/>
    <p:sldId id="264" r:id="rId10"/>
    <p:sldId id="265" r:id="rId11"/>
    <p:sldId id="306" r:id="rId38"/>
    <p:sldId id="266" r:id="rId12"/>
    <p:sldId id="267" r:id="rId13"/>
    <p:sldId id="307" r:id="rId37"/>
    <p:sldId id="309" r:id="rId35"/>
    <p:sldId id="302" r:id="rId53"/>
    <p:sldId id="269" r:id="rId15"/>
    <p:sldId id="301" r:id="rId52"/>
    <p:sldId id="274" r:id="rId20"/>
    <p:sldId id="313" r:id="rId31"/>
    <p:sldId id="275" r:id="rId21"/>
    <p:sldId id="312" r:id="rId32"/>
    <p:sldId id="314" r:id="rId28"/>
    <p:sldId id="272" r:id="rId18"/>
    <p:sldId id="308" r:id="rId36"/>
    <p:sldId id="310" r:id="rId34"/>
    <p:sldId id="276" r:id="rId22"/>
    <p:sldId id="300" r:id="rId51"/>
    <p:sldId id="277" r:id="rId23"/>
    <p:sldId id="279" r:id="rId25"/>
    <p:sldId id="280" r:id="rId26"/>
    <p:sldId id="311" r:id="rId33"/>
    <p:sldId id="281" r:id="rId27"/>
    <p:sldId id="299" r:id="rId50"/>
    <p:sldId id="283" r:id="rId29"/>
    <p:sldId id="284" r:id="rId30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2.xml"/><Relationship Id="rId11" Type="http://schemas.openxmlformats.org/officeDocument/2006/relationships/slide" Target="slides/slide13.xml"/><Relationship Id="rId12" Type="http://schemas.openxmlformats.org/officeDocument/2006/relationships/slide" Target="slides/slide15.xml"/><Relationship Id="rId13" Type="http://schemas.openxmlformats.org/officeDocument/2006/relationships/slide" Target="slides/slide16.xml"/><Relationship Id="rId15" Type="http://schemas.openxmlformats.org/officeDocument/2006/relationships/slide" Target="slides/slide20.xml"/><Relationship Id="rId18" Type="http://schemas.openxmlformats.org/officeDocument/2006/relationships/slide" Target="slides/slide27.xml"/><Relationship Id="rId20" Type="http://schemas.openxmlformats.org/officeDocument/2006/relationships/slide" Target="slides/slide22.xml"/><Relationship Id="rId21" Type="http://schemas.openxmlformats.org/officeDocument/2006/relationships/slide" Target="slides/slide24.xml"/><Relationship Id="rId22" Type="http://schemas.openxmlformats.org/officeDocument/2006/relationships/slide" Target="slides/slide30.xml"/><Relationship Id="rId23" Type="http://schemas.openxmlformats.org/officeDocument/2006/relationships/slide" Target="slides/slide32.xml"/><Relationship Id="rId25" Type="http://schemas.openxmlformats.org/officeDocument/2006/relationships/slide" Target="slides/slide33.xml"/><Relationship Id="rId26" Type="http://schemas.openxmlformats.org/officeDocument/2006/relationships/slide" Target="slides/slide34.xml"/><Relationship Id="rId27" Type="http://schemas.openxmlformats.org/officeDocument/2006/relationships/slide" Target="slides/slide36.xml"/><Relationship Id="rId28" Type="http://schemas.openxmlformats.org/officeDocument/2006/relationships/slide" Target="slides/slide26.xml"/><Relationship Id="rId29" Type="http://schemas.openxmlformats.org/officeDocument/2006/relationships/slide" Target="slides/slide38.xml"/><Relationship Id="rId30" Type="http://schemas.openxmlformats.org/officeDocument/2006/relationships/slide" Target="slides/slide39.xml"/><Relationship Id="rId31" Type="http://schemas.openxmlformats.org/officeDocument/2006/relationships/slide" Target="slides/slide23.xml"/><Relationship Id="rId32" Type="http://schemas.openxmlformats.org/officeDocument/2006/relationships/slide" Target="slides/slide25.xml"/><Relationship Id="rId33" Type="http://schemas.openxmlformats.org/officeDocument/2006/relationships/slide" Target="slides/slide35.xml"/><Relationship Id="rId34" Type="http://schemas.openxmlformats.org/officeDocument/2006/relationships/slide" Target="slides/slide29.xml"/><Relationship Id="rId35" Type="http://schemas.openxmlformats.org/officeDocument/2006/relationships/slide" Target="slides/slide18.xml"/><Relationship Id="rId36" Type="http://schemas.openxmlformats.org/officeDocument/2006/relationships/slide" Target="slides/slide28.xml"/><Relationship Id="rId37" Type="http://schemas.openxmlformats.org/officeDocument/2006/relationships/slide" Target="slides/slide17.xml"/><Relationship Id="rId38" Type="http://schemas.openxmlformats.org/officeDocument/2006/relationships/slide" Target="slides/slide14.xml"/><Relationship Id="rId39" Type="http://schemas.openxmlformats.org/officeDocument/2006/relationships/slide" Target="slides/slide11.xml"/><Relationship Id="rId40" Type="http://schemas.openxmlformats.org/officeDocument/2006/relationships/slide" Target="slides/slide8.xml"/><Relationship Id="rId41" Type="http://schemas.openxmlformats.org/officeDocument/2006/relationships/slide" Target="slides/slide7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Relationship Id="rId50" Type="http://schemas.openxmlformats.org/officeDocument/2006/relationships/slide" Target="slides/slide37.xml"/><Relationship Id="rId51" Type="http://schemas.openxmlformats.org/officeDocument/2006/relationships/slide" Target="slides/slide31.xml"/><Relationship Id="rId52" Type="http://schemas.openxmlformats.org/officeDocument/2006/relationships/slide" Target="slides/slide21.xml"/><Relationship Id="rId53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</c:v>
                </c:pt>
              </c:strCache>
            </c:strRef>
          </c:tx>
          <c:spPr>
            <a:solidFill>
              <a:srgbClr val="2C7A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n²</c:v>
                </c:pt>
              </c:strCache>
            </c:strRef>
          </c:tx>
          <c:spPr>
            <a:solidFill>
              <a:srgbClr val="E896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400</c:v>
                </c:pt>
                <c:pt idx="2">
                  <c:v>900</c:v>
                </c:pt>
                <c:pt idx="3">
                  <c:v>1600</c:v>
                </c:pt>
                <c:pt idx="4">
                  <c:v>2500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n³</c:v>
                </c:pt>
              </c:strCache>
            </c:strRef>
          </c:tx>
          <c:spPr>
            <a:solidFill>
              <a:srgbClr val="4454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1000</c:v>
                </c:pt>
                <c:pt idx="1">
                  <c:v>8000</c:v>
                </c:pt>
                <c:pt idx="2">
                  <c:v>27000</c:v>
                </c:pt>
                <c:pt idx="3">
                  <c:v>64000</c:v>
                </c:pt>
                <c:pt idx="4">
                  <c:v>125000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2n</c:v>
                </c:pt>
              </c:strCache>
            </c:strRef>
          </c:tx>
          <c:spPr>
            <a:solidFill>
              <a:srgbClr val="2C7A8C"/>
            </a:solidFill>
            <a:ln w="31750" cap="flat">
              <a:solidFill>
                <a:srgbClr val="2C7A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7A8C"/>
              </a:solidFill>
              <a:ln w="9525" cap="flat">
                <a:solidFill>
                  <a:srgbClr val="2C7A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100</c:v>
                  </c:pt>
                  <c:pt idx="1">
                    <c:v>500</c:v>
                  </c:pt>
                  <c:pt idx="2">
                    <c:v>1000</c:v>
                  </c:pt>
                  <c:pt idx="3">
                    <c:v>2000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200</c:v>
                </c:pt>
                <c:pt idx="1">
                  <c:v>1000</c:v>
                </c:pt>
                <c:pt idx="2">
                  <c:v>2000</c:v>
                </c:pt>
                <c:pt idx="3">
                  <c:v>4000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2000n</c:v>
                </c:pt>
              </c:strCache>
            </c:strRef>
          </c:tx>
          <c:spPr>
            <a:solidFill>
              <a:srgbClr val="E8963C"/>
            </a:solidFill>
            <a:ln w="31750" cap="flat">
              <a:solidFill>
                <a:srgbClr val="E896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963C"/>
              </a:solidFill>
              <a:ln w="9525" cap="flat">
                <a:solidFill>
                  <a:srgbClr val="E896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100</c:v>
                  </c:pt>
                  <c:pt idx="1">
                    <c:v>500</c:v>
                  </c:pt>
                  <c:pt idx="2">
                    <c:v>1000</c:v>
                  </c:pt>
                  <c:pt idx="3">
                    <c:v>2000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200000</c:v>
                </c:pt>
                <c:pt idx="1">
                  <c:v>1000000</c:v>
                </c:pt>
                <c:pt idx="2">
                  <c:v>2000000</c:v>
                </c:pt>
                <c:pt idx="3">
                  <c:v>4000000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T(n)</c:v>
                </c:pt>
              </c:strCache>
            </c:strRef>
          </c:tx>
          <c:spPr>
            <a:solidFill>
              <a:srgbClr val="2C7A8C"/>
            </a:solidFill>
            <a:ln w="31750" cap="flat">
              <a:solidFill>
                <a:srgbClr val="2C7A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7A8C"/>
              </a:solidFill>
              <a:ln w="9525" cap="flat">
                <a:solidFill>
                  <a:srgbClr val="2C7A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</c:v>
                </c:pt>
                <c:pt idx="1">
                  <c:v>11</c:v>
                </c:pt>
                <c:pt idx="2">
                  <c:v>14</c:v>
                </c:pt>
                <c:pt idx="3">
                  <c:v>17</c:v>
                </c:pt>
                <c:pt idx="4">
                  <c:v>20</c:v>
                </c:pt>
                <c:pt idx="5">
                  <c:v>23</c:v>
                </c:pt>
                <c:pt idx="6">
                  <c:v>26</c:v>
                </c:pt>
                <c:pt idx="7">
                  <c:v>29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ΔT(n)</c:v>
                </c:pt>
              </c:strCache>
            </c:strRef>
          </c:tx>
          <c:spPr>
            <a:solidFill>
              <a:srgbClr val="E8963C"/>
            </a:solidFill>
            <a:ln w="31750" cap="flat">
              <a:solidFill>
                <a:srgbClr val="E896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963C"/>
              </a:solidFill>
              <a:ln w="9525" cap="flat">
                <a:solidFill>
                  <a:srgbClr val="E896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T(n)</c:v>
                </c:pt>
              </c:strCache>
            </c:strRef>
          </c:tx>
          <c:spPr>
            <a:solidFill>
              <a:srgbClr val="2C7A8C"/>
            </a:solidFill>
            <a:ln w="31750" cap="flat">
              <a:solidFill>
                <a:srgbClr val="2C7A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7A8C"/>
              </a:solidFill>
              <a:ln w="9525" cap="flat">
                <a:solidFill>
                  <a:srgbClr val="2C7A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4</c:v>
                </c:pt>
                <c:pt idx="2">
                  <c:v>9</c:v>
                </c:pt>
                <c:pt idx="3">
                  <c:v>16</c:v>
                </c:pt>
                <c:pt idx="4">
                  <c:v>25</c:v>
                </c:pt>
                <c:pt idx="5">
                  <c:v>36</c:v>
                </c:pt>
                <c:pt idx="6">
                  <c:v>49</c:v>
                </c:pt>
                <c:pt idx="7">
                  <c:v>64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ΔT(n)</c:v>
                </c:pt>
              </c:strCache>
            </c:strRef>
          </c:tx>
          <c:spPr>
            <a:solidFill>
              <a:srgbClr val="E8963C"/>
            </a:solidFill>
            <a:ln w="31750" cap="flat">
              <a:solidFill>
                <a:srgbClr val="E896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963C"/>
              </a:solidFill>
              <a:ln w="9525" cap="flat">
                <a:solidFill>
                  <a:srgbClr val="E896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</c:v>
                </c:pt>
                <c:pt idx="1">
                  <c:v>3</c:v>
                </c:pt>
                <c:pt idx="2">
                  <c:v>5</c:v>
                </c:pt>
                <c:pt idx="3">
                  <c:v>7</c:v>
                </c:pt>
                <c:pt idx="4">
                  <c:v>9</c:v>
                </c:pt>
                <c:pt idx="5">
                  <c:v>11</c:v>
                </c:pt>
                <c:pt idx="6">
                  <c:v>13</c:v>
                </c:pt>
                <c:pt idx="7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n²</c:v>
                </c:pt>
              </c:strCache>
            </c:strRef>
          </c:tx>
          <c:spPr>
            <a:solidFill>
              <a:srgbClr val="2C7A8C"/>
            </a:solidFill>
            <a:ln w="31750" cap="flat">
              <a:solidFill>
                <a:srgbClr val="2C7A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7A8C"/>
              </a:solidFill>
              <a:ln w="9525" cap="flat">
                <a:solidFill>
                  <a:srgbClr val="2C7A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</c:v>
                  </c:pt>
                  <c:pt idx="1">
                    <c:v>10</c:v>
                  </c:pt>
                  <c:pt idx="2">
                    <c:v>15</c:v>
                  </c:pt>
                  <c:pt idx="3">
                    <c:v>20</c:v>
                  </c:pt>
                  <c:pt idx="4">
                    <c:v>25</c:v>
                  </c:pt>
                  <c:pt idx="5">
                    <c:v>30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100</c:v>
                </c:pt>
                <c:pt idx="2">
                  <c:v>225</c:v>
                </c:pt>
                <c:pt idx="3">
                  <c:v>400</c:v>
                </c:pt>
                <c:pt idx="4">
                  <c:v>625</c:v>
                </c:pt>
                <c:pt idx="5">
                  <c:v>900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φ^n</c:v>
                </c:pt>
              </c:strCache>
            </c:strRef>
          </c:tx>
          <c:spPr>
            <a:solidFill>
              <a:srgbClr val="E8963C"/>
            </a:solidFill>
            <a:ln w="31750" cap="flat">
              <a:solidFill>
                <a:srgbClr val="E896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963C"/>
              </a:solidFill>
              <a:ln w="9525" cap="flat">
                <a:solidFill>
                  <a:srgbClr val="E896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</c:v>
                  </c:pt>
                  <c:pt idx="1">
                    <c:v>10</c:v>
                  </c:pt>
                  <c:pt idx="2">
                    <c:v>15</c:v>
                  </c:pt>
                  <c:pt idx="3">
                    <c:v>20</c:v>
                  </c:pt>
                  <c:pt idx="4">
                    <c:v>25</c:v>
                  </c:pt>
                  <c:pt idx="5">
                    <c:v>30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</c:v>
                </c:pt>
                <c:pt idx="1">
                  <c:v>123</c:v>
                </c:pt>
                <c:pt idx="2">
                  <c:v>1364</c:v>
                </c:pt>
                <c:pt idx="3">
                  <c:v>15127</c:v>
                </c:pt>
                <c:pt idx="4">
                  <c:v>167761</c:v>
                </c:pt>
                <c:pt idx="5">
                  <c:v>1860498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2^n</c:v>
                </c:pt>
              </c:strCache>
            </c:strRef>
          </c:tx>
          <c:spPr>
            <a:solidFill>
              <a:srgbClr val="44546A"/>
            </a:solidFill>
            <a:ln w="31750" cap="flat">
              <a:solidFill>
                <a:srgbClr val="44546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4546A"/>
              </a:solidFill>
              <a:ln w="9525" cap="flat">
                <a:solidFill>
                  <a:srgbClr val="44546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</c:v>
                  </c:pt>
                  <c:pt idx="1">
                    <c:v>10</c:v>
                  </c:pt>
                  <c:pt idx="2">
                    <c:v>15</c:v>
                  </c:pt>
                  <c:pt idx="3">
                    <c:v>20</c:v>
                  </c:pt>
                  <c:pt idx="4">
                    <c:v>25</c:v>
                  </c:pt>
                  <c:pt idx="5">
                    <c:v>30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32</c:v>
                </c:pt>
                <c:pt idx="1">
                  <c:v>1024</c:v>
                </c:pt>
                <c:pt idx="2">
                  <c:v>32768</c:v>
                </c:pt>
                <c:pt idx="3">
                  <c:v>1048576</c:v>
                </c:pt>
                <c:pt idx="4">
                  <c:v>33554432</c:v>
                </c:pt>
                <c:pt idx="5">
                  <c:v>1073741824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99855" y="-1645920"/>
            <a:ext cx="4206240" cy="4206240"/>
          </a:xfrm>
          <a:prstGeom prst="ellipse">
            <a:avLst/>
          </a:prstGeom>
          <a:solidFill>
            <a:srgbClr val="2C7A8C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54335" y="548640"/>
            <a:ext cx="2194560" cy="2194560"/>
          </a:xfrm>
          <a:prstGeom prst="ellipse">
            <a:avLst/>
          </a:prstGeom>
          <a:solidFill>
            <a:srgbClr val="E8963C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914400"/>
            <a:ext cx="868680" cy="868680"/>
          </a:xfrm>
          <a:prstGeom prst="ellipse">
            <a:avLst/>
          </a:prstGeom>
          <a:solidFill>
            <a:srgbClr val="2C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ula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12014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1488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PENSAMENTO COMPUTACIONAL · AULA 14 DE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Complexidade de Algoritmos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77640"/>
            <a:ext cx="9509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C9D3DE"/>
                </a:solidFill>
                <a:latin typeface="Calibri"/>
              </a:rPr>
              <a:t>Como o trabalho de um algoritmo cresce, sentido na prática com atividades desplugadas — roteiro visual para aula ou minicurso.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0B3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CA0B3"/>
                </a:solidFill>
                <a:latin typeface="Calibri"/>
              </a:rPr>
              <a:t>01 / 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aprendizagem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686800" y="640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DA AULA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4663440"/>
          </a:xfrm>
          <a:prstGeom prst="roundRect">
            <a:avLst>
              <a:gd name="adj" fmla="val 1569"/>
            </a:avLst>
          </a:prstGeom>
          <a:solidFill>
            <a:srgbClr val="F7F9FC"/>
          </a:solidFill>
          <a:ln w="12700">
            <a:solidFill>
              <a:srgbClr val="E3E9F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1984248"/>
            <a:ext cx="512064" cy="512064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9842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91640" y="184708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a função de custo T(n) a partir da contagem de passos.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2990088"/>
            <a:ext cx="512064" cy="512064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2990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91640" y="285292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 sequência, decisão, repetição e recursão como contribuições distintas ao custo.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3995928"/>
            <a:ext cx="512064" cy="512064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3995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91640" y="385876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Perceber a diferença entre um algoritmo rápido na prática e um que escala melhor conforme os dados crescem.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4400" y="5001768"/>
            <a:ext cx="512064" cy="512064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14400" y="5001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91640" y="48646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Sentir o crescimento na prática, com atividades desplugadas e exemplos concretos.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 central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algoritmo que funciona para 100 entradas ainda será viável para 100 mil?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de complexidade não pergunta apenas “funciona?”. Ela pergunta “como o trabalho cresce?”.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pergunta antecede o tempo em segundos, porque segundos mudam com a máquina; passos pertencem ao algoritmo.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10789920" cy="1737360"/>
          </a:xfrm>
          <a:prstGeom prst="roundRect">
            <a:avLst>
              <a:gd name="adj" fmla="val 5263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97764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passos ↑↑   em função de   n ↑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CUSTO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Passos, não segundos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F7F9FC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945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 medido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processador, cache, compilador, linguagem, SO, I/O e concorrência.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96596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EEF3F8"/>
          </a:solidFill>
          <a:ln w="12700">
            <a:solidFill>
              <a:srgbClr val="2C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1945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lógicos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83464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Pertencem ao algoritmo e permitem comparar soluções antes de executar.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5257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 começa na contagem de ações fundamentais.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código ao crescimento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1B3A5C"/>
          </a:solidFill>
          <a:ln/>
          <a:effectLst>
            <a:outerShdw sx="100000" sy="100000" kx="0" ky="0" algn="bl" rotWithShape="0" blurRad="63500" dist="25400" dir="5400000">
              <a:srgbClr val="44546A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2377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71800" y="219456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29000" y="219456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1B3A5C"/>
          </a:solidFill>
          <a:ln/>
          <a:effectLst>
            <a:outerShdw sx="100000" sy="100000" kx="0" ky="0" algn="bl" rotWithShape="0" blurRad="63500" dist="25400" dir="5400000">
              <a:srgbClr val="44546A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429000" y="2377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T(n)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29000" y="3063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de custo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52160" y="219456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309360" y="219456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1B3A5C"/>
          </a:solidFill>
          <a:ln/>
          <a:effectLst>
            <a:outerShdw sx="100000" sy="100000" kx="0" ky="0" algn="bl" rotWithShape="0" blurRad="63500" dist="25400" dir="5400000">
              <a:srgbClr val="44546A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309360" y="2377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Termo dominante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3063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do crescimento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32520" y="219456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189720" y="219456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E8963C"/>
          </a:solidFill>
          <a:ln/>
          <a:effectLst>
            <a:outerShdw sx="100000" sy="100000" kx="0" ky="0" algn="bl" rotWithShape="0" blurRad="63500" dist="25400" dir="5400000">
              <a:srgbClr val="44546A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189720" y="2377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 de crescimento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89720" y="3063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3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114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classe de crescimento é o último passo. Ela não substitui a função de custo.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DECISÃO DA ANÁLISE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Ação fundamental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7899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contar, é preciso definir o que será contado.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 →  v[i] &gt; 0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 →  s += v[i]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chamada  →  fib(n-1)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escolha precisa ser coerente durante toda a análise.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O tamanho da pilha não importa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sinta o que é um custo que não cresce.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uma pilha de livros ou cadernos (pequena ou grande).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Peça a um aluno para pegar o livro do topo e cronometre. Depois peça para pegar um do meio.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Agora dobre o tamanho da pilha e repita: pegar o do topo continua levando o mesmo tempo.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Pegar o do topo é sempre 1 passo, não importa quantos livros existam por baixo — isso é custo fixo.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Cada aluno, os mesmos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veja o total crescer junto com a fila.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nenhum. Simule uma fila de lanche com a turma.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Cada aluno faz sempre os 3 mesmos passos: pega a bandeja, escolhe o item, paga.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Cronometre 5 alunos na fila, depois 10 — o tempo total dobra junto com o número de alunos.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O total cresce proporcional ao número de alunos: dobrar a fila dobra o tempo.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Sequências calibram o crescimento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ações dentro do laço geram uma constante multiplicativa.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3n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total ainda cresce proporcional a n, mas a constante representa trabalho real.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9" name="TextBox 8"/>
          <p:cNvSpPr txBox="1"/>
          <p:nvPr/>
        </p:nvSpPr>
        <p:spPr>
          <a:xfrm>
            <a:off x="548640" y="3700000"/>
            <a:ext cx="10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INSTANCIANDO T(n)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065760"/>
          <a:ext cx="8412480" cy="1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1828800"/>
                <a:gridCol w="1828800"/>
              </a:tblGrid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T(n) = 3n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an + 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Constante aditiva e multiplicativa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do laço: custo fixo.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do laço: custo por elemento.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do laço: custo fixo.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aproximado: T(n) = 2n + 4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TextBox 8"/>
          <p:cNvSpPr txBox="1"/>
          <p:nvPr/>
        </p:nvSpPr>
        <p:spPr>
          <a:xfrm>
            <a:off x="548640" y="3700000"/>
            <a:ext cx="10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INSTANCIANDO T(n)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065760"/>
          <a:ext cx="8412480" cy="1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1828800"/>
                <a:gridCol w="1828800"/>
              </a:tblGrid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T(n) = 2n + 4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Decidir não muda quantos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o caminho muda, o número de passos não.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um monte de roupas (ou cartões coloridos representando roupas).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Para cada peça, decida em voz alta “lavar” ou “guardar” e coloque na pilha certa.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Cronometre 10 peças: decidir e colocar leva praticamente o mesmo tempo por peça, qualquer que seja a decisão.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O total ainda cresce proporcional ao número de peças — o “se” não faz o trabalho dobrar.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Condicionais ajustam caminhos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com dois caminhos, apenas um é executado.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costuma permanecer o mesmo, não importa o tamanho da entrada.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condicionais importam para melhor caso, pior caso e caso médio.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CUSTO SE REPETE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IF dentro do laço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IF é constante, mas está sendo executado n vezes.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≈ c · n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prática é: quantas vezes esta decisão será tomada?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TextBox 8"/>
          <p:cNvSpPr txBox="1"/>
          <p:nvPr/>
        </p:nvSpPr>
        <p:spPr>
          <a:xfrm>
            <a:off x="548640" y="3700000"/>
            <a:ext cx="10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INSTANCIANDO T(n)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065760"/>
          <a:ext cx="8412480" cy="1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1828800"/>
                <a:gridCol w="1828800"/>
              </a:tblGrid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T(n) ≈ n (supondo c = 1)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Procurando um por 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sinta o custo de procurar sem atalho.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uma lista de nomes da turma, fora de ordem.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Escolha um nome e peça para um aluno encontrá-lo, dizendo cada nome em voz alta até achar.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Repita com um nome no início da lista e outro no fim — o segundo demora muito mais.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Sem uma lista organizada, encontrar um nome pode exigir olhar a lista inteira.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Laços multiplicam trabalho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laço aninhado introduz uma nova dimensão de crescimento.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laço → cresce proporcional a n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laços → cresce proporcional a n²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laços → cresce proporcional a n³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Laço simples: crescimento linear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há uma ação principal por elemento: T(n) = n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marginal: T(n) − T(n−1) = 1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44546A"/>
                </a:solidFill>
                <a:latin typeface="Calibri"/>
              </a:rPr>
              <a:t>n é o tamanho da entrada — quantos elementos o laço percorre.</a:t>
            </a:r>
          </a:p>
          <a:p>
            <a:pPr marL="203200" indent="-2032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44546A"/>
                </a:solidFill>
                <a:latin typeface="Calibri"/>
              </a:rPr>
              <a:t>T(n) é o total de passos gastos até processar todos os n elementos.</a:t>
            </a:r>
          </a:p>
          <a:p>
            <a:pPr marL="203200" indent="-2032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44546A"/>
                </a:solidFill>
                <a:latin typeface="Calibri"/>
              </a:rPr>
              <a:t>O custo marginal é quanto esse total aumenta ao processar mais um elemento — aqui, sempre 1 passo, porque cada elemento novo exige a mesma ação.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TextBox 8"/>
          <p:cNvSpPr txBox="1"/>
          <p:nvPr/>
        </p:nvSpPr>
        <p:spPr>
          <a:xfrm>
            <a:off x="548640" y="3700000"/>
            <a:ext cx="10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INSTANCIANDO T(n)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065760"/>
          <a:ext cx="8412480" cy="1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1828800"/>
                <a:gridCol w="1828800"/>
              </a:tblGrid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T(n) = 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Custo marginal: T(n) − T(n−1) = 1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Cortando a busca ao meio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descubra como cortar pela metade economiza passos.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nenhum. Pense em um número entre 1 e 100 e não conte a ninguém.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Os alunos só podem perguntar “é maior ou menor que X?” — cada resposta corta a lista de possibilidades ao meio.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Conte quantas perguntas foram precisas para acertar (normalmente, 7 ou menos).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Cortar pela metade a cada passo faz a busca crescer muito mais devagar do que ir um por um.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BUSCA MAIS ESPERTA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Cortar pela metade economiza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Na lista de chamada, cada tentativa elimina só 1 nome — o trabalho cresce junto com o tamanho da lista.</a:t>
            </a:r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No jogo de adivinhar, cada pergunta elimina metade das possibilidades — sobra muito menos para procurar a cada rodada.</a:t>
            </a:r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Por isso 100 possibilidades caem para 1 em cerca de 7 perguntas, não em 100 tentativas.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Aperto de mãos: sentindo o n²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sem computador, só a turma de pé.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nenhum. Só a turma, em círculo.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Cada aluno aperta a mão de todos os colegas, uma vez cada — contem em voz alta o total ao final.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Com n alunos, o total é n·(n−1)/2 — a mesma forma de um laço duplo percorrendo todos os pares.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Dobrem o grupo (chamem outra sala) e recontem: o número de apertos não dobra, quadruplica.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DE DIMENSÕES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Laço duplo: crescimento quadrático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laço interno executa n vezes para cada valor de i.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· n = n²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marginal aproximado cresce com n.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sz="1400" b="0">
                <a:solidFill>
                  <a:srgbClr val="44546A"/>
                </a:solidFill>
                <a:latin typeface="Calibri"/>
              </a:rPr>
              <a:t>E se fossem três laços aninhados? O crescimento fica ainda mais rápido — proporcional a n³.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Corrida das curvas com barbante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meça o crescimento com o corpo.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barbante ou fita métrica, giz ou fita crepe no chão.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Marquem três retas de mesma origem no chão. Para n = 5, 10 e 15, cortem pedaços de barbante proporcionais a n, a n² e a 2ⁿ (em cm) e estiquem cada um na sua reta.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Com n = 15: o pedaço linear mede 15 cm, o quadrático 225 cm, e o exponencial passa de 300 metros — normalmente nem cabe na sala.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 distância entre os barbantes é a mesma distância que separa as curvas do gráfico — só que agora pode ser medida a passos.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local estável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novo elemento acrescenta praticamente o mesmo bloco de trabalho.</a:t>
            </a:r>
            <a:endParaRPr lang="en-US" sz="1400" dirty="0"/>
          </a:p>
          <a:p>
            <a:pPr marL="203200" indent="-2032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percorrer um vetor uma única vez.</a:t>
            </a:r>
            <a:endParaRPr lang="en-US" sz="1400" dirty="0"/>
          </a:p>
          <a:p>
            <a:pPr marL="203200" indent="-2032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3n + 5  e  ΔT(n) = 3</a:t>
            </a:r>
            <a:endParaRPr lang="en-US" sz="1400" dirty="0"/>
          </a:p>
          <a:p>
            <a:pPr marL="203200" indent="-2032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ΔT(n) é o custo marginal: quanto o total aumenta quando n cresce em 1 unidade — ΔT(n) = T(n) − T(n−1).</a:t>
            </a:r>
          </a:p>
          <a:p>
            <a:pPr marL="203200" indent="-2032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Aqui esse aumento é sempre 3, não importa se n é 5 ou 50 — por isso o gráfico sobe em linha reta (ex.: T(5) = 20 e T(4) = 17, logo ΔT(5) = 20 − 17 = 3).</a:t>
            </a:r>
          </a:p>
          <a:p>
            <a:pPr marL="203200" indent="-2032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sz="1300" i="1">
                <a:solidFill>
                  <a:srgbClr val="44546A"/>
                </a:solidFill>
                <a:latin typeface="Calibri"/>
              </a:rPr>
              <a:t>Na prática: embalar caixas idênticas — cada caixa nova leva sempre os mesmos 3 minutos para fechar, não importa quantas já foram embaladas.</a:t>
            </a:r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INSTANCIANDO T(n)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Linear em números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Colocando valores de n na fórmula T(n) = 3n + 5: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286000"/>
          <a:ext cx="11040000" cy="1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000"/>
                <a:gridCol w="2400000"/>
                <a:gridCol w="2400000"/>
                <a:gridCol w="2400000"/>
              </a:tblGrid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T(n) = 3n + 5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ΔT(n)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QUADRÁTICO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local crescente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trabalho adicional por novo elemento cresce com n.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isso algoritmos quadráticos ficam rapidamente caros.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n²  e  ΔT(n) = 2n − 1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ΔT(n) é o custo marginal: quanto o total aumenta quando n cresce em 1 unidade — ΔT(n) = T(n) − T(n−1).</a:t>
            </a:r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Aqui esse aumento cresce junto com n (2n − 1) — por isso o gráfico curva para cima, cada vez mais rápido (ex.: T(5) = 25 e T(4) = 16, logo ΔT(5) = 25 − 16 = 9).</a:t>
            </a:r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sz="1300" i="1">
                <a:solidFill>
                  <a:srgbClr val="44546A"/>
                </a:solidFill>
                <a:latin typeface="Calibri"/>
              </a:rPr>
              <a:t>Na prática: é o aperto de mãos da atividade — quem chega cumprimenta todo mundo que já está no grupo, então o custo extra cresce junto com n.</a:t>
            </a:r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INSTANCIANDO T(n)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Quadrático em números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Colocando valores de n na fórmula T(n) = n²: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286000"/>
          <a:ext cx="11040000" cy="1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000"/>
                <a:gridCol w="2400000"/>
                <a:gridCol w="2400000"/>
                <a:gridCol w="2400000"/>
              </a:tblGrid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T(n) = n²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400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ΔT(n) = 2n − 1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CUSTO MARGINAL NA PRÁTICA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Aperto de mãos, em números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Aplicando a fórmula do aperto de mãos (n·(n−1)/2) a um grupo real, com cada cumprimento levando 3 segundos: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286000"/>
          <a:ext cx="11229000" cy="1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9000"/>
                <a:gridCol w="1970000"/>
                <a:gridCol w="1970000"/>
                <a:gridCol w="1970000"/>
                <a:gridCol w="1970000"/>
              </a:tblGrid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T(n) — tempo total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30 seg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2 min 15 seg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9 min 30 seg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21 min 45 seg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ΔT(n) — quem chega por último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12 seg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27 seg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57 seg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87 seg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086000"/>
            <a:ext cx="11064240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n é o tamanho do grupo; T(n) é o tempo total já gasto em cumprimentos até esse ponto; ΔT(n) é quanto a última pessoa a chegar gastou cumprimentando quem já estava lá.</a:t>
            </a:r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T(n) cresce rápido porque soma todos os pares possíveis do grupo — com 30 pessoas (duas turmas juntas) já passa de 21 minutos só em cumprimentos.</a:t>
            </a:r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ΔT(n) não fica fixo: cada pessoa nova custa mais que a anterior, porque encontra um grupo maior pela frente — 12 segundos com 5 pessoas, 87 segundos com 30. É essa progressão que mostra, na prática, um custo marginal crescente.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× ESCALABILIDADE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Constantes escondidas ainda importam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crescem proporcional a n.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a constante multiplicativa muda o custo concreto.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Olhar para o crescimento avalia escalabilidade; T(n) preserva eficiência aproximada.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Cada dobra dobra o tamanho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sinta como o crescimento explosivo foge do controle rápido.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uma folha de papel (quanto maior e mais fina, melhor).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Dobre a folha ao meio e conte: 1 dobra. Dobre de novo: 2 dobras. Continue até não conseguir mais.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Na prática, ninguém passa de 7 ou 8 dobras — mas se desse para continuar até 42 dobras, a pilha chegaria à Lua.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Cada dobra dobra a espessura anterior — é assim que um crescimento explosivo foge do controle rápido.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CRESCIMENTO EXPLOSIVO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Quando cada passo dobra o anterior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Na dobradura, o tamanho da pilha de papel dobra a cada passo — não soma, multiplica.</a:t>
            </a:r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É o mesmo tipo de crescimento da árvore de chamadas do Fibonacci ingênuo: cada chamada nova gera duas novas.</a:t>
            </a:r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Poucos passos bastam para o número ficar impossível de continuar na mão — ou no computador.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RECORRÊNCIA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Fibonacci como função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definição é curta, mas a implementação recursiva ingênua gera uma árvore de chamadas.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não é “usar recursão”. O problema é recalcular os mesmos subproblemas.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10789920" cy="1737360"/>
          </a:xfrm>
          <a:prstGeom prst="roundRect">
            <a:avLst>
              <a:gd name="adj" fmla="val 5263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97764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F(0) = 0      F(1) = 1      F(n) = F(n−1) + F(n−2)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Árvore de chamadas com post-its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construa a recomputação com as mãos.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post-its (uma cor por valor de n) e um quadro ou mesa grande.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Em duplas, desenhem a árvore de chamadas de fib(5): um post-it para cada chamada — Fib(5), Fib(4), Fib(3)…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Toda vez que um valor de n já apareceu antes, colem o novo post-it em cima do anterior, não ao lado.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 pilha de post-its sobrepostos mostra fisicamente o quanto foi recomputado — e antecipa a ideia de memoização.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Fibonacci recursivo ingênuo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poucas linhas de código, mas muitas chamadas repetidas.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de código não medem complexidade.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 de chamadas é o objeto da análise.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RECOMPUTAÇÃO VISUAL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Árvore de chamadas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349240" y="178308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5349240" y="17830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Fib(5)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91840" y="260604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26060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Fib(4)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06640" y="260604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0" y="26060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Fib(3)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flipH="1">
            <a:off x="3817620" y="2286000"/>
            <a:ext cx="20574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75020" y="2286000"/>
            <a:ext cx="20574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0240" y="34290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/>
        </p:spPr>
      </p:sp>
      <p:sp>
        <p:nvSpPr>
          <p:cNvPr id="13" name="Text 11"/>
          <p:cNvSpPr/>
          <p:nvPr/>
        </p:nvSpPr>
        <p:spPr>
          <a:xfrm>
            <a:off x="1920240" y="3429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Fib(3)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34290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3429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Fib(2)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34290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3429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Fib(2)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778240" y="34290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8778240" y="3429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Fib(1)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 flipH="1">
            <a:off x="2446020" y="3108960"/>
            <a:ext cx="13716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17620" y="3108960"/>
            <a:ext cx="13716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>
            <a:off x="6835140" y="3108960"/>
            <a:ext cx="109728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32420" y="3108960"/>
            <a:ext cx="13716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Fib(2)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1488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21488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Fib(1)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9776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39776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Fib(1)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3492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31" name="Text 29"/>
          <p:cNvSpPr/>
          <p:nvPr/>
        </p:nvSpPr>
        <p:spPr>
          <a:xfrm>
            <a:off x="53492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Fib(0)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7208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33" name="Text 31"/>
          <p:cNvSpPr/>
          <p:nvPr/>
        </p:nvSpPr>
        <p:spPr>
          <a:xfrm>
            <a:off x="67208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Fib(1)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0924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35" name="Text 33"/>
          <p:cNvSpPr/>
          <p:nvPr/>
        </p:nvSpPr>
        <p:spPr>
          <a:xfrm>
            <a:off x="80924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Fib(0)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 flipH="1">
            <a:off x="1074420" y="3931920"/>
            <a:ext cx="13716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46020" y="3931920"/>
            <a:ext cx="2286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H="1">
            <a:off x="4503420" y="3931920"/>
            <a:ext cx="6858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89220" y="3931920"/>
            <a:ext cx="6858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35140" y="3931920"/>
            <a:ext cx="41148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35140" y="3931920"/>
            <a:ext cx="178308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50749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Fib(3) e Fib(2) aparecem mais de uma vez. Isso é recomputação.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RECORRÊNCIA DE CUSTO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do Fibonacci ingênuo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aproximado: T(n) = T(n−1) + T(n−2) + 1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soma das duas chamadas gera uma expansão em árvore.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= (1+√5)/2 ≈ 1,618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10789920" cy="1737360"/>
          </a:xfrm>
          <a:prstGeom prst="roundRect">
            <a:avLst>
              <a:gd name="adj" fmla="val 5263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397764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T(n) = T(n−1) + T(n−2) + 1     →     quase dobra a cada chamada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INSTANCIANDO T(n)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A recorrência em números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Calculando T(n) = T(n−1) + T(n−2) + 1 passo a passo, a partir de T(0) = T(1) = 1: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286000"/>
          <a:ext cx="11780000" cy="1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000"/>
                <a:gridCol w="1550000"/>
                <a:gridCol w="1550000"/>
                <a:gridCol w="1550000"/>
                <a:gridCol w="1550000"/>
                <a:gridCol w="1550000"/>
                <a:gridCol w="1550000"/>
              </a:tblGrid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T(n)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 ESTRUTURAL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Polinomial versus exponencial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n², a variável está na base.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φ^n, a variável está no expoente.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diferença explica a explosão.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Memoização na lousa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sinta a diferença entre recalcular e consultar.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um quadro com uma tabela vazia de F(0) a F(10).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Um aluno é o “processador”: para calcular F(n), ele deve olhar a tabela antes de fazer qualquer conta.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Se a casa já está preenchida, ele só aponta para o valor — não recalcula. Se está vazia, calcula, escreve e segue.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Cronometre as duas versões — recalculando tudo × consultando a tabela — a diferença de tempo é a diferença entre recursão ingênua e programação dinâmica.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RECOMPUTAÇÃO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Programação dinâmica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F7F9FC"/>
          </a:solidFill>
          <a:ln w="12700">
            <a:solidFill>
              <a:srgbClr val="E3E9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21945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memória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subproblema é resolvido várias vezes.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96596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EEF3F8"/>
          </a:solidFill>
          <a:ln w="12700">
            <a:solidFill>
              <a:srgbClr val="2C7A8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37960" y="21945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memoização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83464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estado F(i) é calculado uma única vez e armazenado.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Custo: proporcional a 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FUNÇÃO, OUTRA ESTRATÉGIA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Fibonacci iterativo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algoritmo percorre os estados de 0 até n.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 proporcional a n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Memória: praticamente fixa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recomputação.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 DURANTE A ESCRITA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 em sala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conferir a resposta, peça que os alunos respondam: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1951"/>
            </a:avLst>
          </a:prstGeom>
          <a:solidFill>
            <a:srgbClr val="F7F9FC"/>
          </a:solidFill>
          <a:ln w="12700">
            <a:solidFill>
              <a:srgbClr val="E3E9F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a ação fundamental?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vezes ela ocorre?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sequência gera constante aditiva ou multiplicativa?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IF muda a ordem ou apenas o caminho?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5221224"/>
            <a:ext cx="420624" cy="420624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14400" y="5221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00200" y="5129784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dobrar n, o trabalho dobra, quadruplica ou cresce mais?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2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99855" y="-1645920"/>
            <a:ext cx="4206240" cy="4206240"/>
          </a:xfrm>
          <a:prstGeom prst="ellipse">
            <a:avLst/>
          </a:prstGeom>
          <a:solidFill>
            <a:srgbClr val="2C7A8C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54335" y="548640"/>
            <a:ext cx="2194560" cy="2194560"/>
          </a:xfrm>
          <a:prstGeom prst="ellipse">
            <a:avLst/>
          </a:prstGeom>
          <a:solidFill>
            <a:srgbClr val="E8963C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SÍNTESE DA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Como o trabalho cresce importa mais que o código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783080"/>
            <a:ext cx="457200" cy="457200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75564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mbria"/>
              </a:rPr>
              <a:t>Como o trabalho cresce importa mais que o código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057400"/>
            <a:ext cx="98755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9D3DE"/>
                </a:solidFill>
                <a:latin typeface="Calibri"/>
              </a:rPr>
              <a:t>O que importa não é quantas linhas o código tem, mas quantas vezes cada passo se repete conforme os dados crescem.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679192"/>
            <a:ext cx="457200" cy="457200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7919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651760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mbria"/>
              </a:rPr>
              <a:t>Laços moldam o crescimento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953512"/>
            <a:ext cx="98755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9D3DE"/>
                </a:solidFill>
                <a:latin typeface="Calibri"/>
              </a:rPr>
              <a:t>Sequências calibram constantes; laços aninhados multiplicam o crescimento — é aí que nascem os crescimentos quadrático e outros ainda mais rápidos.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575304"/>
            <a:ext cx="457200" cy="457200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575304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547872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mbria"/>
              </a:rPr>
              <a:t>Programação dinâmica elimina recomputação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849624"/>
            <a:ext cx="98755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9D3DE"/>
                </a:solidFill>
                <a:latin typeface="Calibri"/>
              </a:rPr>
              <a:t>Guardar resultados de subproblemas troca uma explosão exponencial, como no Fibonacci ingênuo, por custo linear.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11496"/>
            <a:ext cx="11274552" cy="1051560"/>
          </a:xfrm>
          <a:prstGeom prst="roundRect">
            <a:avLst>
              <a:gd name="adj" fmla="val 7800"/>
            </a:avLst>
          </a:prstGeom>
          <a:solidFill>
            <a:srgbClr val="1E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240" y="5385816"/>
            <a:ext cx="502920" cy="502920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arrow_a_segu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504688"/>
            <a:ext cx="265176" cy="2651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08760" y="529437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A SEGUIR — AULA 15 de 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56869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</a:rPr>
              <a:t>Encerramento e Discussão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0B3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CA0B3"/>
                </a:solidFill>
                <a:latin typeface="Calibri"/>
              </a:rPr>
              <a:t>41 / 42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2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26" y="548640"/>
            <a:ext cx="1048485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REFERÊNCIAS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26" y="1097280"/>
            <a:ext cx="10484857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Referências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26" y="2057400"/>
            <a:ext cx="10484857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4ECF3"/>
                </a:solidFill>
                <a:latin typeface="Calibri"/>
              </a:rPr>
              <a:t>RAABE, André; ZORZO, Avelino F.; BLIKSTEIN, Paulo. Computação na Educação Básica: Fundamentos e Experiências. Porto Alegre: Penso, 2020. Ebook. ISBN 9786581334048.</a:t>
            </a:r>
          </a:p>
          <a:p>
            <a:pPr algn="l">
              <a:spcBef>
                <a:spcPts val="1600"/>
              </a:spcBef>
            </a:pPr>
            <a:r>
              <a:rPr sz="1400" b="0">
                <a:solidFill>
                  <a:srgbClr val="E4ECF3"/>
                </a:solidFill>
                <a:latin typeface="Calibri"/>
              </a:rPr>
              <a:t>RIBEIRO, João Araújo. Introdução à Programação e aos algoritmos. Rio de Janeiro: LTC, 2019. ISBN 978-85-216-3640-3.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26" y="6343650"/>
            <a:ext cx="10484857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2026-08-25T00:52:41Z</dcterms:created>
  <dcterms:modified xsi:type="dcterms:W3CDTF">2026-08-25T00:52:41Z</dcterms:modified>
</cp:coreProperties>
</file>