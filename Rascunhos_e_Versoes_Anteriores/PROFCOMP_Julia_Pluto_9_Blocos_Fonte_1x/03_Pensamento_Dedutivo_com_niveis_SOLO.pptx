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pt-BR" sz="240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21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2.7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 gráfico textual pode apoiar a indução?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Crie barras de texto.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visualmente as frequências.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Formule a tendência dominante.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valores = [2, 5, 3]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barras = repeat.("█", valores)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2500" lnSpcReduction="9999"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Ajuda visual para o aluno entender melhor uma ideia antes de usar apenas números e sinais matemáticos. 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apoio icônico favorece análise em modos concretos e simbólicos.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representações ampliam a percepção de propriedades e relações.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visualização textual amplia a percepção de maior, menor e tendência sem depender de gráfico formal.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pt-BR" sz="240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22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2.8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distinguir padrão real de coincidência?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Use poucos dados.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Proponha duas regras possíveis.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Mostre que ambas explicam os casos.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[2, 4, 6]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regra1(n)=2n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regra2(n)=n^2-n+2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Múltiplas interpretações exigem monitoramento.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resultado final não esgota a aprendizagem do conceito.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reconhecer limites da ferramenta e do modelo.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tarefa mostra que poucos casos podem sustentar várias regras; a indução exige cautela.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pt-BR" sz="240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23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2.9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registrar uma hipótese para ser testada?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Escreva uma hipótese em texto.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Crie uma função correspondente.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a função em novos casos.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hipotese = "dobrar e somar 1"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f(n)=2n+1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[f(n) for n in 1:5]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Articulação entre linguagem natural e regra formal.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registro transforma a hipótese em objeto compartilhável e testável pela turma.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pt-BR" sz="240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24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2.10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avaliar pensamento indutivo?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2500" lnSpcReduction="9999"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hipótese, teste e revisão.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Analise se o estudante justifica a regra.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Valorize o percurso, não só o acerto.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avaliacao = (hipotese="2n", teste=true, revisao="incluir mais casos")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Níveis de resposta podem indicar maior integração.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percurso da tarefa revela mudanças no discurso e na 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a indução significa observar como o estudante gera, testa e reformula explicações.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56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52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Interlúdio • SOLO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11064240" y="100440"/>
            <a:ext cx="731160" cy="31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240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25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530280" y="749880"/>
            <a:ext cx="411120" cy="475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560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5"/>
          <p:cNvSpPr/>
          <p:nvPr/>
        </p:nvSpPr>
        <p:spPr>
          <a:xfrm>
            <a:off x="960120" y="1078920"/>
            <a:ext cx="68544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700" strike="noStrike" u="none">
                <a:solidFill>
                  <a:srgbClr val="2a9d8f"/>
                </a:solidFill>
                <a:effectLst/>
                <a:uFillTx/>
                <a:latin typeface="Aptos"/>
              </a:rPr>
              <a:t>S.1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1691640" y="667440"/>
            <a:ext cx="9920880" cy="621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342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O que são níveis SOLO?</a:t>
            </a:r>
            <a:endParaRPr b="0" lang="pt-BR" sz="3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7"/>
          <p:cNvSpPr/>
          <p:nvPr/>
        </p:nvSpPr>
        <p:spPr>
          <a:xfrm>
            <a:off x="594360" y="1417320"/>
            <a:ext cx="5028840" cy="1416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9000" bIns="9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b="0" lang="pt-BR" sz="182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• SOLO observa a qualidade da resposta produzida em uma tarefa.</a:t>
            </a:r>
            <a:endParaRPr b="0" lang="pt-BR" sz="1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pt-BR" sz="182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• A análise vai da resposta sem foco à resposta integrada.</a:t>
            </a:r>
            <a:endParaRPr b="0" lang="pt-BR" sz="1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pt-BR" sz="182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• Classifica a estrutura da resposta, não o aluno.</a:t>
            </a:r>
            <a:endParaRPr b="0" lang="pt-BR" sz="1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8"/>
          <p:cNvSpPr/>
          <p:nvPr/>
        </p:nvSpPr>
        <p:spPr>
          <a:xfrm>
            <a:off x="5989320" y="1353240"/>
            <a:ext cx="512028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67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EXEMPLO EM JULIA / PLUTO</a:t>
            </a:r>
            <a:endParaRPr b="0" lang="pt-BR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9"/>
          <p:cNvSpPr/>
          <p:nvPr/>
        </p:nvSpPr>
        <p:spPr>
          <a:xfrm>
            <a:off x="5989320" y="1755720"/>
            <a:ext cx="5166000" cy="11883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6120" bIns="96120" anchor="t">
            <a:noAutofit/>
          </a:bodyPr>
          <a:p>
            <a:r>
              <a:rPr b="0" lang="pt-BR" sz="1550" strike="noStrike" u="none">
                <a:solidFill>
                  <a:srgbClr val="f9fafb"/>
                </a:solidFill>
                <a:effectLst/>
                <a:uFillTx/>
                <a:latin typeface="Cascadia Mono"/>
              </a:rPr>
              <a:t>resposta = "testei a regra e revisei"</a:t>
            </a:r>
            <a:endParaRPr b="0" lang="pt-BR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pt-BR" sz="1550" strike="noStrike" u="none">
                <a:solidFill>
                  <a:srgbClr val="f9fafb"/>
                </a:solidFill>
                <a:effectLst/>
                <a:uFillTx/>
                <a:latin typeface="Cascadia Mono"/>
              </a:rPr>
              <a:t>evidencias = ["hipótese", "teste", "revisão"]</a:t>
            </a:r>
            <a:endParaRPr b="0" lang="pt-BR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550" strike="noStrike" u="none">
                <a:solidFill>
                  <a:srgbClr val="f9fafb"/>
                </a:solidFill>
                <a:effectLst/>
                <a:uFillTx/>
                <a:latin typeface="Cascadia Mono"/>
              </a:rPr>
              <a:t>length(evidencias)</a:t>
            </a:r>
            <a:endParaRPr b="0" lang="pt-BR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10"/>
          <p:cNvSpPr/>
          <p:nvPr/>
        </p:nvSpPr>
        <p:spPr>
          <a:xfrm>
            <a:off x="594360" y="3246120"/>
            <a:ext cx="1060668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67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COMO LER A RESPOSTA</a:t>
            </a:r>
            <a:endParaRPr b="0" lang="pt-BR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1"/>
          <p:cNvSpPr/>
          <p:nvPr/>
        </p:nvSpPr>
        <p:spPr>
          <a:xfrm>
            <a:off x="594360" y="3529440"/>
            <a:ext cx="10606680" cy="502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212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A pergunta principal é: a resposta apenas cita uma informação ou consegue ligar ideias para explicar o raciocínio?</a:t>
            </a:r>
            <a:endParaRPr b="0" lang="pt-BR" sz="2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Connector 12"/>
          <p:cNvCxnSpPr/>
          <p:nvPr/>
        </p:nvCxnSpPr>
        <p:spPr>
          <a:xfrm>
            <a:off x="1078920" y="4617720"/>
            <a:ext cx="9574200" cy="360"/>
          </a:xfrm>
          <a:prstGeom prst="straightConnector1">
            <a:avLst/>
          </a:prstGeom>
          <a:ln w="38100">
            <a:solidFill>
              <a:srgbClr val="cbd5e1"/>
            </a:solidFill>
          </a:ln>
        </p:spPr>
      </p:cxnSp>
      <p:sp>
        <p:nvSpPr>
          <p:cNvPr id="79" name="Oval 13"/>
          <p:cNvSpPr/>
          <p:nvPr/>
        </p:nvSpPr>
        <p:spPr>
          <a:xfrm>
            <a:off x="914400" y="4370760"/>
            <a:ext cx="502560" cy="5025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0" name="Rectangle 14"/>
          <p:cNvSpPr/>
          <p:nvPr/>
        </p:nvSpPr>
        <p:spPr>
          <a:xfrm>
            <a:off x="685800" y="4919400"/>
            <a:ext cx="1051200" cy="31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2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sem foco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Oval 15"/>
          <p:cNvSpPr/>
          <p:nvPr/>
        </p:nvSpPr>
        <p:spPr>
          <a:xfrm>
            <a:off x="3200400" y="4370760"/>
            <a:ext cx="502560" cy="5025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2" name="Rectangle 16"/>
          <p:cNvSpPr/>
          <p:nvPr/>
        </p:nvSpPr>
        <p:spPr>
          <a:xfrm>
            <a:off x="2971800" y="4919400"/>
            <a:ext cx="1051200" cy="31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2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uma ideia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Oval 17"/>
          <p:cNvSpPr/>
          <p:nvPr/>
        </p:nvSpPr>
        <p:spPr>
          <a:xfrm>
            <a:off x="5486400" y="4370760"/>
            <a:ext cx="502560" cy="5025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4" name="Rectangle 18"/>
          <p:cNvSpPr/>
          <p:nvPr/>
        </p:nvSpPr>
        <p:spPr>
          <a:xfrm>
            <a:off x="5257800" y="4919400"/>
            <a:ext cx="1051200" cy="31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2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várias ideias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Oval 19"/>
          <p:cNvSpPr/>
          <p:nvPr/>
        </p:nvSpPr>
        <p:spPr>
          <a:xfrm>
            <a:off x="7772400" y="4370760"/>
            <a:ext cx="502560" cy="5025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6" name="Rectangle 20"/>
          <p:cNvSpPr/>
          <p:nvPr/>
        </p:nvSpPr>
        <p:spPr>
          <a:xfrm>
            <a:off x="7543800" y="4919400"/>
            <a:ext cx="1051200" cy="31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2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ideias ligadas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Oval 21"/>
          <p:cNvSpPr/>
          <p:nvPr/>
        </p:nvSpPr>
        <p:spPr>
          <a:xfrm>
            <a:off x="10058400" y="4370760"/>
            <a:ext cx="502560" cy="5025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8" name="Rectangle 22"/>
          <p:cNvSpPr/>
          <p:nvPr/>
        </p:nvSpPr>
        <p:spPr>
          <a:xfrm>
            <a:off x="9829800" y="4919400"/>
            <a:ext cx="1051200" cy="31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2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transferência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23"/>
          <p:cNvSpPr/>
          <p:nvPr/>
        </p:nvSpPr>
        <p:spPr>
          <a:xfrm>
            <a:off x="594360" y="5440680"/>
            <a:ext cx="566892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67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IMPORTÂNCIA NA APRENDIZAGEM</a:t>
            </a:r>
            <a:endParaRPr b="0" lang="pt-BR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24"/>
          <p:cNvSpPr/>
          <p:nvPr/>
        </p:nvSpPr>
        <p:spPr>
          <a:xfrm>
            <a:off x="594360" y="5715000"/>
            <a:ext cx="10606680" cy="347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82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Permite valorizar justificativa, revisão e integração conceitual, não apenas o acerto final do código.</a:t>
            </a:r>
            <a:endParaRPr b="0" lang="pt-BR" sz="1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56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2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52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Interlúdio • SOLO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3"/>
          <p:cNvSpPr/>
          <p:nvPr/>
        </p:nvSpPr>
        <p:spPr>
          <a:xfrm>
            <a:off x="11064240" y="100440"/>
            <a:ext cx="731160" cy="31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240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26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5"/>
          <p:cNvSpPr/>
          <p:nvPr/>
        </p:nvSpPr>
        <p:spPr>
          <a:xfrm>
            <a:off x="960120" y="1078920"/>
            <a:ext cx="68544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700" strike="noStrike" u="none">
                <a:solidFill>
                  <a:srgbClr val="2a9d8f"/>
                </a:solidFill>
                <a:effectLst/>
                <a:uFillTx/>
                <a:latin typeface="Aptos"/>
              </a:rPr>
              <a:t>S.2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6"/>
          <p:cNvSpPr/>
          <p:nvPr/>
        </p:nvSpPr>
        <p:spPr>
          <a:xfrm>
            <a:off x="1691640" y="667440"/>
            <a:ext cx="9920880" cy="621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342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Quais são os cinco níveis SOLO?</a:t>
            </a:r>
            <a:endParaRPr b="0" lang="pt-BR" sz="3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7"/>
          <p:cNvSpPr/>
          <p:nvPr/>
        </p:nvSpPr>
        <p:spPr>
          <a:xfrm>
            <a:off x="594360" y="1417320"/>
            <a:ext cx="1078956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67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ESCALA DE INTEGRAÇÃO DA RESPOSTA</a:t>
            </a:r>
            <a:endParaRPr b="0" lang="pt-BR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" name="Connector 8"/>
          <p:cNvCxnSpPr/>
          <p:nvPr/>
        </p:nvCxnSpPr>
        <p:spPr>
          <a:xfrm>
            <a:off x="3474720" y="3154680"/>
            <a:ext cx="365760" cy="360"/>
          </a:xfrm>
          <a:prstGeom prst="straightConnector1">
            <a:avLst/>
          </a:prstGeom>
          <a:ln w="25400">
            <a:solidFill>
              <a:srgbClr val="cbd5e1"/>
            </a:solidFill>
          </a:ln>
        </p:spPr>
      </p:cxnSp>
      <p:cxnSp>
        <p:nvCxnSpPr>
          <p:cNvPr id="98" name="Connector 9"/>
          <p:cNvCxnSpPr/>
          <p:nvPr/>
        </p:nvCxnSpPr>
        <p:spPr>
          <a:xfrm>
            <a:off x="5486400" y="3154680"/>
            <a:ext cx="366120" cy="360"/>
          </a:xfrm>
          <a:prstGeom prst="straightConnector1">
            <a:avLst/>
          </a:prstGeom>
          <a:ln w="25400">
            <a:solidFill>
              <a:srgbClr val="cbd5e1"/>
            </a:solidFill>
          </a:ln>
        </p:spPr>
      </p:cxnSp>
      <p:cxnSp>
        <p:nvCxnSpPr>
          <p:cNvPr id="99" name="Connector 10"/>
          <p:cNvCxnSpPr/>
          <p:nvPr/>
        </p:nvCxnSpPr>
        <p:spPr>
          <a:xfrm>
            <a:off x="7497720" y="3154680"/>
            <a:ext cx="366480" cy="360"/>
          </a:xfrm>
          <a:prstGeom prst="straightConnector1">
            <a:avLst/>
          </a:prstGeom>
          <a:ln w="25400">
            <a:solidFill>
              <a:srgbClr val="cbd5e1"/>
            </a:solidFill>
          </a:ln>
        </p:spPr>
      </p:cxnSp>
      <p:cxnSp>
        <p:nvCxnSpPr>
          <p:cNvPr id="100" name="Connector 11"/>
          <p:cNvCxnSpPr/>
          <p:nvPr/>
        </p:nvCxnSpPr>
        <p:spPr>
          <a:xfrm>
            <a:off x="9509760" y="3154680"/>
            <a:ext cx="366120" cy="360"/>
          </a:xfrm>
          <a:prstGeom prst="straightConnector1">
            <a:avLst/>
          </a:prstGeom>
          <a:ln w="25400">
            <a:solidFill>
              <a:srgbClr val="cbd5e1"/>
            </a:solidFill>
          </a:ln>
        </p:spPr>
      </p:cxnSp>
      <p:sp>
        <p:nvSpPr>
          <p:cNvPr id="101" name="Rounded Rectangle 12"/>
          <p:cNvSpPr/>
          <p:nvPr/>
        </p:nvSpPr>
        <p:spPr>
          <a:xfrm>
            <a:off x="594360" y="1874520"/>
            <a:ext cx="1874160" cy="2559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580" strike="noStrike" u="none">
                <a:solidFill>
                  <a:srgbClr val="f59e0b"/>
                </a:solidFill>
                <a:effectLst/>
                <a:uFillTx/>
                <a:latin typeface="Aptos Display"/>
              </a:rPr>
              <a:t>Pré-estrutural</a:t>
            </a:r>
            <a:endParaRPr b="0" lang="pt-BR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pt-BR" sz="128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Resposta sem relação clara com o foco da tarefa.</a:t>
            </a:r>
            <a:endParaRPr b="0" lang="pt-BR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13"/>
          <p:cNvSpPr/>
          <p:nvPr/>
        </p:nvSpPr>
        <p:spPr>
          <a:xfrm>
            <a:off x="2633400" y="1874520"/>
            <a:ext cx="1874160" cy="2559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58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Uniestrutural</a:t>
            </a:r>
            <a:endParaRPr b="0" lang="pt-BR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pt-BR" sz="128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Usa uma ideia relevante, mas ainda isolada.</a:t>
            </a:r>
            <a:endParaRPr b="0" lang="pt-BR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14"/>
          <p:cNvSpPr/>
          <p:nvPr/>
        </p:nvSpPr>
        <p:spPr>
          <a:xfrm>
            <a:off x="4672440" y="1874520"/>
            <a:ext cx="1874160" cy="2559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580" strike="noStrike" u="none">
                <a:solidFill>
                  <a:srgbClr val="3b82f6"/>
                </a:solidFill>
                <a:effectLst/>
                <a:uFillTx/>
                <a:latin typeface="Aptos Display"/>
              </a:rPr>
              <a:t>Multiestrutural</a:t>
            </a:r>
            <a:endParaRPr b="0" lang="pt-BR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pt-BR" sz="128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Lista várias ideias, porém com pouca articulação.</a:t>
            </a:r>
            <a:endParaRPr b="0" lang="pt-BR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15"/>
          <p:cNvSpPr/>
          <p:nvPr/>
        </p:nvSpPr>
        <p:spPr>
          <a:xfrm>
            <a:off x="6711840" y="1874520"/>
            <a:ext cx="1874160" cy="2559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580" strike="noStrike" u="none">
                <a:solidFill>
                  <a:srgbClr val="8b5cf6"/>
                </a:solidFill>
                <a:effectLst/>
                <a:uFillTx/>
                <a:latin typeface="Aptos Display"/>
              </a:rPr>
              <a:t>Relacional</a:t>
            </a:r>
            <a:endParaRPr b="0" lang="pt-BR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pt-BR" sz="128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Relaciona ideias e constrói explicação coerente.</a:t>
            </a:r>
            <a:endParaRPr b="0" lang="pt-BR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16"/>
          <p:cNvSpPr/>
          <p:nvPr/>
        </p:nvSpPr>
        <p:spPr>
          <a:xfrm>
            <a:off x="8750880" y="1874520"/>
            <a:ext cx="1874160" cy="2559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580" strike="noStrike" u="none">
                <a:solidFill>
                  <a:srgbClr val="22c55e"/>
                </a:solidFill>
                <a:effectLst/>
                <a:uFillTx/>
                <a:latin typeface="Aptos Display"/>
              </a:rPr>
              <a:t>Abstrato estendido</a:t>
            </a:r>
            <a:endParaRPr b="0" lang="pt-BR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pt-BR" sz="128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Generaliza, transfere ou aplica em nova situação.</a:t>
            </a:r>
            <a:endParaRPr b="0" lang="pt-BR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17"/>
          <p:cNvSpPr/>
          <p:nvPr/>
        </p:nvSpPr>
        <p:spPr>
          <a:xfrm>
            <a:off x="594360" y="4791600"/>
            <a:ext cx="475452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67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LEITURA SIMPLES</a:t>
            </a:r>
            <a:endParaRPr b="0" lang="pt-BR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18"/>
          <p:cNvSpPr/>
          <p:nvPr/>
        </p:nvSpPr>
        <p:spPr>
          <a:xfrm>
            <a:off x="594360" y="5074920"/>
            <a:ext cx="5120280" cy="639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205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Quanto mais alto o nível, mais a resposta integra informações, relações e justificativas.</a:t>
            </a:r>
            <a:endParaRPr b="0" lang="pt-BR" sz="2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9"/>
          <p:cNvSpPr/>
          <p:nvPr/>
        </p:nvSpPr>
        <p:spPr>
          <a:xfrm>
            <a:off x="6126480" y="4791600"/>
            <a:ext cx="475452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67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CUIDADO DIDÁTICO</a:t>
            </a:r>
            <a:endParaRPr b="0" lang="pt-BR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20"/>
          <p:cNvSpPr/>
          <p:nvPr/>
        </p:nvSpPr>
        <p:spPr>
          <a:xfrm>
            <a:off x="6126480" y="5074920"/>
            <a:ext cx="5120280" cy="639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205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O nível pode mudar conforme a tarefa, o apoio dado, a linguagem usada e a oportunidade de revisão.</a:t>
            </a:r>
            <a:endParaRPr b="0" lang="pt-BR" sz="2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56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2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52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Interlúdio • SOLO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3"/>
          <p:cNvSpPr/>
          <p:nvPr/>
        </p:nvSpPr>
        <p:spPr>
          <a:xfrm>
            <a:off x="11064240" y="100440"/>
            <a:ext cx="731160" cy="31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240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27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5"/>
          <p:cNvSpPr/>
          <p:nvPr/>
        </p:nvSpPr>
        <p:spPr>
          <a:xfrm>
            <a:off x="960120" y="1078920"/>
            <a:ext cx="68544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700" strike="noStrike" u="none">
                <a:solidFill>
                  <a:srgbClr val="2a9d8f"/>
                </a:solidFill>
                <a:effectLst/>
                <a:uFillTx/>
                <a:latin typeface="Aptos"/>
              </a:rPr>
              <a:t>S.3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6"/>
          <p:cNvSpPr/>
          <p:nvPr/>
        </p:nvSpPr>
        <p:spPr>
          <a:xfrm>
            <a:off x="1691640" y="667440"/>
            <a:ext cx="9920880" cy="621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342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Como reconhecer os níveis nas respostas?</a:t>
            </a:r>
            <a:endParaRPr b="0" lang="pt-BR" sz="3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7"/>
          <p:cNvSpPr/>
          <p:nvPr/>
        </p:nvSpPr>
        <p:spPr>
          <a:xfrm>
            <a:off x="594360" y="1417320"/>
            <a:ext cx="512028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67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PERGUNTA PARA A TURMA</a:t>
            </a:r>
            <a:endParaRPr b="0" lang="pt-BR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8"/>
          <p:cNvSpPr/>
          <p:nvPr/>
        </p:nvSpPr>
        <p:spPr>
          <a:xfrm>
            <a:off x="594360" y="1719000"/>
            <a:ext cx="5257440" cy="365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205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Por que a regra abaixo decide se um número é par?</a:t>
            </a:r>
            <a:endParaRPr b="0" lang="pt-BR" sz="2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9"/>
          <p:cNvSpPr/>
          <p:nvPr/>
        </p:nvSpPr>
        <p:spPr>
          <a:xfrm>
            <a:off x="594360" y="2176200"/>
            <a:ext cx="5120280" cy="8683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6120" bIns="96120" anchor="t">
            <a:noAutofit/>
          </a:bodyPr>
          <a:p>
            <a:r>
              <a:rPr b="0" lang="pt-BR" sz="1650" strike="noStrike" u="none">
                <a:solidFill>
                  <a:srgbClr val="f9fafb"/>
                </a:solidFill>
                <a:effectLst/>
                <a:uFillTx/>
                <a:latin typeface="Cascadia Mono"/>
              </a:rPr>
              <a:t>ehpar(n) = n % 2 == 0</a:t>
            </a:r>
            <a:endParaRPr b="0" lang="pt-BR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650" strike="noStrike" u="none">
                <a:solidFill>
                  <a:srgbClr val="f9fafb"/>
                </a:solidFill>
                <a:effectLst/>
                <a:uFillTx/>
                <a:latin typeface="Cascadia Mono"/>
              </a:rPr>
              <a:t>ehpar.(1:6)</a:t>
            </a:r>
            <a:endParaRPr b="0" lang="pt-BR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10"/>
          <p:cNvSpPr/>
          <p:nvPr/>
        </p:nvSpPr>
        <p:spPr>
          <a:xfrm>
            <a:off x="6080760" y="1417320"/>
            <a:ext cx="512028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67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RESPOSTAS POSSÍVEIS</a:t>
            </a:r>
            <a:endParaRPr b="0" lang="pt-BR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11"/>
          <p:cNvSpPr/>
          <p:nvPr/>
        </p:nvSpPr>
        <p:spPr>
          <a:xfrm>
            <a:off x="6080760" y="1737360"/>
            <a:ext cx="5166000" cy="6213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73080" tIns="45000" bIns="27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450" strike="noStrike" u="none">
                <a:solidFill>
                  <a:srgbClr val="f59e0b"/>
                </a:solidFill>
                <a:effectLst/>
                <a:uFillTx/>
                <a:latin typeface="Aptos Display"/>
              </a:rPr>
              <a:t>Pré: </a:t>
            </a:r>
            <a:r>
              <a:rPr b="0" lang="pt-BR" sz="145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“Porque sim.”</a:t>
            </a:r>
            <a:endParaRPr b="0" lang="pt-B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12"/>
          <p:cNvSpPr/>
          <p:nvPr/>
        </p:nvSpPr>
        <p:spPr>
          <a:xfrm>
            <a:off x="6080760" y="2432160"/>
            <a:ext cx="5166000" cy="6213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73080" tIns="45000" bIns="27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45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Uni: </a:t>
            </a:r>
            <a:r>
              <a:rPr b="0" lang="pt-BR" sz="145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“Porque o resto é zero.”</a:t>
            </a:r>
            <a:endParaRPr b="0" lang="pt-B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13"/>
          <p:cNvSpPr/>
          <p:nvPr/>
        </p:nvSpPr>
        <p:spPr>
          <a:xfrm>
            <a:off x="6080760" y="3127320"/>
            <a:ext cx="5166000" cy="6213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73080" tIns="45000" bIns="27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450" strike="noStrike" u="none">
                <a:solidFill>
                  <a:srgbClr val="3b82f6"/>
                </a:solidFill>
                <a:effectLst/>
                <a:uFillTx/>
                <a:latin typeface="Aptos Display"/>
              </a:rPr>
              <a:t>Multi: </a:t>
            </a:r>
            <a:r>
              <a:rPr b="0" lang="pt-BR" sz="145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“Usa divisão, resto e número par.”</a:t>
            </a:r>
            <a:endParaRPr b="0" lang="pt-B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14"/>
          <p:cNvSpPr/>
          <p:nvPr/>
        </p:nvSpPr>
        <p:spPr>
          <a:xfrm>
            <a:off x="6080760" y="3822120"/>
            <a:ext cx="5166000" cy="6213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73080" tIns="45000" bIns="27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450" strike="noStrike" u="none">
                <a:solidFill>
                  <a:srgbClr val="8b5cf6"/>
                </a:solidFill>
                <a:effectLst/>
                <a:uFillTx/>
                <a:latin typeface="Aptos Display"/>
              </a:rPr>
              <a:t>Relacional: </a:t>
            </a:r>
            <a:r>
              <a:rPr b="0" lang="pt-BR" sz="145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“Se dividir por 2 e o resto for 0, então é par.”</a:t>
            </a:r>
            <a:endParaRPr b="0" lang="pt-B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15"/>
          <p:cNvSpPr/>
          <p:nvPr/>
        </p:nvSpPr>
        <p:spPr>
          <a:xfrm>
            <a:off x="6080760" y="4517280"/>
            <a:ext cx="5166000" cy="6213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587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73080" tIns="45000" bIns="27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450" strike="noStrike" u="none">
                <a:solidFill>
                  <a:srgbClr val="22c55e"/>
                </a:solidFill>
                <a:effectLst/>
                <a:uFillTx/>
                <a:latin typeface="Aptos Display"/>
              </a:rPr>
              <a:t>Abstrato: </a:t>
            </a:r>
            <a:r>
              <a:rPr b="0" lang="pt-BR" sz="145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“Esse critério vale para inteiros e pode ser comparado com outras regras de divisibilidade.”</a:t>
            </a:r>
            <a:endParaRPr b="0" lang="pt-B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16"/>
          <p:cNvSpPr/>
          <p:nvPr/>
        </p:nvSpPr>
        <p:spPr>
          <a:xfrm>
            <a:off x="594360" y="3383280"/>
            <a:ext cx="530316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67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O QUE O PROFESSOR OBSERVA</a:t>
            </a:r>
            <a:endParaRPr b="0" lang="pt-BR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17"/>
          <p:cNvSpPr/>
          <p:nvPr/>
        </p:nvSpPr>
        <p:spPr>
          <a:xfrm>
            <a:off x="594360" y="3913560"/>
            <a:ext cx="5303160" cy="1234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9000" bIns="9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b="0" lang="pt-BR" sz="1779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• Há evidência matemática ou apenas execução?</a:t>
            </a:r>
            <a:endParaRPr b="0" lang="pt-BR" sz="17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pt-BR" sz="1779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• A resposta liga regra, caso e conclusão?</a:t>
            </a:r>
            <a:endParaRPr b="0" lang="pt-BR" sz="17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pt-BR" sz="1779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• O estudante consegue revisar ou aplicar em outra situação?</a:t>
            </a:r>
            <a:endParaRPr b="0" lang="pt-BR" sz="17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18"/>
          <p:cNvSpPr/>
          <p:nvPr/>
        </p:nvSpPr>
        <p:spPr>
          <a:xfrm>
            <a:off x="594360" y="5212080"/>
            <a:ext cx="685764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67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IMPORTÂNCIA NA AVALIAÇÃO</a:t>
            </a:r>
            <a:endParaRPr b="0" lang="pt-BR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19"/>
          <p:cNvSpPr/>
          <p:nvPr/>
        </p:nvSpPr>
        <p:spPr>
          <a:xfrm>
            <a:off x="594360" y="5504760"/>
            <a:ext cx="10698120" cy="438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82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O mesmo código pode esconder níveis diferentes de compreensão; a fala, a justificativa e a revisão tornam o raciocínio observável.</a:t>
            </a:r>
            <a:endParaRPr b="0" lang="pt-BR" sz="1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56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2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52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Interlúdio • SOLO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3"/>
          <p:cNvSpPr/>
          <p:nvPr/>
        </p:nvSpPr>
        <p:spPr>
          <a:xfrm>
            <a:off x="11064240" y="100440"/>
            <a:ext cx="731160" cy="31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240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28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5"/>
          <p:cNvSpPr/>
          <p:nvPr/>
        </p:nvSpPr>
        <p:spPr>
          <a:xfrm>
            <a:off x="960120" y="1078920"/>
            <a:ext cx="68544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700" strike="noStrike" u="none">
                <a:solidFill>
                  <a:srgbClr val="2a9d8f"/>
                </a:solidFill>
                <a:effectLst/>
                <a:uFillTx/>
                <a:latin typeface="Aptos"/>
              </a:rPr>
              <a:t>S.4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6"/>
          <p:cNvSpPr/>
          <p:nvPr/>
        </p:nvSpPr>
        <p:spPr>
          <a:xfrm>
            <a:off x="1691640" y="667440"/>
            <a:ext cx="9920880" cy="621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342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Como usar SOLO nas tarefas Julia/Pluto?</a:t>
            </a:r>
            <a:endParaRPr b="0" lang="pt-BR" sz="3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7"/>
          <p:cNvSpPr/>
          <p:nvPr/>
        </p:nvSpPr>
        <p:spPr>
          <a:xfrm>
            <a:off x="594360" y="1417320"/>
            <a:ext cx="512028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67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ROTEIRO DE OBSERVAÇÃO</a:t>
            </a:r>
            <a:endParaRPr b="0" lang="pt-BR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8"/>
          <p:cNvSpPr/>
          <p:nvPr/>
        </p:nvSpPr>
        <p:spPr>
          <a:xfrm>
            <a:off x="594360" y="1719000"/>
            <a:ext cx="5257440" cy="2331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9000" bIns="9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b="0" lang="pt-BR" sz="1779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• Hipótese: o estudante formula uma regra?</a:t>
            </a:r>
            <a:endParaRPr b="0" lang="pt-BR" sz="17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pt-BR" sz="1779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• Teste: aplica a regra em novos casos?</a:t>
            </a:r>
            <a:endParaRPr b="0" lang="pt-BR" sz="17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pt-BR" sz="1779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• Justificativa: explica por que a regra funciona?</a:t>
            </a:r>
            <a:endParaRPr b="0" lang="pt-BR" sz="17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pt-BR" sz="1779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• Revisão: corrige ou melhora a resposta?</a:t>
            </a:r>
            <a:endParaRPr b="0" lang="pt-BR" sz="17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pt-BR" sz="1779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• Transferência: usa a ideia em nova situação?</a:t>
            </a:r>
            <a:endParaRPr b="0" lang="pt-BR" sz="17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9"/>
          <p:cNvSpPr/>
          <p:nvPr/>
        </p:nvSpPr>
        <p:spPr>
          <a:xfrm>
            <a:off x="6126480" y="1417320"/>
            <a:ext cx="502884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67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EXEMPLO DE REGISTRO</a:t>
            </a:r>
            <a:endParaRPr b="0" lang="pt-BR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10"/>
          <p:cNvSpPr/>
          <p:nvPr/>
        </p:nvSpPr>
        <p:spPr>
          <a:xfrm>
            <a:off x="6126480" y="1719000"/>
            <a:ext cx="5074560" cy="20570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6120" bIns="96120" anchor="t">
            <a:noAutofit/>
          </a:bodyPr>
          <a:p>
            <a:r>
              <a:rPr b="0" lang="pt-BR" sz="1430" strike="noStrike" u="none">
                <a:solidFill>
                  <a:srgbClr val="f9fafb"/>
                </a:solidFill>
                <a:effectLst/>
                <a:uFillTx/>
                <a:latin typeface="Cascadia Mono"/>
              </a:rPr>
              <a:t>avaliacao = (</a:t>
            </a:r>
            <a:endParaRPr b="0" lang="pt-B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pt-BR" sz="1430" strike="noStrike" u="none">
                <a:solidFill>
                  <a:srgbClr val="f9fafb"/>
                </a:solidFill>
                <a:effectLst/>
                <a:uFillTx/>
                <a:latin typeface="Cascadia Mono"/>
              </a:rPr>
              <a:t>  hipotese = true,</a:t>
            </a:r>
            <a:endParaRPr b="0" lang="pt-B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pt-BR" sz="1430" strike="noStrike" u="none">
                <a:solidFill>
                  <a:srgbClr val="f9fafb"/>
                </a:solidFill>
                <a:effectLst/>
                <a:uFillTx/>
                <a:latin typeface="Cascadia Mono"/>
              </a:rPr>
              <a:t>  teste = true,</a:t>
            </a:r>
            <a:endParaRPr b="0" lang="pt-B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pt-BR" sz="1430" strike="noStrike" u="none">
                <a:solidFill>
                  <a:srgbClr val="f9fafb"/>
                </a:solidFill>
                <a:effectLst/>
                <a:uFillTx/>
                <a:latin typeface="Cascadia Mono"/>
              </a:rPr>
              <a:t>  justificativa = "relaciona regra e caso",</a:t>
            </a:r>
            <a:endParaRPr b="0" lang="pt-B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pt-BR" sz="1430" strike="noStrike" u="none">
                <a:solidFill>
                  <a:srgbClr val="f9fafb"/>
                </a:solidFill>
                <a:effectLst/>
                <a:uFillTx/>
                <a:latin typeface="Cascadia Mono"/>
              </a:rPr>
              <a:t>  revisao = "inclui contraexemplo"</a:t>
            </a:r>
            <a:endParaRPr b="0" lang="pt-B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1430" strike="noStrike" u="none">
                <a:solidFill>
                  <a:srgbClr val="f9fafb"/>
                </a:solidFill>
                <a:effectLst/>
                <a:uFillTx/>
                <a:latin typeface="Cascadia Mono"/>
              </a:rPr>
              <a:t>)</a:t>
            </a:r>
            <a:endParaRPr b="0" lang="pt-BR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11"/>
          <p:cNvSpPr/>
          <p:nvPr/>
        </p:nvSpPr>
        <p:spPr>
          <a:xfrm>
            <a:off x="594360" y="4343400"/>
            <a:ext cx="1069812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67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PERGUNTAS PARA FECHAR A TAREFA</a:t>
            </a:r>
            <a:endParaRPr b="0" lang="pt-BR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8" name="Connector 12"/>
          <p:cNvCxnSpPr/>
          <p:nvPr/>
        </p:nvCxnSpPr>
        <p:spPr>
          <a:xfrm>
            <a:off x="2834640" y="5193720"/>
            <a:ext cx="503280" cy="360"/>
          </a:xfrm>
          <a:prstGeom prst="straightConnector1">
            <a:avLst/>
          </a:prstGeom>
          <a:ln w="25400">
            <a:solidFill>
              <a:srgbClr val="cbd5e1"/>
            </a:solidFill>
          </a:ln>
        </p:spPr>
      </p:cxnSp>
      <p:sp>
        <p:nvSpPr>
          <p:cNvPr id="139" name="Oval 13"/>
          <p:cNvSpPr/>
          <p:nvPr/>
        </p:nvSpPr>
        <p:spPr>
          <a:xfrm>
            <a:off x="777240" y="4818960"/>
            <a:ext cx="731160" cy="7311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900" strike="noStrike" u="none">
                <a:solidFill>
                  <a:srgbClr val="f9fafb"/>
                </a:solidFill>
                <a:effectLst/>
                <a:uFillTx/>
                <a:latin typeface="Aptos Display"/>
              </a:rPr>
              <a:t>1</a:t>
            </a:r>
            <a:endParaRPr b="0" lang="pt-B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14"/>
          <p:cNvSpPr/>
          <p:nvPr/>
        </p:nvSpPr>
        <p:spPr>
          <a:xfrm>
            <a:off x="1554480" y="4864680"/>
            <a:ext cx="1416960" cy="639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55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O que você pensou?</a:t>
            </a:r>
            <a:endParaRPr b="0" lang="pt-BR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1" name="Connector 15"/>
          <p:cNvCxnSpPr/>
          <p:nvPr/>
        </p:nvCxnSpPr>
        <p:spPr>
          <a:xfrm>
            <a:off x="5577840" y="5193720"/>
            <a:ext cx="503280" cy="360"/>
          </a:xfrm>
          <a:prstGeom prst="straightConnector1">
            <a:avLst/>
          </a:prstGeom>
          <a:ln w="25400">
            <a:solidFill>
              <a:srgbClr val="cbd5e1"/>
            </a:solidFill>
          </a:ln>
        </p:spPr>
      </p:cxnSp>
      <p:sp>
        <p:nvSpPr>
          <p:cNvPr id="142" name="Oval 16"/>
          <p:cNvSpPr/>
          <p:nvPr/>
        </p:nvSpPr>
        <p:spPr>
          <a:xfrm>
            <a:off x="3520440" y="4818960"/>
            <a:ext cx="731160" cy="7311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900" strike="noStrike" u="none">
                <a:solidFill>
                  <a:srgbClr val="f9fafb"/>
                </a:solidFill>
                <a:effectLst/>
                <a:uFillTx/>
                <a:latin typeface="Aptos Display"/>
              </a:rPr>
              <a:t>2</a:t>
            </a:r>
            <a:endParaRPr b="0" lang="pt-B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17"/>
          <p:cNvSpPr/>
          <p:nvPr/>
        </p:nvSpPr>
        <p:spPr>
          <a:xfrm>
            <a:off x="4297680" y="4864680"/>
            <a:ext cx="1416960" cy="639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55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Como testou?</a:t>
            </a:r>
            <a:endParaRPr b="0" lang="pt-BR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4" name="Connector 18"/>
          <p:cNvCxnSpPr/>
          <p:nvPr/>
        </p:nvCxnSpPr>
        <p:spPr>
          <a:xfrm>
            <a:off x="8321040" y="5193720"/>
            <a:ext cx="502920" cy="360"/>
          </a:xfrm>
          <a:prstGeom prst="straightConnector1">
            <a:avLst/>
          </a:prstGeom>
          <a:ln w="25400">
            <a:solidFill>
              <a:srgbClr val="cbd5e1"/>
            </a:solidFill>
          </a:ln>
        </p:spPr>
      </p:cxnSp>
      <p:sp>
        <p:nvSpPr>
          <p:cNvPr id="145" name="Oval 19"/>
          <p:cNvSpPr/>
          <p:nvPr/>
        </p:nvSpPr>
        <p:spPr>
          <a:xfrm>
            <a:off x="6263640" y="4818960"/>
            <a:ext cx="731160" cy="7311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900" strike="noStrike" u="none">
                <a:solidFill>
                  <a:srgbClr val="f9fafb"/>
                </a:solidFill>
                <a:effectLst/>
                <a:uFillTx/>
                <a:latin typeface="Aptos Display"/>
              </a:rPr>
              <a:t>3</a:t>
            </a:r>
            <a:endParaRPr b="0" lang="pt-B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20"/>
          <p:cNvSpPr/>
          <p:nvPr/>
        </p:nvSpPr>
        <p:spPr>
          <a:xfrm>
            <a:off x="7040880" y="4864680"/>
            <a:ext cx="1416960" cy="639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55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Por que funciona?</a:t>
            </a:r>
            <a:endParaRPr b="0" lang="pt-BR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Oval 21"/>
          <p:cNvSpPr/>
          <p:nvPr/>
        </p:nvSpPr>
        <p:spPr>
          <a:xfrm>
            <a:off x="9006840" y="4818960"/>
            <a:ext cx="731160" cy="7311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900" strike="noStrike" u="none">
                <a:solidFill>
                  <a:srgbClr val="f9fafb"/>
                </a:solidFill>
                <a:effectLst/>
                <a:uFillTx/>
                <a:latin typeface="Aptos Display"/>
              </a:rPr>
              <a:t>4</a:t>
            </a:r>
            <a:endParaRPr b="0" lang="pt-B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22"/>
          <p:cNvSpPr/>
          <p:nvPr/>
        </p:nvSpPr>
        <p:spPr>
          <a:xfrm>
            <a:off x="9784080" y="4864680"/>
            <a:ext cx="1416960" cy="639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55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O que mudaria?</a:t>
            </a:r>
            <a:endParaRPr b="0" lang="pt-BR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23"/>
          <p:cNvSpPr/>
          <p:nvPr/>
        </p:nvSpPr>
        <p:spPr>
          <a:xfrm>
            <a:off x="594360" y="5669280"/>
            <a:ext cx="10698120" cy="255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670" strike="noStrike" u="none">
                <a:solidFill>
                  <a:srgbClr val="2a9d8f"/>
                </a:solidFill>
                <a:effectLst/>
                <a:uFillTx/>
                <a:latin typeface="Aptos Display"/>
              </a:rPr>
              <a:t>IMPORTÂNCIA NA APRENDIZAGEM DE CONCEITOS E RELAÇÕES</a:t>
            </a:r>
            <a:endParaRPr b="0" lang="pt-BR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24"/>
          <p:cNvSpPr/>
          <p:nvPr/>
        </p:nvSpPr>
        <p:spPr>
          <a:xfrm>
            <a:off x="594360" y="5906880"/>
            <a:ext cx="10698120" cy="273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51120" bIns="5112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600" strike="noStrike" u="none">
                <a:solidFill>
                  <a:srgbClr val="243447"/>
                </a:solidFill>
                <a:effectLst/>
                <a:uFillTx/>
                <a:latin typeface="Aptos"/>
              </a:rPr>
              <a:t>SOLO ajuda a transformar respostas de estudantes em evidências de percurso: execução, explicação, integração e generalização.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pt-BR" sz="240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29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594360" y="822960"/>
            <a:ext cx="118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4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3</a:t>
            </a:r>
            <a:endParaRPr b="0" lang="pt-BR" sz="8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1828800" y="768240"/>
            <a:ext cx="9600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Pensamento dedutivo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1828800" y="1691640"/>
            <a:ext cx="9326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 tarefas em formato de pergunta, com exemplos em Julia/Pluto.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685800" y="274320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Pergunta-guia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685800" y="3108960"/>
            <a:ext cx="1097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aplicar regras gerais a casos particulares e justificar conclusões?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685800" y="4892040"/>
            <a:ext cx="10972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pergunta abre a aula; o código serve para tornar a relação conceitual discutível.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pt-BR" sz="240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30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6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3.1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regra geral decide se um número é par?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um número.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Aplique a regra do resto da divisão.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por que a conclusão decorre da regra.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n = 14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eh_par = n % 2 == 0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Regra, caso e conclusão.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a análise qualitativa observa invariantes e relações mobilizadas na 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dedução torna explícita a relação entre uma propriedade geral e um caso específico.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pt-BR" sz="240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31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3.2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transformar uma regra em função dedutiva?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Escreva a regra em função.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vários casos.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justificativa verbal.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ehpar(n) = n % 2 == 0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ehpar.(1:6)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Generalização de regra e aplicação sistemática.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resultado final não esgota a aprendizagem do conceito.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função permite aplicar uma regra geral a muitos casos sem confundir teste com prova.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pt-BR" sz="240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32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8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3.3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representar implicação lógica em código?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duas proposições.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Modele “se A então B”.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quando a implicação é falsa.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 = true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B = false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implica = !A || B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Representação de relação lógica.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representações ampliam a percepção de propriedades e relações.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 contexto e o tipo de dado influenciam a representação escolhida.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lógica transforma uma frase em estrutura verificável, favorecendo precisão conceitual.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pt-BR" sz="240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33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4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3.4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condição classifica casos?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um valor.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Use if/elseif/else.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cada ramo.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0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x = 0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if x &gt; 0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"positivo"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elseif x &lt; 0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"negativo"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else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"zero"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end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Classificação por regra e critérios explícitos.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listas, tabelas e gráficos comunicam histórias diferentes dos dados.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feedback visual/textual deve orientar interpretação, não apenas corrigir.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explicitar variáveis, relações e restrições.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classificação evidencia que categorias dependem de condições e limites definidos.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pt-BR" sz="2400" strike="noStrike" u="none">
                <a:solidFill>
                  <a:srgbClr val="243447"/>
                </a:solidFill>
                <a:effectLst/>
                <a:uFillTx/>
                <a:latin typeface="Aptos Display"/>
              </a:rPr>
              <a:t>34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0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3.5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deduzir pertencimento a um conjunto?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um conjunto de valores.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um elemento.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o sentido de pertencer.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 = Set([2,4,6,8])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4 in A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5 in A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Conjunto como representação de critério.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transnumeração torna dados interpretáveis em nova forma.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pertencimento conecta teoria de conjuntos a decisão computacional.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2026-06-06T14:28:50Z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