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_rels/slideMaster1.xml.rels" ContentType="application/vnd.openxmlformats-package.relationships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_rels/presentation.xml.rels" ContentType="application/vnd.openxmlformats-package.relationshi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_rels/slide8.xml.rels" ContentType="application/vnd.openxmlformats-package.relationships+xml"/>
  <Override PartName="/ppt/slides/_rels/slide9.xml.rels" ContentType="application/vnd.openxmlformats-package.relationships+xml"/>
  <Override PartName="/ppt/slides/_rels/slide10.xml.rels" ContentType="application/vnd.openxmlformats-package.relationships+xml"/>
  <Override PartName="/ppt/slides/_rels/slide11.xml.rels" ContentType="application/vnd.openxmlformats-package.relationships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</p:sldIdLst>
  <p:sldSz cx="12192000" cy="685800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>
              <a:buNone/>
            </a:pPr>
            <a:endParaRPr b="0" lang="en-US" sz="18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0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Clique para editar o formato do texto do título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Clique para editar o formato de texto dos tópicos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2.º nível de tópicos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3.º nível de tópicos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4.º nível de tópicos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5.º nível de tópicos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6.º nível de tópicos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7.º nível de tópicos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0"/>
          <p:cNvSpPr/>
          <p:nvPr/>
        </p:nvSpPr>
        <p:spPr>
          <a:xfrm>
            <a:off x="502920" y="164520"/>
            <a:ext cx="713196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457200">
              <a:lnSpc>
                <a:spcPct val="100000"/>
              </a:lnSpc>
              <a:tabLst>
                <a:tab algn="l" pos="0"/>
              </a:tabLst>
            </a:pPr>
            <a:r>
              <a:rPr b="1" lang="en-US" sz="1560" strike="noStrike" u="non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PROFCOMP • Pensamento Computacional • Julia + Pluto</a:t>
            </a:r>
            <a:endParaRPr b="0" lang="pt-BR" sz="156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" name="Text 1"/>
          <p:cNvSpPr/>
          <p:nvPr/>
        </p:nvSpPr>
        <p:spPr>
          <a:xfrm>
            <a:off x="7955280" y="164520"/>
            <a:ext cx="29257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457200">
              <a:lnSpc>
                <a:spcPct val="100000"/>
              </a:lnSpc>
              <a:tabLst>
                <a:tab algn="l" pos="0"/>
              </a:tabLst>
            </a:pPr>
            <a:r>
              <a:rPr b="0" lang="en-US" sz="1520" strike="noStrike" u="non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1 • Introdução</a:t>
            </a:r>
            <a:endParaRPr b="0" lang="pt-BR" sz="152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Text 2"/>
          <p:cNvSpPr/>
          <p:nvPr/>
        </p:nvSpPr>
        <p:spPr>
          <a:xfrm>
            <a:off x="11064240" y="109800"/>
            <a:ext cx="73116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457200">
              <a:lnSpc>
                <a:spcPct val="100000"/>
              </a:lnSpc>
              <a:tabLst>
                <a:tab algn="l" pos="0"/>
              </a:tabLst>
            </a:pPr>
            <a:r>
              <a:rPr b="1" lang="en-US" sz="2400" strike="noStrike" u="none">
                <a:solidFill>
                  <a:srgbClr val="243447"/>
                </a:solidFill>
                <a:effectLst/>
                <a:uFillTx/>
                <a:latin typeface="Aptos Display"/>
                <a:ea typeface="Aptos Display"/>
              </a:rPr>
              <a:t>11</a:t>
            </a:r>
            <a:endParaRPr b="0" lang="pt-BR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" name="Shape 3"/>
          <p:cNvSpPr/>
          <p:nvPr/>
        </p:nvSpPr>
        <p:spPr>
          <a:xfrm>
            <a:off x="92880" y="720000"/>
            <a:ext cx="11247120" cy="360"/>
          </a:xfrm>
          <a:prstGeom prst="line">
            <a:avLst/>
          </a:prstGeom>
          <a:ln w="7620">
            <a:solidFill>
              <a:srgbClr val="d7dee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>
            <a:noAutofit/>
          </a:bodyPr>
          <a:p>
            <a:endParaRPr b="0" lang="en-US" sz="1800" strike="noStrike" u="none">
              <a:solidFill>
                <a:schemeClr val="dk1"/>
              </a:solidFill>
              <a:effectLst/>
              <a:uFillTx/>
              <a:latin typeface="+mn-lt"/>
              <a:ea typeface="+mn-ea"/>
            </a:endParaRPr>
          </a:p>
        </p:txBody>
      </p:sp>
      <p:sp>
        <p:nvSpPr>
          <p:cNvPr id="8" name="Text 5"/>
          <p:cNvSpPr/>
          <p:nvPr/>
        </p:nvSpPr>
        <p:spPr>
          <a:xfrm>
            <a:off x="960120" y="859680"/>
            <a:ext cx="73116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457200">
              <a:lnSpc>
                <a:spcPct val="100000"/>
              </a:lnSpc>
              <a:tabLst>
                <a:tab algn="l" pos="0"/>
              </a:tabLst>
            </a:pPr>
            <a:r>
              <a:rPr b="1" lang="en-US" sz="1700" strike="noStrike" u="none">
                <a:solidFill>
                  <a:srgbClr val="5b6cff"/>
                </a:solidFill>
                <a:effectLst/>
                <a:uFillTx/>
                <a:latin typeface="Aptos"/>
                <a:ea typeface="Aptos"/>
              </a:rPr>
              <a:t>1.8</a:t>
            </a:r>
            <a:endParaRPr b="0" lang="pt-BR" sz="1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" name="Text 6"/>
          <p:cNvSpPr/>
          <p:nvPr/>
        </p:nvSpPr>
        <p:spPr>
          <a:xfrm>
            <a:off x="2340000" y="620280"/>
            <a:ext cx="767988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 fontScale="55000" lnSpcReduction="19999"/>
          </a:bodyPr>
          <a:p>
            <a:pPr defTabSz="457200">
              <a:lnSpc>
                <a:spcPct val="100000"/>
              </a:lnSpc>
              <a:tabLst>
                <a:tab algn="l" pos="0"/>
              </a:tabLst>
            </a:pPr>
            <a:r>
              <a:rPr b="1" lang="en-US" sz="4700" strike="noStrike" u="none">
                <a:solidFill>
                  <a:srgbClr val="243447"/>
                </a:solidFill>
                <a:effectLst/>
                <a:uFillTx/>
                <a:latin typeface="Aptos Display"/>
                <a:ea typeface="Aptos Display"/>
              </a:rPr>
              <a:t>Como o computador representa decisões?</a:t>
            </a:r>
            <a:endParaRPr b="0" lang="pt-BR" sz="4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" name="Text 7"/>
          <p:cNvSpPr/>
          <p:nvPr/>
        </p:nvSpPr>
        <p:spPr>
          <a:xfrm>
            <a:off x="594360" y="1481400"/>
            <a:ext cx="512028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457200">
              <a:lnSpc>
                <a:spcPct val="100000"/>
              </a:lnSpc>
              <a:tabLst>
                <a:tab algn="l" pos="0"/>
              </a:tabLst>
            </a:pPr>
            <a:r>
              <a:rPr b="1" lang="en-US" sz="1900" strike="noStrike" u="none">
                <a:solidFill>
                  <a:srgbClr val="5b6cff"/>
                </a:solidFill>
                <a:effectLst/>
                <a:uFillTx/>
                <a:latin typeface="Aptos Display"/>
                <a:ea typeface="Aptos Display"/>
              </a:rPr>
              <a:t>TAREFA BREVE NO PLUTO</a:t>
            </a:r>
            <a:endParaRPr b="0" lang="pt-BR" sz="1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" name="Text 8"/>
          <p:cNvSpPr/>
          <p:nvPr/>
        </p:nvSpPr>
        <p:spPr>
          <a:xfrm>
            <a:off x="594360" y="1783080"/>
            <a:ext cx="5074560" cy="123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/>
          </a:bodyPr>
          <a:p>
            <a:pPr defTabSz="457200">
              <a:lnSpc>
                <a:spcPct val="100000"/>
              </a:lnSpc>
            </a:pPr>
            <a:r>
              <a:rPr b="0" lang="en-US" sz="204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 Use uma condição simples.</a:t>
            </a:r>
            <a:endParaRPr b="0" lang="pt-BR" sz="204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204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 Teste dois casos.</a:t>
            </a:r>
            <a:endParaRPr b="0" lang="pt-BR" sz="204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204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 Discuta a regra antes de executar.</a:t>
            </a:r>
            <a:endParaRPr b="0" lang="pt-BR" sz="204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" name="Text 9"/>
          <p:cNvSpPr/>
          <p:nvPr/>
        </p:nvSpPr>
        <p:spPr>
          <a:xfrm>
            <a:off x="5925240" y="1481400"/>
            <a:ext cx="562320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457200">
              <a:lnSpc>
                <a:spcPct val="100000"/>
              </a:lnSpc>
              <a:tabLst>
                <a:tab algn="l" pos="0"/>
              </a:tabLst>
            </a:pPr>
            <a:r>
              <a:rPr b="1" lang="en-US" sz="1900" strike="noStrike" u="none">
                <a:solidFill>
                  <a:srgbClr val="5b6cff"/>
                </a:solidFill>
                <a:effectLst/>
                <a:uFillTx/>
                <a:latin typeface="Aptos Display"/>
                <a:ea typeface="Aptos Display"/>
              </a:rPr>
              <a:t>EXEMPLO EM JULIA</a:t>
            </a:r>
            <a:endParaRPr b="0" lang="pt-BR" sz="1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" name="Text 10"/>
          <p:cNvSpPr/>
          <p:nvPr/>
        </p:nvSpPr>
        <p:spPr>
          <a:xfrm>
            <a:off x="5925240" y="1755720"/>
            <a:ext cx="5623200" cy="1371240"/>
          </a:xfrm>
          <a:prstGeom prst="rect">
            <a:avLst/>
          </a:prstGeom>
          <a:solidFill>
            <a:srgbClr val="11182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rmAutofit/>
          </a:bodyPr>
          <a:p>
            <a:pPr defTabSz="457200">
              <a:lnSpc>
                <a:spcPct val="100000"/>
              </a:lnSpc>
              <a:tabLst>
                <a:tab algn="l" pos="0"/>
              </a:tabLst>
            </a:pPr>
            <a:r>
              <a:rPr b="0" lang="en-US" sz="1940" strike="noStrike" u="none">
                <a:solidFill>
                  <a:srgbClr val="f9fafb"/>
                </a:solidFill>
                <a:effectLst/>
                <a:uFillTx/>
                <a:latin typeface="Cascadia Mono"/>
                <a:ea typeface="Cascadia Mono"/>
              </a:rPr>
              <a:t>nota = 6.5</a:t>
            </a:r>
            <a:endParaRPr b="0" lang="pt-BR" sz="194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tabLst>
                <a:tab algn="l" pos="0"/>
              </a:tabLst>
            </a:pPr>
            <a:r>
              <a:rPr b="0" lang="en-US" sz="1940" strike="noStrike" u="none">
                <a:solidFill>
                  <a:srgbClr val="f9fafb"/>
                </a:solidFill>
                <a:effectLst/>
                <a:uFillTx/>
                <a:latin typeface="Cascadia Mono"/>
                <a:ea typeface="Cascadia Mono"/>
              </a:rPr>
              <a:t>situacao = nota &gt;= 7 ? "aprovado" : "rever"</a:t>
            </a:r>
            <a:endParaRPr b="0" lang="pt-BR" sz="194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" name="Text 11"/>
          <p:cNvSpPr/>
          <p:nvPr/>
        </p:nvSpPr>
        <p:spPr>
          <a:xfrm>
            <a:off x="594360" y="3364920"/>
            <a:ext cx="1101816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457200">
              <a:lnSpc>
                <a:spcPct val="100000"/>
              </a:lnSpc>
              <a:tabLst>
                <a:tab algn="l" pos="0"/>
              </a:tabLst>
            </a:pPr>
            <a:r>
              <a:rPr b="1" lang="en-US" sz="1900" strike="noStrike" u="none">
                <a:solidFill>
                  <a:srgbClr val="5b6cff"/>
                </a:solidFill>
                <a:effectLst/>
                <a:uFillTx/>
                <a:latin typeface="Aptos Display"/>
                <a:ea typeface="Aptos Display"/>
              </a:rPr>
              <a:t>ASPECTOS QUALITATIVOS DA ANÁLISE</a:t>
            </a:r>
            <a:endParaRPr b="0" lang="pt-BR" sz="1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" name="Text 12"/>
          <p:cNvSpPr/>
          <p:nvPr/>
        </p:nvSpPr>
        <p:spPr>
          <a:xfrm>
            <a:off x="594360" y="3675960"/>
            <a:ext cx="11018160" cy="123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 lnSpcReduction="9999"/>
          </a:bodyPr>
          <a:p>
            <a:pPr defTabSz="457200">
              <a:lnSpc>
                <a:spcPct val="100000"/>
              </a:lnSpc>
            </a:pPr>
            <a:r>
              <a:rPr b="0" lang="en-US" sz="1879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 Representação de regra e classificação.</a:t>
            </a:r>
            <a:endParaRPr b="0" lang="pt-BR" sz="1879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879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 Relato: solicitar explicação do raciocínio desenvolvido.</a:t>
            </a:r>
            <a:endParaRPr b="0" lang="pt-BR" sz="1879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879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 Queiroz: feedback visual/textual deve orientar interpretação, não apenas corrigir.</a:t>
            </a:r>
            <a:endParaRPr b="0" lang="pt-BR" sz="1879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879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 Wessels: atividades planejadas desenvolvem representação e pensamento de ordem superior.</a:t>
            </a:r>
            <a:endParaRPr b="0" lang="pt-BR" sz="1879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" name="Text 13"/>
          <p:cNvSpPr/>
          <p:nvPr/>
        </p:nvSpPr>
        <p:spPr>
          <a:xfrm>
            <a:off x="594360" y="5074920"/>
            <a:ext cx="1101816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457200">
              <a:lnSpc>
                <a:spcPct val="100000"/>
              </a:lnSpc>
              <a:tabLst>
                <a:tab algn="l" pos="0"/>
              </a:tabLst>
            </a:pPr>
            <a:r>
              <a:rPr b="1" lang="en-US" sz="1900" strike="noStrike" u="none">
                <a:solidFill>
                  <a:srgbClr val="5b6cff"/>
                </a:solidFill>
                <a:effectLst/>
                <a:uFillTx/>
                <a:latin typeface="Aptos Display"/>
                <a:ea typeface="Aptos Display"/>
              </a:rPr>
              <a:t>IMPORTÂNCIA NA APRENDIZAGEM DE CONCEITOS E RELAÇÕES</a:t>
            </a:r>
            <a:endParaRPr b="0" lang="pt-BR" sz="1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" name="Text 14"/>
          <p:cNvSpPr/>
          <p:nvPr/>
        </p:nvSpPr>
        <p:spPr>
          <a:xfrm>
            <a:off x="594360" y="5376600"/>
            <a:ext cx="1101816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457200">
              <a:lnSpc>
                <a:spcPct val="100000"/>
              </a:lnSpc>
              <a:tabLst>
                <a:tab algn="l" pos="0"/>
              </a:tabLst>
            </a:pPr>
            <a:r>
              <a:rPr b="0" lang="en-US" sz="202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A decisão computacional mostra que regras precisam ser formuladas, testadas e interpretadas.</a:t>
            </a:r>
            <a:endParaRPr b="0" lang="pt-BR" sz="202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" name="Text 15"/>
          <p:cNvSpPr/>
          <p:nvPr/>
        </p:nvSpPr>
        <p:spPr>
          <a:xfrm>
            <a:off x="594360" y="6263640"/>
            <a:ext cx="1101816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 fontScale="85000" lnSpcReduction="9999"/>
          </a:bodyPr>
          <a:p>
            <a:pPr defTabSz="457200">
              <a:lnSpc>
                <a:spcPct val="100000"/>
              </a:lnSpc>
              <a:tabLst>
                <a:tab algn="l" pos="0"/>
              </a:tabLst>
            </a:pPr>
            <a:r>
              <a:rPr b="0" lang="en-US" sz="1700" strike="noStrike" u="non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Critérios recorrentes: representação, manipulação, feedback, investigação, transnumeração, reflexão metaconceitual e limites do modelo.</a:t>
            </a:r>
            <a:endParaRPr b="0" lang="pt-BR" sz="1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ext 0"/>
          <p:cNvSpPr/>
          <p:nvPr/>
        </p:nvSpPr>
        <p:spPr>
          <a:xfrm>
            <a:off x="502920" y="164520"/>
            <a:ext cx="713196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457200">
              <a:lnSpc>
                <a:spcPct val="100000"/>
              </a:lnSpc>
              <a:tabLst>
                <a:tab algn="l" pos="0"/>
              </a:tabLst>
            </a:pPr>
            <a:r>
              <a:rPr b="1" lang="en-US" sz="1560" strike="noStrike" u="non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PROFCOMP • Pensamento Computacional • Julia + Pluto</a:t>
            </a:r>
            <a:endParaRPr b="0" lang="pt-BR" sz="156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" name="Text 1"/>
          <p:cNvSpPr/>
          <p:nvPr/>
        </p:nvSpPr>
        <p:spPr>
          <a:xfrm>
            <a:off x="7955280" y="164520"/>
            <a:ext cx="29257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457200">
              <a:lnSpc>
                <a:spcPct val="100000"/>
              </a:lnSpc>
              <a:tabLst>
                <a:tab algn="l" pos="0"/>
              </a:tabLst>
            </a:pPr>
            <a:r>
              <a:rPr b="0" lang="en-US" sz="1520" strike="noStrike" u="non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1 • Introdução</a:t>
            </a:r>
            <a:endParaRPr b="0" lang="pt-BR" sz="152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" name="Text 2"/>
          <p:cNvSpPr/>
          <p:nvPr/>
        </p:nvSpPr>
        <p:spPr>
          <a:xfrm>
            <a:off x="11064240" y="109800"/>
            <a:ext cx="73116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457200">
              <a:lnSpc>
                <a:spcPct val="100000"/>
              </a:lnSpc>
              <a:tabLst>
                <a:tab algn="l" pos="0"/>
              </a:tabLst>
            </a:pPr>
            <a:r>
              <a:rPr b="1" lang="en-US" sz="2400" strike="noStrike" u="none">
                <a:solidFill>
                  <a:srgbClr val="243447"/>
                </a:solidFill>
                <a:effectLst/>
                <a:uFillTx/>
                <a:latin typeface="Aptos Display"/>
                <a:ea typeface="Aptos Display"/>
              </a:rPr>
              <a:t>12</a:t>
            </a:r>
            <a:endParaRPr b="0" lang="pt-BR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" name="Text 5"/>
          <p:cNvSpPr/>
          <p:nvPr/>
        </p:nvSpPr>
        <p:spPr>
          <a:xfrm>
            <a:off x="960120" y="859680"/>
            <a:ext cx="73116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457200">
              <a:lnSpc>
                <a:spcPct val="100000"/>
              </a:lnSpc>
              <a:tabLst>
                <a:tab algn="l" pos="0"/>
              </a:tabLst>
            </a:pPr>
            <a:r>
              <a:rPr b="1" lang="en-US" sz="1700" strike="noStrike" u="none">
                <a:solidFill>
                  <a:srgbClr val="5b6cff"/>
                </a:solidFill>
                <a:effectLst/>
                <a:uFillTx/>
                <a:latin typeface="Aptos"/>
                <a:ea typeface="Aptos"/>
              </a:rPr>
              <a:t>1.9</a:t>
            </a:r>
            <a:endParaRPr b="0" lang="pt-BR" sz="1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" name="Text 6"/>
          <p:cNvSpPr/>
          <p:nvPr/>
        </p:nvSpPr>
        <p:spPr>
          <a:xfrm>
            <a:off x="1980000" y="667440"/>
            <a:ext cx="967824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 fontScale="55000" lnSpcReduction="19999"/>
          </a:bodyPr>
          <a:p>
            <a:pPr defTabSz="457200">
              <a:lnSpc>
                <a:spcPct val="100000"/>
              </a:lnSpc>
              <a:tabLst>
                <a:tab algn="l" pos="0"/>
              </a:tabLst>
            </a:pPr>
            <a:r>
              <a:rPr b="1" lang="en-US" sz="4700" strike="noStrike" u="none">
                <a:solidFill>
                  <a:srgbClr val="243447"/>
                </a:solidFill>
                <a:effectLst/>
                <a:uFillTx/>
                <a:latin typeface="Aptos Display"/>
                <a:ea typeface="Aptos Display"/>
              </a:rPr>
              <a:t>Como um erro pode virar dado de aprendizagem?</a:t>
            </a:r>
            <a:endParaRPr b="0" lang="pt-BR" sz="4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" name="Text 7"/>
          <p:cNvSpPr/>
          <p:nvPr/>
        </p:nvSpPr>
        <p:spPr>
          <a:xfrm>
            <a:off x="594360" y="1481400"/>
            <a:ext cx="512028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457200">
              <a:lnSpc>
                <a:spcPct val="100000"/>
              </a:lnSpc>
              <a:tabLst>
                <a:tab algn="l" pos="0"/>
              </a:tabLst>
            </a:pPr>
            <a:r>
              <a:rPr b="1" lang="en-US" sz="1900" strike="noStrike" u="none">
                <a:solidFill>
                  <a:srgbClr val="5b6cff"/>
                </a:solidFill>
                <a:effectLst/>
                <a:uFillTx/>
                <a:latin typeface="Aptos Display"/>
                <a:ea typeface="Aptos Display"/>
              </a:rPr>
              <a:t>TAREFA BREVE NO PLUTO</a:t>
            </a:r>
            <a:endParaRPr b="0" lang="pt-BR" sz="1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" name="Text 8"/>
          <p:cNvSpPr/>
          <p:nvPr/>
        </p:nvSpPr>
        <p:spPr>
          <a:xfrm>
            <a:off x="594360" y="1783080"/>
            <a:ext cx="5074560" cy="123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/>
          </a:bodyPr>
          <a:p>
            <a:pPr defTabSz="457200">
              <a:lnSpc>
                <a:spcPct val="100000"/>
              </a:lnSpc>
            </a:pPr>
            <a:r>
              <a:rPr b="0" lang="en-US" sz="204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 Altere uma variável inexistente.</a:t>
            </a:r>
            <a:endParaRPr b="0" lang="pt-BR" sz="204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204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 Observe a mensagem de erro.</a:t>
            </a:r>
            <a:endParaRPr b="0" lang="pt-BR" sz="204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204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 Explique que relação estava faltando.</a:t>
            </a:r>
            <a:endParaRPr b="0" lang="pt-BR" sz="204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" name="Text 9"/>
          <p:cNvSpPr/>
          <p:nvPr/>
        </p:nvSpPr>
        <p:spPr>
          <a:xfrm>
            <a:off x="5925240" y="1481400"/>
            <a:ext cx="562320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457200">
              <a:lnSpc>
                <a:spcPct val="100000"/>
              </a:lnSpc>
              <a:tabLst>
                <a:tab algn="l" pos="0"/>
              </a:tabLst>
            </a:pPr>
            <a:r>
              <a:rPr b="1" lang="en-US" sz="1900" strike="noStrike" u="none">
                <a:solidFill>
                  <a:srgbClr val="5b6cff"/>
                </a:solidFill>
                <a:effectLst/>
                <a:uFillTx/>
                <a:latin typeface="Aptos Display"/>
                <a:ea typeface="Aptos Display"/>
              </a:rPr>
              <a:t>EXEMPLO EM JULIA</a:t>
            </a:r>
            <a:endParaRPr b="0" lang="pt-BR" sz="1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" name="Text 10"/>
          <p:cNvSpPr/>
          <p:nvPr/>
        </p:nvSpPr>
        <p:spPr>
          <a:xfrm>
            <a:off x="5925240" y="1755720"/>
            <a:ext cx="5623200" cy="1371240"/>
          </a:xfrm>
          <a:prstGeom prst="rect">
            <a:avLst/>
          </a:prstGeom>
          <a:solidFill>
            <a:srgbClr val="11182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rmAutofit/>
          </a:bodyPr>
          <a:p>
            <a:pPr defTabSz="457200">
              <a:lnSpc>
                <a:spcPct val="100000"/>
              </a:lnSpc>
              <a:tabLst>
                <a:tab algn="l" pos="0"/>
              </a:tabLst>
            </a:pPr>
            <a:r>
              <a:rPr b="0" lang="en-US" sz="1940" strike="noStrike" u="none">
                <a:solidFill>
                  <a:srgbClr val="f9fafb"/>
                </a:solidFill>
                <a:effectLst/>
                <a:uFillTx/>
                <a:latin typeface="Cascadia Mono"/>
                <a:ea typeface="Cascadia Mono"/>
              </a:rPr>
              <a:t>x = 10</a:t>
            </a:r>
            <a:endParaRPr b="0" lang="pt-BR" sz="194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tabLst>
                <a:tab algn="l" pos="0"/>
              </a:tabLst>
            </a:pPr>
            <a:r>
              <a:rPr b="0" lang="en-US" sz="1940" strike="noStrike" u="none">
                <a:solidFill>
                  <a:srgbClr val="f9fafb"/>
                </a:solidFill>
                <a:effectLst/>
                <a:uFillTx/>
                <a:latin typeface="Cascadia Mono"/>
                <a:ea typeface="Cascadia Mono"/>
              </a:rPr>
              <a:t>y = x + z</a:t>
            </a:r>
            <a:endParaRPr b="0" lang="pt-BR" sz="194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" name="Text 11"/>
          <p:cNvSpPr/>
          <p:nvPr/>
        </p:nvSpPr>
        <p:spPr>
          <a:xfrm>
            <a:off x="594360" y="3364920"/>
            <a:ext cx="1101816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457200">
              <a:lnSpc>
                <a:spcPct val="100000"/>
              </a:lnSpc>
              <a:tabLst>
                <a:tab algn="l" pos="0"/>
              </a:tabLst>
            </a:pPr>
            <a:r>
              <a:rPr b="1" lang="en-US" sz="1900" strike="noStrike" u="none">
                <a:solidFill>
                  <a:srgbClr val="5b6cff"/>
                </a:solidFill>
                <a:effectLst/>
                <a:uFillTx/>
                <a:latin typeface="Aptos Display"/>
                <a:ea typeface="Aptos Display"/>
              </a:rPr>
              <a:t>ASPECTOS QUALITATIVOS DA ANÁLISE</a:t>
            </a:r>
            <a:endParaRPr b="0" lang="pt-BR" sz="1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" name="Text 12"/>
          <p:cNvSpPr/>
          <p:nvPr/>
        </p:nvSpPr>
        <p:spPr>
          <a:xfrm>
            <a:off x="594360" y="3675960"/>
            <a:ext cx="11018160" cy="123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 lnSpcReduction="9999"/>
          </a:bodyPr>
          <a:p>
            <a:pPr defTabSz="457200">
              <a:lnSpc>
                <a:spcPct val="100000"/>
              </a:lnSpc>
            </a:pPr>
            <a:r>
              <a:rPr b="0" lang="en-US" sz="1879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 Feedback como informação para reconstrução.</a:t>
            </a:r>
            <a:endParaRPr b="0" lang="pt-BR" sz="1879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879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 Queiroz: feedback visual/textual deve orientar interpretação, não apenas corrigir.</a:t>
            </a:r>
            <a:endParaRPr b="0" lang="pt-BR" sz="1879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879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 Relato: incluir revisão, depuração e reconstrução.</a:t>
            </a:r>
            <a:endParaRPr b="0" lang="pt-BR" sz="1879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879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 Wessels: respostas idiossincráticas também revelam modos de pensar.</a:t>
            </a:r>
            <a:endParaRPr b="0" lang="pt-BR" sz="1879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" name="Text 13"/>
          <p:cNvSpPr/>
          <p:nvPr/>
        </p:nvSpPr>
        <p:spPr>
          <a:xfrm>
            <a:off x="594360" y="5074920"/>
            <a:ext cx="1101816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457200">
              <a:lnSpc>
                <a:spcPct val="100000"/>
              </a:lnSpc>
              <a:tabLst>
                <a:tab algn="l" pos="0"/>
              </a:tabLst>
            </a:pPr>
            <a:r>
              <a:rPr b="1" lang="en-US" sz="1900" strike="noStrike" u="none">
                <a:solidFill>
                  <a:srgbClr val="5b6cff"/>
                </a:solidFill>
                <a:effectLst/>
                <a:uFillTx/>
                <a:latin typeface="Aptos Display"/>
                <a:ea typeface="Aptos Display"/>
              </a:rPr>
              <a:t>IMPORTÂNCIA NA APRENDIZAGEM DE CONCEITOS E RELAÇÕES</a:t>
            </a:r>
            <a:endParaRPr b="0" lang="pt-BR" sz="1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" name="Text 14"/>
          <p:cNvSpPr/>
          <p:nvPr/>
        </p:nvSpPr>
        <p:spPr>
          <a:xfrm>
            <a:off x="594360" y="5376600"/>
            <a:ext cx="1101816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457200">
              <a:lnSpc>
                <a:spcPct val="100000"/>
              </a:lnSpc>
              <a:tabLst>
                <a:tab algn="l" pos="0"/>
              </a:tabLst>
            </a:pPr>
            <a:r>
              <a:rPr b="0" lang="en-US" sz="202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O erro revela dependências ausentes e ajuda a discutir a estrutura necessária para o modelo funcionar.</a:t>
            </a:r>
            <a:endParaRPr b="0" lang="pt-BR" sz="202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" name="Text 15"/>
          <p:cNvSpPr/>
          <p:nvPr/>
        </p:nvSpPr>
        <p:spPr>
          <a:xfrm>
            <a:off x="594360" y="6263640"/>
            <a:ext cx="1101816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 fontScale="85000" lnSpcReduction="9999"/>
          </a:bodyPr>
          <a:p>
            <a:pPr defTabSz="457200">
              <a:lnSpc>
                <a:spcPct val="100000"/>
              </a:lnSpc>
              <a:tabLst>
                <a:tab algn="l" pos="0"/>
              </a:tabLst>
            </a:pPr>
            <a:r>
              <a:rPr b="0" lang="en-US" sz="1700" strike="noStrike" u="non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Critérios recorrentes: representação, manipulação, feedback, investigação, transnumeração, reflexão metaconceitual e limites do modelo.</a:t>
            </a:r>
            <a:endParaRPr b="0" lang="pt-BR" sz="1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Text 0"/>
          <p:cNvSpPr/>
          <p:nvPr/>
        </p:nvSpPr>
        <p:spPr>
          <a:xfrm>
            <a:off x="502920" y="164520"/>
            <a:ext cx="713196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457200">
              <a:lnSpc>
                <a:spcPct val="100000"/>
              </a:lnSpc>
              <a:tabLst>
                <a:tab algn="l" pos="0"/>
              </a:tabLst>
            </a:pPr>
            <a:r>
              <a:rPr b="1" lang="en-US" sz="1560" strike="noStrike" u="non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PROFCOMP • Pensamento Computacional • Julia + Pluto</a:t>
            </a:r>
            <a:endParaRPr b="0" lang="pt-BR" sz="156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" name="Text 1"/>
          <p:cNvSpPr/>
          <p:nvPr/>
        </p:nvSpPr>
        <p:spPr>
          <a:xfrm>
            <a:off x="7955280" y="164520"/>
            <a:ext cx="29257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457200">
              <a:lnSpc>
                <a:spcPct val="100000"/>
              </a:lnSpc>
              <a:tabLst>
                <a:tab algn="l" pos="0"/>
              </a:tabLst>
            </a:pPr>
            <a:r>
              <a:rPr b="0" lang="en-US" sz="1520" strike="noStrike" u="non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1 • Introdução</a:t>
            </a:r>
            <a:endParaRPr b="0" lang="pt-BR" sz="152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" name="Text 2"/>
          <p:cNvSpPr/>
          <p:nvPr/>
        </p:nvSpPr>
        <p:spPr>
          <a:xfrm>
            <a:off x="11064240" y="109800"/>
            <a:ext cx="73116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457200">
              <a:lnSpc>
                <a:spcPct val="100000"/>
              </a:lnSpc>
              <a:tabLst>
                <a:tab algn="l" pos="0"/>
              </a:tabLst>
            </a:pPr>
            <a:r>
              <a:rPr b="1" lang="en-US" sz="2400" strike="noStrike" u="none">
                <a:solidFill>
                  <a:srgbClr val="243447"/>
                </a:solidFill>
                <a:effectLst/>
                <a:uFillTx/>
                <a:latin typeface="Aptos Display"/>
                <a:ea typeface="Aptos Display"/>
              </a:rPr>
              <a:t>13</a:t>
            </a:r>
            <a:endParaRPr b="0" lang="pt-BR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" name="Shape 3"/>
          <p:cNvSpPr/>
          <p:nvPr/>
        </p:nvSpPr>
        <p:spPr>
          <a:xfrm>
            <a:off x="502920" y="502920"/>
            <a:ext cx="11247120" cy="360"/>
          </a:xfrm>
          <a:prstGeom prst="line">
            <a:avLst/>
          </a:prstGeom>
          <a:ln w="7620">
            <a:solidFill>
              <a:srgbClr val="d7dee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>
            <a:noAutofit/>
          </a:bodyPr>
          <a:p>
            <a:endParaRPr b="0" lang="en-US" sz="1800" strike="noStrike" u="none">
              <a:solidFill>
                <a:schemeClr val="dk1"/>
              </a:solidFill>
              <a:effectLst/>
              <a:uFillTx/>
              <a:latin typeface="+mn-lt"/>
              <a:ea typeface="+mn-ea"/>
            </a:endParaRPr>
          </a:p>
        </p:txBody>
      </p:sp>
      <p:sp>
        <p:nvSpPr>
          <p:cNvPr id="37" name="Text 5"/>
          <p:cNvSpPr/>
          <p:nvPr/>
        </p:nvSpPr>
        <p:spPr>
          <a:xfrm>
            <a:off x="960120" y="859680"/>
            <a:ext cx="73116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457200">
              <a:lnSpc>
                <a:spcPct val="100000"/>
              </a:lnSpc>
              <a:tabLst>
                <a:tab algn="l" pos="0"/>
              </a:tabLst>
            </a:pPr>
            <a:r>
              <a:rPr b="1" lang="en-US" sz="1700" strike="noStrike" u="none">
                <a:solidFill>
                  <a:srgbClr val="5b6cff"/>
                </a:solidFill>
                <a:effectLst/>
                <a:uFillTx/>
                <a:latin typeface="Aptos"/>
                <a:ea typeface="Aptos"/>
              </a:rPr>
              <a:t>1.10</a:t>
            </a:r>
            <a:endParaRPr b="0" lang="pt-BR" sz="1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" name="Text 6"/>
          <p:cNvSpPr/>
          <p:nvPr/>
        </p:nvSpPr>
        <p:spPr>
          <a:xfrm>
            <a:off x="2340000" y="720000"/>
            <a:ext cx="749988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 fontScale="55000" lnSpcReduction="19999"/>
          </a:bodyPr>
          <a:p>
            <a:pPr defTabSz="457200">
              <a:lnSpc>
                <a:spcPct val="100000"/>
              </a:lnSpc>
              <a:tabLst>
                <a:tab algn="l" pos="0"/>
              </a:tabLst>
            </a:pPr>
            <a:r>
              <a:rPr b="1" lang="en-US" sz="4700" strike="noStrike" u="none">
                <a:solidFill>
                  <a:srgbClr val="243447"/>
                </a:solidFill>
                <a:effectLst/>
                <a:uFillTx/>
                <a:latin typeface="Aptos Display"/>
                <a:ea typeface="Aptos Display"/>
              </a:rPr>
              <a:t>Como avaliar a primeira experiência com Pluto?</a:t>
            </a:r>
            <a:endParaRPr b="0" lang="pt-BR" sz="4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" name="Text 7"/>
          <p:cNvSpPr/>
          <p:nvPr/>
        </p:nvSpPr>
        <p:spPr>
          <a:xfrm>
            <a:off x="594360" y="1481400"/>
            <a:ext cx="512028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457200">
              <a:lnSpc>
                <a:spcPct val="100000"/>
              </a:lnSpc>
              <a:tabLst>
                <a:tab algn="l" pos="0"/>
              </a:tabLst>
            </a:pPr>
            <a:r>
              <a:rPr b="1" lang="en-US" sz="1900" strike="noStrike" u="none">
                <a:solidFill>
                  <a:srgbClr val="5b6cff"/>
                </a:solidFill>
                <a:effectLst/>
                <a:uFillTx/>
                <a:latin typeface="Aptos Display"/>
                <a:ea typeface="Aptos Display"/>
              </a:rPr>
              <a:t>TAREFA BREVE NO PLUTO</a:t>
            </a:r>
            <a:endParaRPr b="0" lang="pt-BR" sz="1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" name="Text 8"/>
          <p:cNvSpPr/>
          <p:nvPr/>
        </p:nvSpPr>
        <p:spPr>
          <a:xfrm>
            <a:off x="594360" y="1783080"/>
            <a:ext cx="5074560" cy="123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 lnSpcReduction="9999"/>
          </a:bodyPr>
          <a:p>
            <a:pPr defTabSz="457200">
              <a:lnSpc>
                <a:spcPct val="100000"/>
              </a:lnSpc>
            </a:pPr>
            <a:r>
              <a:rPr b="0" lang="en-US" sz="204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 Peça um registro curto.</a:t>
            </a:r>
            <a:endParaRPr b="0" lang="pt-BR" sz="204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204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 Liste o que ficou visível.</a:t>
            </a:r>
            <a:endParaRPr b="0" lang="pt-BR" sz="204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204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 Classifique uma dificuldade como dado, regra ou saída.</a:t>
            </a:r>
            <a:endParaRPr b="0" lang="pt-BR" sz="204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" name="Text 9"/>
          <p:cNvSpPr/>
          <p:nvPr/>
        </p:nvSpPr>
        <p:spPr>
          <a:xfrm>
            <a:off x="5925240" y="1481400"/>
            <a:ext cx="562320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457200">
              <a:lnSpc>
                <a:spcPct val="100000"/>
              </a:lnSpc>
              <a:tabLst>
                <a:tab algn="l" pos="0"/>
              </a:tabLst>
            </a:pPr>
            <a:r>
              <a:rPr b="1" lang="en-US" sz="1900" strike="noStrike" u="none">
                <a:solidFill>
                  <a:srgbClr val="5b6cff"/>
                </a:solidFill>
                <a:effectLst/>
                <a:uFillTx/>
                <a:latin typeface="Aptos Display"/>
                <a:ea typeface="Aptos Display"/>
              </a:rPr>
              <a:t>EXEMPLO EM JULIA</a:t>
            </a:r>
            <a:endParaRPr b="0" lang="pt-BR" sz="1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" name="Text 10"/>
          <p:cNvSpPr/>
          <p:nvPr/>
        </p:nvSpPr>
        <p:spPr>
          <a:xfrm>
            <a:off x="5925240" y="1755720"/>
            <a:ext cx="5623200" cy="1371240"/>
          </a:xfrm>
          <a:prstGeom prst="rect">
            <a:avLst/>
          </a:prstGeom>
          <a:solidFill>
            <a:srgbClr val="11182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rmAutofit/>
          </a:bodyPr>
          <a:p>
            <a:pPr defTabSz="457200">
              <a:lnSpc>
                <a:spcPct val="100000"/>
              </a:lnSpc>
              <a:tabLst>
                <a:tab algn="l" pos="0"/>
              </a:tabLst>
            </a:pPr>
            <a:r>
              <a:rPr b="0" lang="en-US" sz="1940" strike="noStrike" u="none">
                <a:solidFill>
                  <a:srgbClr val="f9fafb"/>
                </a:solidFill>
                <a:effectLst/>
                <a:uFillTx/>
                <a:latin typeface="Cascadia Mono"/>
                <a:ea typeface="Cascadia Mono"/>
              </a:rPr>
              <a:t>reflexao = "Expliquei a relação entre dados e saída"</a:t>
            </a:r>
            <a:endParaRPr b="0" lang="pt-BR" sz="194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tabLst>
                <a:tab algn="l" pos="0"/>
              </a:tabLst>
            </a:pPr>
            <a:r>
              <a:rPr b="0" lang="en-US" sz="1940" strike="noStrike" u="none">
                <a:solidFill>
                  <a:srgbClr val="f9fafb"/>
                </a:solidFill>
                <a:effectLst/>
                <a:uFillTx/>
                <a:latin typeface="Cascadia Mono"/>
                <a:ea typeface="Cascadia Mono"/>
              </a:rPr>
              <a:t>length(reflexao)</a:t>
            </a:r>
            <a:endParaRPr b="0" lang="pt-BR" sz="194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3" name="Text 11"/>
          <p:cNvSpPr/>
          <p:nvPr/>
        </p:nvSpPr>
        <p:spPr>
          <a:xfrm>
            <a:off x="594360" y="3364920"/>
            <a:ext cx="1101816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457200">
              <a:lnSpc>
                <a:spcPct val="100000"/>
              </a:lnSpc>
              <a:tabLst>
                <a:tab algn="l" pos="0"/>
              </a:tabLst>
            </a:pPr>
            <a:r>
              <a:rPr b="1" lang="en-US" sz="1900" strike="noStrike" u="none">
                <a:solidFill>
                  <a:srgbClr val="5b6cff"/>
                </a:solidFill>
                <a:effectLst/>
                <a:uFillTx/>
                <a:latin typeface="Aptos Display"/>
                <a:ea typeface="Aptos Display"/>
              </a:rPr>
              <a:t>ASPECTOS QUALITATIVOS DA ANÁLISE</a:t>
            </a:r>
            <a:endParaRPr b="0" lang="pt-BR" sz="1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" name="Text 12"/>
          <p:cNvSpPr/>
          <p:nvPr/>
        </p:nvSpPr>
        <p:spPr>
          <a:xfrm>
            <a:off x="594360" y="3675960"/>
            <a:ext cx="11018160" cy="123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 lnSpcReduction="9999"/>
          </a:bodyPr>
          <a:p>
            <a:pPr defTabSz="457200">
              <a:lnSpc>
                <a:spcPct val="100000"/>
              </a:lnSpc>
            </a:pPr>
            <a:r>
              <a:rPr b="0" lang="en-US" sz="1879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 Reflexão metaconceitual sobre o percurso.</a:t>
            </a:r>
            <a:endParaRPr b="0" lang="pt-BR" sz="1879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879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 Relato: avaliar o percurso de pensamento, não apenas o código final.</a:t>
            </a:r>
            <a:endParaRPr b="0" lang="pt-BR" sz="1879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879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 Queiroz: o percurso da tarefa revela mudanças no discurso e na ação.</a:t>
            </a:r>
            <a:endParaRPr b="0" lang="pt-BR" sz="1879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879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 Wessels: atividades planejadas desenvolvem representação e pensamento de ordem superior.</a:t>
            </a:r>
            <a:endParaRPr b="0" lang="pt-BR" sz="1879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" name="Text 13"/>
          <p:cNvSpPr/>
          <p:nvPr/>
        </p:nvSpPr>
        <p:spPr>
          <a:xfrm>
            <a:off x="594360" y="5074920"/>
            <a:ext cx="1101816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457200">
              <a:lnSpc>
                <a:spcPct val="100000"/>
              </a:lnSpc>
              <a:tabLst>
                <a:tab algn="l" pos="0"/>
              </a:tabLst>
            </a:pPr>
            <a:r>
              <a:rPr b="1" lang="en-US" sz="1900" strike="noStrike" u="none">
                <a:solidFill>
                  <a:srgbClr val="5b6cff"/>
                </a:solidFill>
                <a:effectLst/>
                <a:uFillTx/>
                <a:latin typeface="Aptos Display"/>
                <a:ea typeface="Aptos Display"/>
              </a:rPr>
              <a:t>IMPORTÂNCIA NA APRENDIZAGEM DE CONCEITOS E RELAÇÕES</a:t>
            </a:r>
            <a:endParaRPr b="0" lang="pt-BR" sz="1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" name="Text 14"/>
          <p:cNvSpPr/>
          <p:nvPr/>
        </p:nvSpPr>
        <p:spPr>
          <a:xfrm>
            <a:off x="594360" y="5376600"/>
            <a:ext cx="1101816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457200">
              <a:lnSpc>
                <a:spcPct val="100000"/>
              </a:lnSpc>
              <a:tabLst>
                <a:tab algn="l" pos="0"/>
              </a:tabLst>
            </a:pPr>
            <a:r>
              <a:rPr b="0" lang="en-US" sz="202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A avaliação inicial observa como o estudante descreve e reorganiza a tarefa, não apenas se o código executou.</a:t>
            </a:r>
            <a:endParaRPr b="0" lang="pt-BR" sz="202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" name="Text 15"/>
          <p:cNvSpPr/>
          <p:nvPr/>
        </p:nvSpPr>
        <p:spPr>
          <a:xfrm>
            <a:off x="594360" y="6263640"/>
            <a:ext cx="1101816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 fontScale="85000" lnSpcReduction="9999"/>
          </a:bodyPr>
          <a:p>
            <a:pPr defTabSz="457200">
              <a:lnSpc>
                <a:spcPct val="100000"/>
              </a:lnSpc>
              <a:tabLst>
                <a:tab algn="l" pos="0"/>
              </a:tabLst>
            </a:pPr>
            <a:r>
              <a:rPr b="0" lang="en-US" sz="1700" strike="noStrike" u="non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Critérios recorrentes: representação, manipulação, feedback, investigação, transnumeração, reflexão metaconceitual e limites do modelo.</a:t>
            </a:r>
            <a:endParaRPr b="0" lang="pt-BR" sz="1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Text 0"/>
          <p:cNvSpPr/>
          <p:nvPr/>
        </p:nvSpPr>
        <p:spPr>
          <a:xfrm>
            <a:off x="502920" y="164520"/>
            <a:ext cx="713196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457200">
              <a:lnSpc>
                <a:spcPct val="100000"/>
              </a:lnSpc>
              <a:tabLst>
                <a:tab algn="l" pos="0"/>
              </a:tabLst>
            </a:pPr>
            <a:r>
              <a:rPr b="1" lang="en-US" sz="1560" strike="noStrike" u="non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PROFCOMP • Pensamento Computacional • Julia + Pluto</a:t>
            </a:r>
            <a:endParaRPr b="0" lang="pt-BR" sz="156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" name="Text 1"/>
          <p:cNvSpPr/>
          <p:nvPr/>
        </p:nvSpPr>
        <p:spPr>
          <a:xfrm>
            <a:off x="7955280" y="164520"/>
            <a:ext cx="29257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457200">
              <a:lnSpc>
                <a:spcPct val="100000"/>
              </a:lnSpc>
              <a:tabLst>
                <a:tab algn="l" pos="0"/>
              </a:tabLst>
            </a:pPr>
            <a:r>
              <a:rPr b="0" lang="en-US" sz="1520" strike="noStrike" u="non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2 • Indução</a:t>
            </a:r>
            <a:endParaRPr b="0" lang="pt-BR" sz="152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" name="Text 2"/>
          <p:cNvSpPr/>
          <p:nvPr/>
        </p:nvSpPr>
        <p:spPr>
          <a:xfrm>
            <a:off x="11064240" y="109800"/>
            <a:ext cx="73116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457200">
              <a:lnSpc>
                <a:spcPct val="100000"/>
              </a:lnSpc>
              <a:tabLst>
                <a:tab algn="l" pos="0"/>
              </a:tabLst>
            </a:pPr>
            <a:r>
              <a:rPr b="1" lang="en-US" sz="2400" strike="noStrike" u="none">
                <a:solidFill>
                  <a:srgbClr val="243447"/>
                </a:solidFill>
                <a:effectLst/>
                <a:uFillTx/>
                <a:latin typeface="Aptos Display"/>
                <a:ea typeface="Aptos Display"/>
              </a:rPr>
              <a:t>14</a:t>
            </a:r>
            <a:endParaRPr b="0" lang="pt-BR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" name="Shape 3"/>
          <p:cNvSpPr/>
          <p:nvPr/>
        </p:nvSpPr>
        <p:spPr>
          <a:xfrm>
            <a:off x="502920" y="502920"/>
            <a:ext cx="11247120" cy="360"/>
          </a:xfrm>
          <a:prstGeom prst="line">
            <a:avLst/>
          </a:prstGeom>
          <a:ln w="7620">
            <a:solidFill>
              <a:srgbClr val="d7dee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>
            <a:noAutofit/>
          </a:bodyPr>
          <a:p>
            <a:endParaRPr b="0" lang="en-US" sz="1800" strike="noStrike" u="none">
              <a:solidFill>
                <a:schemeClr val="dk1"/>
              </a:solidFill>
              <a:effectLst/>
              <a:uFillTx/>
              <a:latin typeface="+mn-lt"/>
              <a:ea typeface="+mn-ea"/>
            </a:endParaRPr>
          </a:p>
        </p:txBody>
      </p:sp>
      <p:sp>
        <p:nvSpPr>
          <p:cNvPr id="52" name="Text 4"/>
          <p:cNvSpPr/>
          <p:nvPr/>
        </p:nvSpPr>
        <p:spPr>
          <a:xfrm>
            <a:off x="594360" y="822960"/>
            <a:ext cx="66564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457200">
              <a:lnSpc>
                <a:spcPct val="100000"/>
              </a:lnSpc>
              <a:tabLst>
                <a:tab algn="l" pos="0"/>
              </a:tabLst>
            </a:pPr>
            <a:r>
              <a:rPr b="1" lang="en-US" sz="4200" strike="noStrike" u="none">
                <a:solidFill>
                  <a:srgbClr val="2a9d8f"/>
                </a:solidFill>
                <a:effectLst/>
                <a:uFillTx/>
                <a:latin typeface="Aptos Display"/>
                <a:ea typeface="Aptos Display"/>
              </a:rPr>
              <a:t>2</a:t>
            </a:r>
            <a:endParaRPr b="0" lang="pt-BR" sz="4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" name="Text 5"/>
          <p:cNvSpPr/>
          <p:nvPr/>
        </p:nvSpPr>
        <p:spPr>
          <a:xfrm>
            <a:off x="1828800" y="768240"/>
            <a:ext cx="960084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457200">
              <a:lnSpc>
                <a:spcPct val="100000"/>
              </a:lnSpc>
              <a:tabLst>
                <a:tab algn="l" pos="0"/>
              </a:tabLst>
            </a:pPr>
            <a:r>
              <a:rPr b="1" lang="en-US" sz="4400" strike="noStrike" u="none">
                <a:solidFill>
                  <a:srgbClr val="243447"/>
                </a:solidFill>
                <a:effectLst/>
                <a:uFillTx/>
                <a:latin typeface="Aptos Display"/>
                <a:ea typeface="Aptos Display"/>
              </a:rPr>
              <a:t>Pensamento indutivo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" name="Text 6"/>
          <p:cNvSpPr/>
          <p:nvPr/>
        </p:nvSpPr>
        <p:spPr>
          <a:xfrm>
            <a:off x="1828800" y="1691640"/>
            <a:ext cx="932652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 fontScale="85000" lnSpcReduction="9999"/>
          </a:bodyPr>
          <a:p>
            <a:pPr defTabSz="457200">
              <a:lnSpc>
                <a:spcPct val="100000"/>
              </a:lnSpc>
              <a:tabLst>
                <a:tab algn="l" pos="0"/>
              </a:tabLst>
            </a:pPr>
            <a:r>
              <a:rPr b="0" lang="en-US" sz="3000" strike="noStrike" u="non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10 tarefas em formato de pergunta, com exemplos em Julia/Pluto.</a:t>
            </a:r>
            <a:endParaRPr b="0" lang="pt-BR" sz="3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" name="Text 7"/>
          <p:cNvSpPr/>
          <p:nvPr/>
        </p:nvSpPr>
        <p:spPr>
          <a:xfrm>
            <a:off x="685800" y="2743200"/>
            <a:ext cx="25599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457200">
              <a:lnSpc>
                <a:spcPct val="100000"/>
              </a:lnSpc>
              <a:tabLst>
                <a:tab algn="l" pos="0"/>
              </a:tabLst>
            </a:pPr>
            <a:r>
              <a:rPr b="1" lang="en-US" sz="2400" strike="noStrike" u="none">
                <a:solidFill>
                  <a:srgbClr val="2a9d8f"/>
                </a:solidFill>
                <a:effectLst/>
                <a:uFillTx/>
                <a:latin typeface="Aptos Display"/>
                <a:ea typeface="Aptos Display"/>
              </a:rPr>
              <a:t>Pergunta-guia</a:t>
            </a:r>
            <a:endParaRPr b="0" lang="pt-BR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" name="Text 8"/>
          <p:cNvSpPr/>
          <p:nvPr/>
        </p:nvSpPr>
        <p:spPr>
          <a:xfrm>
            <a:off x="685800" y="3108960"/>
            <a:ext cx="10972440" cy="109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 fontScale="70000" lnSpcReduction="19999"/>
          </a:bodyPr>
          <a:p>
            <a:pPr defTabSz="457200">
              <a:lnSpc>
                <a:spcPct val="100000"/>
              </a:lnSpc>
              <a:tabLst>
                <a:tab algn="l" pos="0"/>
              </a:tabLst>
            </a:pPr>
            <a:r>
              <a:rPr b="1" lang="en-US" sz="5400" strike="noStrike" u="none">
                <a:solidFill>
                  <a:srgbClr val="243447"/>
                </a:solidFill>
                <a:effectLst/>
                <a:uFillTx/>
                <a:latin typeface="Aptos Display"/>
                <a:ea typeface="Aptos Display"/>
              </a:rPr>
              <a:t>Como construir hipóteses a partir de padrões observados em dados e saídas?</a:t>
            </a:r>
            <a:endParaRPr b="0" lang="pt-BR" sz="5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" name="Text 9"/>
          <p:cNvSpPr/>
          <p:nvPr/>
        </p:nvSpPr>
        <p:spPr>
          <a:xfrm>
            <a:off x="685800" y="4892040"/>
            <a:ext cx="1097244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 fontScale="85000" lnSpcReduction="9999"/>
          </a:bodyPr>
          <a:p>
            <a:pPr defTabSz="457200">
              <a:lnSpc>
                <a:spcPct val="100000"/>
              </a:lnSpc>
              <a:tabLst>
                <a:tab algn="l" pos="0"/>
              </a:tabLst>
            </a:pPr>
            <a:r>
              <a:rPr b="0" lang="en-US" sz="2800" strike="noStrike" u="non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Neste bloco, as tarefas usam Julia e Pluto para transformar conceitos da ementa em ações observáveis: organizar, representar, manipular, interpretar e revisar.</a:t>
            </a:r>
            <a:endParaRPr b="0" lang="pt-BR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" name="Text 10"/>
          <p:cNvSpPr/>
          <p:nvPr/>
        </p:nvSpPr>
        <p:spPr>
          <a:xfrm>
            <a:off x="594360" y="6263640"/>
            <a:ext cx="1101816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457200">
              <a:lnSpc>
                <a:spcPct val="100000"/>
              </a:lnSpc>
              <a:tabLst>
                <a:tab algn="l" pos="0"/>
              </a:tabLst>
            </a:pPr>
            <a:r>
              <a:rPr b="0" lang="en-US" sz="1700" strike="noStrike" u="non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A pergunta abre a aula; o código serve para tornar a relação conceitual discutível.</a:t>
            </a:r>
            <a:endParaRPr b="0" lang="pt-BR" sz="1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Text 0"/>
          <p:cNvSpPr/>
          <p:nvPr/>
        </p:nvSpPr>
        <p:spPr>
          <a:xfrm>
            <a:off x="502920" y="164520"/>
            <a:ext cx="713196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457200">
              <a:lnSpc>
                <a:spcPct val="100000"/>
              </a:lnSpc>
              <a:tabLst>
                <a:tab algn="l" pos="0"/>
              </a:tabLst>
            </a:pPr>
            <a:r>
              <a:rPr b="1" lang="en-US" sz="1560" strike="noStrike" u="non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PROFCOMP • Pensamento Computacional • Julia + Pluto</a:t>
            </a:r>
            <a:endParaRPr b="0" lang="pt-BR" sz="156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" name="Text 1"/>
          <p:cNvSpPr/>
          <p:nvPr/>
        </p:nvSpPr>
        <p:spPr>
          <a:xfrm>
            <a:off x="7955280" y="164520"/>
            <a:ext cx="29257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457200">
              <a:lnSpc>
                <a:spcPct val="100000"/>
              </a:lnSpc>
              <a:tabLst>
                <a:tab algn="l" pos="0"/>
              </a:tabLst>
            </a:pPr>
            <a:r>
              <a:rPr b="0" lang="en-US" sz="1520" strike="noStrike" u="non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2 • Indução</a:t>
            </a:r>
            <a:endParaRPr b="0" lang="pt-BR" sz="152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" name="Text 2"/>
          <p:cNvSpPr/>
          <p:nvPr/>
        </p:nvSpPr>
        <p:spPr>
          <a:xfrm>
            <a:off x="11064240" y="109800"/>
            <a:ext cx="73116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457200">
              <a:lnSpc>
                <a:spcPct val="100000"/>
              </a:lnSpc>
              <a:tabLst>
                <a:tab algn="l" pos="0"/>
              </a:tabLst>
            </a:pPr>
            <a:r>
              <a:rPr b="1" lang="en-US" sz="2400" strike="noStrike" u="none">
                <a:solidFill>
                  <a:srgbClr val="243447"/>
                </a:solidFill>
                <a:effectLst/>
                <a:uFillTx/>
                <a:latin typeface="Aptos Display"/>
                <a:ea typeface="Aptos Display"/>
              </a:rPr>
              <a:t>15</a:t>
            </a:r>
            <a:endParaRPr b="0" lang="pt-BR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" name="Shape 3"/>
          <p:cNvSpPr/>
          <p:nvPr/>
        </p:nvSpPr>
        <p:spPr>
          <a:xfrm>
            <a:off x="502920" y="502920"/>
            <a:ext cx="11247120" cy="360"/>
          </a:xfrm>
          <a:prstGeom prst="line">
            <a:avLst/>
          </a:prstGeom>
          <a:ln w="7620">
            <a:solidFill>
              <a:srgbClr val="d7dee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>
            <a:noAutofit/>
          </a:bodyPr>
          <a:p>
            <a:endParaRPr b="0" lang="en-US" sz="1800" strike="noStrike" u="none">
              <a:solidFill>
                <a:schemeClr val="dk1"/>
              </a:solidFill>
              <a:effectLst/>
              <a:uFillTx/>
              <a:latin typeface="+mn-lt"/>
              <a:ea typeface="+mn-ea"/>
            </a:endParaRPr>
          </a:p>
        </p:txBody>
      </p:sp>
      <p:sp>
        <p:nvSpPr>
          <p:cNvPr id="63" name="Text 5"/>
          <p:cNvSpPr/>
          <p:nvPr/>
        </p:nvSpPr>
        <p:spPr>
          <a:xfrm>
            <a:off x="960120" y="859680"/>
            <a:ext cx="73116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457200">
              <a:lnSpc>
                <a:spcPct val="100000"/>
              </a:lnSpc>
              <a:tabLst>
                <a:tab algn="l" pos="0"/>
              </a:tabLst>
            </a:pPr>
            <a:r>
              <a:rPr b="1" lang="en-US" sz="1700" strike="noStrike" u="none">
                <a:solidFill>
                  <a:srgbClr val="2a9d8f"/>
                </a:solidFill>
                <a:effectLst/>
                <a:uFillTx/>
                <a:latin typeface="Aptos"/>
                <a:ea typeface="Aptos"/>
              </a:rPr>
              <a:t>2.1</a:t>
            </a:r>
            <a:endParaRPr b="0" lang="pt-BR" sz="1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" name="Text 6"/>
          <p:cNvSpPr/>
          <p:nvPr/>
        </p:nvSpPr>
        <p:spPr>
          <a:xfrm>
            <a:off x="1691280" y="667440"/>
            <a:ext cx="996696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 fontScale="62500" lnSpcReduction="19999"/>
          </a:bodyPr>
          <a:p>
            <a:pPr defTabSz="457200">
              <a:lnSpc>
                <a:spcPct val="100000"/>
              </a:lnSpc>
              <a:tabLst>
                <a:tab algn="l" pos="0"/>
              </a:tabLst>
            </a:pPr>
            <a:r>
              <a:rPr b="1" lang="en-US" sz="4700" strike="noStrike" u="none">
                <a:solidFill>
                  <a:srgbClr val="243447"/>
                </a:solidFill>
                <a:effectLst/>
                <a:uFillTx/>
                <a:latin typeface="Aptos Display"/>
                <a:ea typeface="Aptos Display"/>
              </a:rPr>
              <a:t>Que padrão parece surgir nesta sequência?</a:t>
            </a:r>
            <a:endParaRPr b="0" lang="pt-BR" sz="4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" name="Text 7"/>
          <p:cNvSpPr/>
          <p:nvPr/>
        </p:nvSpPr>
        <p:spPr>
          <a:xfrm>
            <a:off x="594360" y="1481400"/>
            <a:ext cx="512028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457200">
              <a:lnSpc>
                <a:spcPct val="100000"/>
              </a:lnSpc>
              <a:tabLst>
                <a:tab algn="l" pos="0"/>
              </a:tabLst>
            </a:pPr>
            <a:r>
              <a:rPr b="1" lang="en-US" sz="1900" strike="noStrike" u="none">
                <a:solidFill>
                  <a:srgbClr val="2a9d8f"/>
                </a:solidFill>
                <a:effectLst/>
                <a:uFillTx/>
                <a:latin typeface="Aptos Display"/>
                <a:ea typeface="Aptos Display"/>
              </a:rPr>
              <a:t>TAREFA BREVE NO PLUTO</a:t>
            </a:r>
            <a:endParaRPr b="0" lang="pt-BR" sz="1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" name="Text 8"/>
          <p:cNvSpPr/>
          <p:nvPr/>
        </p:nvSpPr>
        <p:spPr>
          <a:xfrm>
            <a:off x="594360" y="1783080"/>
            <a:ext cx="5074560" cy="123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/>
          </a:bodyPr>
          <a:p>
            <a:pPr defTabSz="457200">
              <a:lnSpc>
                <a:spcPct val="100000"/>
              </a:lnSpc>
            </a:pPr>
            <a:r>
              <a:rPr b="0" lang="en-US" sz="204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 Observe os termos.</a:t>
            </a:r>
            <a:endParaRPr b="0" lang="pt-BR" sz="204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204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 Proponha a próxima saída.</a:t>
            </a:r>
            <a:endParaRPr b="0" lang="pt-BR" sz="204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204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 Teste se a hipótese se sustenta.</a:t>
            </a:r>
            <a:endParaRPr b="0" lang="pt-BR" sz="204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" name="Text 9"/>
          <p:cNvSpPr/>
          <p:nvPr/>
        </p:nvSpPr>
        <p:spPr>
          <a:xfrm>
            <a:off x="5925240" y="1481400"/>
            <a:ext cx="562320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457200">
              <a:lnSpc>
                <a:spcPct val="100000"/>
              </a:lnSpc>
              <a:tabLst>
                <a:tab algn="l" pos="0"/>
              </a:tabLst>
            </a:pPr>
            <a:r>
              <a:rPr b="1" lang="en-US" sz="1900" strike="noStrike" u="none">
                <a:solidFill>
                  <a:srgbClr val="2a9d8f"/>
                </a:solidFill>
                <a:effectLst/>
                <a:uFillTx/>
                <a:latin typeface="Aptos Display"/>
                <a:ea typeface="Aptos Display"/>
              </a:rPr>
              <a:t>EXEMPLO EM JULIA</a:t>
            </a:r>
            <a:endParaRPr b="0" lang="pt-BR" sz="1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" name="Text 10"/>
          <p:cNvSpPr/>
          <p:nvPr/>
        </p:nvSpPr>
        <p:spPr>
          <a:xfrm>
            <a:off x="5925240" y="1755720"/>
            <a:ext cx="5623200" cy="1371240"/>
          </a:xfrm>
          <a:prstGeom prst="rect">
            <a:avLst/>
          </a:prstGeom>
          <a:solidFill>
            <a:srgbClr val="11182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rmAutofit/>
          </a:bodyPr>
          <a:p>
            <a:pPr defTabSz="457200">
              <a:lnSpc>
                <a:spcPct val="100000"/>
              </a:lnSpc>
              <a:tabLst>
                <a:tab algn="l" pos="0"/>
              </a:tabLst>
            </a:pPr>
            <a:r>
              <a:rPr b="0" lang="en-US" sz="1940" strike="noStrike" u="none">
                <a:solidFill>
                  <a:srgbClr val="f9fafb"/>
                </a:solidFill>
                <a:effectLst/>
                <a:uFillTx/>
                <a:latin typeface="Cascadia Mono"/>
                <a:ea typeface="Cascadia Mono"/>
              </a:rPr>
              <a:t>seq = [2, 4, 8, 16]</a:t>
            </a:r>
            <a:endParaRPr b="0" lang="pt-BR" sz="194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tabLst>
                <a:tab algn="l" pos="0"/>
              </a:tabLst>
            </a:pPr>
            <a:r>
              <a:rPr b="0" lang="en-US" sz="1940" strike="noStrike" u="none">
                <a:solidFill>
                  <a:srgbClr val="f9fafb"/>
                </a:solidFill>
                <a:effectLst/>
                <a:uFillTx/>
                <a:latin typeface="Cascadia Mono"/>
                <a:ea typeface="Cascadia Mono"/>
              </a:rPr>
              <a:t>proximo = 32</a:t>
            </a:r>
            <a:endParaRPr b="0" lang="pt-BR" sz="194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tabLst>
                <a:tab algn="l" pos="0"/>
              </a:tabLst>
            </a:pPr>
            <a:r>
              <a:rPr b="0" lang="en-US" sz="1940" strike="noStrike" u="none">
                <a:solidFill>
                  <a:srgbClr val="f9fafb"/>
                </a:solidFill>
                <a:effectLst/>
                <a:uFillTx/>
                <a:latin typeface="Cascadia Mono"/>
                <a:ea typeface="Cascadia Mono"/>
              </a:rPr>
              <a:t>hipotese = "multiplicar por 2"</a:t>
            </a:r>
            <a:endParaRPr b="0" lang="pt-BR" sz="194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9" name="Text 11"/>
          <p:cNvSpPr/>
          <p:nvPr/>
        </p:nvSpPr>
        <p:spPr>
          <a:xfrm>
            <a:off x="594360" y="3364920"/>
            <a:ext cx="1101816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457200">
              <a:lnSpc>
                <a:spcPct val="100000"/>
              </a:lnSpc>
              <a:tabLst>
                <a:tab algn="l" pos="0"/>
              </a:tabLst>
            </a:pPr>
            <a:r>
              <a:rPr b="1" lang="en-US" sz="1900" strike="noStrike" u="none">
                <a:solidFill>
                  <a:srgbClr val="2a9d8f"/>
                </a:solidFill>
                <a:effectLst/>
                <a:uFillTx/>
                <a:latin typeface="Aptos Display"/>
                <a:ea typeface="Aptos Display"/>
              </a:rPr>
              <a:t>ASPECTOS QUALITATIVOS DA ANÁLISE</a:t>
            </a:r>
            <a:endParaRPr b="0" lang="pt-BR" sz="1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" name="Text 12"/>
          <p:cNvSpPr/>
          <p:nvPr/>
        </p:nvSpPr>
        <p:spPr>
          <a:xfrm>
            <a:off x="594360" y="3675960"/>
            <a:ext cx="11018160" cy="123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 lnSpcReduction="9999"/>
          </a:bodyPr>
          <a:p>
            <a:pPr defTabSz="457200">
              <a:lnSpc>
                <a:spcPct val="100000"/>
              </a:lnSpc>
            </a:pPr>
            <a:r>
              <a:rPr b="0" lang="en-US" sz="1879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 Investigação exploratória e reconhecimento de padrões.</a:t>
            </a:r>
            <a:endParaRPr b="0" lang="pt-BR" sz="1879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879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 Wessels: organizar dados é componente crítico da representação.</a:t>
            </a:r>
            <a:endParaRPr b="0" lang="pt-BR" sz="1879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879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 Queiroz: representações ampliam a percepção de propriedades e relações. Favorecer investigação antes da formalização.</a:t>
            </a:r>
            <a:endParaRPr b="0" lang="pt-BR" sz="1879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" name="Text 13"/>
          <p:cNvSpPr/>
          <p:nvPr/>
        </p:nvSpPr>
        <p:spPr>
          <a:xfrm>
            <a:off x="594360" y="5074920"/>
            <a:ext cx="1101816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457200">
              <a:lnSpc>
                <a:spcPct val="100000"/>
              </a:lnSpc>
              <a:tabLst>
                <a:tab algn="l" pos="0"/>
              </a:tabLst>
            </a:pPr>
            <a:r>
              <a:rPr b="1" lang="en-US" sz="1900" strike="noStrike" u="none">
                <a:solidFill>
                  <a:srgbClr val="2a9d8f"/>
                </a:solidFill>
                <a:effectLst/>
                <a:uFillTx/>
                <a:latin typeface="Aptos Display"/>
                <a:ea typeface="Aptos Display"/>
              </a:rPr>
              <a:t>IMPORTÂNCIA NA APRENDIZAGEM DE CONCEITOS E RELAÇÕES</a:t>
            </a:r>
            <a:endParaRPr b="0" lang="pt-BR" sz="1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" name="Text 14"/>
          <p:cNvSpPr/>
          <p:nvPr/>
        </p:nvSpPr>
        <p:spPr>
          <a:xfrm>
            <a:off x="594360" y="5376600"/>
            <a:ext cx="1101816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457200">
              <a:lnSpc>
                <a:spcPct val="100000"/>
              </a:lnSpc>
              <a:tabLst>
                <a:tab algn="l" pos="0"/>
              </a:tabLst>
            </a:pPr>
            <a:r>
              <a:rPr b="0" lang="en-US" sz="202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A sequência mobiliza a passagem de casos particulares para uma regra provável, ainda sujeita a revisão.</a:t>
            </a:r>
            <a:endParaRPr b="0" lang="pt-BR" sz="202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" name="Text 15"/>
          <p:cNvSpPr/>
          <p:nvPr/>
        </p:nvSpPr>
        <p:spPr>
          <a:xfrm>
            <a:off x="594360" y="6263640"/>
            <a:ext cx="1101816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 fontScale="85000" lnSpcReduction="9999"/>
          </a:bodyPr>
          <a:p>
            <a:pPr defTabSz="457200">
              <a:lnSpc>
                <a:spcPct val="100000"/>
              </a:lnSpc>
              <a:tabLst>
                <a:tab algn="l" pos="0"/>
              </a:tabLst>
            </a:pPr>
            <a:r>
              <a:rPr b="0" lang="en-US" sz="1700" strike="noStrike" u="non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Critérios recorrentes: representação, manipulação, feedback, investigação, transnumeração, reflexão metaconceitual e limites do modelo.</a:t>
            </a:r>
            <a:endParaRPr b="0" lang="pt-BR" sz="1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Text 0"/>
          <p:cNvSpPr/>
          <p:nvPr/>
        </p:nvSpPr>
        <p:spPr>
          <a:xfrm>
            <a:off x="502920" y="164520"/>
            <a:ext cx="713196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457200">
              <a:lnSpc>
                <a:spcPct val="100000"/>
              </a:lnSpc>
              <a:tabLst>
                <a:tab algn="l" pos="0"/>
              </a:tabLst>
            </a:pPr>
            <a:r>
              <a:rPr b="1" lang="en-US" sz="1560" strike="noStrike" u="non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PROFCOMP • Pensamento Computacional • Julia + Pluto</a:t>
            </a:r>
            <a:endParaRPr b="0" lang="pt-BR" sz="156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" name="Text 1"/>
          <p:cNvSpPr/>
          <p:nvPr/>
        </p:nvSpPr>
        <p:spPr>
          <a:xfrm>
            <a:off x="7955280" y="164520"/>
            <a:ext cx="29257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457200">
              <a:lnSpc>
                <a:spcPct val="100000"/>
              </a:lnSpc>
              <a:tabLst>
                <a:tab algn="l" pos="0"/>
              </a:tabLst>
            </a:pPr>
            <a:r>
              <a:rPr b="0" lang="en-US" sz="1520" strike="noStrike" u="non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2 • Indução</a:t>
            </a:r>
            <a:endParaRPr b="0" lang="pt-BR" sz="152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" name="Text 2"/>
          <p:cNvSpPr/>
          <p:nvPr/>
        </p:nvSpPr>
        <p:spPr>
          <a:xfrm>
            <a:off x="11064240" y="109800"/>
            <a:ext cx="73116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457200">
              <a:lnSpc>
                <a:spcPct val="100000"/>
              </a:lnSpc>
              <a:tabLst>
                <a:tab algn="l" pos="0"/>
              </a:tabLst>
            </a:pPr>
            <a:r>
              <a:rPr b="1" lang="en-US" sz="2400" strike="noStrike" u="none">
                <a:solidFill>
                  <a:srgbClr val="243447"/>
                </a:solidFill>
                <a:effectLst/>
                <a:uFillTx/>
                <a:latin typeface="Aptos Display"/>
                <a:ea typeface="Aptos Display"/>
              </a:rPr>
              <a:t>16</a:t>
            </a:r>
            <a:endParaRPr b="0" lang="pt-BR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" name="Shape 3"/>
          <p:cNvSpPr/>
          <p:nvPr/>
        </p:nvSpPr>
        <p:spPr>
          <a:xfrm>
            <a:off x="502920" y="502920"/>
            <a:ext cx="11247120" cy="360"/>
          </a:xfrm>
          <a:prstGeom prst="line">
            <a:avLst/>
          </a:prstGeom>
          <a:ln w="7620">
            <a:solidFill>
              <a:srgbClr val="d7dee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>
            <a:noAutofit/>
          </a:bodyPr>
          <a:p>
            <a:endParaRPr b="0" lang="en-US" sz="1800" strike="noStrike" u="none">
              <a:solidFill>
                <a:schemeClr val="dk1"/>
              </a:solidFill>
              <a:effectLst/>
              <a:uFillTx/>
              <a:latin typeface="+mn-lt"/>
              <a:ea typeface="+mn-ea"/>
            </a:endParaRPr>
          </a:p>
        </p:txBody>
      </p:sp>
      <p:sp>
        <p:nvSpPr>
          <p:cNvPr id="78" name="Text 5"/>
          <p:cNvSpPr/>
          <p:nvPr/>
        </p:nvSpPr>
        <p:spPr>
          <a:xfrm>
            <a:off x="960120" y="859680"/>
            <a:ext cx="73116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457200">
              <a:lnSpc>
                <a:spcPct val="100000"/>
              </a:lnSpc>
              <a:tabLst>
                <a:tab algn="l" pos="0"/>
              </a:tabLst>
            </a:pPr>
            <a:r>
              <a:rPr b="1" lang="en-US" sz="1700" strike="noStrike" u="none">
                <a:solidFill>
                  <a:srgbClr val="2a9d8f"/>
                </a:solidFill>
                <a:effectLst/>
                <a:uFillTx/>
                <a:latin typeface="Aptos"/>
                <a:ea typeface="Aptos"/>
              </a:rPr>
              <a:t>2.2</a:t>
            </a:r>
            <a:endParaRPr b="0" lang="pt-BR" sz="1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" name="Text 6"/>
          <p:cNvSpPr/>
          <p:nvPr/>
        </p:nvSpPr>
        <p:spPr>
          <a:xfrm>
            <a:off x="1691280" y="667440"/>
            <a:ext cx="996696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 fontScale="55000" lnSpcReduction="19999"/>
          </a:bodyPr>
          <a:p>
            <a:pPr defTabSz="457200">
              <a:lnSpc>
                <a:spcPct val="100000"/>
              </a:lnSpc>
              <a:tabLst>
                <a:tab algn="l" pos="0"/>
              </a:tabLst>
            </a:pPr>
            <a:r>
              <a:rPr b="1" lang="en-US" sz="4700" strike="noStrike" u="none">
                <a:solidFill>
                  <a:srgbClr val="243447"/>
                </a:solidFill>
                <a:effectLst/>
                <a:uFillTx/>
                <a:latin typeface="Aptos Display"/>
                <a:ea typeface="Aptos Display"/>
              </a:rPr>
              <a:t>Como calcular diferenças ajuda a levantar hipóteses?</a:t>
            </a:r>
            <a:endParaRPr b="0" lang="pt-BR" sz="4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" name="Text 7"/>
          <p:cNvSpPr/>
          <p:nvPr/>
        </p:nvSpPr>
        <p:spPr>
          <a:xfrm>
            <a:off x="594360" y="1481400"/>
            <a:ext cx="512028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457200">
              <a:lnSpc>
                <a:spcPct val="100000"/>
              </a:lnSpc>
              <a:tabLst>
                <a:tab algn="l" pos="0"/>
              </a:tabLst>
            </a:pPr>
            <a:r>
              <a:rPr b="1" lang="en-US" sz="1900" strike="noStrike" u="none">
                <a:solidFill>
                  <a:srgbClr val="2a9d8f"/>
                </a:solidFill>
                <a:effectLst/>
                <a:uFillTx/>
                <a:latin typeface="Aptos Display"/>
                <a:ea typeface="Aptos Display"/>
              </a:rPr>
              <a:t>TAREFA BREVE NO PLUTO</a:t>
            </a:r>
            <a:endParaRPr b="0" lang="pt-BR" sz="1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" name="Text 8"/>
          <p:cNvSpPr/>
          <p:nvPr/>
        </p:nvSpPr>
        <p:spPr>
          <a:xfrm>
            <a:off x="594360" y="1783080"/>
            <a:ext cx="5074560" cy="123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/>
          </a:bodyPr>
          <a:p>
            <a:pPr defTabSz="457200">
              <a:lnSpc>
                <a:spcPct val="100000"/>
              </a:lnSpc>
            </a:pPr>
            <a:r>
              <a:rPr b="0" lang="en-US" sz="204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 Crie uma sequência.</a:t>
            </a:r>
            <a:endParaRPr b="0" lang="pt-BR" sz="204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204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 Calcule diferenças consecutivas.</a:t>
            </a:r>
            <a:endParaRPr b="0" lang="pt-BR" sz="204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204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 Interprete a regularidade.</a:t>
            </a:r>
            <a:endParaRPr b="0" lang="pt-BR" sz="204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" name="Text 9"/>
          <p:cNvSpPr/>
          <p:nvPr/>
        </p:nvSpPr>
        <p:spPr>
          <a:xfrm>
            <a:off x="5925240" y="1481400"/>
            <a:ext cx="562320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457200">
              <a:lnSpc>
                <a:spcPct val="100000"/>
              </a:lnSpc>
              <a:tabLst>
                <a:tab algn="l" pos="0"/>
              </a:tabLst>
            </a:pPr>
            <a:r>
              <a:rPr b="1" lang="en-US" sz="1900" strike="noStrike" u="none">
                <a:solidFill>
                  <a:srgbClr val="2a9d8f"/>
                </a:solidFill>
                <a:effectLst/>
                <a:uFillTx/>
                <a:latin typeface="Aptos Display"/>
                <a:ea typeface="Aptos Display"/>
              </a:rPr>
              <a:t>EXEMPLO EM JULIA</a:t>
            </a:r>
            <a:endParaRPr b="0" lang="pt-BR" sz="1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" name="Text 10"/>
          <p:cNvSpPr/>
          <p:nvPr/>
        </p:nvSpPr>
        <p:spPr>
          <a:xfrm>
            <a:off x="5925240" y="1755720"/>
            <a:ext cx="5623200" cy="1371240"/>
          </a:xfrm>
          <a:prstGeom prst="rect">
            <a:avLst/>
          </a:prstGeom>
          <a:solidFill>
            <a:srgbClr val="11182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rmAutofit/>
          </a:bodyPr>
          <a:p>
            <a:pPr defTabSz="457200">
              <a:lnSpc>
                <a:spcPct val="100000"/>
              </a:lnSpc>
              <a:tabLst>
                <a:tab algn="l" pos="0"/>
              </a:tabLst>
            </a:pPr>
            <a:r>
              <a:rPr b="0" lang="en-US" sz="1940" strike="noStrike" u="none">
                <a:solidFill>
                  <a:srgbClr val="f9fafb"/>
                </a:solidFill>
                <a:effectLst/>
                <a:uFillTx/>
                <a:latin typeface="Cascadia Mono"/>
                <a:ea typeface="Cascadia Mono"/>
              </a:rPr>
              <a:t>seq = [3, 6, 9, 12]</a:t>
            </a:r>
            <a:endParaRPr b="0" lang="pt-BR" sz="194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tabLst>
                <a:tab algn="l" pos="0"/>
              </a:tabLst>
            </a:pPr>
            <a:r>
              <a:rPr b="0" lang="en-US" sz="1940" strike="noStrike" u="none">
                <a:solidFill>
                  <a:srgbClr val="f9fafb"/>
                </a:solidFill>
                <a:effectLst/>
                <a:uFillTx/>
                <a:latin typeface="Cascadia Mono"/>
                <a:ea typeface="Cascadia Mono"/>
              </a:rPr>
              <a:t>dif = diff(seq)</a:t>
            </a:r>
            <a:endParaRPr b="0" lang="pt-BR" sz="194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4" name="Text 11"/>
          <p:cNvSpPr/>
          <p:nvPr/>
        </p:nvSpPr>
        <p:spPr>
          <a:xfrm>
            <a:off x="594360" y="3364920"/>
            <a:ext cx="1101816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457200">
              <a:lnSpc>
                <a:spcPct val="100000"/>
              </a:lnSpc>
              <a:tabLst>
                <a:tab algn="l" pos="0"/>
              </a:tabLst>
            </a:pPr>
            <a:r>
              <a:rPr b="1" lang="en-US" sz="1900" strike="noStrike" u="none">
                <a:solidFill>
                  <a:srgbClr val="2a9d8f"/>
                </a:solidFill>
                <a:effectLst/>
                <a:uFillTx/>
                <a:latin typeface="Aptos Display"/>
                <a:ea typeface="Aptos Display"/>
              </a:rPr>
              <a:t>ASPECTOS QUALITATIVOS DA ANÁLISE</a:t>
            </a:r>
            <a:endParaRPr b="0" lang="pt-BR" sz="1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" name="Text 12"/>
          <p:cNvSpPr/>
          <p:nvPr/>
        </p:nvSpPr>
        <p:spPr>
          <a:xfrm>
            <a:off x="594360" y="3675960"/>
            <a:ext cx="11018160" cy="123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 lnSpcReduction="9999"/>
          </a:bodyPr>
          <a:p>
            <a:pPr defTabSz="457200">
              <a:lnSpc>
                <a:spcPct val="100000"/>
              </a:lnSpc>
            </a:pPr>
            <a:r>
              <a:rPr b="0" lang="en-US" sz="1879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 Arranjo sequencial de dados.</a:t>
            </a:r>
            <a:endParaRPr b="0" lang="pt-BR" sz="1879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879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 Wessels: organizar dados é componente crítico da representação.</a:t>
            </a:r>
            <a:endParaRPr b="0" lang="pt-BR" sz="1879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879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 Queiroz: múltiplas expressões exibem aspectos distintos do mesmo conceito.</a:t>
            </a:r>
            <a:endParaRPr b="0" lang="pt-BR" sz="1879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879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 Relato: articular código, texto, tabela, gráfico e interpretação.</a:t>
            </a:r>
            <a:endParaRPr b="0" lang="pt-BR" sz="1879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" name="Text 13"/>
          <p:cNvSpPr/>
          <p:nvPr/>
        </p:nvSpPr>
        <p:spPr>
          <a:xfrm>
            <a:off x="594360" y="5074920"/>
            <a:ext cx="1101816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457200">
              <a:lnSpc>
                <a:spcPct val="100000"/>
              </a:lnSpc>
              <a:tabLst>
                <a:tab algn="l" pos="0"/>
              </a:tabLst>
            </a:pPr>
            <a:r>
              <a:rPr b="1" lang="en-US" sz="1900" strike="noStrike" u="none">
                <a:solidFill>
                  <a:srgbClr val="2a9d8f"/>
                </a:solidFill>
                <a:effectLst/>
                <a:uFillTx/>
                <a:latin typeface="Aptos Display"/>
                <a:ea typeface="Aptos Display"/>
              </a:rPr>
              <a:t>IMPORTÂNCIA NA APRENDIZAGEM DE CONCEITOS E RELAÇÕES</a:t>
            </a:r>
            <a:endParaRPr b="0" lang="pt-BR" sz="1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" name="Text 14"/>
          <p:cNvSpPr/>
          <p:nvPr/>
        </p:nvSpPr>
        <p:spPr>
          <a:xfrm>
            <a:off x="594360" y="5376600"/>
            <a:ext cx="1101816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457200">
              <a:lnSpc>
                <a:spcPct val="100000"/>
              </a:lnSpc>
              <a:tabLst>
                <a:tab algn="l" pos="0"/>
              </a:tabLst>
            </a:pPr>
            <a:r>
              <a:rPr b="0" lang="en-US" sz="202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A diferença transforma a sequência em outra representação, destacando relações entre termos vizinhos.</a:t>
            </a:r>
            <a:endParaRPr b="0" lang="pt-BR" sz="202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" name="Text 15"/>
          <p:cNvSpPr/>
          <p:nvPr/>
        </p:nvSpPr>
        <p:spPr>
          <a:xfrm>
            <a:off x="594360" y="6263640"/>
            <a:ext cx="1101816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 fontScale="85000" lnSpcReduction="9999"/>
          </a:bodyPr>
          <a:p>
            <a:pPr defTabSz="457200">
              <a:lnSpc>
                <a:spcPct val="100000"/>
              </a:lnSpc>
              <a:tabLst>
                <a:tab algn="l" pos="0"/>
              </a:tabLst>
            </a:pPr>
            <a:r>
              <a:rPr b="0" lang="en-US" sz="1700" strike="noStrike" u="non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Critérios recorrentes: representação, manipulação, feedback, investigação, transnumeração, reflexão metaconceitual e limites do modelo.</a:t>
            </a:r>
            <a:endParaRPr b="0" lang="pt-BR" sz="1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Text 0"/>
          <p:cNvSpPr/>
          <p:nvPr/>
        </p:nvSpPr>
        <p:spPr>
          <a:xfrm>
            <a:off x="502920" y="164520"/>
            <a:ext cx="713196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457200">
              <a:lnSpc>
                <a:spcPct val="100000"/>
              </a:lnSpc>
              <a:tabLst>
                <a:tab algn="l" pos="0"/>
              </a:tabLst>
            </a:pPr>
            <a:r>
              <a:rPr b="1" lang="en-US" sz="1560" strike="noStrike" u="non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PROFCOMP • Pensamento Computacional • Julia + Pluto</a:t>
            </a:r>
            <a:endParaRPr b="0" lang="pt-BR" sz="156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" name="Text 1"/>
          <p:cNvSpPr/>
          <p:nvPr/>
        </p:nvSpPr>
        <p:spPr>
          <a:xfrm>
            <a:off x="7955280" y="164520"/>
            <a:ext cx="29257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457200">
              <a:lnSpc>
                <a:spcPct val="100000"/>
              </a:lnSpc>
              <a:tabLst>
                <a:tab algn="l" pos="0"/>
              </a:tabLst>
            </a:pPr>
            <a:r>
              <a:rPr b="0" lang="en-US" sz="1520" strike="noStrike" u="non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2 • Indução</a:t>
            </a:r>
            <a:endParaRPr b="0" lang="pt-BR" sz="152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" name="Text 2"/>
          <p:cNvSpPr/>
          <p:nvPr/>
        </p:nvSpPr>
        <p:spPr>
          <a:xfrm>
            <a:off x="11064240" y="109800"/>
            <a:ext cx="73116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457200">
              <a:lnSpc>
                <a:spcPct val="100000"/>
              </a:lnSpc>
              <a:tabLst>
                <a:tab algn="l" pos="0"/>
              </a:tabLst>
            </a:pPr>
            <a:r>
              <a:rPr b="1" lang="en-US" sz="2400" strike="noStrike" u="none">
                <a:solidFill>
                  <a:srgbClr val="243447"/>
                </a:solidFill>
                <a:effectLst/>
                <a:uFillTx/>
                <a:latin typeface="Aptos Display"/>
                <a:ea typeface="Aptos Display"/>
              </a:rPr>
              <a:t>17</a:t>
            </a:r>
            <a:endParaRPr b="0" lang="pt-BR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2" name="Shape 3"/>
          <p:cNvSpPr/>
          <p:nvPr/>
        </p:nvSpPr>
        <p:spPr>
          <a:xfrm>
            <a:off x="502920" y="502920"/>
            <a:ext cx="11247120" cy="360"/>
          </a:xfrm>
          <a:prstGeom prst="line">
            <a:avLst/>
          </a:prstGeom>
          <a:ln w="7620">
            <a:solidFill>
              <a:srgbClr val="d7dee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>
            <a:noAutofit/>
          </a:bodyPr>
          <a:p>
            <a:endParaRPr b="0" lang="en-US" sz="1800" strike="noStrike" u="none">
              <a:solidFill>
                <a:schemeClr val="dk1"/>
              </a:solidFill>
              <a:effectLst/>
              <a:uFillTx/>
              <a:latin typeface="+mn-lt"/>
              <a:ea typeface="+mn-ea"/>
            </a:endParaRPr>
          </a:p>
        </p:txBody>
      </p:sp>
      <p:sp>
        <p:nvSpPr>
          <p:cNvPr id="93" name="Text 5"/>
          <p:cNvSpPr/>
          <p:nvPr/>
        </p:nvSpPr>
        <p:spPr>
          <a:xfrm>
            <a:off x="960120" y="859680"/>
            <a:ext cx="73116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457200">
              <a:lnSpc>
                <a:spcPct val="100000"/>
              </a:lnSpc>
              <a:tabLst>
                <a:tab algn="l" pos="0"/>
              </a:tabLst>
            </a:pPr>
            <a:r>
              <a:rPr b="1" lang="en-US" sz="1700" strike="noStrike" u="none">
                <a:solidFill>
                  <a:srgbClr val="2a9d8f"/>
                </a:solidFill>
                <a:effectLst/>
                <a:uFillTx/>
                <a:latin typeface="Aptos"/>
                <a:ea typeface="Aptos"/>
              </a:rPr>
              <a:t>2.3</a:t>
            </a:r>
            <a:endParaRPr b="0" lang="pt-BR" sz="1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4" name="Text 6"/>
          <p:cNvSpPr/>
          <p:nvPr/>
        </p:nvSpPr>
        <p:spPr>
          <a:xfrm>
            <a:off x="1691280" y="667440"/>
            <a:ext cx="996696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 fontScale="77500" lnSpcReduction="19999"/>
          </a:bodyPr>
          <a:p>
            <a:pPr defTabSz="457200">
              <a:lnSpc>
                <a:spcPct val="100000"/>
              </a:lnSpc>
              <a:tabLst>
                <a:tab algn="l" pos="0"/>
              </a:tabLst>
            </a:pPr>
            <a:r>
              <a:rPr b="1" lang="en-US" sz="4700" strike="noStrike" u="none">
                <a:solidFill>
                  <a:srgbClr val="243447"/>
                </a:solidFill>
                <a:effectLst/>
                <a:uFillTx/>
                <a:latin typeface="Aptos Display"/>
                <a:ea typeface="Aptos Display"/>
              </a:rPr>
              <a:t>Quando uma hipótese indutiva falha?</a:t>
            </a:r>
            <a:endParaRPr b="0" lang="pt-BR" sz="4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5" name="Text 7"/>
          <p:cNvSpPr/>
          <p:nvPr/>
        </p:nvSpPr>
        <p:spPr>
          <a:xfrm>
            <a:off x="594360" y="1481400"/>
            <a:ext cx="512028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457200">
              <a:lnSpc>
                <a:spcPct val="100000"/>
              </a:lnSpc>
              <a:tabLst>
                <a:tab algn="l" pos="0"/>
              </a:tabLst>
            </a:pPr>
            <a:r>
              <a:rPr b="1" lang="en-US" sz="1900" strike="noStrike" u="none">
                <a:solidFill>
                  <a:srgbClr val="2a9d8f"/>
                </a:solidFill>
                <a:effectLst/>
                <a:uFillTx/>
                <a:latin typeface="Aptos Display"/>
                <a:ea typeface="Aptos Display"/>
              </a:rPr>
              <a:t>TAREFA BREVE NO PLUTO</a:t>
            </a:r>
            <a:endParaRPr b="0" lang="pt-BR" sz="1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6" name="Text 8"/>
          <p:cNvSpPr/>
          <p:nvPr/>
        </p:nvSpPr>
        <p:spPr>
          <a:xfrm>
            <a:off x="594360" y="1783080"/>
            <a:ext cx="5074560" cy="123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/>
          </a:bodyPr>
          <a:p>
            <a:pPr defTabSz="457200">
              <a:lnSpc>
                <a:spcPct val="100000"/>
              </a:lnSpc>
            </a:pPr>
            <a:r>
              <a:rPr b="0" lang="en-US" sz="204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 Teste uma regra em novo caso.</a:t>
            </a:r>
            <a:endParaRPr b="0" lang="pt-BR" sz="204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204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 Inclua um contraexemplo.</a:t>
            </a:r>
            <a:endParaRPr b="0" lang="pt-BR" sz="204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204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 Discuta a necessidade de revisão.</a:t>
            </a:r>
            <a:endParaRPr b="0" lang="pt-BR" sz="204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7" name="Text 9"/>
          <p:cNvSpPr/>
          <p:nvPr/>
        </p:nvSpPr>
        <p:spPr>
          <a:xfrm>
            <a:off x="5925240" y="1481400"/>
            <a:ext cx="562320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457200">
              <a:lnSpc>
                <a:spcPct val="100000"/>
              </a:lnSpc>
              <a:tabLst>
                <a:tab algn="l" pos="0"/>
              </a:tabLst>
            </a:pPr>
            <a:r>
              <a:rPr b="1" lang="en-US" sz="1900" strike="noStrike" u="none">
                <a:solidFill>
                  <a:srgbClr val="2a9d8f"/>
                </a:solidFill>
                <a:effectLst/>
                <a:uFillTx/>
                <a:latin typeface="Aptos Display"/>
                <a:ea typeface="Aptos Display"/>
              </a:rPr>
              <a:t>EXEMPLO EM JULIA</a:t>
            </a:r>
            <a:endParaRPr b="0" lang="pt-BR" sz="1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8" name="Text 10"/>
          <p:cNvSpPr/>
          <p:nvPr/>
        </p:nvSpPr>
        <p:spPr>
          <a:xfrm>
            <a:off x="5925240" y="1755720"/>
            <a:ext cx="5623200" cy="1371240"/>
          </a:xfrm>
          <a:prstGeom prst="rect">
            <a:avLst/>
          </a:prstGeom>
          <a:solidFill>
            <a:srgbClr val="11182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rmAutofit/>
          </a:bodyPr>
          <a:p>
            <a:pPr defTabSz="457200">
              <a:lnSpc>
                <a:spcPct val="100000"/>
              </a:lnSpc>
              <a:tabLst>
                <a:tab algn="l" pos="0"/>
              </a:tabLst>
            </a:pPr>
            <a:r>
              <a:rPr b="0" lang="en-US" sz="1940" strike="noStrike" u="none">
                <a:solidFill>
                  <a:srgbClr val="f9fafb"/>
                </a:solidFill>
                <a:effectLst/>
                <a:uFillTx/>
                <a:latin typeface="Cascadia Mono"/>
                <a:ea typeface="Cascadia Mono"/>
              </a:rPr>
              <a:t>seq = [1, 2, 4, 8, 15]</a:t>
            </a:r>
            <a:endParaRPr b="0" lang="pt-BR" sz="194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tabLst>
                <a:tab algn="l" pos="0"/>
              </a:tabLst>
            </a:pPr>
            <a:r>
              <a:rPr b="0" lang="en-US" sz="1940" strike="noStrike" u="none">
                <a:solidFill>
                  <a:srgbClr val="f9fafb"/>
                </a:solidFill>
                <a:effectLst/>
                <a:uFillTx/>
                <a:latin typeface="Cascadia Mono"/>
                <a:ea typeface="Cascadia Mono"/>
              </a:rPr>
              <a:t>all(diff(seq) .== 2)</a:t>
            </a:r>
            <a:endParaRPr b="0" lang="pt-BR" sz="194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9" name="Text 11"/>
          <p:cNvSpPr/>
          <p:nvPr/>
        </p:nvSpPr>
        <p:spPr>
          <a:xfrm>
            <a:off x="594360" y="3364920"/>
            <a:ext cx="1101816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457200">
              <a:lnSpc>
                <a:spcPct val="100000"/>
              </a:lnSpc>
              <a:tabLst>
                <a:tab algn="l" pos="0"/>
              </a:tabLst>
            </a:pPr>
            <a:r>
              <a:rPr b="1" lang="en-US" sz="1900" strike="noStrike" u="none">
                <a:solidFill>
                  <a:srgbClr val="2a9d8f"/>
                </a:solidFill>
                <a:effectLst/>
                <a:uFillTx/>
                <a:latin typeface="Aptos Display"/>
                <a:ea typeface="Aptos Display"/>
              </a:rPr>
              <a:t>ASPECTOS QUALITATIVOS DA ANÁLISE</a:t>
            </a:r>
            <a:endParaRPr b="0" lang="pt-BR" sz="1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0" name="Text 12"/>
          <p:cNvSpPr/>
          <p:nvPr/>
        </p:nvSpPr>
        <p:spPr>
          <a:xfrm>
            <a:off x="594360" y="3675960"/>
            <a:ext cx="11018160" cy="123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 lnSpcReduction="9999"/>
          </a:bodyPr>
          <a:p>
            <a:pPr defTabSz="457200">
              <a:lnSpc>
                <a:spcPct val="100000"/>
              </a:lnSpc>
            </a:pPr>
            <a:r>
              <a:rPr b="0" lang="en-US" sz="1879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 Erro como oportunidade de reformulação.</a:t>
            </a:r>
            <a:endParaRPr b="0" lang="pt-BR" sz="1879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879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 Relato: incluir revisão, depuração e reconstrução.</a:t>
            </a:r>
            <a:endParaRPr b="0" lang="pt-BR" sz="1879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879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 Queiroz: a forma de representação influencia erros, antecipações e reorganizações.</a:t>
            </a:r>
            <a:endParaRPr b="0" lang="pt-BR" sz="1879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879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 Wessels: respostas idiossincráticas também revelam modos de pensar.</a:t>
            </a:r>
            <a:endParaRPr b="0" lang="pt-BR" sz="1879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1" name="Text 13"/>
          <p:cNvSpPr/>
          <p:nvPr/>
        </p:nvSpPr>
        <p:spPr>
          <a:xfrm>
            <a:off x="594360" y="5074920"/>
            <a:ext cx="1101816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457200">
              <a:lnSpc>
                <a:spcPct val="100000"/>
              </a:lnSpc>
              <a:tabLst>
                <a:tab algn="l" pos="0"/>
              </a:tabLst>
            </a:pPr>
            <a:r>
              <a:rPr b="1" lang="en-US" sz="1900" strike="noStrike" u="none">
                <a:solidFill>
                  <a:srgbClr val="2a9d8f"/>
                </a:solidFill>
                <a:effectLst/>
                <a:uFillTx/>
                <a:latin typeface="Aptos Display"/>
                <a:ea typeface="Aptos Display"/>
              </a:rPr>
              <a:t>IMPORTÂNCIA NA APRENDIZAGEM DE CONCEITOS E RELAÇÕES</a:t>
            </a:r>
            <a:endParaRPr b="0" lang="pt-BR" sz="1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2" name="Text 14"/>
          <p:cNvSpPr/>
          <p:nvPr/>
        </p:nvSpPr>
        <p:spPr>
          <a:xfrm>
            <a:off x="594360" y="5376600"/>
            <a:ext cx="1101816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457200">
              <a:lnSpc>
                <a:spcPct val="100000"/>
              </a:lnSpc>
              <a:tabLst>
                <a:tab algn="l" pos="0"/>
              </a:tabLst>
            </a:pPr>
            <a:r>
              <a:rPr b="0" lang="en-US" sz="202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O contraexemplo mostra que indução não é certeza: ela depende de padrões observados e de testes.</a:t>
            </a:r>
            <a:endParaRPr b="0" lang="pt-BR" sz="202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3" name="Text 15"/>
          <p:cNvSpPr/>
          <p:nvPr/>
        </p:nvSpPr>
        <p:spPr>
          <a:xfrm>
            <a:off x="594360" y="6263640"/>
            <a:ext cx="1101816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 fontScale="85000" lnSpcReduction="9999"/>
          </a:bodyPr>
          <a:p>
            <a:pPr defTabSz="457200">
              <a:lnSpc>
                <a:spcPct val="100000"/>
              </a:lnSpc>
              <a:tabLst>
                <a:tab algn="l" pos="0"/>
              </a:tabLst>
            </a:pPr>
            <a:r>
              <a:rPr b="0" lang="en-US" sz="1700" strike="noStrike" u="non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Critérios recorrentes: representação, manipulação, feedback, investigação, transnumeração, reflexão metaconceitual e limites do modelo.</a:t>
            </a:r>
            <a:endParaRPr b="0" lang="pt-BR" sz="1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Text 0"/>
          <p:cNvSpPr/>
          <p:nvPr/>
        </p:nvSpPr>
        <p:spPr>
          <a:xfrm>
            <a:off x="502920" y="164520"/>
            <a:ext cx="713196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457200">
              <a:lnSpc>
                <a:spcPct val="100000"/>
              </a:lnSpc>
              <a:tabLst>
                <a:tab algn="l" pos="0"/>
              </a:tabLst>
            </a:pPr>
            <a:r>
              <a:rPr b="1" lang="en-US" sz="1560" strike="noStrike" u="non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PROFCOMP • Pensamento Computacional • Julia + Pluto</a:t>
            </a:r>
            <a:endParaRPr b="0" lang="pt-BR" sz="156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5" name="Text 1"/>
          <p:cNvSpPr/>
          <p:nvPr/>
        </p:nvSpPr>
        <p:spPr>
          <a:xfrm>
            <a:off x="7955280" y="164520"/>
            <a:ext cx="29257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457200">
              <a:lnSpc>
                <a:spcPct val="100000"/>
              </a:lnSpc>
              <a:tabLst>
                <a:tab algn="l" pos="0"/>
              </a:tabLst>
            </a:pPr>
            <a:r>
              <a:rPr b="0" lang="en-US" sz="1520" strike="noStrike" u="non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2 • Indução</a:t>
            </a:r>
            <a:endParaRPr b="0" lang="pt-BR" sz="152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6" name="Text 2"/>
          <p:cNvSpPr/>
          <p:nvPr/>
        </p:nvSpPr>
        <p:spPr>
          <a:xfrm>
            <a:off x="11064240" y="109800"/>
            <a:ext cx="73116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457200">
              <a:lnSpc>
                <a:spcPct val="100000"/>
              </a:lnSpc>
              <a:tabLst>
                <a:tab algn="l" pos="0"/>
              </a:tabLst>
            </a:pPr>
            <a:r>
              <a:rPr b="1" lang="en-US" sz="2400" strike="noStrike" u="none">
                <a:solidFill>
                  <a:srgbClr val="243447"/>
                </a:solidFill>
                <a:effectLst/>
                <a:uFillTx/>
                <a:latin typeface="Aptos Display"/>
                <a:ea typeface="Aptos Display"/>
              </a:rPr>
              <a:t>18</a:t>
            </a:r>
            <a:endParaRPr b="0" lang="pt-BR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7" name="Shape 3"/>
          <p:cNvSpPr/>
          <p:nvPr/>
        </p:nvSpPr>
        <p:spPr>
          <a:xfrm>
            <a:off x="502920" y="502920"/>
            <a:ext cx="11247120" cy="360"/>
          </a:xfrm>
          <a:prstGeom prst="line">
            <a:avLst/>
          </a:prstGeom>
          <a:ln w="7620">
            <a:solidFill>
              <a:srgbClr val="d7dee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>
            <a:noAutofit/>
          </a:bodyPr>
          <a:p>
            <a:endParaRPr b="0" lang="en-US" sz="1800" strike="noStrike" u="none">
              <a:solidFill>
                <a:schemeClr val="dk1"/>
              </a:solidFill>
              <a:effectLst/>
              <a:uFillTx/>
              <a:latin typeface="+mn-lt"/>
              <a:ea typeface="+mn-ea"/>
            </a:endParaRPr>
          </a:p>
        </p:txBody>
      </p:sp>
      <p:sp>
        <p:nvSpPr>
          <p:cNvPr id="108" name="Text 5"/>
          <p:cNvSpPr/>
          <p:nvPr/>
        </p:nvSpPr>
        <p:spPr>
          <a:xfrm>
            <a:off x="960120" y="859680"/>
            <a:ext cx="73116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457200">
              <a:lnSpc>
                <a:spcPct val="100000"/>
              </a:lnSpc>
              <a:tabLst>
                <a:tab algn="l" pos="0"/>
              </a:tabLst>
            </a:pPr>
            <a:r>
              <a:rPr b="1" lang="en-US" sz="1700" strike="noStrike" u="none">
                <a:solidFill>
                  <a:srgbClr val="2a9d8f"/>
                </a:solidFill>
                <a:effectLst/>
                <a:uFillTx/>
                <a:latin typeface="Aptos"/>
                <a:ea typeface="Aptos"/>
              </a:rPr>
              <a:t>2.4</a:t>
            </a:r>
            <a:endParaRPr b="0" lang="pt-BR" sz="1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9" name="Text 6"/>
          <p:cNvSpPr/>
          <p:nvPr/>
        </p:nvSpPr>
        <p:spPr>
          <a:xfrm>
            <a:off x="1800000" y="667440"/>
            <a:ext cx="985824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 fontScale="55000" lnSpcReduction="19999"/>
          </a:bodyPr>
          <a:p>
            <a:pPr defTabSz="457200">
              <a:lnSpc>
                <a:spcPct val="100000"/>
              </a:lnSpc>
              <a:tabLst>
                <a:tab algn="l" pos="0"/>
              </a:tabLst>
            </a:pPr>
            <a:r>
              <a:rPr b="1" lang="en-US" sz="4700" strike="noStrike" u="none">
                <a:solidFill>
                  <a:srgbClr val="243447"/>
                </a:solidFill>
                <a:effectLst/>
                <a:uFillTx/>
                <a:latin typeface="Aptos Display"/>
                <a:ea typeface="Aptos Display"/>
              </a:rPr>
              <a:t>Como usar compreensão de listas para formular padrões?</a:t>
            </a:r>
            <a:endParaRPr b="0" lang="pt-BR" sz="4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0" name="Text 7"/>
          <p:cNvSpPr/>
          <p:nvPr/>
        </p:nvSpPr>
        <p:spPr>
          <a:xfrm>
            <a:off x="594360" y="1481400"/>
            <a:ext cx="512028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457200">
              <a:lnSpc>
                <a:spcPct val="100000"/>
              </a:lnSpc>
              <a:tabLst>
                <a:tab algn="l" pos="0"/>
              </a:tabLst>
            </a:pPr>
            <a:r>
              <a:rPr b="1" lang="en-US" sz="1900" strike="noStrike" u="none">
                <a:solidFill>
                  <a:srgbClr val="2a9d8f"/>
                </a:solidFill>
                <a:effectLst/>
                <a:uFillTx/>
                <a:latin typeface="Aptos Display"/>
                <a:ea typeface="Aptos Display"/>
              </a:rPr>
              <a:t>TAREFA BREVE NO PLUTO</a:t>
            </a:r>
            <a:endParaRPr b="0" lang="pt-BR" sz="1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1" name="Text 8"/>
          <p:cNvSpPr/>
          <p:nvPr/>
        </p:nvSpPr>
        <p:spPr>
          <a:xfrm>
            <a:off x="594360" y="1783080"/>
            <a:ext cx="5074560" cy="123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/>
          </a:bodyPr>
          <a:p>
            <a:pPr defTabSz="457200">
              <a:lnSpc>
                <a:spcPct val="100000"/>
              </a:lnSpc>
            </a:pPr>
            <a:r>
              <a:rPr b="0" lang="en-US" sz="204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 Gere dados com uma regra.</a:t>
            </a:r>
            <a:endParaRPr b="0" lang="pt-BR" sz="204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204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 Compare com dados observados.</a:t>
            </a:r>
            <a:endParaRPr b="0" lang="pt-BR" sz="204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204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 Procure coincidências e desvios.</a:t>
            </a:r>
            <a:endParaRPr b="0" lang="pt-BR" sz="204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2" name="Text 9"/>
          <p:cNvSpPr/>
          <p:nvPr/>
        </p:nvSpPr>
        <p:spPr>
          <a:xfrm>
            <a:off x="5925240" y="1481400"/>
            <a:ext cx="562320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457200">
              <a:lnSpc>
                <a:spcPct val="100000"/>
              </a:lnSpc>
              <a:tabLst>
                <a:tab algn="l" pos="0"/>
              </a:tabLst>
            </a:pPr>
            <a:r>
              <a:rPr b="1" lang="en-US" sz="1900" strike="noStrike" u="none">
                <a:solidFill>
                  <a:srgbClr val="2a9d8f"/>
                </a:solidFill>
                <a:effectLst/>
                <a:uFillTx/>
                <a:latin typeface="Aptos Display"/>
                <a:ea typeface="Aptos Display"/>
              </a:rPr>
              <a:t>EXEMPLO EM JULIA</a:t>
            </a:r>
            <a:endParaRPr b="0" lang="pt-BR" sz="1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3" name="Text 10"/>
          <p:cNvSpPr/>
          <p:nvPr/>
        </p:nvSpPr>
        <p:spPr>
          <a:xfrm>
            <a:off x="5925240" y="1755720"/>
            <a:ext cx="5623200" cy="1371240"/>
          </a:xfrm>
          <a:prstGeom prst="rect">
            <a:avLst/>
          </a:prstGeom>
          <a:solidFill>
            <a:srgbClr val="11182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rmAutofit/>
          </a:bodyPr>
          <a:p>
            <a:pPr defTabSz="457200">
              <a:lnSpc>
                <a:spcPct val="100000"/>
              </a:lnSpc>
              <a:tabLst>
                <a:tab algn="l" pos="0"/>
              </a:tabLst>
            </a:pPr>
            <a:r>
              <a:rPr b="0" lang="en-US" sz="1940" strike="noStrike" u="none">
                <a:solidFill>
                  <a:srgbClr val="f9fafb"/>
                </a:solidFill>
                <a:effectLst/>
                <a:uFillTx/>
                <a:latin typeface="Cascadia Mono"/>
                <a:ea typeface="Cascadia Mono"/>
              </a:rPr>
              <a:t>observado = [1, 4, 9, 16]</a:t>
            </a:r>
            <a:endParaRPr b="0" lang="pt-BR" sz="194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tabLst>
                <a:tab algn="l" pos="0"/>
              </a:tabLst>
            </a:pPr>
            <a:r>
              <a:rPr b="0" lang="en-US" sz="1940" strike="noStrike" u="none">
                <a:solidFill>
                  <a:srgbClr val="f9fafb"/>
                </a:solidFill>
                <a:effectLst/>
                <a:uFillTx/>
                <a:latin typeface="Cascadia Mono"/>
                <a:ea typeface="Cascadia Mono"/>
              </a:rPr>
              <a:t>gerado = [n^2 for n in 1:4]</a:t>
            </a:r>
            <a:endParaRPr b="0" lang="pt-BR" sz="194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tabLst>
                <a:tab algn="l" pos="0"/>
              </a:tabLst>
            </a:pPr>
            <a:r>
              <a:rPr b="0" lang="en-US" sz="1940" strike="noStrike" u="none">
                <a:solidFill>
                  <a:srgbClr val="f9fafb"/>
                </a:solidFill>
                <a:effectLst/>
                <a:uFillTx/>
                <a:latin typeface="Cascadia Mono"/>
                <a:ea typeface="Cascadia Mono"/>
              </a:rPr>
              <a:t>observado == gerado</a:t>
            </a:r>
            <a:endParaRPr b="0" lang="pt-BR" sz="194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4" name="Text 11"/>
          <p:cNvSpPr/>
          <p:nvPr/>
        </p:nvSpPr>
        <p:spPr>
          <a:xfrm>
            <a:off x="594360" y="3364920"/>
            <a:ext cx="1101816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457200">
              <a:lnSpc>
                <a:spcPct val="100000"/>
              </a:lnSpc>
              <a:tabLst>
                <a:tab algn="l" pos="0"/>
              </a:tabLst>
            </a:pPr>
            <a:r>
              <a:rPr b="1" lang="en-US" sz="1900" strike="noStrike" u="none">
                <a:solidFill>
                  <a:srgbClr val="2a9d8f"/>
                </a:solidFill>
                <a:effectLst/>
                <a:uFillTx/>
                <a:latin typeface="Aptos Display"/>
                <a:ea typeface="Aptos Display"/>
              </a:rPr>
              <a:t>ASPECTOS QUALITATIVOS DA ANÁLISE</a:t>
            </a:r>
            <a:endParaRPr b="0" lang="pt-BR" sz="1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5" name="Text 12"/>
          <p:cNvSpPr/>
          <p:nvPr/>
        </p:nvSpPr>
        <p:spPr>
          <a:xfrm>
            <a:off x="594360" y="3675960"/>
            <a:ext cx="11018160" cy="123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 lnSpcReduction="9999"/>
          </a:bodyPr>
          <a:p>
            <a:pPr defTabSz="457200">
              <a:lnSpc>
                <a:spcPct val="100000"/>
              </a:lnSpc>
            </a:pPr>
            <a:r>
              <a:rPr b="0" lang="en-US" sz="1879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 Representação e comparação entre modelos.</a:t>
            </a:r>
            <a:endParaRPr b="0" lang="pt-BR" sz="1879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879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 Wessels: múltiplas representações indicam modelagem mais bem-sucedida.</a:t>
            </a:r>
            <a:endParaRPr b="0" lang="pt-BR" sz="1879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879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 Queiroz: a análise qualitativa observa invariantes e relações mobilizadas na ação.</a:t>
            </a:r>
            <a:endParaRPr b="0" lang="pt-BR" sz="1879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879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 Relato: permitir manipulação de parâmetros e comparação de estados.</a:t>
            </a:r>
            <a:endParaRPr b="0" lang="pt-BR" sz="1879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6" name="Text 13"/>
          <p:cNvSpPr/>
          <p:nvPr/>
        </p:nvSpPr>
        <p:spPr>
          <a:xfrm>
            <a:off x="594360" y="5074920"/>
            <a:ext cx="1101816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457200">
              <a:lnSpc>
                <a:spcPct val="100000"/>
              </a:lnSpc>
              <a:tabLst>
                <a:tab algn="l" pos="0"/>
              </a:tabLst>
            </a:pPr>
            <a:r>
              <a:rPr b="1" lang="en-US" sz="1900" strike="noStrike" u="none">
                <a:solidFill>
                  <a:srgbClr val="2a9d8f"/>
                </a:solidFill>
                <a:effectLst/>
                <a:uFillTx/>
                <a:latin typeface="Aptos Display"/>
                <a:ea typeface="Aptos Display"/>
              </a:rPr>
              <a:t>IMPORTÂNCIA NA APRENDIZAGEM DE CONCEITOS E RELAÇÕES</a:t>
            </a:r>
            <a:endParaRPr b="0" lang="pt-BR" sz="1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7" name="Text 14"/>
          <p:cNvSpPr/>
          <p:nvPr/>
        </p:nvSpPr>
        <p:spPr>
          <a:xfrm>
            <a:off x="594360" y="5376600"/>
            <a:ext cx="1101816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457200">
              <a:lnSpc>
                <a:spcPct val="100000"/>
              </a:lnSpc>
              <a:tabLst>
                <a:tab algn="l" pos="0"/>
              </a:tabLst>
            </a:pPr>
            <a:r>
              <a:rPr b="0" lang="en-US" sz="202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A comparação entre observado e gerado torna a hipótese computável e discutível.</a:t>
            </a:r>
            <a:endParaRPr b="0" lang="pt-BR" sz="202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8" name="Text 15"/>
          <p:cNvSpPr/>
          <p:nvPr/>
        </p:nvSpPr>
        <p:spPr>
          <a:xfrm>
            <a:off x="594360" y="6263640"/>
            <a:ext cx="1101816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 fontScale="85000" lnSpcReduction="9999"/>
          </a:bodyPr>
          <a:p>
            <a:pPr defTabSz="457200">
              <a:lnSpc>
                <a:spcPct val="100000"/>
              </a:lnSpc>
              <a:tabLst>
                <a:tab algn="l" pos="0"/>
              </a:tabLst>
            </a:pPr>
            <a:r>
              <a:rPr b="0" lang="en-US" sz="1700" strike="noStrike" u="non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Critérios recorrentes: representação, manipulação, feedback, investigação, transnumeração, reflexão metaconceitual e limites do modelo.</a:t>
            </a:r>
            <a:endParaRPr b="0" lang="pt-BR" sz="1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Text 0"/>
          <p:cNvSpPr/>
          <p:nvPr/>
        </p:nvSpPr>
        <p:spPr>
          <a:xfrm>
            <a:off x="502920" y="164520"/>
            <a:ext cx="713196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457200">
              <a:lnSpc>
                <a:spcPct val="100000"/>
              </a:lnSpc>
              <a:tabLst>
                <a:tab algn="l" pos="0"/>
              </a:tabLst>
            </a:pPr>
            <a:r>
              <a:rPr b="1" lang="en-US" sz="1560" strike="noStrike" u="non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PROFCOMP • Pensamento Computacional • Julia + Pluto</a:t>
            </a:r>
            <a:endParaRPr b="0" lang="pt-BR" sz="156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0" name="Text 1"/>
          <p:cNvSpPr/>
          <p:nvPr/>
        </p:nvSpPr>
        <p:spPr>
          <a:xfrm>
            <a:off x="7955280" y="164520"/>
            <a:ext cx="29257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457200">
              <a:lnSpc>
                <a:spcPct val="100000"/>
              </a:lnSpc>
              <a:tabLst>
                <a:tab algn="l" pos="0"/>
              </a:tabLst>
            </a:pPr>
            <a:r>
              <a:rPr b="0" lang="en-US" sz="1520" strike="noStrike" u="non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2 • Indução</a:t>
            </a:r>
            <a:endParaRPr b="0" lang="pt-BR" sz="152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1" name="Text 2"/>
          <p:cNvSpPr/>
          <p:nvPr/>
        </p:nvSpPr>
        <p:spPr>
          <a:xfrm>
            <a:off x="11064240" y="109800"/>
            <a:ext cx="73116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457200">
              <a:lnSpc>
                <a:spcPct val="100000"/>
              </a:lnSpc>
              <a:tabLst>
                <a:tab algn="l" pos="0"/>
              </a:tabLst>
            </a:pPr>
            <a:r>
              <a:rPr b="1" lang="en-US" sz="2400" strike="noStrike" u="none">
                <a:solidFill>
                  <a:srgbClr val="243447"/>
                </a:solidFill>
                <a:effectLst/>
                <a:uFillTx/>
                <a:latin typeface="Aptos Display"/>
                <a:ea typeface="Aptos Display"/>
              </a:rPr>
              <a:t>19</a:t>
            </a:r>
            <a:endParaRPr b="0" lang="pt-BR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2" name="Shape 3"/>
          <p:cNvSpPr/>
          <p:nvPr/>
        </p:nvSpPr>
        <p:spPr>
          <a:xfrm>
            <a:off x="502920" y="502920"/>
            <a:ext cx="11247120" cy="360"/>
          </a:xfrm>
          <a:prstGeom prst="line">
            <a:avLst/>
          </a:prstGeom>
          <a:ln w="7620">
            <a:solidFill>
              <a:srgbClr val="d7dee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>
            <a:noAutofit/>
          </a:bodyPr>
          <a:p>
            <a:endParaRPr b="0" lang="en-US" sz="1800" strike="noStrike" u="none">
              <a:solidFill>
                <a:schemeClr val="dk1"/>
              </a:solidFill>
              <a:effectLst/>
              <a:uFillTx/>
              <a:latin typeface="+mn-lt"/>
              <a:ea typeface="+mn-ea"/>
            </a:endParaRPr>
          </a:p>
        </p:txBody>
      </p:sp>
      <p:sp>
        <p:nvSpPr>
          <p:cNvPr id="123" name="Text 5"/>
          <p:cNvSpPr/>
          <p:nvPr/>
        </p:nvSpPr>
        <p:spPr>
          <a:xfrm>
            <a:off x="960120" y="859680"/>
            <a:ext cx="73116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457200">
              <a:lnSpc>
                <a:spcPct val="100000"/>
              </a:lnSpc>
              <a:tabLst>
                <a:tab algn="l" pos="0"/>
              </a:tabLst>
            </a:pPr>
            <a:r>
              <a:rPr b="1" lang="en-US" sz="1700" strike="noStrike" u="none">
                <a:solidFill>
                  <a:srgbClr val="2a9d8f"/>
                </a:solidFill>
                <a:effectLst/>
                <a:uFillTx/>
                <a:latin typeface="Aptos"/>
                <a:ea typeface="Aptos"/>
              </a:rPr>
              <a:t>2.5</a:t>
            </a:r>
            <a:endParaRPr b="0" lang="pt-BR" sz="1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4" name="Text 6"/>
          <p:cNvSpPr/>
          <p:nvPr/>
        </p:nvSpPr>
        <p:spPr>
          <a:xfrm>
            <a:off x="1800000" y="667440"/>
            <a:ext cx="985824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 fontScale="55000" lnSpcReduction="19999"/>
          </a:bodyPr>
          <a:p>
            <a:pPr defTabSz="457200">
              <a:lnSpc>
                <a:spcPct val="100000"/>
              </a:lnSpc>
              <a:tabLst>
                <a:tab algn="l" pos="0"/>
              </a:tabLst>
            </a:pPr>
            <a:r>
              <a:rPr b="1" lang="en-US" sz="4700" strike="noStrike" u="none">
                <a:solidFill>
                  <a:srgbClr val="243447"/>
                </a:solidFill>
                <a:effectLst/>
                <a:uFillTx/>
                <a:latin typeface="Aptos Display"/>
                <a:ea typeface="Aptos Display"/>
              </a:rPr>
              <a:t>Como a turma pode inventar uma representação não padrão?</a:t>
            </a:r>
            <a:endParaRPr b="0" lang="pt-BR" sz="4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5" name="Text 7"/>
          <p:cNvSpPr/>
          <p:nvPr/>
        </p:nvSpPr>
        <p:spPr>
          <a:xfrm>
            <a:off x="594360" y="1481400"/>
            <a:ext cx="512028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457200">
              <a:lnSpc>
                <a:spcPct val="100000"/>
              </a:lnSpc>
              <a:tabLst>
                <a:tab algn="l" pos="0"/>
              </a:tabLst>
            </a:pPr>
            <a:r>
              <a:rPr b="1" lang="en-US" sz="1900" strike="noStrike" u="none">
                <a:solidFill>
                  <a:srgbClr val="2a9d8f"/>
                </a:solidFill>
                <a:effectLst/>
                <a:uFillTx/>
                <a:latin typeface="Aptos Display"/>
                <a:ea typeface="Aptos Display"/>
              </a:rPr>
              <a:t>TAREFA BREVE NO PLUTO</a:t>
            </a:r>
            <a:endParaRPr b="0" lang="pt-BR" sz="1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6" name="Text 8"/>
          <p:cNvSpPr/>
          <p:nvPr/>
        </p:nvSpPr>
        <p:spPr>
          <a:xfrm>
            <a:off x="594360" y="1783080"/>
            <a:ext cx="5074560" cy="123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/>
          </a:bodyPr>
          <a:p>
            <a:pPr defTabSz="457200">
              <a:lnSpc>
                <a:spcPct val="100000"/>
              </a:lnSpc>
            </a:pPr>
            <a:r>
              <a:rPr b="0" lang="en-US" sz="204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 Peça que inventem uma codificação.</a:t>
            </a:r>
            <a:endParaRPr b="0" lang="pt-BR" sz="204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204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 Represente pares ou símbolos.</a:t>
            </a:r>
            <a:endParaRPr b="0" lang="pt-BR" sz="204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204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 Compare com a lista original.</a:t>
            </a:r>
            <a:endParaRPr b="0" lang="pt-BR" sz="204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7" name="Text 9"/>
          <p:cNvSpPr/>
          <p:nvPr/>
        </p:nvSpPr>
        <p:spPr>
          <a:xfrm>
            <a:off x="5925240" y="1481400"/>
            <a:ext cx="562320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457200">
              <a:lnSpc>
                <a:spcPct val="100000"/>
              </a:lnSpc>
              <a:tabLst>
                <a:tab algn="l" pos="0"/>
              </a:tabLst>
            </a:pPr>
            <a:r>
              <a:rPr b="1" lang="en-US" sz="1900" strike="noStrike" u="none">
                <a:solidFill>
                  <a:srgbClr val="2a9d8f"/>
                </a:solidFill>
                <a:effectLst/>
                <a:uFillTx/>
                <a:latin typeface="Aptos Display"/>
                <a:ea typeface="Aptos Display"/>
              </a:rPr>
              <a:t>EXEMPLO EM JULIA</a:t>
            </a:r>
            <a:endParaRPr b="0" lang="pt-BR" sz="1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8" name="Text 10"/>
          <p:cNvSpPr/>
          <p:nvPr/>
        </p:nvSpPr>
        <p:spPr>
          <a:xfrm>
            <a:off x="5925240" y="1755720"/>
            <a:ext cx="5623200" cy="1371240"/>
          </a:xfrm>
          <a:prstGeom prst="rect">
            <a:avLst/>
          </a:prstGeom>
          <a:solidFill>
            <a:srgbClr val="11182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rmAutofit/>
          </a:bodyPr>
          <a:p>
            <a:pPr defTabSz="457200">
              <a:lnSpc>
                <a:spcPct val="100000"/>
              </a:lnSpc>
              <a:tabLst>
                <a:tab algn="l" pos="0"/>
              </a:tabLst>
            </a:pPr>
            <a:r>
              <a:rPr b="0" lang="en-US" sz="1940" strike="noStrike" u="none">
                <a:solidFill>
                  <a:srgbClr val="f9fafb"/>
                </a:solidFill>
                <a:effectLst/>
                <a:uFillTx/>
                <a:latin typeface="Cascadia Mono"/>
                <a:ea typeface="Cascadia Mono"/>
              </a:rPr>
              <a:t>seq = [1, 3, 5, 7]</a:t>
            </a:r>
            <a:endParaRPr b="0" lang="pt-BR" sz="194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tabLst>
                <a:tab algn="l" pos="0"/>
              </a:tabLst>
            </a:pPr>
            <a:r>
              <a:rPr b="0" lang="en-US" sz="1940" strike="noStrike" u="none">
                <a:solidFill>
                  <a:srgbClr val="f9fafb"/>
                </a:solidFill>
                <a:effectLst/>
                <a:uFillTx/>
                <a:latin typeface="Cascadia Mono"/>
                <a:ea typeface="Cascadia Mono"/>
              </a:rPr>
              <a:t>marcas = repeat.("*", seq)</a:t>
            </a:r>
            <a:endParaRPr b="0" lang="pt-BR" sz="194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9" name="Text 11"/>
          <p:cNvSpPr/>
          <p:nvPr/>
        </p:nvSpPr>
        <p:spPr>
          <a:xfrm>
            <a:off x="594360" y="3364920"/>
            <a:ext cx="1101816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457200">
              <a:lnSpc>
                <a:spcPct val="100000"/>
              </a:lnSpc>
              <a:tabLst>
                <a:tab algn="l" pos="0"/>
              </a:tabLst>
            </a:pPr>
            <a:r>
              <a:rPr b="1" lang="en-US" sz="1900" strike="noStrike" u="none">
                <a:solidFill>
                  <a:srgbClr val="2a9d8f"/>
                </a:solidFill>
                <a:effectLst/>
                <a:uFillTx/>
                <a:latin typeface="Aptos Display"/>
                <a:ea typeface="Aptos Display"/>
              </a:rPr>
              <a:t>ASPECTOS QUALITATIVOS DA ANÁLISE</a:t>
            </a:r>
            <a:endParaRPr b="0" lang="pt-BR" sz="1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0" name="Text 12"/>
          <p:cNvSpPr/>
          <p:nvPr/>
        </p:nvSpPr>
        <p:spPr>
          <a:xfrm>
            <a:off x="594360" y="3675960"/>
            <a:ext cx="11018160" cy="123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 lnSpcReduction="9999"/>
          </a:bodyPr>
          <a:p>
            <a:pPr defTabSz="457200">
              <a:lnSpc>
                <a:spcPct val="100000"/>
              </a:lnSpc>
            </a:pPr>
            <a:r>
              <a:rPr b="0" lang="en-US" sz="1879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 Wessels: representações idiossincráticas revelam pensamento.</a:t>
            </a:r>
            <a:endParaRPr b="0" lang="pt-BR" sz="1879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879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 Wessels: respostas idiossincráticas também revelam modos de pensar.</a:t>
            </a:r>
            <a:endParaRPr b="0" lang="pt-BR" sz="1879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879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 Queiroz: múltiplas expressões exibem aspectos distintos do mesmo conceito.</a:t>
            </a:r>
            <a:endParaRPr b="0" lang="pt-BR" sz="1879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879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 Relato: articular código, texto, tabela, gráfico e interpretação.</a:t>
            </a:r>
            <a:endParaRPr b="0" lang="pt-BR" sz="1879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1" name="Text 13"/>
          <p:cNvSpPr/>
          <p:nvPr/>
        </p:nvSpPr>
        <p:spPr>
          <a:xfrm>
            <a:off x="594360" y="5074920"/>
            <a:ext cx="1101816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457200">
              <a:lnSpc>
                <a:spcPct val="100000"/>
              </a:lnSpc>
              <a:tabLst>
                <a:tab algn="l" pos="0"/>
              </a:tabLst>
            </a:pPr>
            <a:r>
              <a:rPr b="1" lang="en-US" sz="1900" strike="noStrike" u="none">
                <a:solidFill>
                  <a:srgbClr val="2a9d8f"/>
                </a:solidFill>
                <a:effectLst/>
                <a:uFillTx/>
                <a:latin typeface="Aptos Display"/>
                <a:ea typeface="Aptos Display"/>
              </a:rPr>
              <a:t>IMPORTÂNCIA NA APRENDIZAGEM DE CONCEITOS E RELAÇÕES</a:t>
            </a:r>
            <a:endParaRPr b="0" lang="pt-BR" sz="1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2" name="Text 14"/>
          <p:cNvSpPr/>
          <p:nvPr/>
        </p:nvSpPr>
        <p:spPr>
          <a:xfrm>
            <a:off x="594360" y="5376600"/>
            <a:ext cx="1101816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457200">
              <a:lnSpc>
                <a:spcPct val="100000"/>
              </a:lnSpc>
              <a:tabLst>
                <a:tab algn="l" pos="0"/>
              </a:tabLst>
            </a:pPr>
            <a:r>
              <a:rPr b="0" lang="en-US" sz="202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Representações inventadas podem ajudar a perceber crescimento, quantidade e regularidade.</a:t>
            </a:r>
            <a:endParaRPr b="0" lang="pt-BR" sz="202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3" name="Text 15"/>
          <p:cNvSpPr/>
          <p:nvPr/>
        </p:nvSpPr>
        <p:spPr>
          <a:xfrm>
            <a:off x="594360" y="6263640"/>
            <a:ext cx="1101816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 fontScale="85000" lnSpcReduction="9999"/>
          </a:bodyPr>
          <a:p>
            <a:pPr defTabSz="457200">
              <a:lnSpc>
                <a:spcPct val="100000"/>
              </a:lnSpc>
              <a:tabLst>
                <a:tab algn="l" pos="0"/>
              </a:tabLst>
            </a:pPr>
            <a:r>
              <a:rPr b="0" lang="en-US" sz="1700" strike="noStrike" u="non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Critérios recorrentes: representação, manipulação, feedback, investigação, transnumeração, reflexão metaconceitual e limites do modelo.</a:t>
            </a:r>
            <a:endParaRPr b="0" lang="pt-BR" sz="1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Text 0"/>
          <p:cNvSpPr/>
          <p:nvPr/>
        </p:nvSpPr>
        <p:spPr>
          <a:xfrm>
            <a:off x="502920" y="164520"/>
            <a:ext cx="713196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457200">
              <a:lnSpc>
                <a:spcPct val="100000"/>
              </a:lnSpc>
              <a:tabLst>
                <a:tab algn="l" pos="0"/>
              </a:tabLst>
            </a:pPr>
            <a:r>
              <a:rPr b="1" lang="en-US" sz="1560" strike="noStrike" u="non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PROFCOMP • Pensamento Computacional • Julia + Pluto</a:t>
            </a:r>
            <a:endParaRPr b="0" lang="pt-BR" sz="156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5" name="Text 1"/>
          <p:cNvSpPr/>
          <p:nvPr/>
        </p:nvSpPr>
        <p:spPr>
          <a:xfrm>
            <a:off x="7955280" y="164520"/>
            <a:ext cx="29257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457200">
              <a:lnSpc>
                <a:spcPct val="100000"/>
              </a:lnSpc>
              <a:tabLst>
                <a:tab algn="l" pos="0"/>
              </a:tabLst>
            </a:pPr>
            <a:r>
              <a:rPr b="0" lang="en-US" sz="1520" strike="noStrike" u="non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2 • Indução</a:t>
            </a:r>
            <a:endParaRPr b="0" lang="pt-BR" sz="152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6" name="Text 2"/>
          <p:cNvSpPr/>
          <p:nvPr/>
        </p:nvSpPr>
        <p:spPr>
          <a:xfrm>
            <a:off x="11064240" y="109800"/>
            <a:ext cx="73116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457200">
              <a:lnSpc>
                <a:spcPct val="100000"/>
              </a:lnSpc>
              <a:tabLst>
                <a:tab algn="l" pos="0"/>
              </a:tabLst>
            </a:pPr>
            <a:r>
              <a:rPr b="1" lang="en-US" sz="2400" strike="noStrike" u="none">
                <a:solidFill>
                  <a:srgbClr val="243447"/>
                </a:solidFill>
                <a:effectLst/>
                <a:uFillTx/>
                <a:latin typeface="Aptos Display"/>
                <a:ea typeface="Aptos Display"/>
              </a:rPr>
              <a:t>20</a:t>
            </a:r>
            <a:endParaRPr b="0" lang="pt-BR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7" name="Shape 3"/>
          <p:cNvSpPr/>
          <p:nvPr/>
        </p:nvSpPr>
        <p:spPr>
          <a:xfrm>
            <a:off x="502920" y="502920"/>
            <a:ext cx="11247120" cy="360"/>
          </a:xfrm>
          <a:prstGeom prst="line">
            <a:avLst/>
          </a:prstGeom>
          <a:ln w="7620">
            <a:solidFill>
              <a:srgbClr val="d7dee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>
            <a:noAutofit/>
          </a:bodyPr>
          <a:p>
            <a:endParaRPr b="0" lang="en-US" sz="1800" strike="noStrike" u="none">
              <a:solidFill>
                <a:schemeClr val="dk1"/>
              </a:solidFill>
              <a:effectLst/>
              <a:uFillTx/>
              <a:latin typeface="+mn-lt"/>
              <a:ea typeface="+mn-ea"/>
            </a:endParaRPr>
          </a:p>
        </p:txBody>
      </p:sp>
      <p:sp>
        <p:nvSpPr>
          <p:cNvPr id="138" name="Text 5"/>
          <p:cNvSpPr/>
          <p:nvPr/>
        </p:nvSpPr>
        <p:spPr>
          <a:xfrm>
            <a:off x="960120" y="859680"/>
            <a:ext cx="73116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457200">
              <a:lnSpc>
                <a:spcPct val="100000"/>
              </a:lnSpc>
              <a:tabLst>
                <a:tab algn="l" pos="0"/>
              </a:tabLst>
            </a:pPr>
            <a:r>
              <a:rPr b="1" lang="en-US" sz="1700" strike="noStrike" u="none">
                <a:solidFill>
                  <a:srgbClr val="2a9d8f"/>
                </a:solidFill>
                <a:effectLst/>
                <a:uFillTx/>
                <a:latin typeface="Aptos"/>
                <a:ea typeface="Aptos"/>
              </a:rPr>
              <a:t>2.6</a:t>
            </a:r>
            <a:endParaRPr b="0" lang="pt-BR" sz="1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9" name="Text 6"/>
          <p:cNvSpPr/>
          <p:nvPr/>
        </p:nvSpPr>
        <p:spPr>
          <a:xfrm>
            <a:off x="1440000" y="667440"/>
            <a:ext cx="1021824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 fontScale="55000" lnSpcReduction="19999"/>
          </a:bodyPr>
          <a:p>
            <a:pPr defTabSz="457200">
              <a:lnSpc>
                <a:spcPct val="100000"/>
              </a:lnSpc>
              <a:tabLst>
                <a:tab algn="l" pos="0"/>
              </a:tabLst>
            </a:pPr>
            <a:r>
              <a:rPr b="1" lang="en-US" sz="4700" strike="noStrike" u="none">
                <a:solidFill>
                  <a:srgbClr val="243447"/>
                </a:solidFill>
                <a:effectLst/>
                <a:uFillTx/>
                <a:latin typeface="Aptos Display"/>
                <a:ea typeface="Aptos Display"/>
              </a:rPr>
              <a:t>Como o padrão muda quando mudamos o contexto?</a:t>
            </a:r>
            <a:endParaRPr b="0" lang="pt-BR" sz="4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0" name="Text 7"/>
          <p:cNvSpPr/>
          <p:nvPr/>
        </p:nvSpPr>
        <p:spPr>
          <a:xfrm>
            <a:off x="594360" y="1481400"/>
            <a:ext cx="512028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457200">
              <a:lnSpc>
                <a:spcPct val="100000"/>
              </a:lnSpc>
              <a:tabLst>
                <a:tab algn="l" pos="0"/>
              </a:tabLst>
            </a:pPr>
            <a:r>
              <a:rPr b="1" lang="en-US" sz="1900" strike="noStrike" u="none">
                <a:solidFill>
                  <a:srgbClr val="2a9d8f"/>
                </a:solidFill>
                <a:effectLst/>
                <a:uFillTx/>
                <a:latin typeface="Aptos Display"/>
                <a:ea typeface="Aptos Display"/>
              </a:rPr>
              <a:t>TAREFA BREVE NO PLUTO</a:t>
            </a:r>
            <a:endParaRPr b="0" lang="pt-BR" sz="1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1" name="Text 8"/>
          <p:cNvSpPr/>
          <p:nvPr/>
        </p:nvSpPr>
        <p:spPr>
          <a:xfrm>
            <a:off x="594360" y="1783080"/>
            <a:ext cx="5074560" cy="123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/>
          </a:bodyPr>
          <a:p>
            <a:pPr defTabSz="457200">
              <a:lnSpc>
                <a:spcPct val="100000"/>
              </a:lnSpc>
            </a:pPr>
            <a:r>
              <a:rPr b="0" lang="en-US" sz="204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 Use dados de frequência.</a:t>
            </a:r>
            <a:endParaRPr b="0" lang="pt-BR" sz="204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204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 Agrupe por categorias.</a:t>
            </a:r>
            <a:endParaRPr b="0" lang="pt-BR" sz="204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204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 Observe tendências.</a:t>
            </a:r>
            <a:endParaRPr b="0" lang="pt-BR" sz="204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2" name="Text 9"/>
          <p:cNvSpPr/>
          <p:nvPr/>
        </p:nvSpPr>
        <p:spPr>
          <a:xfrm>
            <a:off x="5925240" y="1481400"/>
            <a:ext cx="562320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457200">
              <a:lnSpc>
                <a:spcPct val="100000"/>
              </a:lnSpc>
              <a:tabLst>
                <a:tab algn="l" pos="0"/>
              </a:tabLst>
            </a:pPr>
            <a:r>
              <a:rPr b="1" lang="en-US" sz="1900" strike="noStrike" u="none">
                <a:solidFill>
                  <a:srgbClr val="2a9d8f"/>
                </a:solidFill>
                <a:effectLst/>
                <a:uFillTx/>
                <a:latin typeface="Aptos Display"/>
                <a:ea typeface="Aptos Display"/>
              </a:rPr>
              <a:t>EXEMPLO EM JULIA</a:t>
            </a:r>
            <a:endParaRPr b="0" lang="pt-BR" sz="1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3" name="Text 10"/>
          <p:cNvSpPr/>
          <p:nvPr/>
        </p:nvSpPr>
        <p:spPr>
          <a:xfrm>
            <a:off x="5925240" y="1755720"/>
            <a:ext cx="5623200" cy="1371240"/>
          </a:xfrm>
          <a:prstGeom prst="rect">
            <a:avLst/>
          </a:prstGeom>
          <a:solidFill>
            <a:srgbClr val="11182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rmAutofit/>
          </a:bodyPr>
          <a:p>
            <a:pPr defTabSz="457200">
              <a:lnSpc>
                <a:spcPct val="100000"/>
              </a:lnSpc>
              <a:tabLst>
                <a:tab algn="l" pos="0"/>
              </a:tabLst>
            </a:pPr>
            <a:r>
              <a:rPr b="0" lang="en-US" sz="1940" strike="noStrike" u="none">
                <a:solidFill>
                  <a:srgbClr val="f9fafb"/>
                </a:solidFill>
                <a:effectLst/>
                <a:uFillTx/>
                <a:latin typeface="Cascadia Mono"/>
                <a:ea typeface="Cascadia Mono"/>
              </a:rPr>
              <a:t>respostas = ["A","B","A","C","A"]</a:t>
            </a:r>
            <a:endParaRPr b="0" lang="pt-BR" sz="194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tabLst>
                <a:tab algn="l" pos="0"/>
              </a:tabLst>
            </a:pPr>
            <a:r>
              <a:rPr b="0" lang="en-US" sz="1940" strike="noStrike" u="none">
                <a:solidFill>
                  <a:srgbClr val="f9fafb"/>
                </a:solidFill>
                <a:effectLst/>
                <a:uFillTx/>
                <a:latin typeface="Cascadia Mono"/>
                <a:ea typeface="Cascadia Mono"/>
              </a:rPr>
              <a:t>contagem = Dict(r =&gt; count(==(r), respostas) for r in unique(respostas))</a:t>
            </a:r>
            <a:endParaRPr b="0" lang="pt-BR" sz="194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4" name="Text 11"/>
          <p:cNvSpPr/>
          <p:nvPr/>
        </p:nvSpPr>
        <p:spPr>
          <a:xfrm>
            <a:off x="594360" y="3364920"/>
            <a:ext cx="1101816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457200">
              <a:lnSpc>
                <a:spcPct val="100000"/>
              </a:lnSpc>
              <a:tabLst>
                <a:tab algn="l" pos="0"/>
              </a:tabLst>
            </a:pPr>
            <a:r>
              <a:rPr b="1" lang="en-US" sz="1900" strike="noStrike" u="none">
                <a:solidFill>
                  <a:srgbClr val="2a9d8f"/>
                </a:solidFill>
                <a:effectLst/>
                <a:uFillTx/>
                <a:latin typeface="Aptos Display"/>
                <a:ea typeface="Aptos Display"/>
              </a:rPr>
              <a:t>ASPECTOS QUALITATIVOS DA ANÁLISE</a:t>
            </a:r>
            <a:endParaRPr b="0" lang="pt-BR" sz="1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5" name="Text 12"/>
          <p:cNvSpPr/>
          <p:nvPr/>
        </p:nvSpPr>
        <p:spPr>
          <a:xfrm>
            <a:off x="594360" y="3675960"/>
            <a:ext cx="11018160" cy="123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 lnSpcReduction="9999"/>
          </a:bodyPr>
          <a:p>
            <a:pPr defTabSz="457200">
              <a:lnSpc>
                <a:spcPct val="100000"/>
              </a:lnSpc>
            </a:pPr>
            <a:r>
              <a:rPr b="0" lang="en-US" sz="1879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 Contexto e tipo de dado influenciam representação.</a:t>
            </a:r>
            <a:endParaRPr b="0" lang="pt-BR" sz="1879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879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 Wessels: o contexto e o tipo de dado influenciam a representação escolhida.</a:t>
            </a:r>
            <a:endParaRPr b="0" lang="pt-BR" sz="1879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879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 Queiroz: a forma de representação influencia erros, antecipações e reorganizações.</a:t>
            </a:r>
            <a:endParaRPr b="0" lang="pt-BR" sz="1879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879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 Relato: explicitar variáveis, relações e restrições.</a:t>
            </a:r>
            <a:endParaRPr b="0" lang="pt-BR" sz="1879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6" name="Text 13"/>
          <p:cNvSpPr/>
          <p:nvPr/>
        </p:nvSpPr>
        <p:spPr>
          <a:xfrm>
            <a:off x="594360" y="5074920"/>
            <a:ext cx="1101816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457200">
              <a:lnSpc>
                <a:spcPct val="100000"/>
              </a:lnSpc>
              <a:tabLst>
                <a:tab algn="l" pos="0"/>
              </a:tabLst>
            </a:pPr>
            <a:r>
              <a:rPr b="1" lang="en-US" sz="1900" strike="noStrike" u="none">
                <a:solidFill>
                  <a:srgbClr val="2a9d8f"/>
                </a:solidFill>
                <a:effectLst/>
                <a:uFillTx/>
                <a:latin typeface="Aptos Display"/>
                <a:ea typeface="Aptos Display"/>
              </a:rPr>
              <a:t>IMPORTÂNCIA NA APRENDIZAGEM DE CONCEITOS E RELAÇÕES</a:t>
            </a:r>
            <a:endParaRPr b="0" lang="pt-BR" sz="1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7" name="Text 14"/>
          <p:cNvSpPr/>
          <p:nvPr/>
        </p:nvSpPr>
        <p:spPr>
          <a:xfrm>
            <a:off x="594360" y="5376600"/>
            <a:ext cx="1101816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457200">
              <a:lnSpc>
                <a:spcPct val="100000"/>
              </a:lnSpc>
              <a:tabLst>
                <a:tab algn="l" pos="0"/>
              </a:tabLst>
            </a:pPr>
            <a:r>
              <a:rPr b="0" lang="en-US" sz="202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A indução sobre categorias exige outra organização: contar ocorrências em vez de calcular diferenças.</a:t>
            </a:r>
            <a:endParaRPr b="0" lang="pt-BR" sz="202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8" name="Text 15"/>
          <p:cNvSpPr/>
          <p:nvPr/>
        </p:nvSpPr>
        <p:spPr>
          <a:xfrm>
            <a:off x="594360" y="6263640"/>
            <a:ext cx="1101816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 fontScale="85000" lnSpcReduction="9999"/>
          </a:bodyPr>
          <a:p>
            <a:pPr defTabSz="457200">
              <a:lnSpc>
                <a:spcPct val="100000"/>
              </a:lnSpc>
              <a:tabLst>
                <a:tab algn="l" pos="0"/>
              </a:tabLst>
            </a:pPr>
            <a:r>
              <a:rPr b="0" lang="en-US" sz="1700" strike="noStrike" u="non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Critérios recorrentes: representação, manipulação, feedback, investigação, transnumeração, reflexão metaconceitual e limites do modelo.</a:t>
            </a:r>
            <a:endParaRPr b="0" lang="pt-BR" sz="1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 pitchFamily="0" charset="1"/>
        <a:ea typeface=""/>
        <a:cs typeface=""/>
      </a:majorFont>
      <a:minorFont>
        <a:latin typeface="Aptos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</TotalTime>
  <Application>LibreOffice/25.2.7.2$Windows_X86_64 LibreOffice_project/5cbfd1ab6520636bb5f7b99185aa69bd7456825d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  <dc:creator/>
  <dc:description>generated using python-pptx</dc:description>
  <dc:language>pt-BR</dc:language>
  <cp:lastModifiedBy/>
  <dcterms:modified xsi:type="dcterms:W3CDTF">2026-06-06T14:09:17Z</dcterms:modified>
  <cp:revision>12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