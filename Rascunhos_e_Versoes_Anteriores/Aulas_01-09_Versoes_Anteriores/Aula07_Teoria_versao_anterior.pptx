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Masters/slideMaster33.xml" ContentType="application/vnd.openxmlformats-officedocument.presentationml.slideMaster+xml"/>
  <Override PartName="/ppt/slideMasters/slideMaster34.xml" ContentType="application/vnd.openxmlformats-officedocument.presentationml.slideMaster+xml"/>
  <Override PartName="/ppt/slideMasters/slideMaster35.xml" ContentType="application/vnd.openxmlformats-officedocument.presentationml.slideMaster+xml"/>
  <Override PartName="/ppt/slideMasters/slideMaster36.xml" ContentType="application/vnd.openxmlformats-officedocument.presentationml.slideMaster+xml"/>
  <Override PartName="/ppt/slideMasters/slideMaster37.xml" ContentType="application/vnd.openxmlformats-officedocument.presentationml.slideMaster+xml"/>
  <Override PartName="/ppt/slideMasters/slideMaster38.xml" ContentType="application/vnd.openxmlformats-officedocument.presentationml.slideMaster+xml"/>
  <Override PartName="/ppt/slideMasters/slideMaster39.xml" ContentType="application/vnd.openxmlformats-officedocument.presentationml.slideMaster+xml"/>
  <Override PartName="/ppt/slideMasters/slideMaster40.xml" ContentType="application/vnd.openxmlformats-officedocument.presentationml.slideMaster+xml"/>
  <Override PartName="/ppt/slideMasters/slideMaster41.xml" ContentType="application/vnd.openxmlformats-officedocument.presentationml.slideMaster+xml"/>
  <Override PartName="/ppt/slideMasters/slideMaster42.xml" ContentType="application/vnd.openxmlformats-officedocument.presentationml.slideMaster+xml"/>
  <Override PartName="/ppt/slideMasters/slideMaster43.xml" ContentType="application/vnd.openxmlformats-officedocument.presentationml.slideMaster+xml"/>
  <Override PartName="/ppt/slideMasters/slideMaster44.xml" ContentType="application/vnd.openxmlformats-officedocument.presentationml.slideMaster+xml"/>
  <Override PartName="/ppt/slideMasters/slideMaster45.xml" ContentType="application/vnd.openxmlformats-officedocument.presentationml.slideMaster+xml"/>
  <Override PartName="/ppt/slideMasters/slideMaster46.xml" ContentType="application/vnd.openxmlformats-officedocument.presentationml.slideMaster+xml"/>
  <Override PartName="/ppt/slideMasters/slideMaster47.xml" ContentType="application/vnd.openxmlformats-officedocument.presentationml.slideMaster+xml"/>
  <Override PartName="/ppt/slideMasters/slideMaster48.xml" ContentType="application/vnd.openxmlformats-officedocument.presentationml.slideMaster+xml"/>
  <Override PartName="/ppt/slideMasters/slideMaster49.xml" ContentType="application/vnd.openxmlformats-officedocument.presentationml.slideMaster+xml"/>
  <Override PartName="/ppt/slideMasters/slideMaster50.xml" ContentType="application/vnd.openxmlformats-officedocument.presentationml.slideMaster+xml"/>
  <Override PartName="/ppt/slideMasters/slideMaster51.xml" ContentType="application/vnd.openxmlformats-officedocument.presentationml.slideMaster+xml"/>
  <Override PartName="/ppt/slideMasters/slideMaster52.xml" ContentType="application/vnd.openxmlformats-officedocument.presentationml.slideMaster+xml"/>
  <Override PartName="/ppt/slideMasters/slideMaster53.xml" ContentType="application/vnd.openxmlformats-officedocument.presentationml.slideMaster+xml"/>
  <Override PartName="/ppt/slideMasters/slideMaster54.xml" ContentType="application/vnd.openxmlformats-officedocument.presentationml.slideMaster+xml"/>
  <Override PartName="/ppt/slideMasters/slideMaster55.xml" ContentType="application/vnd.openxmlformats-officedocument.presentationml.slideMaster+xml"/>
  <Override PartName="/ppt/slideMasters/slideMaster56.xml" ContentType="application/vnd.openxmlformats-officedocument.presentationml.slideMaster+xml"/>
  <Override PartName="/ppt/slideMasters/slideMaster57.xml" ContentType="application/vnd.openxmlformats-officedocument.presentationml.slideMaster+xml"/>
  <Override PartName="/ppt/slideMasters/slideMaster58.xml" ContentType="application/vnd.openxmlformats-officedocument.presentationml.slideMaster+xml"/>
  <Override PartName="/ppt/slideMasters/slideMaster59.xml" ContentType="application/vnd.openxmlformats-officedocument.presentationml.slideMaster+xml"/>
  <Override PartName="/ppt/slideMasters/slideMaster60.xml" ContentType="application/vnd.openxmlformats-officedocument.presentationml.slideMaster+xml"/>
  <Override PartName="/ppt/slideMasters/slideMaster61.xml" ContentType="application/vnd.openxmlformats-officedocument.presentationml.slideMaster+xml"/>
  <Override PartName="/ppt/slideMasters/slideMaster62.xml" ContentType="application/vnd.openxmlformats-officedocument.presentationml.slideMaster+xml"/>
  <Override PartName="/ppt/slideMasters/slideMaster63.xml" ContentType="application/vnd.openxmlformats-officedocument.presentationml.slideMaster+xml"/>
  <Override PartName="/ppt/slideMasters/slideMaster64.xml" ContentType="application/vnd.openxmlformats-officedocument.presentationml.slideMaster+xml"/>
  <Override PartName="/ppt/slideMasters/slideMaster65.xml" ContentType="application/vnd.openxmlformats-officedocument.presentationml.slideMaster+xml"/>
  <Override PartName="/ppt/slideMasters/slideMaster66.xml" ContentType="application/vnd.openxmlformats-officedocument.presentationml.slideMaster+xml"/>
  <Override PartName="/ppt/slideMasters/slideMaster67.xml" ContentType="application/vnd.openxmlformats-officedocument.presentationml.slideMaster+xml"/>
  <Override PartName="/ppt/slideMasters/slideMaster68.xml" ContentType="application/vnd.openxmlformats-officedocument.presentationml.slideMaster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Masters/slideMaster81.xml" ContentType="application/vnd.openxmlformats-officedocument.presentationml.slideMaster+xml"/>
  <Override PartName="/ppt/slideMasters/slideMaster82.xml" ContentType="application/vnd.openxmlformats-officedocument.presentationml.slideMaster+xml"/>
  <Override PartName="/ppt/slideMasters/slideMaster83.xml" ContentType="application/vnd.openxmlformats-officedocument.presentationml.slideMaster+xml"/>
  <Override PartName="/ppt/slideMasters/slideMaster84.xml" ContentType="application/vnd.openxmlformats-officedocument.presentationml.slideMaster+xml"/>
  <Override PartName="/ppt/slideMasters/slideMaster85.xml" ContentType="application/vnd.openxmlformats-officedocument.presentationml.slideMaster+xml"/>
  <Override PartName="/ppt/slideMasters/slideMaster86.xml" ContentType="application/vnd.openxmlformats-officedocument.presentationml.slideMaster+xml"/>
  <Override PartName="/ppt/slideMasters/slideMaster87.xml" ContentType="application/vnd.openxmlformats-officedocument.presentationml.slideMaster+xml"/>
  <Override PartName="/ppt/slideMasters/slideMaster88.xml" ContentType="application/vnd.openxmlformats-officedocument.presentationml.slideMaster+xml"/>
  <Override PartName="/ppt/slideMasters/slideMaster89.xml" ContentType="application/vnd.openxmlformats-officedocument.presentationml.slideMaster+xml"/>
  <Override PartName="/ppt/slideMasters/slideMaster90.xml" ContentType="application/vnd.openxmlformats-officedocument.presentationml.slideMaster+xml"/>
  <Override PartName="/ppt/slideMasters/slideMaster91.xml" ContentType="application/vnd.openxmlformats-officedocument.presentationml.slideMaster+xml"/>
  <Override PartName="/ppt/slideMasters/slideMaster92.xml" ContentType="application/vnd.openxmlformats-officedocument.presentationml.slideMaster+xml"/>
  <Override PartName="/ppt/slideMasters/slideMaster93.xml" ContentType="application/vnd.openxmlformats-officedocument.presentationml.slideMaster+xml"/>
  <Override PartName="/ppt/slideMasters/slideMaster94.xml" ContentType="application/vnd.openxmlformats-officedocument.presentationml.slideMaster+xml"/>
  <Override PartName="/ppt/slideMasters/slideMaster95.xml" ContentType="application/vnd.openxmlformats-officedocument.presentationml.slideMaster+xml"/>
  <Override PartName="/ppt/slideMasters/slideMaster96.xml" ContentType="application/vnd.openxmlformats-officedocument.presentationml.slideMaster+xml"/>
  <Override PartName="/ppt/slideMasters/slideMaster97.xml" ContentType="application/vnd.openxmlformats-officedocument.presentationml.slideMaster+xml"/>
  <Override PartName="/ppt/slideMasters/slideMaster98.xml" ContentType="application/vnd.openxmlformats-officedocument.presentationml.slideMaster+xml"/>
  <Override PartName="/ppt/slideMasters/slideMaster99.xml" ContentType="application/vnd.openxmlformats-officedocument.presentationml.slideMaster+xml"/>
  <Override PartName="/ppt/slideMasters/slideMaster100.xml" ContentType="application/vnd.openxmlformats-officedocument.presentationml.slideMaster+xml"/>
  <Override PartName="/ppt/slideMasters/slideMaster101.xml" ContentType="application/vnd.openxmlformats-officedocument.presentationml.slideMaster+xml"/>
  <Override PartName="/ppt/slideMasters/slideMaster102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335" r:id="rId109"/>
    <p:sldId id="336" r:id="rId110"/>
    <p:sldId id="337" r:id="rId111"/>
    <p:sldId id="338" r:id="rId112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</p:sldIdLst>
  <p:notesMasterIdLst>
    <p:notesMasterId r:id="rId10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104" Type="http://schemas.openxmlformats.org/officeDocument/2006/relationships/notesMaster" Target="notesMasters/notesMaster1.xml"/><Relationship Id="rId105" Type="http://schemas.openxmlformats.org/officeDocument/2006/relationships/presProps" Target="presProps.xml"/><Relationship Id="rId106" Type="http://schemas.openxmlformats.org/officeDocument/2006/relationships/viewProps" Target="viewProps.xml"/><Relationship Id="rId107" Type="http://schemas.openxmlformats.org/officeDocument/2006/relationships/theme" Target="theme/theme1.xml"/><Relationship Id="rId108" Type="http://schemas.openxmlformats.org/officeDocument/2006/relationships/tableStyles" Target="tableStyles.xml"/>  <Relationship Id="rId109" Type="http://schemas.openxmlformats.org/officeDocument/2006/relationships/slide" Target="slides/slide103.xml"/>
  <Relationship Id="rId110" Type="http://schemas.openxmlformats.org/officeDocument/2006/relationships/slide" Target="slides/slide104.xml"/>
  <Relationship Id="rId111" Type="http://schemas.openxmlformats.org/officeDocument/2006/relationships/slide" Target="slides/slide105.xml"/>
  <Relationship Id="rId112" Type="http://schemas.openxmlformats.org/officeDocument/2006/relationships/slide" Target="slides/slide10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10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822960"/>
            <a:ext cx="1188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1828800" y="768096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8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Técnicas de construção de algoritmos: generalização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1828800" y="1691640"/>
            <a:ext cx="9326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 tarefas em formato de pergunta, com exemplos em Julia/Pluto.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85800" y="27432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Pergunta-guia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310896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sair de um caso particular para uma regra reutilizável?</a:t>
            </a:r>
            <a:endParaRPr lang="en-US" sz="2700" dirty="0"/>
          </a:p>
        </p:txBody>
      </p:sp>
      <p:sp>
        <p:nvSpPr>
          <p:cNvPr id="11" name="Text 9"/>
          <p:cNvSpPr/>
          <p:nvPr/>
        </p:nvSpPr>
        <p:spPr>
          <a:xfrm>
            <a:off x="685800" y="489204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Neste bloco, as tarefas usam Julia e Pluto para transformar conceitos da ementa em ações observáveis: organizar, representar, manipular, interpretar e revisar.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pergunta abre a aula; o código serve para tornar a relação conceitual discutível.</a:t>
            </a:r>
            <a:endParaRPr lang="en-US" sz="85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06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reconhecer repetição que pede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Mostre três cálculos parecidos.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Identifique a parte comum.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Transforme em função.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m1 = (8+6+7)/3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m2 = (5+9+10)/3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caso particular à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é perceber uma estrutura comum em diferentes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07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7.2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transformar cálculo em função?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Defina entrada.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Retorne saída.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media(notas) = sum(notas)/length(notas)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Função como representação de relação geral.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representações ampliam a percepção de propriedades e relações.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função estabiliza uma regra e permite aplicá-la a novos dados.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08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7.3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parâmetros?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Substitua número fixo por parâmetro.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limites diferentes.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classificações.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situacao(media, limite) = media &gt;= limite ? "ok" : "rever"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situacao(6.5, 7)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Parâmetro como forma de flexibilizar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permitir manipulação de parâmetros e comparação de estados.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interação consciente com a forma favorece reflexão conceitual.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Parâmetros mostram que um algoritmo pode ser adaptado a contextos diferentes.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09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7.4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transformação?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Aplique uma regra a vários valores.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broadcasting.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Interprete coleção transformada.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dados = [1,2,3,4]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dobros = dados .* 2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Transnumeração por regra uniforme.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transnumeração torna dados interpretáveis em nova forma.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articular código, texto, tabela, gráfico e interpretação.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aparece quando a mesma relação opera sobre todos os elementos.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10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7.5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uma classificação?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lista de médias.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Classifique todas.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Compare saídas.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medias = [4.5, 6.0, 8.0]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status = [situacao(m, 7) for m in medias]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Representação de regra aplicada a conjunto.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múltiplas representações indicam modelagem mais bem-sucedida.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análise qualitativa observa invariantes e relações mobilizadas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compreensão de lista permite aplicar uma decisão a muitos casos.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7.6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com diferentes tipos de dados?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 números inteiros e decimais.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que a função continua válida.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Discuta domínio.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media([8, 6, 7])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media([8.5, 6.0, 7.5])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Domínio de aplicação e flexibilidade.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resultado final não esgota a aprendizagem do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o contexto e o tipo de dado influenciam a representação escolhida.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exige discutir para quais dados a regra faz sentido.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7.7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generalizar por composição?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Combine funções menores.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uma função maior.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Teste novos casos.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avaliar(notas) = situacao(media(notas), 7)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avaliar([8,6,7])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Recomposição de submodelos.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incluir revisão, depuração e reconstrução.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tarefa deve articular dimensão material e cognitiva.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composição mostra que generalizações podem ser construídas a partir de outras generalizações.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7.8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evitar generalização indevida?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caso vazio.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Observe erro ou resultado inválido.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Crie tratamento.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notas = []</a:t>
            </a:r>
            <a:endParaRPr lang="en-US" sz="970" dirty="0"/>
          </a:p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# media(notas) causaria divisão por zero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Limite do modelo e caso de fronteira.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reconhecer limites da ferramenta e do modelo.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a forma de representação influencia erros, antecipações e reorganizações.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respostas idiossincráticas também revelam modos de pensar.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Nem toda regra geral é válida para todos os casos; generalizar exige explicitar restrições.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7.9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documentar uma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Escreva a intenção da função.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Indique entrada e saída.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Inclua exemplo.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md"""media(notas): soma valores e divide pela quantidade."""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Linguagem natural como representação da regra.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múltiplas expressões exibem aspectos distintos do mesmo conceito.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solicitar explicação do raciocínio desenvolvido.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atividades planejadas desenvolvem representação e pensamento de ordem superior.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Documentar torna a generalização comunicável e revisável.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 • Generalização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749808"/>
            <a:ext cx="411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?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60120" y="859536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B6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7.10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960120" y="667512"/>
            <a:ext cx="10698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5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Como avaliar generalização?</a:t>
            </a:r>
            <a:endParaRPr lang="en-US" sz="2350" dirty="0"/>
          </a:p>
        </p:txBody>
      </p:sp>
      <p:sp>
        <p:nvSpPr>
          <p:cNvPr id="9" name="Text 7"/>
          <p:cNvSpPr/>
          <p:nvPr/>
        </p:nvSpPr>
        <p:spPr>
          <a:xfrm>
            <a:off x="594360" y="1481328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TAREFA BREVE NO PLUTO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783080"/>
            <a:ext cx="50749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novo 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contraexemplo.</a:t>
            </a:r>
            <a:endParaRPr lang="en-US" sz="1020" dirty="0"/>
          </a:p>
          <a:p>
            <a:r>
              <a:rPr lang="en-US" sz="102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Peça adaptação da regra.</a:t>
            </a:r>
            <a:endParaRPr lang="en-US" sz="1020" dirty="0"/>
          </a:p>
        </p:txBody>
      </p:sp>
      <p:sp>
        <p:nvSpPr>
          <p:cNvPr id="11" name="Text 9"/>
          <p:cNvSpPr/>
          <p:nvPr/>
        </p:nvSpPr>
        <p:spPr>
          <a:xfrm>
            <a:off x="5925312" y="1481328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EXEMPLO EM JULIA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25312" y="1755648"/>
            <a:ext cx="5623560" cy="1371600"/>
          </a:xfrm>
          <a:prstGeom prst="rect">
            <a:avLst/>
          </a:prstGeom>
          <a:solidFill>
            <a:srgbClr val="111827"/>
          </a:solidFill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70" dirty="0">
                <a:solidFill>
                  <a:srgbClr val="F9FAFB"/>
                </a:solidFill>
                <a:latin typeface="Cascadia Mono" pitchFamily="34" charset="0"/>
                <a:ea typeface="Cascadia Mono" pitchFamily="34" charset="-122"/>
                <a:cs typeface="Cascadia Mono" pitchFamily="34" charset="-120"/>
              </a:rPr>
              <a:t>teste = media([10, 0]) == 5</a:t>
            </a:r>
            <a:endParaRPr lang="en-US" sz="970" dirty="0"/>
          </a:p>
        </p:txBody>
      </p:sp>
      <p:sp>
        <p:nvSpPr>
          <p:cNvPr id="13" name="Text 11"/>
          <p:cNvSpPr/>
          <p:nvPr/>
        </p:nvSpPr>
        <p:spPr>
          <a:xfrm>
            <a:off x="594360" y="3364992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ASPECTOS QUALITATIVOS DA ANÁLISE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94360" y="3675888"/>
            <a:ext cx="11018520" cy="123444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Avaliação por transferência e revisão.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Wessels: níveis SOLO ajudam a observar respostas de menor a maior integração.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Queiroz: o percurso da tarefa revela mudanças no discurso e na ação.</a:t>
            </a:r>
            <a:endParaRPr lang="en-US" sz="940" dirty="0"/>
          </a:p>
          <a:p>
            <a:r>
              <a:rPr lang="en-US" sz="94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Relato: avaliar o percurso de pensamento, não apenas o código final.</a:t>
            </a:r>
            <a:endParaRPr lang="en-US" sz="940" dirty="0"/>
          </a:p>
        </p:txBody>
      </p:sp>
      <p:sp>
        <p:nvSpPr>
          <p:cNvPr id="15" name="Text 13"/>
          <p:cNvSpPr/>
          <p:nvPr/>
        </p:nvSpPr>
        <p:spPr>
          <a:xfrm>
            <a:off x="594360" y="5074920"/>
            <a:ext cx="11018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B6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IMPORTÂNCIA NA APRENDIZAGEM DE CONCEITOS E RELAÇÕES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94360" y="5376672"/>
            <a:ext cx="11018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1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generalização é melhor avaliada quando o estudante aplica, limita e adapta a regra.</a:t>
            </a:r>
            <a:endParaRPr lang="en-US" sz="1010" dirty="0"/>
          </a:p>
        </p:txBody>
      </p:sp>
      <p:sp>
        <p:nvSpPr>
          <p:cNvPr id="17" name="Text 15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Critérios recorrentes: representação, manipulação, feedback, investigação, transnumeração, reflexão metaconceitual 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01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esperamos desta aula?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Definir generalização como técnica de construção de algoritmos.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Reconhecer repetições que indicam a necessidade de generalizar.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Transformar um cálculo fixo em uma função com parâmetros.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Testar os limites de uma generalização (quando ela deixa de valer).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Documentar o que uma função generalizada espera e devolve.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Praticar as 10 tarefas do Bloco 7 em Julia/Pluto.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Aula 7 de 15 • 2 horas • Técnicas de Construção de Algoritmos: Generalização</a:t>
            </a:r>
            <a:endParaRPr lang="en-US" sz="85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Conceito central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 que é generalização?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Definição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Construir uma solução mais genérica a partir de outra mais específica.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 nova solução passa a funcionar em outros contextos, não só no caso original.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Exemplo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 “dobro(4) = 8” fixo para uma função dobro(x) = 2x que funciona para qualquer x.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Substituir um número fixo por um parâmetro é o movimento central da generalização.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Generalizar exige testar os limites: para quais entradas a função continua fazendo sentido?</a:t>
            </a:r>
            <a:endParaRPr lang="en-US" sz="85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Cuidados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Generalizar sem perder o sentido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Risco: generalização indevida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Uma função pode “funcionar” só por acaso em poucos casos testados.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Sempre inclua um caso vazio ou extremo para verificar o limite da regra.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Boas práticas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Nomeie a função pela ação que ela representa, não pelo caso original.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Documente entrada e saída esperadas.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Critério qualitativo recorrente: generalização e reflexão sobre limites do modelo.</a:t>
            </a:r>
            <a:endParaRPr lang="en-US" sz="85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7132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80" b="1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PROFCOMP • Pensamento Computacional • Julia + Pluto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7955280" y="164592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6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Conexão</a:t>
            </a:r>
            <a:endParaRPr lang="en-US" sz="760" dirty="0"/>
          </a:p>
        </p:txBody>
      </p:sp>
      <p:sp>
        <p:nvSpPr>
          <p:cNvPr id="4" name="Text 2"/>
          <p:cNvSpPr/>
          <p:nvPr/>
        </p:nvSpPr>
        <p:spPr>
          <a:xfrm>
            <a:off x="11064240" y="109728"/>
            <a:ext cx="731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" y="502920"/>
            <a:ext cx="11247120" cy="0"/>
          </a:xfrm>
          <a:prstGeom prst="line">
            <a:avLst/>
          </a:prstGeom>
          <a:noFill/>
          <a:ln w="7620">
            <a:solidFill>
              <a:srgbClr val="D7DEE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713232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4344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 Bloco 6 ao Bloco 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77724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 que já vimos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6: decomposição — dividir o problema em partes menores.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0" y="1554480"/>
            <a:ext cx="525780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onde vamos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24344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Aula 8: transformação — reaproveitar soluções para novos problemas.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6263640"/>
            <a:ext cx="11018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Pensamento Computacional — Aula 7 de 15.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102</Slides>
  <Notes>102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102</vt:i4>
      </vt:variant>
    </vt:vector>
  </HeadingPairs>
  <TitlesOfParts>
    <vt:vector size="10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</vt:vector>
  </TitlesOfParts>
  <Company>PROFCOMP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por perguntas — Julia + Pluto</dc:title>
  <dc:subject>Julia e Pluto para Pensamento Computacional — PROFCOMP</dc:subject>
  <dc:creator>OpenAI</dc:creator>
  <cp:lastModifiedBy>OpenAI</cp:lastModifiedBy>
  <cp:revision>1</cp:revision>
  <dcterms:created xsi:type="dcterms:W3CDTF">2026-06-04T19:39:33Z</dcterms:created>
  <dcterms:modified xsi:type="dcterms:W3CDTF">2026-06-04T19:39:33Z</dcterms:modified>
</cp:coreProperties>
</file>